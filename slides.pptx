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tags/tag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3.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93" r:id="rId5"/>
  </p:sldMasterIdLst>
  <p:notesMasterIdLst>
    <p:notesMasterId r:id="rId56"/>
  </p:notesMasterIdLst>
  <p:handoutMasterIdLst>
    <p:handoutMasterId r:id="rId57"/>
  </p:handoutMasterIdLst>
  <p:sldIdLst>
    <p:sldId id="363" r:id="rId6"/>
    <p:sldId id="304" r:id="rId7"/>
    <p:sldId id="329" r:id="rId8"/>
    <p:sldId id="333" r:id="rId9"/>
    <p:sldId id="342" r:id="rId10"/>
    <p:sldId id="351" r:id="rId11"/>
    <p:sldId id="400" r:id="rId12"/>
    <p:sldId id="352" r:id="rId13"/>
    <p:sldId id="331" r:id="rId14"/>
    <p:sldId id="332" r:id="rId15"/>
    <p:sldId id="281" r:id="rId16"/>
    <p:sldId id="307" r:id="rId17"/>
    <p:sldId id="335" r:id="rId18"/>
    <p:sldId id="394" r:id="rId19"/>
    <p:sldId id="357" r:id="rId20"/>
    <p:sldId id="360" r:id="rId21"/>
    <p:sldId id="359" r:id="rId22"/>
    <p:sldId id="354" r:id="rId23"/>
    <p:sldId id="378" r:id="rId24"/>
    <p:sldId id="336" r:id="rId25"/>
    <p:sldId id="370" r:id="rId26"/>
    <p:sldId id="369" r:id="rId27"/>
    <p:sldId id="374" r:id="rId28"/>
    <p:sldId id="375" r:id="rId29"/>
    <p:sldId id="373" r:id="rId30"/>
    <p:sldId id="372" r:id="rId31"/>
    <p:sldId id="371" r:id="rId32"/>
    <p:sldId id="365" r:id="rId33"/>
    <p:sldId id="366" r:id="rId34"/>
    <p:sldId id="380" r:id="rId35"/>
    <p:sldId id="385" r:id="rId36"/>
    <p:sldId id="386" r:id="rId37"/>
    <p:sldId id="388" r:id="rId38"/>
    <p:sldId id="384" r:id="rId39"/>
    <p:sldId id="387" r:id="rId40"/>
    <p:sldId id="390" r:id="rId41"/>
    <p:sldId id="391" r:id="rId42"/>
    <p:sldId id="392" r:id="rId43"/>
    <p:sldId id="389" r:id="rId44"/>
    <p:sldId id="393" r:id="rId45"/>
    <p:sldId id="395" r:id="rId46"/>
    <p:sldId id="396" r:id="rId47"/>
    <p:sldId id="398" r:id="rId48"/>
    <p:sldId id="397" r:id="rId49"/>
    <p:sldId id="358" r:id="rId50"/>
    <p:sldId id="322" r:id="rId51"/>
    <p:sldId id="348" r:id="rId52"/>
    <p:sldId id="346" r:id="rId53"/>
    <p:sldId id="340" r:id="rId54"/>
    <p:sldId id="297" r:id="rId55"/>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8213"/>
    <a:srgbClr val="0F9F2A"/>
    <a:srgbClr val="202C8F"/>
    <a:srgbClr val="006600"/>
    <a:srgbClr val="FFFFFF"/>
    <a:srgbClr val="FFEFEF"/>
    <a:srgbClr val="FFF5F5"/>
    <a:srgbClr val="FDFBF6"/>
    <a:srgbClr val="F5CDCE"/>
    <a:srgbClr val="AAC4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0" autoAdjust="0"/>
    <p:restoredTop sz="54961" autoAdjust="0"/>
  </p:normalViewPr>
  <p:slideViewPr>
    <p:cSldViewPr snapToGrid="0" snapToObjects="1">
      <p:cViewPr varScale="1">
        <p:scale>
          <a:sx n="45" d="100"/>
          <a:sy n="45" d="100"/>
        </p:scale>
        <p:origin x="2280" y="3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handoutMaster" Target="handoutMasters/handoutMaster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96CA68-1558-4C59-A687-BCC43A4EC19E}" type="doc">
      <dgm:prSet loTypeId="urn:microsoft.com/office/officeart/2016/7/layout/LinearBlockProcessNumbered" loCatId="process" qsTypeId="urn:microsoft.com/office/officeart/2005/8/quickstyle/simple2" qsCatId="simple" csTypeId="urn:microsoft.com/office/officeart/2005/8/colors/accent2_2" csCatId="accent2" phldr="1"/>
      <dgm:spPr/>
      <dgm:t>
        <a:bodyPr/>
        <a:lstStyle/>
        <a:p>
          <a:endParaRPr lang="en-US"/>
        </a:p>
      </dgm:t>
    </dgm:pt>
    <dgm:pt modelId="{6284B260-A5BE-495E-B6D1-EFE6D6420591}">
      <dgm:prSet custT="1"/>
      <dgm:spPr>
        <a:solidFill>
          <a:schemeClr val="bg1">
            <a:alpha val="0"/>
          </a:schemeClr>
        </a:solidFill>
        <a:ln w="28575">
          <a:solidFill>
            <a:schemeClr val="accent6"/>
          </a:solidFill>
        </a:ln>
      </dgm:spPr>
      <dgm:t>
        <a:bodyPr/>
        <a:lstStyle/>
        <a:p>
          <a:pPr algn="ctr"/>
          <a:r>
            <a:rPr lang="en-US" sz="1500" b="1" dirty="0">
              <a:solidFill>
                <a:schemeClr val="accent6"/>
              </a:solidFill>
            </a:rPr>
            <a:t>Constrained Variables:</a:t>
          </a:r>
          <a:r>
            <a:rPr lang="en-US" sz="1500" dirty="0">
              <a:solidFill>
                <a:schemeClr val="accent6"/>
              </a:solidFill>
            </a:rPr>
            <a:t> Despite its efficiency, the standard RFM model is </a:t>
          </a:r>
          <a:r>
            <a:rPr lang="en-US" sz="1500" b="1" dirty="0">
              <a:solidFill>
                <a:srgbClr val="0F9F2A"/>
              </a:solidFill>
            </a:rPr>
            <a:t>constrained to only three factors </a:t>
          </a:r>
          <a:r>
            <a:rPr lang="en-US" sz="1500" dirty="0">
              <a:solidFill>
                <a:schemeClr val="accent6"/>
              </a:solidFill>
            </a:rPr>
            <a:t>and does not naturally disclose segments based on crucial demographic characteristics and long-term purchase history [3], [4].</a:t>
          </a:r>
        </a:p>
      </dgm:t>
    </dgm:pt>
    <dgm:pt modelId="{590767EE-3BEB-489D-8AF2-452D5E469BE1}" type="parTrans" cxnId="{8A18E5C9-BFE4-44D8-A510-9EEE61AEFA01}">
      <dgm:prSet/>
      <dgm:spPr/>
      <dgm:t>
        <a:bodyPr/>
        <a:lstStyle/>
        <a:p>
          <a:endParaRPr lang="en-US"/>
        </a:p>
      </dgm:t>
    </dgm:pt>
    <dgm:pt modelId="{0329B484-04F4-4E4B-B29E-1DEBCB731801}" type="sibTrans" cxnId="{8A18E5C9-BFE4-44D8-A510-9EEE61AEFA01}">
      <dgm:prSet phldrT="01" phldr="0"/>
      <dgm:spPr>
        <a:pattFill prst="pct5">
          <a:fgClr>
            <a:schemeClr val="bg2">
              <a:lumMod val="90000"/>
            </a:schemeClr>
          </a:fgClr>
          <a:bgClr>
            <a:schemeClr val="bg1"/>
          </a:bgClr>
        </a:pattFill>
        <a:ln>
          <a:solidFill>
            <a:schemeClr val="tx1"/>
          </a:solidFill>
        </a:ln>
        <a:effectLst>
          <a:outerShdw blurRad="50800" dist="50800" dir="5400000" algn="ctr" rotWithShape="0">
            <a:schemeClr val="accent6"/>
          </a:outerShdw>
        </a:effectLst>
      </dgm:spPr>
      <dgm:t>
        <a:bodyPr/>
        <a:lstStyle/>
        <a:p>
          <a:r>
            <a:rPr lang="en-US" dirty="0"/>
            <a:t>01</a:t>
          </a:r>
        </a:p>
      </dgm:t>
    </dgm:pt>
    <dgm:pt modelId="{57803589-EE52-414B-993F-6CF8CC6593E3}">
      <dgm:prSet custT="1"/>
      <dgm:spPr>
        <a:solidFill>
          <a:schemeClr val="bg1">
            <a:alpha val="0"/>
          </a:schemeClr>
        </a:solidFill>
        <a:ln w="28575">
          <a:solidFill>
            <a:schemeClr val="accent6"/>
          </a:solidFill>
        </a:ln>
      </dgm:spPr>
      <dgm:t>
        <a:bodyPr/>
        <a:lstStyle/>
        <a:p>
          <a:r>
            <a:rPr lang="en-US" sz="1500" b="1" dirty="0">
              <a:solidFill>
                <a:schemeClr val="accent6"/>
              </a:solidFill>
            </a:rPr>
            <a:t>Static, Rigid Thresholds:</a:t>
          </a:r>
          <a:r>
            <a:rPr lang="en-US" sz="1500" dirty="0">
              <a:solidFill>
                <a:schemeClr val="accent6"/>
              </a:solidFill>
            </a:rPr>
            <a:t> Existing literature highlights that traditional RFM models often oversimplify customer behavior by relying on user-defined threshold parameters that </a:t>
          </a:r>
          <a:r>
            <a:rPr lang="en-US" sz="1500" b="1" dirty="0">
              <a:solidFill>
                <a:srgbClr val="0F9F2A"/>
              </a:solidFill>
            </a:rPr>
            <a:t>fail to update seamlessly over an unlimited number of time cycles </a:t>
          </a:r>
          <a:r>
            <a:rPr lang="en-US" sz="1500" dirty="0">
              <a:solidFill>
                <a:schemeClr val="accent6"/>
              </a:solidFill>
            </a:rPr>
            <a:t>[3].</a:t>
          </a:r>
        </a:p>
      </dgm:t>
    </dgm:pt>
    <dgm:pt modelId="{01A8D9DD-CD1A-4B48-8FB4-AE1B177AA886}" type="parTrans" cxnId="{8B3CAF1E-0C48-4C96-A07F-0D3312C52746}">
      <dgm:prSet/>
      <dgm:spPr/>
      <dgm:t>
        <a:bodyPr/>
        <a:lstStyle/>
        <a:p>
          <a:endParaRPr lang="en-US"/>
        </a:p>
      </dgm:t>
    </dgm:pt>
    <dgm:pt modelId="{7D69ED5C-F552-4D66-9443-8C8A241155C9}" type="sibTrans" cxnId="{8B3CAF1E-0C48-4C96-A07F-0D3312C52746}">
      <dgm:prSet phldrT="02" phldr="0"/>
      <dgm:spPr>
        <a:pattFill prst="pct5">
          <a:fgClr>
            <a:schemeClr val="accent1"/>
          </a:fgClr>
          <a:bgClr>
            <a:schemeClr val="bg1"/>
          </a:bgClr>
        </a:pattFill>
        <a:effectLst>
          <a:outerShdw blurRad="50800" dist="50800" dir="5400000" algn="ctr" rotWithShape="0">
            <a:schemeClr val="accent6"/>
          </a:outerShdw>
        </a:effectLst>
      </dgm:spPr>
      <dgm:t>
        <a:bodyPr/>
        <a:lstStyle/>
        <a:p>
          <a:r>
            <a:rPr lang="en-US"/>
            <a:t>02</a:t>
          </a:r>
          <a:endParaRPr lang="en-US" dirty="0"/>
        </a:p>
      </dgm:t>
    </dgm:pt>
    <dgm:pt modelId="{5B474364-BF49-4C99-AC0B-06259DC79DD7}">
      <dgm:prSet custT="1"/>
      <dgm:spPr>
        <a:solidFill>
          <a:schemeClr val="bg1">
            <a:alpha val="0"/>
          </a:schemeClr>
        </a:solidFill>
        <a:ln w="28575">
          <a:solidFill>
            <a:schemeClr val="accent6"/>
          </a:solidFill>
        </a:ln>
      </dgm:spPr>
      <dgm:t>
        <a:bodyPr/>
        <a:lstStyle/>
        <a:p>
          <a:r>
            <a:rPr lang="en-US" sz="1500" b="1" dirty="0">
              <a:solidFill>
                <a:schemeClr val="accent6"/>
              </a:solidFill>
            </a:rPr>
            <a:t>The Need for Automation:</a:t>
          </a:r>
          <a:r>
            <a:rPr lang="en-US" sz="1500" dirty="0">
              <a:solidFill>
                <a:schemeClr val="accent6"/>
              </a:solidFill>
            </a:rPr>
            <a:t> There remains a </a:t>
          </a:r>
          <a:r>
            <a:rPr lang="en-US" sz="1500" b="1" dirty="0">
              <a:solidFill>
                <a:srgbClr val="0F9F2A"/>
              </a:solidFill>
            </a:rPr>
            <a:t>significant gap in creating completely automated approaches for Dynamic Customer Segmentation (DCS</a:t>
          </a:r>
          <a:r>
            <a:rPr lang="en-US" sz="1500" b="1" dirty="0">
              <a:solidFill>
                <a:schemeClr val="accent6"/>
              </a:solidFill>
            </a:rPr>
            <a:t>) </a:t>
          </a:r>
          <a:r>
            <a:rPr lang="en-US" sz="1500" dirty="0">
              <a:solidFill>
                <a:schemeClr val="accent6"/>
              </a:solidFill>
            </a:rPr>
            <a:t>that eliminate the need for manual intervention when building and updating models [3], [4].</a:t>
          </a:r>
        </a:p>
      </dgm:t>
    </dgm:pt>
    <dgm:pt modelId="{3F1D3FE6-F462-4AD0-A3EE-B1B1778AE33F}" type="parTrans" cxnId="{59988882-E7C5-4F51-BB52-D992AA54D588}">
      <dgm:prSet/>
      <dgm:spPr/>
      <dgm:t>
        <a:bodyPr/>
        <a:lstStyle/>
        <a:p>
          <a:endParaRPr lang="en-US"/>
        </a:p>
      </dgm:t>
    </dgm:pt>
    <dgm:pt modelId="{E6BFC874-3638-48F7-BADE-226E3E4835C1}" type="sibTrans" cxnId="{59988882-E7C5-4F51-BB52-D992AA54D588}">
      <dgm:prSet phldrT="03" phldr="0"/>
      <dgm:spPr>
        <a:effectLst>
          <a:outerShdw blurRad="50800" dist="50800" dir="5400000" algn="ctr" rotWithShape="0">
            <a:schemeClr val="accent6"/>
          </a:outerShdw>
        </a:effectLst>
      </dgm:spPr>
      <dgm:t>
        <a:bodyPr/>
        <a:lstStyle/>
        <a:p>
          <a:r>
            <a:rPr lang="en-US"/>
            <a:t>03</a:t>
          </a:r>
          <a:endParaRPr lang="en-US" dirty="0"/>
        </a:p>
      </dgm:t>
    </dgm:pt>
    <dgm:pt modelId="{0515BC04-5E55-45B9-97AA-78DB192B4150}" type="pres">
      <dgm:prSet presAssocID="{6796CA68-1558-4C59-A687-BCC43A4EC19E}" presName="Name0" presStyleCnt="0">
        <dgm:presLayoutVars>
          <dgm:animLvl val="lvl"/>
          <dgm:resizeHandles val="exact"/>
        </dgm:presLayoutVars>
      </dgm:prSet>
      <dgm:spPr/>
    </dgm:pt>
    <dgm:pt modelId="{672FE1DC-0C98-4675-8FDD-20AA348C1622}" type="pres">
      <dgm:prSet presAssocID="{6284B260-A5BE-495E-B6D1-EFE6D6420591}" presName="compositeNode" presStyleCnt="0">
        <dgm:presLayoutVars>
          <dgm:bulletEnabled val="1"/>
        </dgm:presLayoutVars>
      </dgm:prSet>
      <dgm:spPr/>
    </dgm:pt>
    <dgm:pt modelId="{AAD740D4-68A8-4B63-A29A-8BEE5688111D}" type="pres">
      <dgm:prSet presAssocID="{6284B260-A5BE-495E-B6D1-EFE6D6420591}" presName="bgRect" presStyleLbl="alignNode1" presStyleIdx="0" presStyleCnt="3" custLinFactNeighborX="-25" custLinFactNeighborY="-9819"/>
      <dgm:spPr/>
    </dgm:pt>
    <dgm:pt modelId="{D827B362-8496-46FC-BAAB-ABA29B5A05B0}" type="pres">
      <dgm:prSet presAssocID="{0329B484-04F4-4E4B-B29E-1DEBCB731801}" presName="sibTransNodeRect" presStyleLbl="alignNode1" presStyleIdx="0" presStyleCnt="3">
        <dgm:presLayoutVars>
          <dgm:chMax val="0"/>
          <dgm:bulletEnabled val="1"/>
        </dgm:presLayoutVars>
      </dgm:prSet>
      <dgm:spPr/>
    </dgm:pt>
    <dgm:pt modelId="{11D99B09-2AF0-4709-A377-58C9A1C04FDD}" type="pres">
      <dgm:prSet presAssocID="{6284B260-A5BE-495E-B6D1-EFE6D6420591}" presName="nodeRect" presStyleLbl="alignNode1" presStyleIdx="0" presStyleCnt="3">
        <dgm:presLayoutVars>
          <dgm:bulletEnabled val="1"/>
        </dgm:presLayoutVars>
      </dgm:prSet>
      <dgm:spPr/>
    </dgm:pt>
    <dgm:pt modelId="{54F2E6DE-23B9-4E2E-B9D2-AACC05556FEF}" type="pres">
      <dgm:prSet presAssocID="{0329B484-04F4-4E4B-B29E-1DEBCB731801}" presName="sibTrans" presStyleCnt="0"/>
      <dgm:spPr/>
    </dgm:pt>
    <dgm:pt modelId="{C7E74CDD-7E3F-4DF8-BD3D-4ACA829441BB}" type="pres">
      <dgm:prSet presAssocID="{57803589-EE52-414B-993F-6CF8CC6593E3}" presName="compositeNode" presStyleCnt="0">
        <dgm:presLayoutVars>
          <dgm:bulletEnabled val="1"/>
        </dgm:presLayoutVars>
      </dgm:prSet>
      <dgm:spPr/>
    </dgm:pt>
    <dgm:pt modelId="{8C6BF4CE-C951-403C-B8DC-5F0DBF0D6E56}" type="pres">
      <dgm:prSet presAssocID="{57803589-EE52-414B-993F-6CF8CC6593E3}" presName="bgRect" presStyleLbl="alignNode1" presStyleIdx="1" presStyleCnt="3" custLinFactNeighborX="-267" custLinFactNeighborY="-5056"/>
      <dgm:spPr/>
    </dgm:pt>
    <dgm:pt modelId="{B44832E0-EC24-4D01-8607-988B2DCCEFDF}" type="pres">
      <dgm:prSet presAssocID="{7D69ED5C-F552-4D66-9443-8C8A241155C9}" presName="sibTransNodeRect" presStyleLbl="alignNode1" presStyleIdx="1" presStyleCnt="3">
        <dgm:presLayoutVars>
          <dgm:chMax val="0"/>
          <dgm:bulletEnabled val="1"/>
        </dgm:presLayoutVars>
      </dgm:prSet>
      <dgm:spPr/>
    </dgm:pt>
    <dgm:pt modelId="{91CBBA1D-75E4-40AA-AC19-A4292C801101}" type="pres">
      <dgm:prSet presAssocID="{57803589-EE52-414B-993F-6CF8CC6593E3}" presName="nodeRect" presStyleLbl="alignNode1" presStyleIdx="1" presStyleCnt="3">
        <dgm:presLayoutVars>
          <dgm:bulletEnabled val="1"/>
        </dgm:presLayoutVars>
      </dgm:prSet>
      <dgm:spPr/>
    </dgm:pt>
    <dgm:pt modelId="{828854FD-1012-466C-8ECB-A5AA24A1339C}" type="pres">
      <dgm:prSet presAssocID="{7D69ED5C-F552-4D66-9443-8C8A241155C9}" presName="sibTrans" presStyleCnt="0"/>
      <dgm:spPr/>
    </dgm:pt>
    <dgm:pt modelId="{D40E3610-8807-4458-AA33-69BB18FFDF90}" type="pres">
      <dgm:prSet presAssocID="{5B474364-BF49-4C99-AC0B-06259DC79DD7}" presName="compositeNode" presStyleCnt="0">
        <dgm:presLayoutVars>
          <dgm:bulletEnabled val="1"/>
        </dgm:presLayoutVars>
      </dgm:prSet>
      <dgm:spPr/>
    </dgm:pt>
    <dgm:pt modelId="{F85B7AA9-6086-420B-B831-31540CB0DF49}" type="pres">
      <dgm:prSet presAssocID="{5B474364-BF49-4C99-AC0B-06259DC79DD7}" presName="bgRect" presStyleLbl="alignNode1" presStyleIdx="2" presStyleCnt="3" custLinFactNeighborX="25" custLinFactNeighborY="-6617"/>
      <dgm:spPr/>
    </dgm:pt>
    <dgm:pt modelId="{2DDE32AE-2A1C-44AD-9245-EDCD828152B2}" type="pres">
      <dgm:prSet presAssocID="{E6BFC874-3638-48F7-BADE-226E3E4835C1}" presName="sibTransNodeRect" presStyleLbl="alignNode1" presStyleIdx="2" presStyleCnt="3">
        <dgm:presLayoutVars>
          <dgm:chMax val="0"/>
          <dgm:bulletEnabled val="1"/>
        </dgm:presLayoutVars>
      </dgm:prSet>
      <dgm:spPr/>
    </dgm:pt>
    <dgm:pt modelId="{C456EF0A-BECD-4AD2-88CF-57AAE79F4F9A}" type="pres">
      <dgm:prSet presAssocID="{5B474364-BF49-4C99-AC0B-06259DC79DD7}" presName="nodeRect" presStyleLbl="alignNode1" presStyleIdx="2" presStyleCnt="3">
        <dgm:presLayoutVars>
          <dgm:bulletEnabled val="1"/>
        </dgm:presLayoutVars>
      </dgm:prSet>
      <dgm:spPr/>
    </dgm:pt>
  </dgm:ptLst>
  <dgm:cxnLst>
    <dgm:cxn modelId="{8B3CAF1E-0C48-4C96-A07F-0D3312C52746}" srcId="{6796CA68-1558-4C59-A687-BCC43A4EC19E}" destId="{57803589-EE52-414B-993F-6CF8CC6593E3}" srcOrd="1" destOrd="0" parTransId="{01A8D9DD-CD1A-4B48-8FB4-AE1B177AA886}" sibTransId="{7D69ED5C-F552-4D66-9443-8C8A241155C9}"/>
    <dgm:cxn modelId="{C57BC324-103B-4E3B-8C90-23146F45D2EC}" type="presOf" srcId="{57803589-EE52-414B-993F-6CF8CC6593E3}" destId="{91CBBA1D-75E4-40AA-AC19-A4292C801101}" srcOrd="1" destOrd="0" presId="urn:microsoft.com/office/officeart/2016/7/layout/LinearBlockProcessNumbered"/>
    <dgm:cxn modelId="{6CC1EE66-1649-4B5D-9E5C-26B5D796CDAC}" type="presOf" srcId="{5B474364-BF49-4C99-AC0B-06259DC79DD7}" destId="{C456EF0A-BECD-4AD2-88CF-57AAE79F4F9A}" srcOrd="1" destOrd="0" presId="urn:microsoft.com/office/officeart/2016/7/layout/LinearBlockProcessNumbered"/>
    <dgm:cxn modelId="{59988882-E7C5-4F51-BB52-D992AA54D588}" srcId="{6796CA68-1558-4C59-A687-BCC43A4EC19E}" destId="{5B474364-BF49-4C99-AC0B-06259DC79DD7}" srcOrd="2" destOrd="0" parTransId="{3F1D3FE6-F462-4AD0-A3EE-B1B1778AE33F}" sibTransId="{E6BFC874-3638-48F7-BADE-226E3E4835C1}"/>
    <dgm:cxn modelId="{E6348E8D-4F21-440D-9940-A01C243E78CB}" type="presOf" srcId="{6796CA68-1558-4C59-A687-BCC43A4EC19E}" destId="{0515BC04-5E55-45B9-97AA-78DB192B4150}" srcOrd="0" destOrd="0" presId="urn:microsoft.com/office/officeart/2016/7/layout/LinearBlockProcessNumbered"/>
    <dgm:cxn modelId="{BBE4FE91-3645-483D-9922-5710D0B70071}" type="presOf" srcId="{7D69ED5C-F552-4D66-9443-8C8A241155C9}" destId="{B44832E0-EC24-4D01-8607-988B2DCCEFDF}" srcOrd="0" destOrd="0" presId="urn:microsoft.com/office/officeart/2016/7/layout/LinearBlockProcessNumbered"/>
    <dgm:cxn modelId="{94B2ED92-5655-4433-9694-7A16496E90C3}" type="presOf" srcId="{6284B260-A5BE-495E-B6D1-EFE6D6420591}" destId="{11D99B09-2AF0-4709-A377-58C9A1C04FDD}" srcOrd="1" destOrd="0" presId="urn:microsoft.com/office/officeart/2016/7/layout/LinearBlockProcessNumbered"/>
    <dgm:cxn modelId="{267CD1B2-1AAD-406B-A853-DA67204354A6}" type="presOf" srcId="{0329B484-04F4-4E4B-B29E-1DEBCB731801}" destId="{D827B362-8496-46FC-BAAB-ABA29B5A05B0}" srcOrd="0" destOrd="0" presId="urn:microsoft.com/office/officeart/2016/7/layout/LinearBlockProcessNumbered"/>
    <dgm:cxn modelId="{2F7A59BF-132E-4785-9C3C-EB2CC0C532D0}" type="presOf" srcId="{57803589-EE52-414B-993F-6CF8CC6593E3}" destId="{8C6BF4CE-C951-403C-B8DC-5F0DBF0D6E56}" srcOrd="0" destOrd="0" presId="urn:microsoft.com/office/officeart/2016/7/layout/LinearBlockProcessNumbered"/>
    <dgm:cxn modelId="{8A18E5C9-BFE4-44D8-A510-9EEE61AEFA01}" srcId="{6796CA68-1558-4C59-A687-BCC43A4EC19E}" destId="{6284B260-A5BE-495E-B6D1-EFE6D6420591}" srcOrd="0" destOrd="0" parTransId="{590767EE-3BEB-489D-8AF2-452D5E469BE1}" sibTransId="{0329B484-04F4-4E4B-B29E-1DEBCB731801}"/>
    <dgm:cxn modelId="{0DABB2E6-A199-4398-AC12-643A5EB22EA9}" type="presOf" srcId="{5B474364-BF49-4C99-AC0B-06259DC79DD7}" destId="{F85B7AA9-6086-420B-B831-31540CB0DF49}" srcOrd="0" destOrd="0" presId="urn:microsoft.com/office/officeart/2016/7/layout/LinearBlockProcessNumbered"/>
    <dgm:cxn modelId="{FF4549ED-8BEA-44FE-8CF7-6F5073B3E4CE}" type="presOf" srcId="{E6BFC874-3638-48F7-BADE-226E3E4835C1}" destId="{2DDE32AE-2A1C-44AD-9245-EDCD828152B2}" srcOrd="0" destOrd="0" presId="urn:microsoft.com/office/officeart/2016/7/layout/LinearBlockProcessNumbered"/>
    <dgm:cxn modelId="{773852F0-9F26-441E-8A7A-6405545A7676}" type="presOf" srcId="{6284B260-A5BE-495E-B6D1-EFE6D6420591}" destId="{AAD740D4-68A8-4B63-A29A-8BEE5688111D}" srcOrd="0" destOrd="0" presId="urn:microsoft.com/office/officeart/2016/7/layout/LinearBlockProcessNumbered"/>
    <dgm:cxn modelId="{A81C70F2-9D44-46FE-8229-8457A2924446}" type="presParOf" srcId="{0515BC04-5E55-45B9-97AA-78DB192B4150}" destId="{672FE1DC-0C98-4675-8FDD-20AA348C1622}" srcOrd="0" destOrd="0" presId="urn:microsoft.com/office/officeart/2016/7/layout/LinearBlockProcessNumbered"/>
    <dgm:cxn modelId="{42C2A1A3-0BAC-4271-BA4C-3198AA1D980E}" type="presParOf" srcId="{672FE1DC-0C98-4675-8FDD-20AA348C1622}" destId="{AAD740D4-68A8-4B63-A29A-8BEE5688111D}" srcOrd="0" destOrd="0" presId="urn:microsoft.com/office/officeart/2016/7/layout/LinearBlockProcessNumbered"/>
    <dgm:cxn modelId="{F9473404-A331-40F5-A5BE-5DBA08541D9C}" type="presParOf" srcId="{672FE1DC-0C98-4675-8FDD-20AA348C1622}" destId="{D827B362-8496-46FC-BAAB-ABA29B5A05B0}" srcOrd="1" destOrd="0" presId="urn:microsoft.com/office/officeart/2016/7/layout/LinearBlockProcessNumbered"/>
    <dgm:cxn modelId="{FDC5F7A2-99DB-4E94-AF78-9388754F1EE4}" type="presParOf" srcId="{672FE1DC-0C98-4675-8FDD-20AA348C1622}" destId="{11D99B09-2AF0-4709-A377-58C9A1C04FDD}" srcOrd="2" destOrd="0" presId="urn:microsoft.com/office/officeart/2016/7/layout/LinearBlockProcessNumbered"/>
    <dgm:cxn modelId="{06A94665-FE6B-431D-8C5D-E46DC4E52C01}" type="presParOf" srcId="{0515BC04-5E55-45B9-97AA-78DB192B4150}" destId="{54F2E6DE-23B9-4E2E-B9D2-AACC05556FEF}" srcOrd="1" destOrd="0" presId="urn:microsoft.com/office/officeart/2016/7/layout/LinearBlockProcessNumbered"/>
    <dgm:cxn modelId="{62C71028-7312-46EC-8B4E-3F1F51A02A64}" type="presParOf" srcId="{0515BC04-5E55-45B9-97AA-78DB192B4150}" destId="{C7E74CDD-7E3F-4DF8-BD3D-4ACA829441BB}" srcOrd="2" destOrd="0" presId="urn:microsoft.com/office/officeart/2016/7/layout/LinearBlockProcessNumbered"/>
    <dgm:cxn modelId="{69C196F9-1D18-480E-AB50-2A28F6C6C16E}" type="presParOf" srcId="{C7E74CDD-7E3F-4DF8-BD3D-4ACA829441BB}" destId="{8C6BF4CE-C951-403C-B8DC-5F0DBF0D6E56}" srcOrd="0" destOrd="0" presId="urn:microsoft.com/office/officeart/2016/7/layout/LinearBlockProcessNumbered"/>
    <dgm:cxn modelId="{B3A37D21-7992-43C0-AAB3-0AAFA1B7941F}" type="presParOf" srcId="{C7E74CDD-7E3F-4DF8-BD3D-4ACA829441BB}" destId="{B44832E0-EC24-4D01-8607-988B2DCCEFDF}" srcOrd="1" destOrd="0" presId="urn:microsoft.com/office/officeart/2016/7/layout/LinearBlockProcessNumbered"/>
    <dgm:cxn modelId="{CB77EA76-4D1A-4ECF-9858-D171AC341305}" type="presParOf" srcId="{C7E74CDD-7E3F-4DF8-BD3D-4ACA829441BB}" destId="{91CBBA1D-75E4-40AA-AC19-A4292C801101}" srcOrd="2" destOrd="0" presId="urn:microsoft.com/office/officeart/2016/7/layout/LinearBlockProcessNumbered"/>
    <dgm:cxn modelId="{2AE83CD7-5C9A-4738-8A4C-3D0702143CAD}" type="presParOf" srcId="{0515BC04-5E55-45B9-97AA-78DB192B4150}" destId="{828854FD-1012-466C-8ECB-A5AA24A1339C}" srcOrd="3" destOrd="0" presId="urn:microsoft.com/office/officeart/2016/7/layout/LinearBlockProcessNumbered"/>
    <dgm:cxn modelId="{FF15E126-0796-4E6E-A431-E4D663995719}" type="presParOf" srcId="{0515BC04-5E55-45B9-97AA-78DB192B4150}" destId="{D40E3610-8807-4458-AA33-69BB18FFDF90}" srcOrd="4" destOrd="0" presId="urn:microsoft.com/office/officeart/2016/7/layout/LinearBlockProcessNumbered"/>
    <dgm:cxn modelId="{740DAF22-5D93-4446-91FD-5C95CF0A6AB7}" type="presParOf" srcId="{D40E3610-8807-4458-AA33-69BB18FFDF90}" destId="{F85B7AA9-6086-420B-B831-31540CB0DF49}" srcOrd="0" destOrd="0" presId="urn:microsoft.com/office/officeart/2016/7/layout/LinearBlockProcessNumbered"/>
    <dgm:cxn modelId="{1D120471-4815-4002-9A5C-ECC5FB9237D0}" type="presParOf" srcId="{D40E3610-8807-4458-AA33-69BB18FFDF90}" destId="{2DDE32AE-2A1C-44AD-9245-EDCD828152B2}" srcOrd="1" destOrd="0" presId="urn:microsoft.com/office/officeart/2016/7/layout/LinearBlockProcessNumbered"/>
    <dgm:cxn modelId="{BBC70C00-7584-4E87-B3C4-8BC209568253}" type="presParOf" srcId="{D40E3610-8807-4458-AA33-69BB18FFDF90}" destId="{C456EF0A-BECD-4AD2-88CF-57AAE79F4F9A}" srcOrd="2" destOrd="0" presId="urn:microsoft.com/office/officeart/2016/7/layout/LinearBlockProcessNumbered"/>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D740D4-68A8-4B63-A29A-8BEE5688111D}">
      <dsp:nvSpPr>
        <dsp:cNvPr id="0" name=""/>
        <dsp:cNvSpPr/>
      </dsp:nvSpPr>
      <dsp:spPr>
        <a:xfrm>
          <a:off x="0" y="0"/>
          <a:ext cx="3601761" cy="4322114"/>
        </a:xfrm>
        <a:prstGeom prst="rect">
          <a:avLst/>
        </a:prstGeom>
        <a:solidFill>
          <a:schemeClr val="bg1">
            <a:alpha val="0"/>
          </a:schemeClr>
        </a:solidFill>
        <a:ln w="28575" cap="flat" cmpd="sng" algn="ctr">
          <a:solidFill>
            <a:schemeClr val="accent6"/>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55774" tIns="0" rIns="355774" bIns="330200" numCol="1" spcCol="1270" anchor="t" anchorCtr="0">
          <a:noAutofit/>
        </a:bodyPr>
        <a:lstStyle/>
        <a:p>
          <a:pPr marL="0" lvl="0" indent="0" algn="ctr" defTabSz="666750">
            <a:lnSpc>
              <a:spcPct val="90000"/>
            </a:lnSpc>
            <a:spcBef>
              <a:spcPct val="0"/>
            </a:spcBef>
            <a:spcAft>
              <a:spcPct val="35000"/>
            </a:spcAft>
            <a:buNone/>
          </a:pPr>
          <a:r>
            <a:rPr lang="en-US" sz="1500" b="1" kern="1200" dirty="0">
              <a:solidFill>
                <a:schemeClr val="accent6"/>
              </a:solidFill>
            </a:rPr>
            <a:t>Constrained Variables:</a:t>
          </a:r>
          <a:r>
            <a:rPr lang="en-US" sz="1500" kern="1200" dirty="0">
              <a:solidFill>
                <a:schemeClr val="accent6"/>
              </a:solidFill>
            </a:rPr>
            <a:t> Despite its efficiency, the standard RFM model is </a:t>
          </a:r>
          <a:r>
            <a:rPr lang="en-US" sz="1500" b="1" kern="1200" dirty="0">
              <a:solidFill>
                <a:srgbClr val="0F9F2A"/>
              </a:solidFill>
            </a:rPr>
            <a:t>constrained to only three factors </a:t>
          </a:r>
          <a:r>
            <a:rPr lang="en-US" sz="1500" kern="1200" dirty="0">
              <a:solidFill>
                <a:schemeClr val="accent6"/>
              </a:solidFill>
            </a:rPr>
            <a:t>and does not naturally disclose segments based on crucial demographic characteristics and long-term purchase history [3], [4].</a:t>
          </a:r>
        </a:p>
      </dsp:txBody>
      <dsp:txXfrm>
        <a:off x="0" y="1728845"/>
        <a:ext cx="3601761" cy="2593268"/>
      </dsp:txXfrm>
    </dsp:sp>
    <dsp:sp modelId="{D827B362-8496-46FC-BAAB-ABA29B5A05B0}">
      <dsp:nvSpPr>
        <dsp:cNvPr id="0" name=""/>
        <dsp:cNvSpPr/>
      </dsp:nvSpPr>
      <dsp:spPr>
        <a:xfrm>
          <a:off x="889" y="269567"/>
          <a:ext cx="3601761" cy="1728845"/>
        </a:xfrm>
        <a:prstGeom prst="rect">
          <a:avLst/>
        </a:prstGeom>
        <a:noFill/>
        <a:ln w="12700" cap="flat" cmpd="sng" algn="ctr">
          <a:noFill/>
          <a:prstDash val="solid"/>
          <a:miter lim="800000"/>
        </a:ln>
        <a:effectLst>
          <a:outerShdw blurRad="50800" dist="50800" dir="5400000" algn="ctr" rotWithShape="0">
            <a:schemeClr val="accent6"/>
          </a:outerShdw>
        </a:effectLst>
        <a:sp3d/>
      </dsp:spPr>
      <dsp:style>
        <a:lnRef idx="2">
          <a:scrgbClr r="0" g="0" b="0"/>
        </a:lnRef>
        <a:fillRef idx="1">
          <a:scrgbClr r="0" g="0" b="0"/>
        </a:fillRef>
        <a:effectRef idx="1">
          <a:scrgbClr r="0" g="0" b="0"/>
        </a:effectRef>
        <a:fontRef idx="minor">
          <a:schemeClr val="lt1"/>
        </a:fontRef>
      </dsp:style>
      <dsp:txBody>
        <a:bodyPr spcFirstLastPara="0" vert="horz" wrap="square" lIns="355774" tIns="165100" rIns="355774" bIns="165100" numCol="1" spcCol="1270" anchor="ctr" anchorCtr="0">
          <a:noAutofit/>
        </a:bodyPr>
        <a:lstStyle/>
        <a:p>
          <a:pPr marL="0" lvl="0" indent="0" algn="l" defTabSz="2933700">
            <a:lnSpc>
              <a:spcPct val="90000"/>
            </a:lnSpc>
            <a:spcBef>
              <a:spcPct val="0"/>
            </a:spcBef>
            <a:spcAft>
              <a:spcPct val="35000"/>
            </a:spcAft>
            <a:buNone/>
          </a:pPr>
          <a:r>
            <a:rPr lang="en-US" sz="6600" kern="1200" dirty="0"/>
            <a:t>01</a:t>
          </a:r>
        </a:p>
      </dsp:txBody>
      <dsp:txXfrm>
        <a:off x="889" y="269567"/>
        <a:ext cx="3601761" cy="1728845"/>
      </dsp:txXfrm>
    </dsp:sp>
    <dsp:sp modelId="{8C6BF4CE-C951-403C-B8DC-5F0DBF0D6E56}">
      <dsp:nvSpPr>
        <dsp:cNvPr id="0" name=""/>
        <dsp:cNvSpPr/>
      </dsp:nvSpPr>
      <dsp:spPr>
        <a:xfrm>
          <a:off x="3881175" y="51041"/>
          <a:ext cx="3601761" cy="4322114"/>
        </a:xfrm>
        <a:prstGeom prst="rect">
          <a:avLst/>
        </a:prstGeom>
        <a:solidFill>
          <a:schemeClr val="bg1">
            <a:alpha val="0"/>
          </a:schemeClr>
        </a:solidFill>
        <a:ln w="28575" cap="flat" cmpd="sng" algn="ctr">
          <a:solidFill>
            <a:schemeClr val="accent6"/>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55774" tIns="0" rIns="355774" bIns="330200" numCol="1" spcCol="1270" anchor="t" anchorCtr="0">
          <a:noAutofit/>
        </a:bodyPr>
        <a:lstStyle/>
        <a:p>
          <a:pPr marL="0" lvl="0" indent="0" algn="l" defTabSz="666750">
            <a:lnSpc>
              <a:spcPct val="90000"/>
            </a:lnSpc>
            <a:spcBef>
              <a:spcPct val="0"/>
            </a:spcBef>
            <a:spcAft>
              <a:spcPct val="35000"/>
            </a:spcAft>
            <a:buNone/>
          </a:pPr>
          <a:r>
            <a:rPr lang="en-US" sz="1500" b="1" kern="1200" dirty="0">
              <a:solidFill>
                <a:schemeClr val="accent6"/>
              </a:solidFill>
            </a:rPr>
            <a:t>Static, Rigid Thresholds:</a:t>
          </a:r>
          <a:r>
            <a:rPr lang="en-US" sz="1500" kern="1200" dirty="0">
              <a:solidFill>
                <a:schemeClr val="accent6"/>
              </a:solidFill>
            </a:rPr>
            <a:t> Existing literature highlights that traditional RFM models often oversimplify customer behavior by relying on user-defined threshold parameters that </a:t>
          </a:r>
          <a:r>
            <a:rPr lang="en-US" sz="1500" b="1" kern="1200" dirty="0">
              <a:solidFill>
                <a:srgbClr val="0F9F2A"/>
              </a:solidFill>
            </a:rPr>
            <a:t>fail to update seamlessly over an unlimited number of time cycles </a:t>
          </a:r>
          <a:r>
            <a:rPr lang="en-US" sz="1500" kern="1200" dirty="0">
              <a:solidFill>
                <a:schemeClr val="accent6"/>
              </a:solidFill>
            </a:rPr>
            <a:t>[3].</a:t>
          </a:r>
        </a:p>
      </dsp:txBody>
      <dsp:txXfrm>
        <a:off x="3881175" y="1779886"/>
        <a:ext cx="3601761" cy="2593268"/>
      </dsp:txXfrm>
    </dsp:sp>
    <dsp:sp modelId="{B44832E0-EC24-4D01-8607-988B2DCCEFDF}">
      <dsp:nvSpPr>
        <dsp:cNvPr id="0" name=""/>
        <dsp:cNvSpPr/>
      </dsp:nvSpPr>
      <dsp:spPr>
        <a:xfrm>
          <a:off x="3890792" y="269567"/>
          <a:ext cx="3601761" cy="1728845"/>
        </a:xfrm>
        <a:prstGeom prst="rect">
          <a:avLst/>
        </a:prstGeom>
        <a:noFill/>
        <a:ln w="12700" cap="flat" cmpd="sng" algn="ctr">
          <a:noFill/>
          <a:prstDash val="solid"/>
          <a:miter lim="800000"/>
        </a:ln>
        <a:effectLst>
          <a:outerShdw blurRad="50800" dist="50800" dir="5400000" algn="ctr" rotWithShape="0">
            <a:schemeClr val="accent6"/>
          </a:outerShdw>
        </a:effectLst>
        <a:sp3d/>
      </dsp:spPr>
      <dsp:style>
        <a:lnRef idx="2">
          <a:scrgbClr r="0" g="0" b="0"/>
        </a:lnRef>
        <a:fillRef idx="1">
          <a:scrgbClr r="0" g="0" b="0"/>
        </a:fillRef>
        <a:effectRef idx="1">
          <a:scrgbClr r="0" g="0" b="0"/>
        </a:effectRef>
        <a:fontRef idx="minor">
          <a:schemeClr val="lt1"/>
        </a:fontRef>
      </dsp:style>
      <dsp:txBody>
        <a:bodyPr spcFirstLastPara="0" vert="horz" wrap="square" lIns="355774" tIns="165100" rIns="35577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endParaRPr lang="en-US" sz="6600" kern="1200" dirty="0"/>
        </a:p>
      </dsp:txBody>
      <dsp:txXfrm>
        <a:off x="3890792" y="269567"/>
        <a:ext cx="3601761" cy="1728845"/>
      </dsp:txXfrm>
    </dsp:sp>
    <dsp:sp modelId="{F85B7AA9-6086-420B-B831-31540CB0DF49}">
      <dsp:nvSpPr>
        <dsp:cNvPr id="0" name=""/>
        <dsp:cNvSpPr/>
      </dsp:nvSpPr>
      <dsp:spPr>
        <a:xfrm>
          <a:off x="7781584" y="0"/>
          <a:ext cx="3601761" cy="4322114"/>
        </a:xfrm>
        <a:prstGeom prst="rect">
          <a:avLst/>
        </a:prstGeom>
        <a:solidFill>
          <a:schemeClr val="bg1">
            <a:alpha val="0"/>
          </a:schemeClr>
        </a:solidFill>
        <a:ln w="28575" cap="flat" cmpd="sng" algn="ctr">
          <a:solidFill>
            <a:schemeClr val="accent6"/>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355774" tIns="0" rIns="355774" bIns="330200" numCol="1" spcCol="1270" anchor="t" anchorCtr="0">
          <a:noAutofit/>
        </a:bodyPr>
        <a:lstStyle/>
        <a:p>
          <a:pPr marL="0" lvl="0" indent="0" algn="l" defTabSz="666750">
            <a:lnSpc>
              <a:spcPct val="90000"/>
            </a:lnSpc>
            <a:spcBef>
              <a:spcPct val="0"/>
            </a:spcBef>
            <a:spcAft>
              <a:spcPct val="35000"/>
            </a:spcAft>
            <a:buNone/>
          </a:pPr>
          <a:r>
            <a:rPr lang="en-US" sz="1500" b="1" kern="1200" dirty="0">
              <a:solidFill>
                <a:schemeClr val="accent6"/>
              </a:solidFill>
            </a:rPr>
            <a:t>The Need for Automation:</a:t>
          </a:r>
          <a:r>
            <a:rPr lang="en-US" sz="1500" kern="1200" dirty="0">
              <a:solidFill>
                <a:schemeClr val="accent6"/>
              </a:solidFill>
            </a:rPr>
            <a:t> There remains a </a:t>
          </a:r>
          <a:r>
            <a:rPr lang="en-US" sz="1500" b="1" kern="1200" dirty="0">
              <a:solidFill>
                <a:srgbClr val="0F9F2A"/>
              </a:solidFill>
            </a:rPr>
            <a:t>significant gap in creating completely automated approaches for Dynamic Customer Segmentation (DCS</a:t>
          </a:r>
          <a:r>
            <a:rPr lang="en-US" sz="1500" b="1" kern="1200" dirty="0">
              <a:solidFill>
                <a:schemeClr val="accent6"/>
              </a:solidFill>
            </a:rPr>
            <a:t>) </a:t>
          </a:r>
          <a:r>
            <a:rPr lang="en-US" sz="1500" kern="1200" dirty="0">
              <a:solidFill>
                <a:schemeClr val="accent6"/>
              </a:solidFill>
            </a:rPr>
            <a:t>that eliminate the need for manual intervention when building and updating models [3], [4].</a:t>
          </a:r>
        </a:p>
      </dsp:txBody>
      <dsp:txXfrm>
        <a:off x="7781584" y="1728845"/>
        <a:ext cx="3601761" cy="2593268"/>
      </dsp:txXfrm>
    </dsp:sp>
    <dsp:sp modelId="{2DDE32AE-2A1C-44AD-9245-EDCD828152B2}">
      <dsp:nvSpPr>
        <dsp:cNvPr id="0" name=""/>
        <dsp:cNvSpPr/>
      </dsp:nvSpPr>
      <dsp:spPr>
        <a:xfrm>
          <a:off x="7780694" y="269567"/>
          <a:ext cx="3601761" cy="1728845"/>
        </a:xfrm>
        <a:prstGeom prst="rect">
          <a:avLst/>
        </a:prstGeom>
        <a:noFill/>
        <a:ln w="12700" cap="flat" cmpd="sng" algn="ctr">
          <a:noFill/>
          <a:prstDash val="solid"/>
          <a:miter lim="800000"/>
        </a:ln>
        <a:effectLst>
          <a:outerShdw blurRad="50800" dist="50800" dir="5400000" algn="ctr" rotWithShape="0">
            <a:schemeClr val="accent6"/>
          </a:outerShdw>
        </a:effectLst>
        <a:sp3d/>
      </dsp:spPr>
      <dsp:style>
        <a:lnRef idx="2">
          <a:scrgbClr r="0" g="0" b="0"/>
        </a:lnRef>
        <a:fillRef idx="1">
          <a:scrgbClr r="0" g="0" b="0"/>
        </a:fillRef>
        <a:effectRef idx="1">
          <a:scrgbClr r="0" g="0" b="0"/>
        </a:effectRef>
        <a:fontRef idx="minor">
          <a:schemeClr val="lt1"/>
        </a:fontRef>
      </dsp:style>
      <dsp:txBody>
        <a:bodyPr spcFirstLastPara="0" vert="horz" wrap="square" lIns="355774" tIns="165100" rIns="35577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endParaRPr lang="en-US" sz="6600" kern="1200" dirty="0"/>
        </a:p>
      </dsp:txBody>
      <dsp:txXfrm>
        <a:off x="7780694" y="269567"/>
        <a:ext cx="3601761" cy="1728845"/>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Good day. This presentation is about Dynamic customer segmentation in retail using clustering. </a:t>
            </a:r>
            <a:endParaRPr lang="en-US" dirty="0"/>
          </a:p>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This slide shows the structure of the presentation. I will start with the background, then move to the literature review, aim and objectives, methodology, expected outcomes, timeline, acknowledgements and references.</a:t>
            </a:r>
            <a:endParaRPr lang="en-US" dirty="0"/>
          </a:p>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Customer segmentation means dividing customers into smaller groups based on shared characteristics or </a:t>
            </a:r>
            <a:r>
              <a:rPr lang="en-US" sz="800" dirty="0" err="1"/>
              <a:t>behaviour</a:t>
            </a:r>
            <a:r>
              <a:rPr lang="en-US" sz="800" dirty="0"/>
              <a:t>. The slide also shows common segmentation types such as geographic, demographic, </a:t>
            </a:r>
            <a:r>
              <a:rPr lang="en-US" sz="800" dirty="0" err="1"/>
              <a:t>behavioural</a:t>
            </a:r>
            <a:r>
              <a:rPr lang="en-US" sz="800" dirty="0"/>
              <a:t>, psychographic and firmographic segmentation. The main idea is to help the business understand customers better and target them more effectively.</a:t>
            </a:r>
            <a:endParaRPr lang="en-US" dirty="0"/>
          </a:p>
          <a:p>
            <a:endParaRPr lang="en-ZA" dirty="0"/>
          </a:p>
        </p:txBody>
      </p:sp>
    </p:spTree>
    <p:extLst>
      <p:ext uri="{BB962C8B-B14F-4D97-AF65-F5344CB8AC3E}">
        <p14:creationId xmlns:p14="http://schemas.microsoft.com/office/powerpoint/2010/main" val="40235110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3E196-76C6-7958-7457-54177945C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2C6D6-8777-34CA-8BB9-12875A31D17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B985B707-8238-BF0E-1C24-7CDB07D344E5}"/>
              </a:ext>
            </a:extLst>
          </p:cNvPr>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This table </a:t>
            </a:r>
            <a:r>
              <a:rPr lang="en-US" sz="800" dirty="0" err="1"/>
              <a:t>summarises</a:t>
            </a:r>
            <a:r>
              <a:rPr lang="en-US" sz="800" dirty="0"/>
              <a:t> the first group of studies reviewed. Most studies use RFM and clustering methods such as K-means, AGNES and DBSCAN. The key gap is that many of these methods are static and do not update continuously over time.</a:t>
            </a:r>
            <a:endParaRPr lang="en-US" dirty="0"/>
          </a:p>
          <a:p>
            <a:endParaRPr lang="en-US" dirty="0"/>
          </a:p>
        </p:txBody>
      </p:sp>
    </p:spTree>
    <p:extLst>
      <p:ext uri="{BB962C8B-B14F-4D97-AF65-F5344CB8AC3E}">
        <p14:creationId xmlns:p14="http://schemas.microsoft.com/office/powerpoint/2010/main" val="2609365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B1FB6-83CB-721D-5110-78513D480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2C3C4A-CDBF-4C7C-1FA2-EDD6E63541D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E13ED6AD-10C3-8FD3-76F9-F2448C450840}"/>
              </a:ext>
            </a:extLst>
          </p:cNvPr>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This table </a:t>
            </a:r>
            <a:r>
              <a:rPr lang="en-US" sz="800" dirty="0" err="1"/>
              <a:t>summarises</a:t>
            </a:r>
            <a:r>
              <a:rPr lang="en-US" sz="800" dirty="0"/>
              <a:t> the first group of studies reviewed. Most studies use RFM and clustering methods such as K-means, AGNES and DBSCAN. The key gap is that many of these methods are static and do not update continuously over time.</a:t>
            </a:r>
            <a:endParaRPr lang="en-US" dirty="0"/>
          </a:p>
          <a:p>
            <a:endParaRPr lang="en-US" dirty="0"/>
          </a:p>
        </p:txBody>
      </p:sp>
    </p:spTree>
    <p:extLst>
      <p:ext uri="{BB962C8B-B14F-4D97-AF65-F5344CB8AC3E}">
        <p14:creationId xmlns:p14="http://schemas.microsoft.com/office/powerpoint/2010/main" val="16689947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7EC00-1310-F668-5EAF-65DBA89FC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4C54A-DD64-D681-ED97-E59F08292B7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13965CB9-AFA2-5D0A-427C-E376CB43F319}"/>
              </a:ext>
            </a:extLst>
          </p:cNvPr>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This continued table shows more recent studies. These studies add richer variables, mixed data types and different clustering approaches. However, many still focus on static segmentation rather than continuous customer movement.</a:t>
            </a:r>
            <a:endParaRPr lang="en-US" dirty="0"/>
          </a:p>
          <a:p>
            <a:endParaRPr lang="en-US" dirty="0"/>
          </a:p>
        </p:txBody>
      </p:sp>
    </p:spTree>
    <p:extLst>
      <p:ext uri="{BB962C8B-B14F-4D97-AF65-F5344CB8AC3E}">
        <p14:creationId xmlns:p14="http://schemas.microsoft.com/office/powerpoint/2010/main" val="2159818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FCBDC-1BA0-311D-E732-A8E51F7E5A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CE5D8D-BAB2-3FF4-8087-03ED3350992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6A87044B-ADBB-BB9C-81AC-8BD67C533FA7}"/>
              </a:ext>
            </a:extLst>
          </p:cNvPr>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In This part of the summary of  literature  we find dynamic and big-data-related studies. It shows that dynamic fuzzy clustering is useful for updating customer segments. And we  also position this study as a work in progress using Cascaded RFM, K-means and MDFCM.</a:t>
            </a:r>
            <a:endParaRPr lang="en-US" dirty="0"/>
          </a:p>
          <a:p>
            <a:endParaRPr lang="en-US" dirty="0"/>
          </a:p>
        </p:txBody>
      </p:sp>
    </p:spTree>
    <p:extLst>
      <p:ext uri="{BB962C8B-B14F-4D97-AF65-F5344CB8AC3E}">
        <p14:creationId xmlns:p14="http://schemas.microsoft.com/office/powerpoint/2010/main" val="17487052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In related retail studies  . RFM is the main feature representation method because it describes how recently, how often and how much customers buy. Other methods such as cascaded RFM, FAMD, PCA and FCA help make the customer profile richer and more understandable.</a:t>
            </a:r>
            <a:endParaRPr lang="en-US" dirty="0"/>
          </a:p>
          <a:p>
            <a:endParaRPr lang="en-ZA" dirty="0"/>
          </a:p>
        </p:txBody>
      </p:sp>
    </p:spTree>
    <p:extLst>
      <p:ext uri="{BB962C8B-B14F-4D97-AF65-F5344CB8AC3E}">
        <p14:creationId xmlns:p14="http://schemas.microsoft.com/office/powerpoint/2010/main" val="2390663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err="1"/>
              <a:t>summarises</a:t>
            </a:r>
            <a:r>
              <a:rPr lang="en-US" sz="800" dirty="0"/>
              <a:t> the segmentation methods found in the literature. K-means is commonly used because it is simple and effective. Fuzzy clustering is more flexible because customers can have degrees of membership, which is useful for dynamic segmentation.</a:t>
            </a:r>
            <a:endParaRPr lang="en-US" dirty="0"/>
          </a:p>
          <a:p>
            <a:endParaRPr lang="en-ZA" dirty="0"/>
          </a:p>
        </p:txBody>
      </p:sp>
    </p:spTree>
    <p:extLst>
      <p:ext uri="{BB962C8B-B14F-4D97-AF65-F5344CB8AC3E}">
        <p14:creationId xmlns:p14="http://schemas.microsoft.com/office/powerpoint/2010/main" val="3065336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sz="800" dirty="0"/>
              <a:t>This slide highlights three limitations of conventional segmentation. Standard RFM uses only three variables</a:t>
            </a:r>
          </a:p>
          <a:p>
            <a:r>
              <a:rPr lang="en-US" sz="800" dirty="0"/>
              <a:t> traditional thresholds can be rigid, </a:t>
            </a:r>
          </a:p>
          <a:p>
            <a:r>
              <a:rPr lang="en-US" sz="800" dirty="0"/>
              <a:t>and customer segmentation systems still use manual updates. </a:t>
            </a:r>
          </a:p>
          <a:p>
            <a:r>
              <a:rPr lang="en-US" sz="800" dirty="0"/>
              <a:t>These limitations support the need for a more automated and dynamic approach.</a:t>
            </a:r>
            <a:endParaRPr lang="en-US" dirty="0"/>
          </a:p>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Aim and objectives The problem is that traditional segmentation is often static, while modern retail needs continuous tracking of customer </a:t>
            </a:r>
            <a:r>
              <a:rPr lang="en-US" sz="800" dirty="0" err="1"/>
              <a:t>behaviour</a:t>
            </a:r>
            <a:r>
              <a:rPr lang="en-US" sz="800" dirty="0"/>
              <a:t>. The aim is to promote dynamic customer segmentation that updates over time. The objectives focus on building a cascaded framework and supporting better marketing decisions through an interface.</a:t>
            </a:r>
            <a:endParaRPr lang="en-US" dirty="0"/>
          </a:p>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F6CD7-4145-781B-CAA5-6D4E5925C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25E87-8DEA-6257-632A-69A4A9D18874}"/>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132E0250-2DCB-5865-58AB-435EFEE2BD16}"/>
              </a:ext>
            </a:extLst>
          </p:cNvPr>
          <p:cNvSpPr>
            <a:spLocks noGrp="1"/>
          </p:cNvSpPr>
          <p:nvPr>
            <p:ph type="body" idx="1"/>
          </p:nvPr>
        </p:nvSpPr>
        <p:spPr>
          <a:xfrm>
            <a:off x="1371600" y="11734800"/>
            <a:ext cx="10972800" cy="9601200"/>
          </a:xfrm>
          <a:prstGeom prst="rect">
            <a:avLst/>
          </a:prstGeom>
        </p:spPr>
        <p:txBody>
          <a:bodyPr/>
          <a:lstStyle/>
          <a:p>
            <a:r>
              <a:rPr lang="en-US" dirty="0"/>
              <a:t>The methodology kicks of with dual data exploration, data cleaning , time slicing , feature engineering  , other data preprocessing steps , and now them model development </a:t>
            </a:r>
            <a:r>
              <a:rPr lang="en-US" dirty="0" err="1"/>
              <a:t>stelps</a:t>
            </a:r>
            <a:r>
              <a:rPr lang="en-US" dirty="0"/>
              <a:t> </a:t>
            </a:r>
          </a:p>
          <a:p>
            <a:endParaRPr lang="en-US" dirty="0"/>
          </a:p>
          <a:p>
            <a:endParaRPr lang="en-US" dirty="0"/>
          </a:p>
          <a:p>
            <a:r>
              <a:rPr lang="en-US" dirty="0"/>
              <a:t>And finally produces final clustered segments  with dashboard interface </a:t>
            </a:r>
          </a:p>
        </p:txBody>
      </p:sp>
    </p:spTree>
    <p:extLst>
      <p:ext uri="{BB962C8B-B14F-4D97-AF65-F5344CB8AC3E}">
        <p14:creationId xmlns:p14="http://schemas.microsoft.com/office/powerpoint/2010/main" val="3482504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285750" indent="-285750">
              <a:buFont typeface="Arial" panose="020B0604020202020204" pitchFamily="34" charset="0"/>
              <a:buChar char="•"/>
            </a:pPr>
            <a:r>
              <a:rPr lang="en-ZA" dirty="0">
                <a:solidFill>
                  <a:schemeClr val="accent3">
                    <a:lumMod val="75000"/>
                  </a:schemeClr>
                </a:solidFill>
              </a:rPr>
              <a:t>Shows the complete Customer Segmentation pipeline from raw datasets to dashboard insights.</a:t>
            </a:r>
          </a:p>
          <a:p>
            <a:pPr marL="285750" indent="-285750">
              <a:buFont typeface="Arial" panose="020B0604020202020204" pitchFamily="34" charset="0"/>
              <a:buChar char="•"/>
            </a:pPr>
            <a:endParaRPr lang="en-ZA" dirty="0">
              <a:solidFill>
                <a:schemeClr val="accent3">
                  <a:lumMod val="75000"/>
                </a:schemeClr>
              </a:solidFill>
            </a:endParaRPr>
          </a:p>
          <a:p>
            <a:pPr marL="285750" indent="-285750">
              <a:buFont typeface="Arial" panose="020B0604020202020204" pitchFamily="34" charset="0"/>
              <a:buChar char="•"/>
            </a:pPr>
            <a:r>
              <a:rPr lang="en-ZA" dirty="0">
                <a:solidFill>
                  <a:schemeClr val="accent3">
                    <a:lumMod val="75000"/>
                  </a:schemeClr>
                </a:solidFill>
              </a:rPr>
              <a:t> Separates the system into data storage, processing/model logic, and user engagement layers.</a:t>
            </a:r>
          </a:p>
          <a:p>
            <a:pPr marL="285750" indent="-285750">
              <a:buFont typeface="Arial" panose="020B0604020202020204" pitchFamily="34" charset="0"/>
              <a:buChar char="•"/>
            </a:pPr>
            <a:endParaRPr lang="en-ZA" dirty="0">
              <a:solidFill>
                <a:schemeClr val="accent3">
                  <a:lumMod val="75000"/>
                </a:schemeClr>
              </a:solidFill>
            </a:endParaRPr>
          </a:p>
          <a:p>
            <a:pPr marL="285750" indent="-285750">
              <a:buFont typeface="Arial" panose="020B0604020202020204" pitchFamily="34" charset="0"/>
              <a:buChar char="•"/>
            </a:pPr>
            <a:r>
              <a:rPr lang="en-ZA" dirty="0">
                <a:solidFill>
                  <a:schemeClr val="accent3">
                    <a:lumMod val="75000"/>
                  </a:schemeClr>
                </a:solidFill>
              </a:rPr>
              <a:t>K-means creates Cycle 0 baseline clusters, while MDFCM update segments dynamically.</a:t>
            </a:r>
          </a:p>
          <a:p>
            <a:pPr marL="0" indent="0">
              <a:buFont typeface="Arial" panose="020B0604020202020204" pitchFamily="34" charset="0"/>
              <a:buNone/>
            </a:pPr>
            <a:endParaRPr lang="en-ZA" dirty="0">
              <a:solidFill>
                <a:schemeClr val="accent3">
                  <a:lumMod val="75000"/>
                </a:schemeClr>
              </a:solidFill>
            </a:endParaRPr>
          </a:p>
          <a:p>
            <a:pPr marL="285750" indent="-285750">
              <a:buFont typeface="Arial" panose="020B0604020202020204" pitchFamily="34" charset="0"/>
              <a:buChar char="•"/>
            </a:pPr>
            <a:endParaRPr lang="en-ZA" dirty="0">
              <a:solidFill>
                <a:schemeClr val="accent3">
                  <a:lumMod val="75000"/>
                </a:schemeClr>
              </a:solidFill>
            </a:endParaRPr>
          </a:p>
          <a:p>
            <a:pPr marL="285750" indent="-285750">
              <a:buFont typeface="Arial" panose="020B0604020202020204" pitchFamily="34" charset="0"/>
              <a:buChar char="•"/>
            </a:pPr>
            <a:r>
              <a:rPr lang="en-ZA" dirty="0">
                <a:solidFill>
                  <a:schemeClr val="accent3">
                    <a:lumMod val="75000"/>
                  </a:schemeClr>
                </a:solidFill>
              </a:rPr>
              <a:t>The database stores segmentation results, customer states, migration records, and evaluation scores.</a:t>
            </a:r>
          </a:p>
        </p:txBody>
      </p:sp>
    </p:spTree>
    <p:extLst>
      <p:ext uri="{BB962C8B-B14F-4D97-AF65-F5344CB8AC3E}">
        <p14:creationId xmlns:p14="http://schemas.microsoft.com/office/powerpoint/2010/main" val="40331801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This diagram breaks the system into its main technical components. The frontend presents the dashboard and customer insights, while the backend handles requests and connects the interface to the processing modules. The data processing module prepares the features, the clustering engine performs segmentation, and the database stores the customer features and segment outputs.</a:t>
            </a:r>
            <a:endParaRPr lang="en-ZA" dirty="0"/>
          </a:p>
        </p:txBody>
      </p:sp>
    </p:spTree>
    <p:extLst>
      <p:ext uri="{BB962C8B-B14F-4D97-AF65-F5344CB8AC3E}">
        <p14:creationId xmlns:p14="http://schemas.microsoft.com/office/powerpoint/2010/main" val="340118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F6483-726C-0455-C18C-AF904B98B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5BECE-BE67-E2BB-5161-06B0CFDF363E}"/>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D9051819-C6E7-2060-AA5A-BE9D05A801BE}"/>
              </a:ext>
            </a:extLst>
          </p:cNvPr>
          <p:cNvSpPr>
            <a:spLocks noGrp="1"/>
          </p:cNvSpPr>
          <p:nvPr>
            <p:ph type="body" idx="1"/>
          </p:nvPr>
        </p:nvSpPr>
        <p:spPr>
          <a:xfrm>
            <a:off x="1371600" y="11734800"/>
            <a:ext cx="10972800" cy="9601200"/>
          </a:xfrm>
          <a:prstGeom prst="rect">
            <a:avLst/>
          </a:prstGeom>
        </p:spPr>
        <p:txBody>
          <a:bodyPr/>
          <a:lstStyle/>
          <a:p>
            <a:r>
              <a:rPr lang="en-US" sz="800" dirty="0"/>
              <a:t>This sequence diagram shows how the system runs month by month. </a:t>
            </a:r>
          </a:p>
          <a:p>
            <a:r>
              <a:rPr lang="en-US" sz="800" dirty="0"/>
              <a:t>The Python controller manages the loop, </a:t>
            </a:r>
          </a:p>
          <a:p>
            <a:r>
              <a:rPr lang="en-US" sz="800" dirty="0"/>
              <a:t>the data processor prepares RFM features, </a:t>
            </a:r>
          </a:p>
          <a:p>
            <a:r>
              <a:rPr lang="en-US" sz="800" dirty="0"/>
              <a:t>K-means handles the first cycle, </a:t>
            </a:r>
          </a:p>
          <a:p>
            <a:r>
              <a:rPr lang="en-US" sz="800" dirty="0"/>
              <a:t>and the hybrid dynamic section source code updates later cycles.</a:t>
            </a:r>
          </a:p>
          <a:p>
            <a:r>
              <a:rPr lang="en-US" sz="800" dirty="0"/>
              <a:t> The database stores everything for later use.</a:t>
            </a:r>
            <a:endParaRPr lang="en-US" dirty="0"/>
          </a:p>
          <a:p>
            <a:endParaRPr lang="en-US" dirty="0"/>
          </a:p>
        </p:txBody>
      </p:sp>
    </p:spTree>
    <p:extLst>
      <p:ext uri="{BB962C8B-B14F-4D97-AF65-F5344CB8AC3E}">
        <p14:creationId xmlns:p14="http://schemas.microsoft.com/office/powerpoint/2010/main" val="277836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91FAC-C340-89C8-EB14-E0AB0D8D46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01F4A-C301-CAFE-35C9-54DD0967D72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81A9261B-E51F-C8B8-0E10-0B5D9CB678C1}"/>
              </a:ext>
            </a:extLst>
          </p:cNvPr>
          <p:cNvSpPr>
            <a:spLocks noGrp="1"/>
          </p:cNvSpPr>
          <p:nvPr>
            <p:ph type="body" idx="1"/>
          </p:nvPr>
        </p:nvSpPr>
        <p:spPr>
          <a:xfrm>
            <a:off x="1371600" y="11734800"/>
            <a:ext cx="10972800" cy="9601200"/>
          </a:xfrm>
          <a:prstGeom prst="rect">
            <a:avLst/>
          </a:prstGeom>
        </p:spPr>
        <p:txBody>
          <a:bodyPr/>
          <a:lstStyle/>
          <a:p>
            <a:r>
              <a:rPr lang="en-US" sz="800" dirty="0"/>
              <a:t>This slide introduces our dual dataset approach in the methodology. </a:t>
            </a:r>
          </a:p>
          <a:p>
            <a:r>
              <a:rPr lang="en-US" sz="800" dirty="0"/>
              <a:t>Dataset A represents a cosmetic retail business dataset, </a:t>
            </a:r>
          </a:p>
          <a:p>
            <a:r>
              <a:rPr lang="en-US" sz="800" dirty="0"/>
              <a:t>while Dataset B is the online wholesalers retail dataset.</a:t>
            </a:r>
          </a:p>
          <a:p>
            <a:r>
              <a:rPr lang="en-US" sz="800" dirty="0"/>
              <a:t> The two pipelines allow the study to compare customer segmentation in different retail contexts.</a:t>
            </a:r>
            <a:endParaRPr lang="en-US" dirty="0"/>
          </a:p>
          <a:p>
            <a:endParaRPr lang="en-US" dirty="0"/>
          </a:p>
        </p:txBody>
      </p:sp>
    </p:spTree>
    <p:extLst>
      <p:ext uri="{BB962C8B-B14F-4D97-AF65-F5344CB8AC3E}">
        <p14:creationId xmlns:p14="http://schemas.microsoft.com/office/powerpoint/2010/main" val="32413577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sz="800" dirty="0"/>
              <a:t>Here, the two datasets are explained in more detail. Dataset A is a South African cosmetic retail simulation with customer transactions and synthesized profile variables. </a:t>
            </a:r>
          </a:p>
          <a:p>
            <a:endParaRPr lang="en-US" sz="800" dirty="0"/>
          </a:p>
          <a:p>
            <a:r>
              <a:rPr lang="en-US" sz="800" dirty="0"/>
              <a:t>Dataset B is the UK online retail dataset that has  transactional records</a:t>
            </a:r>
            <a:endParaRPr lang="en-ZA" dirty="0"/>
          </a:p>
        </p:txBody>
      </p:sp>
    </p:spTree>
    <p:extLst>
      <p:ext uri="{BB962C8B-B14F-4D97-AF65-F5344CB8AC3E}">
        <p14:creationId xmlns:p14="http://schemas.microsoft.com/office/powerpoint/2010/main" val="22954987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sz="800" dirty="0"/>
              <a:t>This slide compares the features in both datasets. Dataset A includes cosmetic retail variables such as store number, SKU, quantity and supplier cost. Dataset B includes invoice number, stock code, description, quantity, invoice date, unit price, customer ID and country.</a:t>
            </a:r>
          </a:p>
          <a:p>
            <a:endParaRPr lang="en-US" sz="800" dirty="0"/>
          </a:p>
          <a:p>
            <a:r>
              <a:rPr lang="en-US" sz="800" dirty="0"/>
              <a:t>Which are different but they convey they same info</a:t>
            </a:r>
            <a:endParaRPr lang="en-US" dirty="0"/>
          </a:p>
          <a:p>
            <a:endParaRPr lang="en-ZA" dirty="0"/>
          </a:p>
        </p:txBody>
      </p:sp>
    </p:spTree>
    <p:extLst>
      <p:ext uri="{BB962C8B-B14F-4D97-AF65-F5344CB8AC3E}">
        <p14:creationId xmlns:p14="http://schemas.microsoft.com/office/powerpoint/2010/main" val="3249247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ED9DD-3F51-214F-0B82-A84272047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6A2BBA-2046-AFAE-C707-97FF97F5367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767218DD-0035-6E10-F421-EE060797665E}"/>
              </a:ext>
            </a:extLst>
          </p:cNvPr>
          <p:cNvSpPr>
            <a:spLocks noGrp="1"/>
          </p:cNvSpPr>
          <p:nvPr>
            <p:ph type="body" idx="1"/>
          </p:nvPr>
        </p:nvSpPr>
        <p:spPr>
          <a:xfrm>
            <a:off x="1371600" y="11734800"/>
            <a:ext cx="10972800" cy="9601200"/>
          </a:xfrm>
          <a:prstGeom prst="rect">
            <a:avLst/>
          </a:prstGeom>
        </p:spPr>
        <p:txBody>
          <a:bodyPr/>
          <a:lstStyle/>
          <a:p>
            <a:r>
              <a:rPr lang="en-US" sz="800" dirty="0"/>
              <a:t>This slide focuses on cleaning Dataset A. Missing customer IDs linked to non-member shoppers were removed.</a:t>
            </a:r>
          </a:p>
          <a:p>
            <a:r>
              <a:rPr lang="en-US" sz="800" dirty="0"/>
              <a:t> Negative quantities and sales values were also filtered out because they represent returns and could distort customer </a:t>
            </a:r>
            <a:r>
              <a:rPr lang="en-US" sz="800" dirty="0" err="1"/>
              <a:t>behaviour</a:t>
            </a:r>
            <a:r>
              <a:rPr lang="en-US" sz="800" dirty="0"/>
              <a:t>.</a:t>
            </a:r>
            <a:endParaRPr lang="en-US" dirty="0"/>
          </a:p>
          <a:p>
            <a:endParaRPr lang="en-US" dirty="0"/>
          </a:p>
        </p:txBody>
      </p:sp>
    </p:spTree>
    <p:extLst>
      <p:ext uri="{BB962C8B-B14F-4D97-AF65-F5344CB8AC3E}">
        <p14:creationId xmlns:p14="http://schemas.microsoft.com/office/powerpoint/2010/main" val="3812037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47835-4813-A860-0F79-186362124D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F23F7-B318-DEAA-46AD-6AD762FA548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DA5D00F2-C5D6-3EBF-64B4-8F6E42F8AD63}"/>
              </a:ext>
            </a:extLst>
          </p:cNvPr>
          <p:cNvSpPr>
            <a:spLocks noGrp="1"/>
          </p:cNvSpPr>
          <p:nvPr>
            <p:ph type="body" idx="1"/>
          </p:nvPr>
        </p:nvSpPr>
        <p:spPr>
          <a:xfrm>
            <a:off x="1371600" y="11734800"/>
            <a:ext cx="10972800" cy="9601200"/>
          </a:xfrm>
          <a:prstGeom prst="rect">
            <a:avLst/>
          </a:prstGeom>
        </p:spPr>
        <p:txBody>
          <a:bodyPr/>
          <a:lstStyle/>
          <a:p>
            <a:r>
              <a:rPr lang="en-US" sz="800" dirty="0"/>
              <a:t>This slide shows more data cleaning for Dataset A. The dates were converted into proper </a:t>
            </a:r>
            <a:r>
              <a:rPr lang="en-US" sz="800" dirty="0" err="1"/>
              <a:t>DateTime</a:t>
            </a:r>
            <a:r>
              <a:rPr lang="en-US" sz="800" dirty="0"/>
              <a:t> format so that chronological sorting and time-based calculations could work correctly.</a:t>
            </a:r>
          </a:p>
          <a:p>
            <a:endParaRPr lang="en-US" sz="800" dirty="0"/>
          </a:p>
          <a:p>
            <a:r>
              <a:rPr lang="en-US" sz="800" dirty="0"/>
              <a:t> The data was also aggregated from transaction level to customer level.</a:t>
            </a:r>
            <a:endParaRPr lang="en-US" dirty="0"/>
          </a:p>
          <a:p>
            <a:endParaRPr lang="en-US" dirty="0"/>
          </a:p>
        </p:txBody>
      </p:sp>
    </p:spTree>
    <p:extLst>
      <p:ext uri="{BB962C8B-B14F-4D97-AF65-F5344CB8AC3E}">
        <p14:creationId xmlns:p14="http://schemas.microsoft.com/office/powerpoint/2010/main" val="41854299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CBAA6-3576-FA56-6BF2-0F14D4E7B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DEF1E3-593E-7314-55DE-08364DFBA11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65ABBBC7-2395-0F22-970E-844F16412E94}"/>
              </a:ext>
            </a:extLst>
          </p:cNvPr>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time slicing. The purpose is to simulate a real retail environment where data arrives monthly. Cycle 0 becomes the baseline, and each later month becomes an update batch for the dynamic model.</a:t>
            </a:r>
            <a:endParaRPr lang="en-US" dirty="0"/>
          </a:p>
          <a:p>
            <a:endParaRPr lang="en-US" dirty="0"/>
          </a:p>
        </p:txBody>
      </p:sp>
    </p:spTree>
    <p:extLst>
      <p:ext uri="{BB962C8B-B14F-4D97-AF65-F5344CB8AC3E}">
        <p14:creationId xmlns:p14="http://schemas.microsoft.com/office/powerpoint/2010/main" val="2189982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32311-A1BA-C592-42A9-A6B1D0F07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37418-24E8-FC26-BD39-F6DE5B61410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74B25B05-BE4F-B8B9-E237-B0564A3D1A9B}"/>
              </a:ext>
            </a:extLst>
          </p:cNvPr>
          <p:cNvSpPr>
            <a:spLocks noGrp="1"/>
          </p:cNvSpPr>
          <p:nvPr>
            <p:ph type="body" idx="1"/>
          </p:nvPr>
        </p:nvSpPr>
        <p:spPr>
          <a:xfrm>
            <a:off x="1371600" y="11734800"/>
            <a:ext cx="10972800" cy="9601200"/>
          </a:xfrm>
          <a:prstGeom prst="rect">
            <a:avLst/>
          </a:prstGeom>
        </p:spPr>
        <p:txBody>
          <a:bodyPr/>
          <a:lstStyle/>
          <a:p>
            <a:r>
              <a:rPr lang="en-US" sz="800" dirty="0"/>
              <a:t>Visualization for the time slicing for both pipelines.</a:t>
            </a:r>
          </a:p>
          <a:p>
            <a:endParaRPr lang="en-US" dirty="0"/>
          </a:p>
        </p:txBody>
      </p:sp>
    </p:spTree>
    <p:extLst>
      <p:ext uri="{BB962C8B-B14F-4D97-AF65-F5344CB8AC3E}">
        <p14:creationId xmlns:p14="http://schemas.microsoft.com/office/powerpoint/2010/main" val="10033378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E61BC-4B2E-7F4C-83AA-7F2276963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F6549-9AD2-0947-593A-550D6FB8F70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F61FD291-DA31-BF6E-973F-FDDCA0608565}"/>
              </a:ext>
            </a:extLst>
          </p:cNvPr>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Recency is treated as a risk anchor because inactive customers can become at-risk even if they spent a lot before. Cascaded RFM also creates interaction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8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features like RF, RM and FM to capture deeper customer </a:t>
            </a:r>
            <a:r>
              <a:rPr lang="en-US" sz="800" dirty="0" err="1"/>
              <a:t>behaviour</a:t>
            </a:r>
            <a:r>
              <a:rPr lang="en-US" sz="800" dirty="0"/>
              <a:t>.</a:t>
            </a:r>
            <a:endParaRPr lang="en-US" dirty="0"/>
          </a:p>
          <a:p>
            <a:endParaRPr lang="en-US" dirty="0"/>
          </a:p>
        </p:txBody>
      </p:sp>
    </p:spTree>
    <p:extLst>
      <p:ext uri="{BB962C8B-B14F-4D97-AF65-F5344CB8AC3E}">
        <p14:creationId xmlns:p14="http://schemas.microsoft.com/office/powerpoint/2010/main" val="889238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A92A2-C27F-B3FE-57BB-7DC1598FE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437EA-54C5-4D1F-194E-7FC296519C1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B37CE296-8E1F-247C-EA88-09CC67ED96A5}"/>
              </a:ext>
            </a:extLst>
          </p:cNvPr>
          <p:cNvSpPr>
            <a:spLocks noGrp="1"/>
          </p:cNvSpPr>
          <p:nvPr>
            <p:ph type="body" idx="1"/>
          </p:nvPr>
        </p:nvSpPr>
        <p:spPr>
          <a:xfrm>
            <a:off x="1371600" y="11734800"/>
            <a:ext cx="10972800" cy="9601200"/>
          </a:xfrm>
          <a:prstGeom prst="rect">
            <a:avLst/>
          </a:prstGeom>
        </p:spPr>
        <p:txBody>
          <a:bodyPr/>
          <a:lstStyle/>
          <a:p>
            <a:r>
              <a:rPr lang="en-US" sz="800" dirty="0"/>
              <a:t>log transformation. It is used because customer spending often has extreme outliers. After transformation, the patterns among normal customers become</a:t>
            </a:r>
          </a:p>
          <a:p>
            <a:endParaRPr lang="en-US" sz="800" dirty="0"/>
          </a:p>
          <a:p>
            <a:r>
              <a:rPr lang="en-US" sz="800" dirty="0"/>
              <a:t> easier for </a:t>
            </a:r>
          </a:p>
          <a:p>
            <a:endParaRPr lang="en-US" sz="800" dirty="0"/>
          </a:p>
          <a:p>
            <a:r>
              <a:rPr lang="en-US" sz="800" dirty="0"/>
              <a:t>the model to see.</a:t>
            </a:r>
            <a:endParaRPr lang="en-US" dirty="0"/>
          </a:p>
        </p:txBody>
      </p:sp>
    </p:spTree>
    <p:extLst>
      <p:ext uri="{BB962C8B-B14F-4D97-AF65-F5344CB8AC3E}">
        <p14:creationId xmlns:p14="http://schemas.microsoft.com/office/powerpoint/2010/main" val="29139782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28992-81FB-C6E2-C148-35085B6CFA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0C2BB-1C05-0C35-3527-AEF5E5A64A1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1757A541-A4FA-D3ED-849D-9E2E6CC9339A}"/>
              </a:ext>
            </a:extLst>
          </p:cNvPr>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This slide compares values before and after log transformation. Before transformation, very large values can dominate the scale. After transformation, the data becomes more balanced and easier to use in clustering.</a:t>
            </a:r>
            <a:endParaRPr lang="en-US" dirty="0"/>
          </a:p>
          <a:p>
            <a:endParaRPr lang="en-US" dirty="0"/>
          </a:p>
        </p:txBody>
      </p:sp>
    </p:spTree>
    <p:extLst>
      <p:ext uri="{BB962C8B-B14F-4D97-AF65-F5344CB8AC3E}">
        <p14:creationId xmlns:p14="http://schemas.microsoft.com/office/powerpoint/2010/main" val="27801911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28FE8-6D7B-C8B1-F255-B8E81B974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CF014-DAB9-FFDF-41D6-045281B42A3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637BAB3A-A05F-E629-C80A-EB588A098DD7}"/>
              </a:ext>
            </a:extLst>
          </p:cNvPr>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This slide explains standardization. Because K-means and MDFCM use distance, all features must be placed on a similar scale. Min-max scaling changes the values to a range between 0 and 1 so that monetary value does not overpower other variables.</a:t>
            </a:r>
            <a:endParaRPr lang="en-US" dirty="0"/>
          </a:p>
          <a:p>
            <a:endParaRPr lang="en-US" dirty="0"/>
          </a:p>
        </p:txBody>
      </p:sp>
    </p:spTree>
    <p:extLst>
      <p:ext uri="{BB962C8B-B14F-4D97-AF65-F5344CB8AC3E}">
        <p14:creationId xmlns:p14="http://schemas.microsoft.com/office/powerpoint/2010/main" val="26923270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ZA" dirty="0"/>
              <a:t>And now to the core section of the methodology  the model development </a:t>
            </a:r>
          </a:p>
        </p:txBody>
      </p:sp>
    </p:spTree>
    <p:extLst>
      <p:ext uri="{BB962C8B-B14F-4D97-AF65-F5344CB8AC3E}">
        <p14:creationId xmlns:p14="http://schemas.microsoft.com/office/powerpoint/2010/main" val="27635658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ZA" dirty="0"/>
              <a:t>We now look at  Database creation,  data synthesis initial baseline Dynamic Loop final segments dashboard interface</a:t>
            </a:r>
          </a:p>
        </p:txBody>
      </p:sp>
    </p:spTree>
    <p:extLst>
      <p:ext uri="{BB962C8B-B14F-4D97-AF65-F5344CB8AC3E}">
        <p14:creationId xmlns:p14="http://schemas.microsoft.com/office/powerpoint/2010/main" val="38639716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202C8F"/>
                </a:solidFill>
              </a:rPr>
              <a:t>The database was created to serve as the memory layer of the dynamic customer segmentation system. Since the model operates across sequential time cycles, customer-level features, baseline clusters, dynamic updates, and customer migration records must be stored and retrieved efficiently.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800" dirty="0">
              <a:solidFill>
                <a:srgbClr val="202C8F"/>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202C8F"/>
                </a:solidFill>
              </a:rPr>
              <a:t>this DATABASE allows the model to retrieve previous centroids, previous segment labels, and previous RFM values when processing a new monthly batch.</a:t>
            </a:r>
          </a:p>
          <a:p>
            <a:endParaRPr lang="en-ZA" dirty="0"/>
          </a:p>
        </p:txBody>
      </p:sp>
    </p:spTree>
    <p:extLst>
      <p:ext uri="{BB962C8B-B14F-4D97-AF65-F5344CB8AC3E}">
        <p14:creationId xmlns:p14="http://schemas.microsoft.com/office/powerpoint/2010/main" val="587523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D5480-356D-8C25-C6B7-BB3C9ED33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F4773-5043-E764-3A33-8060A7EE44B5}"/>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F20D65B2-B403-5751-70B5-0D756B693344}"/>
              </a:ext>
            </a:extLst>
          </p:cNvPr>
          <p:cNvSpPr>
            <a:spLocks noGrp="1"/>
          </p:cNvSpPr>
          <p:nvPr>
            <p:ph type="body" idx="1"/>
          </p:nvPr>
        </p:nvSpPr>
        <p:spPr>
          <a:xfrm>
            <a:off x="1371600" y="11734800"/>
            <a:ext cx="10972800" cy="9601200"/>
          </a:xfrm>
          <a:prstGeom prst="rect">
            <a:avLst/>
          </a:prstGeom>
        </p:spPr>
        <p:txBody>
          <a:bodyPr/>
          <a:lstStyle/>
          <a:p>
            <a:r>
              <a:rPr lang="en-US" sz="800" dirty="0"/>
              <a:t>A snapshot record OF a customer’s RFM values, segment, membership strength and profile information at a specific time cycle. The example shows a customer moving from a </a:t>
            </a:r>
            <a:r>
              <a:rPr lang="en-US" sz="800" dirty="0" err="1"/>
              <a:t>loy</a:t>
            </a:r>
            <a:r>
              <a:rPr lang="en-US" sz="800" dirty="0"/>
              <a:t> al segment to an at-risk segment as their buying activity decreases. </a:t>
            </a:r>
          </a:p>
          <a:p>
            <a:endParaRPr lang="en-US" sz="800"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800" dirty="0">
              <a:solidFill>
                <a:srgbClr val="202C8F"/>
              </a:solidFill>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202C8F"/>
                </a:solidFill>
              </a:rPr>
              <a:t>Customer 1001 moved from Segment 1 to Segment 3.</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202C8F"/>
                </a:solidFill>
              </a:rPr>
              <a:t>Their frequency dropped.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202C8F"/>
                </a:solidFill>
              </a:rPr>
              <a:t>Their spending dropped.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202C8F"/>
                </a:solidFill>
              </a:rPr>
              <a:t>Their recency increased.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202C8F"/>
                </a:solidFill>
              </a:rPr>
              <a:t>Therefore, they migrated from Loyal/High Value to At-Risk.</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solidFill>
                  <a:srgbClr val="202C8F"/>
                </a:solidFill>
              </a:rPr>
              <a:t>THIS IS THE EXAMPLE OF THE SIMPLEST SNAPSHOT RECORD YOU COULD FIND </a:t>
            </a:r>
          </a:p>
          <a:p>
            <a:endParaRPr lang="en-ZA" dirty="0"/>
          </a:p>
        </p:txBody>
      </p:sp>
    </p:spTree>
    <p:extLst>
      <p:ext uri="{BB962C8B-B14F-4D97-AF65-F5344CB8AC3E}">
        <p14:creationId xmlns:p14="http://schemas.microsoft.com/office/powerpoint/2010/main" val="15531750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B02FF-B95E-A071-960C-F9DCE7B7E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D9D32-AC18-3CA8-C987-BEA205ECABD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F8AB20D1-E9F6-D32F-D3F3-8DE2A3F7EC37}"/>
              </a:ext>
            </a:extLst>
          </p:cNvPr>
          <p:cNvSpPr>
            <a:spLocks noGrp="1"/>
          </p:cNvSpPr>
          <p:nvPr>
            <p:ph type="body" idx="1"/>
          </p:nvPr>
        </p:nvSpPr>
        <p:spPr>
          <a:xfrm>
            <a:off x="1371600" y="11734800"/>
            <a:ext cx="10972800" cy="9601200"/>
          </a:xfrm>
          <a:prstGeom prst="rect">
            <a:avLst/>
          </a:prstGeom>
        </p:spPr>
        <p:txBody>
          <a:bodyPr/>
          <a:lstStyle/>
          <a:p>
            <a:r>
              <a:rPr lang="en-US" sz="800" dirty="0"/>
              <a:t>This slide shows the database algorithm. The system creates the customer, preprocessing, baseline and dynamic loop tables, then links them using customer and cycle IDs. This makes it possible to store and retrieve customer history across time.  </a:t>
            </a:r>
          </a:p>
          <a:p>
            <a:endParaRPr lang="en-US" sz="800" dirty="0"/>
          </a:p>
          <a:p>
            <a:endParaRPr lang="en-US" dirty="0"/>
          </a:p>
          <a:p>
            <a:endParaRPr lang="en-ZA" dirty="0"/>
          </a:p>
        </p:txBody>
      </p:sp>
    </p:spTree>
    <p:extLst>
      <p:ext uri="{BB962C8B-B14F-4D97-AF65-F5344CB8AC3E}">
        <p14:creationId xmlns:p14="http://schemas.microsoft.com/office/powerpoint/2010/main" val="31879331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75570-E798-F46B-6A36-60048BFC3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E79B6B-5784-6551-B2F5-440E3977533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88F5B1BF-D7A3-046C-F1E9-A82D6FE5589C}"/>
              </a:ext>
            </a:extLst>
          </p:cNvPr>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solidFill>
                  <a:srgbClr val="202C8F"/>
                </a:solidFill>
              </a:rPr>
              <a:t>Data synthesis was used to enrich the transactional dataset with additional customer descriptors that were not fully available in the original data.</a:t>
            </a:r>
            <a:endParaRPr lang="en-ZA" dirty="0">
              <a:solidFill>
                <a:srgbClr val="202C8F"/>
              </a:solidFill>
            </a:endParaRPr>
          </a:p>
          <a:p>
            <a:endParaRPr lang="en-ZA" dirty="0"/>
          </a:p>
          <a:p>
            <a:endParaRPr lang="en-ZA" dirty="0"/>
          </a:p>
          <a:p>
            <a:pPr marL="0" marR="0" lvl="0" indent="0" algn="l" defTabSz="457200" rtl="0" eaLnBrk="1" fontAlgn="auto" latinLnBrk="0" hangingPunct="1">
              <a:lnSpc>
                <a:spcPct val="100000"/>
              </a:lnSpc>
              <a:spcBef>
                <a:spcPts val="0"/>
              </a:spcBef>
              <a:spcAft>
                <a:spcPts val="0"/>
              </a:spcAft>
              <a:buClrTx/>
              <a:buSzTx/>
              <a:buFontTx/>
              <a:buNone/>
              <a:tabLst/>
              <a:defRPr/>
            </a:pPr>
            <a:r>
              <a:rPr lang="en-ZA" b="1" dirty="0">
                <a:solidFill>
                  <a:srgbClr val="FFC000"/>
                </a:solidFill>
              </a:rPr>
              <a:t>Why Data Synthesis?</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ZA" b="1" dirty="0">
              <a:solidFill>
                <a:srgbClr val="FFC000"/>
              </a:solidFill>
            </a:endParaRPr>
          </a:p>
          <a:p>
            <a:pPr>
              <a:spcAft>
                <a:spcPts val="1200"/>
              </a:spcAft>
              <a:buFont typeface="Arial" panose="020B0604020202020204" pitchFamily="34" charset="0"/>
              <a:buNone/>
            </a:pPr>
            <a:r>
              <a:rPr lang="en-US" dirty="0">
                <a:solidFill>
                  <a:srgbClr val="202C8F"/>
                </a:solidFill>
              </a:rPr>
              <a:t>DATA SYNTHESIS HELPS US understand CUSTOMERS       BEYOND WHAT THEY BUY we get to know </a:t>
            </a:r>
            <a:r>
              <a:rPr lang="en-US" i="1" dirty="0">
                <a:solidFill>
                  <a:srgbClr val="202C8F"/>
                </a:solidFill>
              </a:rPr>
              <a:t>who are they</a:t>
            </a:r>
            <a:r>
              <a:rPr lang="en-US" dirty="0">
                <a:solidFill>
                  <a:srgbClr val="202C8F"/>
                </a:solidFill>
              </a:rPr>
              <a:t>. </a:t>
            </a:r>
          </a:p>
          <a:p>
            <a:pPr>
              <a:spcAft>
                <a:spcPts val="1200"/>
              </a:spcAft>
              <a:buFont typeface="Arial" panose="020B0604020202020204" pitchFamily="34" charset="0"/>
              <a:buChar char="•"/>
            </a:pPr>
            <a:endParaRPr lang="en-US" dirty="0">
              <a:solidFill>
                <a:srgbClr val="202C8F"/>
              </a:solidFill>
            </a:endParaRPr>
          </a:p>
          <a:p>
            <a:pPr>
              <a:spcAft>
                <a:spcPts val="1200"/>
              </a:spcAft>
              <a:buFont typeface="Arial" panose="020B0604020202020204" pitchFamily="34" charset="0"/>
              <a:buChar char="•"/>
            </a:pPr>
            <a:r>
              <a:rPr lang="en-US" b="1" dirty="0">
                <a:solidFill>
                  <a:srgbClr val="202C8F"/>
                </a:solidFill>
              </a:rPr>
              <a:t>This </a:t>
            </a:r>
            <a:r>
              <a:rPr lang="en-US" dirty="0">
                <a:solidFill>
                  <a:srgbClr val="202C8F"/>
                </a:solidFill>
              </a:rPr>
              <a:t>helps to create more meaningful customer segments, allowing the business to design better marketing strategies, retention actions, and personalized offers. </a:t>
            </a:r>
          </a:p>
          <a:p>
            <a:pPr>
              <a:spcAft>
                <a:spcPts val="1200"/>
              </a:spcAft>
              <a:buFont typeface="Arial" panose="020B0604020202020204" pitchFamily="34" charset="0"/>
              <a:buChar char="•"/>
            </a:pPr>
            <a:endParaRPr lang="en-US" dirty="0">
              <a:solidFill>
                <a:srgbClr val="202C8F"/>
              </a:solidFill>
            </a:endParaRPr>
          </a:p>
          <a:p>
            <a:pPr marL="0" marR="0" lvl="0" indent="0" algn="l" defTabSz="4572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synthetic customer-profile variables make the dataset more realistic for a cosmetic business. Demographic variables such as name, contact details, age, and gender help simulate how a business would personalize communication and understand customer groups. Geographic variables such as region and climate zone are also important because cosmetic needs can differ according to environmental conditions. For example, customers in hot or humid areas may need sunscreen or oil-control products, while customers in dry areas may need moisturizers and hydrating skincare. These variables enrich the segmentation output and make the final customer profiles more useful for business decision-making.</a:t>
            </a:r>
            <a:endParaRPr lang="en-US" dirty="0">
              <a:solidFill>
                <a:srgbClr val="202C8F"/>
              </a:solidFill>
            </a:endParaRPr>
          </a:p>
          <a:p>
            <a:pPr>
              <a:spcAft>
                <a:spcPts val="1200"/>
              </a:spcAft>
              <a:buFont typeface="Arial" panose="020B0604020202020204" pitchFamily="34" charset="0"/>
              <a:buNone/>
            </a:pPr>
            <a:endParaRPr lang="en-US" dirty="0">
              <a:solidFill>
                <a:srgbClr val="202C8F"/>
              </a:solidFill>
            </a:endParaRPr>
          </a:p>
          <a:p>
            <a:pPr>
              <a:spcAft>
                <a:spcPts val="1200"/>
              </a:spcAft>
              <a:buFont typeface="Arial" panose="020B0604020202020204" pitchFamily="34" charset="0"/>
              <a:buNone/>
            </a:pPr>
            <a:r>
              <a:rPr lang="en-US" dirty="0">
                <a:solidFill>
                  <a:srgbClr val="202C8F"/>
                </a:solidFill>
              </a:rPr>
              <a:t>So in simply terms </a:t>
            </a:r>
          </a:p>
          <a:p>
            <a:r>
              <a:rPr lang="en-US" dirty="0"/>
              <a:t>Age - Supports age-group profiling</a:t>
            </a:r>
          </a:p>
          <a:p>
            <a:r>
              <a:rPr lang="en-ZA" dirty="0"/>
              <a:t>Gender - Helps describe segment composition</a:t>
            </a:r>
          </a:p>
          <a:p>
            <a:r>
              <a:rPr lang="en-US" dirty="0"/>
              <a:t>Region / residential area - Supports location-based targeting  since one of the datasets belongs to cosmetic business</a:t>
            </a:r>
          </a:p>
          <a:p>
            <a:r>
              <a:rPr lang="en-ZA" dirty="0"/>
              <a:t>Persona profile - Helps interpret customer lifestyle or preference pattern</a:t>
            </a:r>
          </a:p>
          <a:p>
            <a:endParaRPr lang="en-ZA" dirty="0"/>
          </a:p>
          <a:p>
            <a:endParaRPr lang="en-US" dirty="0"/>
          </a:p>
          <a:p>
            <a:endParaRPr lang="en-US" dirty="0"/>
          </a:p>
          <a:p>
            <a:endParaRPr lang="en-ZA" dirty="0"/>
          </a:p>
        </p:txBody>
      </p:sp>
    </p:spTree>
    <p:extLst>
      <p:ext uri="{BB962C8B-B14F-4D97-AF65-F5344CB8AC3E}">
        <p14:creationId xmlns:p14="http://schemas.microsoft.com/office/powerpoint/2010/main" val="3463692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1371600" y="11734800"/>
            <a:ext cx="10972800" cy="9601200"/>
          </a:xfrm>
          <a:prstGeom prst="rect">
            <a:avLst/>
          </a:prstGeom>
        </p:spPr>
        <p:txBody>
          <a:bodyPr/>
          <a:lstStyle/>
          <a:p>
            <a:r>
              <a:rPr lang="en-ZA" dirty="0"/>
              <a:t>The behavioural feature vector  concatenated with the </a:t>
            </a:r>
            <a:r>
              <a:rPr lang="en-ZA" dirty="0" err="1"/>
              <a:t>the</a:t>
            </a:r>
            <a:r>
              <a:rPr lang="en-ZA" dirty="0"/>
              <a:t> synthesized profile vector  providing us the final enriched customer vector</a:t>
            </a:r>
          </a:p>
        </p:txBody>
      </p:sp>
    </p:spTree>
    <p:extLst>
      <p:ext uri="{BB962C8B-B14F-4D97-AF65-F5344CB8AC3E}">
        <p14:creationId xmlns:p14="http://schemas.microsoft.com/office/powerpoint/2010/main" val="31073641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In this phase, K-means is used to create the first baseline segmentation structure. This is done only on Cycle 0, which represents the first chronological batch of customer data. The aim is not yet to track migration, but to create the first set of clusters and centroids. These centroids act as the starting reference points for the dynamic loop. Later, MDFCM and use this baseline structure to update segments as new monthly data arrives.</a:t>
            </a:r>
            <a:endParaRPr lang="en-ZA" dirty="0"/>
          </a:p>
        </p:txBody>
      </p:sp>
    </p:spTree>
    <p:extLst>
      <p:ext uri="{BB962C8B-B14F-4D97-AF65-F5344CB8AC3E}">
        <p14:creationId xmlns:p14="http://schemas.microsoft.com/office/powerpoint/2010/main" val="42076488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9D919-2AC9-1C25-FA08-9C6D1A222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DF5DC-DF37-898D-A41E-DD40B2B9EA2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D96C0D7D-60E1-22EA-DDB1-4046AFB67A75}"/>
              </a:ext>
            </a:extLst>
          </p:cNvPr>
          <p:cNvSpPr>
            <a:spLocks noGrp="1"/>
          </p:cNvSpPr>
          <p:nvPr>
            <p:ph type="body" idx="1"/>
          </p:nvPr>
        </p:nvSpPr>
        <p:spPr>
          <a:xfrm>
            <a:off x="1371600" y="11734800"/>
            <a:ext cx="10972800" cy="9601200"/>
          </a:xfrm>
          <a:prstGeom prst="rect">
            <a:avLst/>
          </a:prstGeom>
        </p:spPr>
        <p:txBody>
          <a:bodyPr/>
          <a:lstStyle/>
          <a:p>
            <a:r>
              <a:rPr lang="en-US" dirty="0"/>
              <a:t>If K is too small:</a:t>
            </a:r>
            <a:br>
              <a:rPr lang="en-US" dirty="0"/>
            </a:br>
            <a:r>
              <a:rPr lang="en-US" dirty="0"/>
              <a:t>Clusters are too broad and customers are grouped too generally.</a:t>
            </a:r>
            <a:br>
              <a:rPr lang="en-US" dirty="0"/>
            </a:br>
            <a:br>
              <a:rPr lang="en-US" dirty="0"/>
            </a:br>
            <a:r>
              <a:rPr lang="en-US" dirty="0"/>
              <a:t>If K is too large:</a:t>
            </a:r>
            <a:br>
              <a:rPr lang="en-US" dirty="0"/>
            </a:br>
            <a:r>
              <a:rPr lang="en-US" dirty="0"/>
              <a:t>Clusters become too fragmented and harder to interpret.</a:t>
            </a:r>
            <a:br>
              <a:rPr lang="en-US" dirty="0"/>
            </a:br>
            <a:br>
              <a:rPr lang="en-US" dirty="0"/>
            </a:br>
            <a:r>
              <a:rPr lang="en-US" dirty="0"/>
              <a:t>Optimal K:</a:t>
            </a:r>
            <a:br>
              <a:rPr lang="en-US" dirty="0"/>
            </a:br>
            <a:r>
              <a:rPr lang="en-US" dirty="0"/>
              <a:t>Balances compactness and interpretability.</a:t>
            </a:r>
          </a:p>
          <a:p>
            <a:endParaRPr lang="en-US" dirty="0"/>
          </a:p>
          <a:p>
            <a:r>
              <a:rPr lang="en-US" dirty="0"/>
              <a:t>The elbow point is the value of K where the WCSS curve starts to flatten. Before this point, adding more clusters gives a strong improvement. After this point, adding more clusters only gives a small reduction in WCSS. This is why the elbow point is selected as the optimal K. The goal is to avoid too few clusters, which would be too general, and too many clusters, which would make the results difficult to interpret.</a:t>
            </a:r>
            <a:endParaRPr lang="en-ZA" dirty="0"/>
          </a:p>
        </p:txBody>
      </p:sp>
    </p:spTree>
    <p:extLst>
      <p:ext uri="{BB962C8B-B14F-4D97-AF65-F5344CB8AC3E}">
        <p14:creationId xmlns:p14="http://schemas.microsoft.com/office/powerpoint/2010/main" val="24703285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168F7-7911-AFA1-C0B2-D7BE17F51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BD446-A6A7-F81E-65F6-BBDCD12D75F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743DC38E-3186-36F8-0D88-D794862AADDA}"/>
              </a:ext>
            </a:extLst>
          </p:cNvPr>
          <p:cNvSpPr>
            <a:spLocks noGrp="1"/>
          </p:cNvSpPr>
          <p:nvPr>
            <p:ph type="body" idx="1"/>
          </p:nvPr>
        </p:nvSpPr>
        <p:spPr>
          <a:xfrm>
            <a:off x="1371600" y="11734800"/>
            <a:ext cx="10972800" cy="9601200"/>
          </a:xfrm>
          <a:prstGeom prst="rect">
            <a:avLst/>
          </a:prstGeom>
        </p:spPr>
        <p:txBody>
          <a:bodyPr/>
          <a:lstStyle/>
          <a:p>
            <a:r>
              <a:rPr lang="en-US" dirty="0"/>
              <a:t>Once the optimal K has been selected, I then apply the final K-means model using that K value. Each customer is assigned to the nearest centroid based on the selected training features. The centroids are then recalculated, and the process repeats until the cluster assignments stop changing. The output of this stage is the final baseline cluster label for each customer and the centroid for each cluster.</a:t>
            </a:r>
          </a:p>
          <a:p>
            <a:endParaRPr lang="en-US" dirty="0"/>
          </a:p>
          <a:p>
            <a:r>
              <a:rPr lang="en-US" dirty="0"/>
              <a:t>Storing these outputs is important because the dynamic model needs a baseline reference when it updates customer segments in later time cycles.</a:t>
            </a:r>
            <a:endParaRPr lang="en-ZA" dirty="0"/>
          </a:p>
        </p:txBody>
      </p:sp>
    </p:spTree>
    <p:extLst>
      <p:ext uri="{BB962C8B-B14F-4D97-AF65-F5344CB8AC3E}">
        <p14:creationId xmlns:p14="http://schemas.microsoft.com/office/powerpoint/2010/main" val="32281486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4164E-C4A2-C14F-1C2D-D0708FBB20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45F24-2388-9BD2-B33A-FEF0DBE2110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F79D713-C58E-13DC-E7EA-9DA4F7566894}"/>
                  </a:ext>
                </a:extLst>
              </p:cNvPr>
              <p:cNvSpPr>
                <a:spLocks noGrp="1"/>
              </p:cNvSpPr>
              <p:nvPr>
                <p:ph type="body" idx="1"/>
              </p:nvPr>
            </p:nvSpPr>
            <p:spPr>
              <a:xfrm>
                <a:off x="1371600" y="11734800"/>
                <a:ext cx="10972800" cy="9601200"/>
              </a:xfrm>
              <a:prstGeom prst="rect">
                <a:avLst/>
              </a:prstGeom>
            </p:spPr>
            <p:txBody>
              <a:bodyPr/>
              <a:lstStyle/>
              <a:p>
                <a:r>
                  <a:rPr lang="en-ZA" dirty="0"/>
                  <a:t>the Silhouette Score is calculated to evaluate cluster quality. A higher score indicates that customers are close to members of their own cluster and far from customers in other clusters. This confirms whether the baseline segmentation is meaningful before it is passed into the dynamic segmentation loop.  </a:t>
                </a:r>
              </a:p>
              <a:p>
                <a:endParaRPr lang="en-US" dirty="0"/>
              </a:p>
              <a:p>
                <a:r>
                  <a:rPr lang="en-US" dirty="0"/>
                  <a:t>This metric checks both cohesion and separation. Cohesion means how close a customer is to other customers in the same cluster, while separation means how far that customer is from the nearest alternative cluster. The score ranges from negative one to one. A score close to one means the clusters are well separated, a score around zero means the clusters overlap, and a negative score suggests that some customers may have been assigned to the wrong cluster. This evaluation confirms whether the Cycle 0 baseline is strong enough before it is used in the dynamic segmentation phase.</a:t>
                </a:r>
                <a:endParaRPr lang="en-ZA" dirty="0"/>
              </a:p>
            </p:txBody>
          </p:sp>
        </mc:Choice>
        <mc:Fallback xmlns="">
          <p:sp>
            <p:nvSpPr>
              <p:cNvPr id="3" name="Notes Placeholder 2">
                <a:extLst>
                  <a:ext uri="{FF2B5EF4-FFF2-40B4-BE49-F238E27FC236}">
                    <a16:creationId xmlns:a16="http://schemas.microsoft.com/office/drawing/2014/main" id="{0F79D713-C58E-13DC-E7EA-9DA4F7566894}"/>
                  </a:ext>
                </a:extLst>
              </p:cNvPr>
              <p:cNvSpPr>
                <a:spLocks noGrp="1"/>
              </p:cNvSpPr>
              <p:nvPr>
                <p:ph type="body" idx="1"/>
              </p:nvPr>
            </p:nvSpPr>
            <p:spPr>
              <a:xfrm>
                <a:off x="1371600" y="11734800"/>
                <a:ext cx="10972800" cy="9601200"/>
              </a:xfrm>
              <a:prstGeom prst="rect">
                <a:avLst/>
              </a:prstGeom>
            </p:spPr>
            <p:txBody>
              <a:bodyPr/>
              <a:lstStyle/>
              <a:p>
                <a:r>
                  <a:rPr lang="en-ZA" dirty="0"/>
                  <a:t>After the final K-means model is trained using the selected </a:t>
                </a:r>
                <a:r>
                  <a:rPr lang="ar-AE" sz="600" i="0" kern="1200">
                    <a:solidFill>
                      <a:schemeClr val="tx1"/>
                    </a:solidFill>
                    <a:latin typeface="+mn-lt"/>
                    <a:ea typeface="+mn-ea"/>
                    <a:cs typeface="+mn-cs"/>
                  </a:rPr>
                  <a:t>𝐾^∗</a:t>
                </a:r>
                <a:r>
                  <a:rPr lang="ar-AE" dirty="0"/>
                  <a:t>, </a:t>
                </a:r>
                <a:r>
                  <a:rPr lang="en-ZA" dirty="0"/>
                  <a:t>the Silhouette Score is calculated to evaluate cluster quality. A higher score indicates that customers are close to members of their own cluster and far from customers in other clusters. This confirms whether the baseline segmentation is meaningful before it is passed into the dynamic segmentation loop.  </a:t>
                </a:r>
              </a:p>
              <a:p>
                <a:endParaRPr lang="en-ZA" dirty="0"/>
              </a:p>
              <a:p>
                <a:r>
                  <a:rPr lang="en-US" dirty="0"/>
                  <a:t>After selecting the optimal number of clusters using the elbow method and applying the final K-means model, I evaluate the baseline model using the Silhouette Score. This metric checks both cohesion and separation. Cohesion means how close a customer is to other customers in the same cluster, while separation means how far that customer is from the nearest alternative cluster. The score ranges from negative one to one. A score close to one means the clusters are well separated, a score around zero means the clusters overlap, and a negative score suggests that some customers may have been assigned to the wrong cluster. This evaluation confirms whether the Cycle 0 baseline is strong enough before it is used in the dynamic segmentation phase.</a:t>
                </a:r>
                <a:endParaRPr lang="en-ZA" dirty="0"/>
              </a:p>
            </p:txBody>
          </p:sp>
        </mc:Fallback>
      </mc:AlternateContent>
    </p:spTree>
    <p:extLst>
      <p:ext uri="{BB962C8B-B14F-4D97-AF65-F5344CB8AC3E}">
        <p14:creationId xmlns:p14="http://schemas.microsoft.com/office/powerpoint/2010/main" val="9097363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a:xfrm>
                <a:off x="1371600" y="11734800"/>
                <a:ext cx="10972800" cy="9601200"/>
              </a:xfrm>
              <a:prstGeom prst="rect">
                <a:avLst/>
              </a:prstGeom>
            </p:spPr>
            <p:txBody>
              <a:bodyPr/>
              <a:lstStyle/>
              <a:p>
                <a:r>
                  <a:rPr lang="en-US" sz="1200" dirty="0"/>
                  <a:t>The dynamic loop is the part of the methodology where the system becomes adaptive. After K-means creates the Cycle 0 baseline, each new time cycle is processed in sequence.</a:t>
                </a:r>
              </a:p>
              <a:p>
                <a:endParaRPr lang="en-US" sz="1200" dirty="0"/>
              </a:p>
              <a:p>
                <a:r>
                  <a:rPr lang="en-US" sz="1200" dirty="0"/>
                  <a:t> The model recalculates the customer’s current </a:t>
                </a:r>
                <a:r>
                  <a:rPr lang="en-US" sz="1200" dirty="0" err="1"/>
                  <a:t>behaviour</a:t>
                </a:r>
                <a:r>
                  <a:rPr lang="en-US" sz="1200" dirty="0"/>
                  <a:t>, compares it with previous segment structures, and updates the customer’s segment. </a:t>
                </a:r>
              </a:p>
              <a:p>
                <a:endParaRPr lang="en-US" sz="1200" dirty="0"/>
              </a:p>
              <a:p>
                <a:r>
                  <a:rPr lang="en-US" sz="1200" dirty="0"/>
                  <a:t>This allows the system to track changes such as a loyal customer becoming at-risk or a low-value customer becoming more active.</a:t>
                </a:r>
              </a:p>
              <a:p>
                <a:endParaRPr lang="en-US" sz="1200" dirty="0"/>
              </a:p>
              <a:p>
                <a:r>
                  <a:rPr lang="en-US" sz="1200" dirty="0"/>
                  <a:t>The full stored customer state 𝑆_(𝑖,𝑡)represents the complete customer record stored in the database, including </a:t>
                </a:r>
                <a:r>
                  <a:rPr lang="en-US" sz="1200" dirty="0" err="1"/>
                  <a:t>behavioural</a:t>
                </a:r>
                <a:r>
                  <a:rPr lang="en-US" sz="1200" dirty="0"/>
                  <a:t>, demographic, geographic, psychographic, and identification variables. However, only the model-ready subset 𝑆_(𝑖,𝑡)^𝑡𝑟𝑎𝑖𝑛is used during clustering. This training version excludes non-clustering identifiers such as names and contact details, while retaining the </a:t>
                </a:r>
                <a:r>
                  <a:rPr lang="en-US" sz="1200" dirty="0" err="1"/>
                  <a:t>behavioural</a:t>
                </a:r>
                <a:r>
                  <a:rPr lang="en-US" sz="1200" dirty="0"/>
                  <a:t> and encoded profile variables needed to calculate distances, centroids, memberships, and segment assignments.</a:t>
                </a:r>
                <a:endParaRPr lang="en-US" sz="800" dirty="0"/>
              </a:p>
            </p:txBody>
          </p:sp>
        </mc:Choice>
        <mc:Fallback xmlns="">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The dynamic loop is the part of the methodology where the system becomes adaptive. After K-means creates the Cycle 0 baseline, each new time cycle is processed in sequence. The model recalculates the customer’s current </a:t>
                </a:r>
                <a:r>
                  <a:rPr lang="en-US" dirty="0" err="1"/>
                  <a:t>behaviour</a:t>
                </a:r>
                <a:r>
                  <a:rPr lang="en-US" dirty="0"/>
                  <a:t>, compares it with previous segment structures, and updates the customer’s segment. This allows the system to track changes such as a loyal customer becoming at-risk or a low-value customer becoming more active.</a:t>
                </a:r>
              </a:p>
              <a:p>
                <a:endParaRPr lang="en-US" dirty="0"/>
              </a:p>
              <a:p>
                <a:r>
                  <a:rPr lang="en-ZA" dirty="0"/>
                  <a:t>The full stored customer state </a:t>
                </a:r>
                <a:r>
                  <a:rPr lang="ar-AE" sz="600" i="0" kern="1200">
                    <a:solidFill>
                      <a:schemeClr val="tx1"/>
                    </a:solidFill>
                    <a:latin typeface="+mn-lt"/>
                    <a:ea typeface="+mn-ea"/>
                    <a:cs typeface="+mn-cs"/>
                  </a:rPr>
                  <a:t>𝑆_(𝑖,𝑡)</a:t>
                </a:r>
                <a:r>
                  <a:rPr lang="en-ZA" dirty="0"/>
                  <a:t>represents the complete customer record stored in the database, including behavioural, demographic, geographic, psychographic, and identification variables. However, only the model-ready subset </a:t>
                </a:r>
                <a:r>
                  <a:rPr lang="ar-AE" sz="600" i="0" kern="1200">
                    <a:solidFill>
                      <a:schemeClr val="tx1"/>
                    </a:solidFill>
                    <a:latin typeface="+mn-lt"/>
                    <a:ea typeface="+mn-ea"/>
                    <a:cs typeface="+mn-cs"/>
                  </a:rPr>
                  <a:t>𝑆_(𝑖,𝑡)^𝑡𝑟𝑎𝑖𝑛</a:t>
                </a:r>
                <a:r>
                  <a:rPr lang="en-ZA" dirty="0"/>
                  <a:t>is used during clustering. This training version excludes non-clustering identifiers such as names and contact details, while retaining the behavioural and encoded profile variables needed to calculate distances, centroids, memberships, and segment assignments.</a:t>
                </a:r>
              </a:p>
            </p:txBody>
          </p:sp>
        </mc:Fallback>
      </mc:AlternateContent>
    </p:spTree>
    <p:extLst>
      <p:ext uri="{BB962C8B-B14F-4D97-AF65-F5344CB8AC3E}">
        <p14:creationId xmlns:p14="http://schemas.microsoft.com/office/powerpoint/2010/main" val="10229033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sz="1200" dirty="0"/>
              <a:t>This slide explains centroid and membership updating. Customers with stronger membership have more influence on the updated centroid. The model then assigns each customer to the segment where they have the   highest membership score and checks whether they migrated.  </a:t>
            </a:r>
          </a:p>
          <a:p>
            <a:endParaRPr lang="en-US" sz="1200" dirty="0"/>
          </a:p>
          <a:p>
            <a:r>
              <a:rPr lang="en-US" dirty="0"/>
              <a:t>The centroid update formula shows that customers with stronger membership have more influence on the updated cluster </a:t>
            </a:r>
            <a:r>
              <a:rPr lang="en-US" dirty="0" err="1"/>
              <a:t>centre</a:t>
            </a:r>
            <a:r>
              <a:rPr lang="en-US" dirty="0"/>
              <a:t>.</a:t>
            </a:r>
          </a:p>
          <a:p>
            <a:endParaRPr lang="en-US" dirty="0"/>
          </a:p>
          <a:p>
            <a:r>
              <a:rPr lang="en-US" dirty="0"/>
              <a:t> After the fuzzy memberships are calculated, each customer is given a final segment label based on the cluster where they have the highest membership score. </a:t>
            </a:r>
          </a:p>
          <a:p>
            <a:endParaRPr lang="en-US" dirty="0"/>
          </a:p>
          <a:p>
            <a:r>
              <a:rPr lang="en-US" dirty="0"/>
              <a:t>So the model still stores a clear final segment, but it also keeps the membership score behind that decision. </a:t>
            </a:r>
          </a:p>
          <a:p>
            <a:endParaRPr lang="en-US" dirty="0"/>
          </a:p>
          <a:p>
            <a:r>
              <a:rPr lang="en-US" dirty="0"/>
              <a:t>Migration tracking is one of the most important outputs of the dynamic loop. The system compares a customer’s segment in the current cycle with their segment in the previous cycle. If the segment stayed the same, the customer is stable. If the segment changed, the customer has migrated. This allows the business to identify positive movement, such as customers becoming more valuable, and negative movement, such as loyal customers becoming at-risk.</a:t>
            </a:r>
          </a:p>
        </p:txBody>
      </p:sp>
    </p:spTree>
    <p:extLst>
      <p:ext uri="{BB962C8B-B14F-4D97-AF65-F5344CB8AC3E}">
        <p14:creationId xmlns:p14="http://schemas.microsoft.com/office/powerpoint/2010/main" val="4314053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69AE1-16E5-9158-F67E-6379F0B276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7C578-B88B-F147-DE04-8DB2CB418FA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92F72F0-3DE6-442D-2105-E60762EB886E}"/>
              </a:ext>
            </a:extLst>
          </p:cNvPr>
          <p:cNvSpPr>
            <a:spLocks noGrp="1"/>
          </p:cNvSpPr>
          <p:nvPr>
            <p:ph type="body" idx="1"/>
          </p:nvPr>
        </p:nvSpPr>
        <p:spPr>
          <a:xfrm>
            <a:off x="1371600" y="11734800"/>
            <a:ext cx="10972800" cy="9601200"/>
          </a:xfrm>
          <a:prstGeom prst="rect">
            <a:avLst/>
          </a:prstGeom>
        </p:spPr>
        <p:txBody>
          <a:bodyPr/>
          <a:lstStyle/>
          <a:p>
            <a:r>
              <a:rPr lang="en-US" sz="800" dirty="0"/>
              <a:t>After each dynamic update, the model must be evaluated. Because this stage uses fuzzy clustering, </a:t>
            </a:r>
            <a:r>
              <a:rPr lang="en-US" sz="800" dirty="0" err="1"/>
              <a:t>Ive</a:t>
            </a:r>
            <a:r>
              <a:rPr lang="en-US" sz="800" dirty="0"/>
              <a:t> gathered that Xie-Beni Index is suitable because it considers both compactness and separation. The numerator measures how close customers are to their fuzzy cluster </a:t>
            </a:r>
            <a:r>
              <a:rPr lang="en-US" sz="800" dirty="0" err="1"/>
              <a:t>centres</a:t>
            </a:r>
            <a:r>
              <a:rPr lang="en-US" sz="800" dirty="0"/>
              <a:t>, while the denominator checks how far the cluster </a:t>
            </a:r>
            <a:r>
              <a:rPr lang="en-US" sz="800" dirty="0" err="1"/>
              <a:t>centres</a:t>
            </a:r>
            <a:r>
              <a:rPr lang="en-US" sz="800" dirty="0"/>
              <a:t> are from one another. A lower Xie-Beni value usually means better fuzzy clustering. </a:t>
            </a:r>
          </a:p>
          <a:p>
            <a:endParaRPr lang="en-US" sz="8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b="1" dirty="0">
                <a:solidFill>
                  <a:srgbClr val="002060"/>
                </a:solidFill>
              </a:rPr>
              <a:t>The other intuitive  evaluation metrics  that will be observed </a:t>
            </a:r>
          </a:p>
          <a:p>
            <a:endParaRPr lang="en-US" sz="800" dirty="0"/>
          </a:p>
          <a:p>
            <a:r>
              <a:rPr lang="en-US" sz="800" dirty="0"/>
              <a:t>I can also track migration rate and segment size changes, and also check </a:t>
            </a:r>
            <a:r>
              <a:rPr lang="en-US" sz="800" dirty="0" err="1"/>
              <a:t>intuitutively</a:t>
            </a:r>
            <a:r>
              <a:rPr lang="en-US" sz="800" dirty="0"/>
              <a:t> whether customer movement makes business sense.</a:t>
            </a:r>
            <a:endParaRPr lang="en-US" dirty="0"/>
          </a:p>
        </p:txBody>
      </p:sp>
    </p:spTree>
    <p:extLst>
      <p:ext uri="{BB962C8B-B14F-4D97-AF65-F5344CB8AC3E}">
        <p14:creationId xmlns:p14="http://schemas.microsoft.com/office/powerpoint/2010/main" val="21022691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CC84-711A-1EC3-0C86-8D34824F6F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CB2E5-4D8A-35FA-CA93-D8FFF87CB66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FCB6F4D-1760-0EDD-553D-42A010266D44}"/>
              </a:ext>
            </a:extLst>
          </p:cNvPr>
          <p:cNvSpPr>
            <a:spLocks noGrp="1"/>
          </p:cNvSpPr>
          <p:nvPr>
            <p:ph type="body" idx="1"/>
          </p:nvPr>
        </p:nvSpPr>
        <p:spPr>
          <a:xfrm>
            <a:off x="1371600" y="11734800"/>
            <a:ext cx="10972800" cy="9601200"/>
          </a:xfrm>
          <a:prstGeom prst="rect">
            <a:avLst/>
          </a:prstGeom>
        </p:spPr>
        <p:txBody>
          <a:bodyPr/>
          <a:lstStyle/>
          <a:p>
            <a:r>
              <a:rPr lang="en-US" dirty="0"/>
              <a:t>These outputs allow the dashboard to show how customer segments evolve across time, which segments are growing or shrinking, and which customers require targeted retention or personalization actions.</a:t>
            </a:r>
            <a:endParaRPr lang="en-ZA" dirty="0"/>
          </a:p>
        </p:txBody>
      </p:sp>
    </p:spTree>
    <p:extLst>
      <p:ext uri="{BB962C8B-B14F-4D97-AF65-F5344CB8AC3E}">
        <p14:creationId xmlns:p14="http://schemas.microsoft.com/office/powerpoint/2010/main" val="29890743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CEFF9-CCCA-26BD-18A9-FF58E2AAA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47262-0A5F-A353-B643-00D396ECB65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C3628591-7F86-83AA-FC51-5B47603E786A}"/>
              </a:ext>
            </a:extLst>
          </p:cNvPr>
          <p:cNvSpPr>
            <a:spLocks noGrp="1"/>
          </p:cNvSpPr>
          <p:nvPr>
            <p:ph type="body" idx="1"/>
          </p:nvPr>
        </p:nvSpPr>
        <p:spPr>
          <a:xfrm>
            <a:off x="1371600" y="11734800"/>
            <a:ext cx="10972800" cy="9601200"/>
          </a:xfrm>
          <a:prstGeom prst="rect">
            <a:avLst/>
          </a:prstGeom>
        </p:spPr>
        <p:txBody>
          <a:bodyPr/>
          <a:lstStyle/>
          <a:p>
            <a:r>
              <a:rPr lang="en-US" dirty="0"/>
              <a:t>Final segment resolution transforms model outputs into business-friendly customer groups. Instead of displaying only cluster numbers, the system interprets each segment using RFM </a:t>
            </a:r>
            <a:r>
              <a:rPr lang="en-US" dirty="0" err="1"/>
              <a:t>behaviour</a:t>
            </a:r>
            <a:r>
              <a:rPr lang="en-US" dirty="0"/>
              <a:t>, membership strength, migration status, and profile variables. These final segment labels are then stored and fetched by the dashboard for visualization and decision support.</a:t>
            </a:r>
          </a:p>
          <a:p>
            <a:endParaRPr lang="en-US" dirty="0"/>
          </a:p>
          <a:p>
            <a:r>
              <a:rPr lang="en-US" dirty="0"/>
              <a:t>In dynamic customer segmentation final interpretation is important because managers need to observe movement, creation, and elimination of segments over time before choosing marketing strategies. </a:t>
            </a:r>
            <a:endParaRPr lang="en-ZA" dirty="0"/>
          </a:p>
        </p:txBody>
      </p:sp>
    </p:spTree>
    <p:extLst>
      <p:ext uri="{BB962C8B-B14F-4D97-AF65-F5344CB8AC3E}">
        <p14:creationId xmlns:p14="http://schemas.microsoft.com/office/powerpoint/2010/main" val="24799406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0D9A2-DF97-B638-EBD2-75F34FB7B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0636D-11F4-3570-C796-54583A72332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CD0CCB2-10FA-E4C7-60E3-1856E6C9A4E8}"/>
              </a:ext>
            </a:extLst>
          </p:cNvPr>
          <p:cNvSpPr>
            <a:spLocks noGrp="1"/>
          </p:cNvSpPr>
          <p:nvPr>
            <p:ph type="body" idx="1"/>
          </p:nvPr>
        </p:nvSpPr>
        <p:spPr>
          <a:xfrm>
            <a:off x="1371600" y="11734800"/>
            <a:ext cx="10972800" cy="9601200"/>
          </a:xfrm>
          <a:prstGeom prst="rect">
            <a:avLst/>
          </a:prstGeom>
        </p:spPr>
        <p:txBody>
          <a:bodyPr/>
          <a:lstStyle/>
          <a:p>
            <a:pPr marL="0" marR="0" indent="0" algn="l">
              <a:lnSpc>
                <a:spcPct val="100000"/>
              </a:lnSpc>
              <a:spcBef>
                <a:spcPts val="600"/>
              </a:spcBef>
              <a:spcAft>
                <a:spcPct val="0"/>
              </a:spcAft>
              <a:buNone/>
            </a:pPr>
            <a:r>
              <a:rPr lang="en-US" sz="800" b="0" dirty="0">
                <a:solidFill>
                  <a:schemeClr val="accent6"/>
                </a:solidFill>
              </a:rPr>
              <a:t>The interface wireframe includes a Home page, Model overview, and dedicated Simulation A and Simulation B dashboards each with 7 sub-sections: </a:t>
            </a:r>
          </a:p>
          <a:p>
            <a:pPr marL="285750" marR="0" indent="-285750" algn="l">
              <a:lnSpc>
                <a:spcPct val="100000"/>
              </a:lnSpc>
              <a:spcBef>
                <a:spcPts val="600"/>
              </a:spcBef>
              <a:spcAft>
                <a:spcPct val="0"/>
              </a:spcAft>
              <a:buFont typeface="Arial" panose="020B0604020202020204" pitchFamily="34" charset="0"/>
              <a:buChar char="•"/>
            </a:pPr>
            <a:r>
              <a:rPr lang="en-US" sz="800" b="0" dirty="0">
                <a:solidFill>
                  <a:schemeClr val="accent6"/>
                </a:solidFill>
              </a:rPr>
              <a:t>Overview</a:t>
            </a:r>
          </a:p>
          <a:p>
            <a:pPr marL="285750" marR="0" indent="-285750" algn="l">
              <a:lnSpc>
                <a:spcPct val="100000"/>
              </a:lnSpc>
              <a:spcBef>
                <a:spcPts val="600"/>
              </a:spcBef>
              <a:spcAft>
                <a:spcPct val="0"/>
              </a:spcAft>
              <a:buFont typeface="Arial" panose="020B0604020202020204" pitchFamily="34" charset="0"/>
              <a:buChar char="•"/>
            </a:pPr>
            <a:r>
              <a:rPr lang="en-US" sz="800" b="0" dirty="0">
                <a:solidFill>
                  <a:schemeClr val="accent6"/>
                </a:solidFill>
              </a:rPr>
              <a:t>Data &amp; Features</a:t>
            </a:r>
          </a:p>
          <a:p>
            <a:pPr marL="285750" marR="0" indent="-285750" algn="l">
              <a:lnSpc>
                <a:spcPct val="100000"/>
              </a:lnSpc>
              <a:spcBef>
                <a:spcPts val="600"/>
              </a:spcBef>
              <a:spcAft>
                <a:spcPct val="0"/>
              </a:spcAft>
              <a:buFont typeface="Arial" panose="020B0604020202020204" pitchFamily="34" charset="0"/>
              <a:buChar char="•"/>
            </a:pPr>
            <a:r>
              <a:rPr lang="en-US" sz="800" b="0" dirty="0">
                <a:solidFill>
                  <a:schemeClr val="accent6"/>
                </a:solidFill>
              </a:rPr>
              <a:t> Segmentation</a:t>
            </a:r>
            <a:r>
              <a:rPr lang="en-US" sz="800" dirty="0">
                <a:solidFill>
                  <a:schemeClr val="accent6"/>
                </a:solidFill>
              </a:rPr>
              <a:t> </a:t>
            </a:r>
          </a:p>
          <a:p>
            <a:pPr marL="285750" marR="0" indent="-285750" algn="l">
              <a:lnSpc>
                <a:spcPct val="100000"/>
              </a:lnSpc>
              <a:spcBef>
                <a:spcPts val="600"/>
              </a:spcBef>
              <a:spcAft>
                <a:spcPct val="0"/>
              </a:spcAft>
              <a:buFont typeface="Arial" panose="020B0604020202020204" pitchFamily="34" charset="0"/>
              <a:buChar char="•"/>
            </a:pPr>
            <a:r>
              <a:rPr lang="en-US" sz="800" b="0" dirty="0">
                <a:solidFill>
                  <a:schemeClr val="accent6"/>
                </a:solidFill>
              </a:rPr>
              <a:t>Segments </a:t>
            </a:r>
          </a:p>
          <a:p>
            <a:pPr marL="285750" marR="0" indent="-285750" algn="l">
              <a:lnSpc>
                <a:spcPct val="100000"/>
              </a:lnSpc>
              <a:spcBef>
                <a:spcPts val="600"/>
              </a:spcBef>
              <a:spcAft>
                <a:spcPct val="0"/>
              </a:spcAft>
              <a:buFont typeface="Arial" panose="020B0604020202020204" pitchFamily="34" charset="0"/>
              <a:buChar char="•"/>
            </a:pPr>
            <a:r>
              <a:rPr lang="en-US" sz="800" b="0" dirty="0">
                <a:solidFill>
                  <a:schemeClr val="accent6"/>
                </a:solidFill>
              </a:rPr>
              <a:t>Customers</a:t>
            </a:r>
            <a:endParaRPr lang="en-US" sz="800" dirty="0">
              <a:solidFill>
                <a:schemeClr val="accent6"/>
              </a:solidFill>
            </a:endParaRPr>
          </a:p>
          <a:p>
            <a:pPr marL="285750" marR="0" indent="-285750" algn="l">
              <a:lnSpc>
                <a:spcPct val="100000"/>
              </a:lnSpc>
              <a:spcBef>
                <a:spcPts val="600"/>
              </a:spcBef>
              <a:spcAft>
                <a:spcPct val="0"/>
              </a:spcAft>
              <a:buFont typeface="Arial" panose="020B0604020202020204" pitchFamily="34" charset="0"/>
              <a:buChar char="•"/>
            </a:pPr>
            <a:r>
              <a:rPr lang="en-US" sz="800" b="0" dirty="0">
                <a:solidFill>
                  <a:schemeClr val="accent6"/>
                </a:solidFill>
              </a:rPr>
              <a:t> Insights &amp; Actions</a:t>
            </a:r>
          </a:p>
          <a:p>
            <a:pPr marL="285750" marR="0" indent="-285750" algn="l">
              <a:lnSpc>
                <a:spcPct val="100000"/>
              </a:lnSpc>
              <a:spcBef>
                <a:spcPts val="600"/>
              </a:spcBef>
              <a:spcAft>
                <a:spcPct val="0"/>
              </a:spcAft>
              <a:buFont typeface="Arial" panose="020B0604020202020204" pitchFamily="34" charset="0"/>
              <a:buChar char="•"/>
            </a:pPr>
            <a:r>
              <a:rPr lang="en-US" sz="800" b="0" dirty="0">
                <a:solidFill>
                  <a:schemeClr val="accent6"/>
                </a:solidFill>
              </a:rPr>
              <a:t> Model Evaluation.</a:t>
            </a:r>
            <a:endParaRPr lang="en-US" dirty="0"/>
          </a:p>
          <a:p>
            <a:pPr rtl="0" eaLnBrk="1" fontAlgn="ctr" latinLnBrk="0" hangingPunct="1"/>
            <a:r>
              <a:rPr lang="en-ZA" sz="600" b="1" i="0" u="none" strike="noStrike" kern="1200" dirty="0">
                <a:solidFill>
                  <a:schemeClr val="tx1"/>
                </a:solidFill>
                <a:effectLst/>
                <a:latin typeface="+mn-lt"/>
                <a:ea typeface="+mn-ea"/>
                <a:cs typeface="+mn-cs"/>
              </a:rPr>
              <a:t>Feature</a:t>
            </a:r>
            <a:endParaRPr lang="en-ZA" sz="600" b="0" i="0" u="none" strike="noStrike" kern="1200" dirty="0">
              <a:solidFill>
                <a:schemeClr val="tx1"/>
              </a:solidFill>
              <a:effectLst/>
              <a:latin typeface="+mn-lt"/>
              <a:ea typeface="+mn-ea"/>
              <a:cs typeface="+mn-cs"/>
            </a:endParaRPr>
          </a:p>
          <a:p>
            <a:pPr rtl="0" eaLnBrk="1" fontAlgn="ctr" latinLnBrk="0" hangingPunct="1"/>
            <a:r>
              <a:rPr lang="en-ZA" sz="600" b="1" i="0" u="none" strike="noStrike" kern="1200" dirty="0">
                <a:solidFill>
                  <a:schemeClr val="tx1"/>
                </a:solidFill>
                <a:effectLst/>
                <a:latin typeface="+mn-lt"/>
                <a:ea typeface="+mn-ea"/>
                <a:cs typeface="+mn-cs"/>
              </a:rPr>
              <a:t>Purpose</a:t>
            </a:r>
            <a:endParaRPr lang="en-ZA" sz="600" b="0" i="0" u="none" strike="noStrike" kern="1200" dirty="0">
              <a:solidFill>
                <a:schemeClr val="tx1"/>
              </a:solidFill>
              <a:effectLst/>
              <a:latin typeface="+mn-lt"/>
              <a:ea typeface="+mn-ea"/>
              <a:cs typeface="+mn-cs"/>
            </a:endParaRPr>
          </a:p>
          <a:p>
            <a:pPr rtl="0" eaLnBrk="1" fontAlgn="ctr" latinLnBrk="0" hangingPunct="1"/>
            <a:r>
              <a:rPr lang="en-ZA" sz="600" b="0" i="0" u="none" strike="noStrike" kern="1200" dirty="0">
                <a:solidFill>
                  <a:schemeClr val="tx1"/>
                </a:solidFill>
                <a:effectLst/>
                <a:latin typeface="+mn-lt"/>
                <a:ea typeface="+mn-ea"/>
                <a:cs typeface="+mn-cs"/>
              </a:rPr>
              <a:t>Segment filter</a:t>
            </a:r>
          </a:p>
          <a:p>
            <a:pPr rtl="0" eaLnBrk="1" fontAlgn="ctr" latinLnBrk="0" hangingPunct="1"/>
            <a:r>
              <a:rPr lang="en-US" sz="600" b="0" i="0" u="none" strike="noStrike" kern="1200" dirty="0">
                <a:solidFill>
                  <a:schemeClr val="tx1"/>
                </a:solidFill>
                <a:effectLst/>
                <a:latin typeface="+mn-lt"/>
                <a:ea typeface="+mn-ea"/>
                <a:cs typeface="+mn-cs"/>
              </a:rPr>
              <a:t>View customers by final segment</a:t>
            </a:r>
            <a:endParaRPr lang="en-ZA" sz="600" b="0" i="0" u="none" strike="noStrike" kern="1200" dirty="0">
              <a:solidFill>
                <a:schemeClr val="tx1"/>
              </a:solidFill>
              <a:effectLst/>
              <a:latin typeface="+mn-lt"/>
              <a:ea typeface="+mn-ea"/>
              <a:cs typeface="+mn-cs"/>
            </a:endParaRPr>
          </a:p>
          <a:p>
            <a:pPr rtl="0" eaLnBrk="1" fontAlgn="ctr" latinLnBrk="0" hangingPunct="1"/>
            <a:r>
              <a:rPr lang="en-ZA" sz="600" b="0" i="0" u="none" strike="noStrike" kern="1200" dirty="0">
                <a:solidFill>
                  <a:schemeClr val="tx1"/>
                </a:solidFill>
                <a:effectLst/>
                <a:latin typeface="+mn-lt"/>
                <a:ea typeface="+mn-ea"/>
                <a:cs typeface="+mn-cs"/>
              </a:rPr>
              <a:t>Spend/frequency filters</a:t>
            </a:r>
          </a:p>
          <a:p>
            <a:pPr rtl="0" eaLnBrk="1" fontAlgn="ctr" latinLnBrk="0" hangingPunct="1"/>
            <a:r>
              <a:rPr lang="en-US" sz="600" b="0" i="0" u="none" strike="noStrike" kern="1200" dirty="0">
                <a:solidFill>
                  <a:schemeClr val="tx1"/>
                </a:solidFill>
                <a:effectLst/>
                <a:latin typeface="+mn-lt"/>
                <a:ea typeface="+mn-ea"/>
                <a:cs typeface="+mn-cs"/>
              </a:rPr>
              <a:t>Identify high-value or low-activity customers</a:t>
            </a:r>
            <a:endParaRPr lang="en-ZA" sz="600" b="0" i="0" u="none" strike="noStrike" kern="1200" dirty="0">
              <a:solidFill>
                <a:schemeClr val="tx1"/>
              </a:solidFill>
              <a:effectLst/>
              <a:latin typeface="+mn-lt"/>
              <a:ea typeface="+mn-ea"/>
              <a:cs typeface="+mn-cs"/>
            </a:endParaRPr>
          </a:p>
          <a:p>
            <a:pPr rtl="0" eaLnBrk="1" fontAlgn="ctr" latinLnBrk="0" hangingPunct="1"/>
            <a:r>
              <a:rPr lang="en-ZA" sz="600" b="0" i="0" u="none" strike="noStrike" kern="1200" dirty="0">
                <a:solidFill>
                  <a:schemeClr val="tx1"/>
                </a:solidFill>
                <a:effectLst/>
                <a:latin typeface="+mn-lt"/>
                <a:ea typeface="+mn-ea"/>
                <a:cs typeface="+mn-cs"/>
              </a:rPr>
              <a:t>Customer profile card</a:t>
            </a:r>
          </a:p>
          <a:p>
            <a:pPr rtl="0" eaLnBrk="1" fontAlgn="ctr" latinLnBrk="0" hangingPunct="1"/>
            <a:r>
              <a:rPr lang="en-US" sz="600" b="0" i="0" u="none" strike="noStrike" kern="1200" dirty="0">
                <a:solidFill>
                  <a:schemeClr val="tx1"/>
                </a:solidFill>
                <a:effectLst/>
                <a:latin typeface="+mn-lt"/>
                <a:ea typeface="+mn-ea"/>
                <a:cs typeface="+mn-cs"/>
              </a:rPr>
              <a:t>Show individual RFM </a:t>
            </a:r>
            <a:r>
              <a:rPr lang="en-US" sz="600" b="0" i="0" u="none" strike="noStrike" kern="1200" dirty="0" err="1">
                <a:solidFill>
                  <a:schemeClr val="tx1"/>
                </a:solidFill>
                <a:effectLst/>
                <a:latin typeface="+mn-lt"/>
                <a:ea typeface="+mn-ea"/>
                <a:cs typeface="+mn-cs"/>
              </a:rPr>
              <a:t>behaviour</a:t>
            </a:r>
            <a:r>
              <a:rPr lang="en-US" sz="600" b="0" i="0" u="none" strike="noStrike" kern="1200" dirty="0">
                <a:solidFill>
                  <a:schemeClr val="tx1"/>
                </a:solidFill>
                <a:effectLst/>
                <a:latin typeface="+mn-lt"/>
                <a:ea typeface="+mn-ea"/>
                <a:cs typeface="+mn-cs"/>
              </a:rPr>
              <a:t> and segment label</a:t>
            </a:r>
            <a:endParaRPr lang="en-ZA" sz="600" b="0" i="0" u="none" strike="noStrike" kern="1200" dirty="0">
              <a:solidFill>
                <a:schemeClr val="tx1"/>
              </a:solidFill>
              <a:effectLst/>
              <a:latin typeface="+mn-lt"/>
              <a:ea typeface="+mn-ea"/>
              <a:cs typeface="+mn-cs"/>
            </a:endParaRPr>
          </a:p>
          <a:p>
            <a:pPr rtl="0" eaLnBrk="1" fontAlgn="ctr" latinLnBrk="0" hangingPunct="1"/>
            <a:r>
              <a:rPr lang="en-ZA" sz="600" b="0" i="0" u="none" strike="noStrike" kern="1200" dirty="0">
                <a:solidFill>
                  <a:schemeClr val="tx1"/>
                </a:solidFill>
                <a:effectLst/>
                <a:latin typeface="+mn-lt"/>
                <a:ea typeface="+mn-ea"/>
                <a:cs typeface="+mn-cs"/>
              </a:rPr>
              <a:t>Migration status</a:t>
            </a:r>
          </a:p>
          <a:p>
            <a:pPr rtl="0" eaLnBrk="1" fontAlgn="ctr" latinLnBrk="0" hangingPunct="1"/>
            <a:r>
              <a:rPr lang="en-US" sz="600" b="0" i="0" u="none" strike="noStrike" kern="1200" dirty="0">
                <a:solidFill>
                  <a:schemeClr val="tx1"/>
                </a:solidFill>
                <a:effectLst/>
                <a:latin typeface="+mn-lt"/>
                <a:ea typeface="+mn-ea"/>
                <a:cs typeface="+mn-cs"/>
              </a:rPr>
              <a:t>Show whether the customer stayed, improved, or declined</a:t>
            </a:r>
            <a:endParaRPr lang="en-ZA" sz="600" b="0" i="0" u="none" strike="noStrike" kern="1200" dirty="0">
              <a:solidFill>
                <a:schemeClr val="tx1"/>
              </a:solidFill>
              <a:effectLst/>
              <a:latin typeface="+mn-lt"/>
              <a:ea typeface="+mn-ea"/>
              <a:cs typeface="+mn-cs"/>
            </a:endParaRPr>
          </a:p>
          <a:p>
            <a:pPr rtl="0" eaLnBrk="1" fontAlgn="ctr" latinLnBrk="0" hangingPunct="1"/>
            <a:r>
              <a:rPr lang="en-ZA" sz="600" b="0" i="0" u="none" strike="noStrike" kern="1200" dirty="0">
                <a:solidFill>
                  <a:schemeClr val="tx1"/>
                </a:solidFill>
                <a:effectLst/>
                <a:latin typeface="+mn-lt"/>
                <a:ea typeface="+mn-ea"/>
                <a:cs typeface="+mn-cs"/>
              </a:rPr>
              <a:t>Recommended action</a:t>
            </a:r>
          </a:p>
          <a:p>
            <a:pPr rtl="0" eaLnBrk="1" fontAlgn="ctr" latinLnBrk="0" hangingPunct="1"/>
            <a:r>
              <a:rPr lang="en-US" sz="600" b="0" i="0" u="none" strike="noStrike" kern="1200" dirty="0">
                <a:solidFill>
                  <a:schemeClr val="tx1"/>
                </a:solidFill>
                <a:effectLst/>
                <a:latin typeface="+mn-lt"/>
                <a:ea typeface="+mn-ea"/>
                <a:cs typeface="+mn-cs"/>
              </a:rPr>
              <a:t>Suggest retention, loyalty, or personalization strategy</a:t>
            </a:r>
            <a:endParaRPr lang="en-ZA" sz="600" b="0" i="0" u="none" strike="noStrike" kern="1200" dirty="0">
              <a:solidFill>
                <a:schemeClr val="tx1"/>
              </a:solidFill>
              <a:effectLst/>
              <a:latin typeface="+mn-lt"/>
              <a:ea typeface="+mn-ea"/>
              <a:cs typeface="+mn-cs"/>
            </a:endParaRPr>
          </a:p>
          <a:p>
            <a:endParaRPr lang="en-ZA" dirty="0"/>
          </a:p>
        </p:txBody>
      </p:sp>
    </p:spTree>
    <p:extLst>
      <p:ext uri="{BB962C8B-B14F-4D97-AF65-F5344CB8AC3E}">
        <p14:creationId xmlns:p14="http://schemas.microsoft.com/office/powerpoint/2010/main" val="41863885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indent="0" algn="l">
              <a:lnSpc>
                <a:spcPct val="100000"/>
              </a:lnSpc>
              <a:spcBef>
                <a:spcPts val="600"/>
              </a:spcBef>
              <a:spcAft>
                <a:spcPct val="0"/>
              </a:spcAft>
              <a:buNone/>
            </a:pPr>
            <a:r>
              <a:rPr lang="en-US" sz="800" b="0" dirty="0">
                <a:solidFill>
                  <a:schemeClr val="accent6"/>
                </a:solidFill>
              </a:rPr>
              <a:t>A React-based web interface (CSRS) was developed  from the wireframe designs show in the previous slides to </a:t>
            </a:r>
            <a:r>
              <a:rPr lang="en-US" sz="800" b="0" dirty="0" err="1">
                <a:solidFill>
                  <a:schemeClr val="accent6"/>
                </a:solidFill>
              </a:rPr>
              <a:t>visualise</a:t>
            </a:r>
            <a:r>
              <a:rPr lang="en-US" sz="800" b="0" dirty="0">
                <a:solidFill>
                  <a:schemeClr val="accent6"/>
                </a:solidFill>
              </a:rPr>
              <a:t> segmentation results from both simulations (Pipelines). </a:t>
            </a:r>
          </a:p>
          <a:p>
            <a:pPr marL="0" marR="0" indent="0" algn="l">
              <a:lnSpc>
                <a:spcPct val="100000"/>
              </a:lnSpc>
              <a:spcBef>
                <a:spcPts val="600"/>
              </a:spcBef>
              <a:spcAft>
                <a:spcPct val="0"/>
              </a:spcAft>
              <a:buNone/>
            </a:pPr>
            <a:endParaRPr lang="en-US" sz="800" dirty="0">
              <a:solidFill>
                <a:schemeClr val="accent6"/>
              </a:solidFill>
            </a:endParaRPr>
          </a:p>
          <a:p>
            <a:pPr marL="0" marR="0" indent="0" algn="l">
              <a:lnSpc>
                <a:spcPct val="100000"/>
              </a:lnSpc>
              <a:spcBef>
                <a:spcPts val="600"/>
              </a:spcBef>
              <a:spcAft>
                <a:spcPct val="0"/>
              </a:spcAft>
              <a:buNone/>
            </a:pPr>
            <a:endParaRPr lang="en-US" sz="800" b="0" dirty="0">
              <a:solidFill>
                <a:schemeClr val="accent6"/>
              </a:solidFill>
            </a:endParaRPr>
          </a:p>
          <a:p>
            <a:pPr marL="0" marR="0" indent="0" algn="l">
              <a:lnSpc>
                <a:spcPct val="100000"/>
              </a:lnSpc>
              <a:spcBef>
                <a:spcPts val="600"/>
              </a:spcBef>
              <a:spcAft>
                <a:spcPct val="0"/>
              </a:spcAft>
              <a:buNone/>
            </a:pPr>
            <a:endParaRPr lang="en-US" sz="800" b="0" dirty="0">
              <a:solidFill>
                <a:schemeClr val="accent6"/>
              </a:solidFill>
            </a:endParaRPr>
          </a:p>
          <a:p>
            <a:endParaRPr lang="en-ZA" dirty="0"/>
          </a:p>
        </p:txBody>
      </p:sp>
    </p:spTree>
    <p:extLst>
      <p:ext uri="{BB962C8B-B14F-4D97-AF65-F5344CB8AC3E}">
        <p14:creationId xmlns:p14="http://schemas.microsoft.com/office/powerpoint/2010/main" val="31938460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4C5F7-C8B9-0920-A629-3FA318467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399E9-8B72-F561-A6DD-DD32E6C20682}"/>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a:extLst>
              <a:ext uri="{FF2B5EF4-FFF2-40B4-BE49-F238E27FC236}">
                <a16:creationId xmlns:a16="http://schemas.microsoft.com/office/drawing/2014/main" id="{664FCB1F-6077-B92F-72C3-C0213ED3F0E3}"/>
              </a:ext>
            </a:extLst>
          </p:cNvPr>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This slide lists the references used in the study. These sources support the background, literature review, methodology and model choices. The references also show that the project is grounded in recent customer segmentation research.</a:t>
            </a:r>
            <a:endParaRPr lang="en-US" dirty="0"/>
          </a:p>
          <a:p>
            <a:endParaRPr lang="en-US" dirty="0"/>
          </a:p>
        </p:txBody>
      </p:sp>
    </p:spTree>
    <p:extLst>
      <p:ext uri="{BB962C8B-B14F-4D97-AF65-F5344CB8AC3E}">
        <p14:creationId xmlns:p14="http://schemas.microsoft.com/office/powerpoint/2010/main" val="14054719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ZA"/>
          </a:p>
        </p:txBody>
      </p:sp>
      <p:sp>
        <p:nvSpPr>
          <p:cNvPr id="3" name="Notes Placeholder 2"/>
          <p:cNvSpPr>
            <a:spLocks noGrp="1"/>
          </p:cNvSpPr>
          <p:nvPr>
            <p:ph type="body" idx="1"/>
          </p:nvPr>
        </p:nvSpPr>
        <p:spPr>
          <a:xfrm>
            <a:off x="1371600" y="11734800"/>
            <a:ext cx="10972800" cy="96012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dirty="0"/>
              <a:t>Thank you for listening. This is the end of the presentation, and the contact details of the student and supervisors are shown on the slide.</a:t>
            </a:r>
            <a:endParaRPr lang="en-US" dirty="0"/>
          </a:p>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17131893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30268121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24468915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40633288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10233907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37235390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3404374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2241846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24856372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3436354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812A4809-9762-4E87-AA05-7DF6BD6DA3C2}" type="slidenum">
              <a:rPr lang="en-ZA" smtClean="0"/>
              <a:t>‹#›</a:t>
            </a:fld>
            <a:endParaRPr lang="en-ZA"/>
          </a:p>
        </p:txBody>
      </p:sp>
    </p:spTree>
    <p:extLst>
      <p:ext uri="{BB962C8B-B14F-4D97-AF65-F5344CB8AC3E}">
        <p14:creationId xmlns:p14="http://schemas.microsoft.com/office/powerpoint/2010/main" val="136492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sldNum="0"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endParaRPr lang="en-Z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Z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812A4809-9762-4E87-AA05-7DF6BD6DA3C2}" type="slidenum">
              <a:rPr lang="en-ZA" smtClean="0"/>
              <a:t>‹#›</a:t>
            </a:fld>
            <a:endParaRPr lang="en-ZA"/>
          </a:p>
        </p:txBody>
      </p:sp>
    </p:spTree>
    <p:extLst>
      <p:ext uri="{BB962C8B-B14F-4D97-AF65-F5344CB8AC3E}">
        <p14:creationId xmlns:p14="http://schemas.microsoft.com/office/powerpoint/2010/main" val="1808805397"/>
      </p:ext>
    </p:extLst>
  </p:cSld>
  <p:clrMap bg1="dk1" tx1="lt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hyperlink" Target="mailto:4370961@myuwc.ac.za" TargetMode="External"/><Relationship Id="rId4" Type="http://schemas.openxmlformats.org/officeDocument/2006/relationships/hyperlink" Target="https://siyabulela11.github.io/Customer-Segmentation-Project/"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hyperlink" Target="https://www.qualtrics.com/articles/strategy-research/psychographic-segmentation/"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10.xml"/><Relationship Id="rId7" Type="http://schemas.openxmlformats.org/officeDocument/2006/relationships/diagramColors" Target="../diagrams/colors1.xml"/><Relationship Id="rId2" Type="http://schemas.openxmlformats.org/officeDocument/2006/relationships/slideLayout" Target="../slideLayouts/slideLayout12.xml"/><Relationship Id="rId1" Type="http://schemas.openxmlformats.org/officeDocument/2006/relationships/tags" Target="../tags/tag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notesSlide" Target="../notesSlides/notesSlide28.xml"/><Relationship Id="rId1" Type="http://schemas.openxmlformats.org/officeDocument/2006/relationships/slideLayout" Target="../slideLayouts/slideLayout19.xml"/><Relationship Id="rId6" Type="http://schemas.openxmlformats.org/officeDocument/2006/relationships/image" Target="../media/image42.svg"/><Relationship Id="rId5" Type="http://schemas.openxmlformats.org/officeDocument/2006/relationships/image" Target="../media/image41.svg"/><Relationship Id="rId4" Type="http://schemas.openxmlformats.org/officeDocument/2006/relationships/image" Target="../media/image40.sv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0.xml"/><Relationship Id="rId1" Type="http://schemas.openxmlformats.org/officeDocument/2006/relationships/slideLayout" Target="../slideLayouts/slideLayout19.xml"/><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33.xml"/><Relationship Id="rId1" Type="http://schemas.openxmlformats.org/officeDocument/2006/relationships/slideLayout" Target="../slideLayouts/slideLayout19.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4.xml"/><Relationship Id="rId1" Type="http://schemas.openxmlformats.org/officeDocument/2006/relationships/slideLayout" Target="../slideLayouts/slideLayout19.xml"/><Relationship Id="rId5" Type="http://schemas.openxmlformats.org/officeDocument/2006/relationships/image" Target="../media/image58.pn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9.png"/><Relationship Id="rId7" Type="http://schemas.openxmlformats.org/officeDocument/2006/relationships/image" Target="../media/image60.png"/><Relationship Id="rId2" Type="http://schemas.openxmlformats.org/officeDocument/2006/relationships/notesSlide" Target="../notesSlides/notesSlide35.xml"/><Relationship Id="rId1" Type="http://schemas.openxmlformats.org/officeDocument/2006/relationships/slideLayout" Target="../slideLayouts/slideLayout19.xml"/><Relationship Id="rId6" Type="http://schemas.openxmlformats.org/officeDocument/2006/relationships/image" Target="../media/image49.png"/><Relationship Id="rId5" Type="http://schemas.openxmlformats.org/officeDocument/2006/relationships/image" Target="../media/image46.png"/><Relationship Id="rId4" Type="http://schemas.openxmlformats.org/officeDocument/2006/relationships/image" Target="../media/image45.png"/></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6.xml"/><Relationship Id="rId1" Type="http://schemas.openxmlformats.org/officeDocument/2006/relationships/slideLayout" Target="../slideLayouts/slideLayout19.xml"/><Relationship Id="rId5" Type="http://schemas.openxmlformats.org/officeDocument/2006/relationships/image" Target="../media/image66.png"/><Relationship Id="rId4" Type="http://schemas.openxmlformats.org/officeDocument/2006/relationships/image" Target="../media/image65.png"/></Relationships>
</file>

<file path=ppt/slides/_rels/slide38.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37.xml"/><Relationship Id="rId1" Type="http://schemas.openxmlformats.org/officeDocument/2006/relationships/slideLayout" Target="../slideLayouts/slideLayout19.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9.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77.png"/><Relationship Id="rId2" Type="http://schemas.openxmlformats.org/officeDocument/2006/relationships/notesSlide" Target="../notesSlides/notesSlide38.xml"/><Relationship Id="rId1" Type="http://schemas.openxmlformats.org/officeDocument/2006/relationships/slideLayout" Target="../slideLayouts/slideLayout19.xml"/><Relationship Id="rId6" Type="http://schemas.openxmlformats.org/officeDocument/2006/relationships/image" Target="../media/image73.png"/><Relationship Id="rId5" Type="http://schemas.openxmlformats.org/officeDocument/2006/relationships/image" Target="../media/image63.png"/><Relationship Id="rId4" Type="http://schemas.openxmlformats.org/officeDocument/2006/relationships/image" Target="../media/image74.png"/></Relationships>
</file>

<file path=ppt/slides/_rels/slide4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9.xml"/><Relationship Id="rId1" Type="http://schemas.openxmlformats.org/officeDocument/2006/relationships/slideLayout" Target="../slideLayouts/slideLayout19.xml"/><Relationship Id="rId6" Type="http://schemas.openxmlformats.org/officeDocument/2006/relationships/image" Target="../media/image78.png"/><Relationship Id="rId5" Type="http://schemas.openxmlformats.org/officeDocument/2006/relationships/image" Target="../media/image76.png"/><Relationship Id="rId4" Type="http://schemas.openxmlformats.org/officeDocument/2006/relationships/image" Target="../media/image79.png"/></Relationships>
</file>

<file path=ppt/slides/_rels/slide4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0.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3.xml"/><Relationship Id="rId1" Type="http://schemas.openxmlformats.org/officeDocument/2006/relationships/slideLayout" Target="../slideLayouts/slideLayout19.xml"/><Relationship Id="rId5" Type="http://schemas.openxmlformats.org/officeDocument/2006/relationships/image" Target="../media/image82.jpg"/><Relationship Id="rId4" Type="http://schemas.openxmlformats.org/officeDocument/2006/relationships/image" Target="../media/image81.png"/></Relationships>
</file>

<file path=ppt/slides/_rels/slide4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8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hyperlink" Target="https://www.techtarget.com/searchcustomerexperience/definition/customer-segmentation?utm_source=chatgpt.com" TargetMode="External"/><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hyperlink" Target="mailto:4370961@myuwc.ac.za" TargetMode="External"/><Relationship Id="rId2" Type="http://schemas.openxmlformats.org/officeDocument/2006/relationships/notesSlide" Target="../notesSlides/notesSlide47.xml"/><Relationship Id="rId1" Type="http://schemas.openxmlformats.org/officeDocument/2006/relationships/slideLayout" Target="../slideLayouts/slideLayout13.xml"/><Relationship Id="rId5" Type="http://schemas.openxmlformats.org/officeDocument/2006/relationships/image" Target="../media/image85.svg"/><Relationship Id="rId4" Type="http://schemas.openxmlformats.org/officeDocument/2006/relationships/hyperlink" Target="mailto:oisafiade@uwc.ac.za"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3434E398-B8AA-2AA2-020D-797B060CA6EB}"/>
              </a:ext>
            </a:extLst>
          </p:cNvPr>
          <p:cNvPicPr>
            <a:picLocks noChangeAspect="1"/>
          </p:cNvPicPr>
          <p:nvPr/>
        </p:nvPicPr>
        <p:blipFill>
          <a:blip r:embed="rId3"/>
          <a:stretch>
            <a:fillRect/>
          </a:stretch>
        </p:blipFill>
        <p:spPr>
          <a:xfrm>
            <a:off x="3239" y="0"/>
            <a:ext cx="12185522" cy="6858000"/>
          </a:xfrm>
          <a:prstGeom prst="rect">
            <a:avLst/>
          </a:prstGeom>
        </p:spPr>
      </p:pic>
      <p:sp>
        <p:nvSpPr>
          <p:cNvPr id="4" name="Title 3">
            <a:extLst>
              <a:ext uri="{FF2B5EF4-FFF2-40B4-BE49-F238E27FC236}">
                <a16:creationId xmlns:a16="http://schemas.microsoft.com/office/drawing/2014/main" id="{42271A27-D90B-16CC-1F55-F21469CF7261}"/>
              </a:ext>
            </a:extLst>
          </p:cNvPr>
          <p:cNvSpPr>
            <a:spLocks noGrp="1"/>
          </p:cNvSpPr>
          <p:nvPr>
            <p:ph type="title"/>
          </p:nvPr>
        </p:nvSpPr>
        <p:spPr>
          <a:xfrm>
            <a:off x="1710789" y="1396179"/>
            <a:ext cx="8111637" cy="3136491"/>
          </a:xfrm>
        </p:spPr>
        <p:txBody>
          <a:bodyPr/>
          <a:lstStyle/>
          <a:p>
            <a:pPr>
              <a:lnSpc>
                <a:spcPct val="100000"/>
              </a:lnSpc>
              <a:spcBef>
                <a:spcPts val="1800"/>
              </a:spcBef>
            </a:pPr>
            <a:r>
              <a:rPr lang="en-US" b="0" dirty="0"/>
              <a:t>Dynamic Customer </a:t>
            </a:r>
            <a:br>
              <a:rPr lang="en-US" b="0" dirty="0"/>
            </a:br>
            <a:r>
              <a:rPr lang="en-US" b="0" dirty="0"/>
              <a:t>Segmentation </a:t>
            </a:r>
            <a:br>
              <a:rPr lang="en-US" b="0" dirty="0"/>
            </a:br>
            <a:r>
              <a:rPr lang="en-US" b="0" dirty="0"/>
              <a:t>in Retail</a:t>
            </a:r>
            <a:br>
              <a:rPr lang="en-US" b="0" dirty="0"/>
            </a:br>
            <a:r>
              <a:rPr lang="en-US" b="0" dirty="0"/>
              <a:t> using  Clustering</a:t>
            </a:r>
            <a:endParaRPr lang="en-ZA" sz="3600" dirty="0"/>
          </a:p>
        </p:txBody>
      </p:sp>
      <p:sp>
        <p:nvSpPr>
          <p:cNvPr id="3" name="TextBox 2">
            <a:extLst>
              <a:ext uri="{FF2B5EF4-FFF2-40B4-BE49-F238E27FC236}">
                <a16:creationId xmlns:a16="http://schemas.microsoft.com/office/drawing/2014/main" id="{947F2763-2FC2-DF43-BDB7-C9C6FB75A0BC}"/>
              </a:ext>
            </a:extLst>
          </p:cNvPr>
          <p:cNvSpPr txBox="1"/>
          <p:nvPr/>
        </p:nvSpPr>
        <p:spPr>
          <a:xfrm>
            <a:off x="2313776" y="5517767"/>
            <a:ext cx="7152967" cy="120032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000000"/>
                </a:solidFill>
                <a:effectLst/>
                <a:uLnTx/>
                <a:uFillTx/>
                <a:latin typeface="Sabon Next LT"/>
                <a:ea typeface="+mn-ea"/>
                <a:cs typeface="+mn-cs"/>
              </a:rPr>
              <a:t>Siyabulela Malinga </a:t>
            </a:r>
          </a:p>
          <a:p>
            <a:pPr lvl="0" algn="ctr">
              <a:defRPr/>
            </a:pPr>
            <a:r>
              <a:rPr lang="en-ZA" b="1" dirty="0">
                <a:solidFill>
                  <a:srgbClr val="000000"/>
                </a:solidFill>
                <a:hlinkClick r:id="rId4"/>
              </a:rPr>
              <a:t>Project Site</a:t>
            </a:r>
            <a:endParaRPr kumimoji="0" lang="en-ZA" sz="1800" b="1" i="0" u="none" strike="noStrike" kern="1200" cap="none" spc="0" normalizeH="0" baseline="0" noProof="0" dirty="0">
              <a:ln>
                <a:noFill/>
              </a:ln>
              <a:solidFill>
                <a:srgbClr val="000000"/>
              </a:solidFill>
              <a:effectLst/>
              <a:uLnTx/>
              <a:uFillTx/>
              <a:latin typeface="Sabon Next 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000000"/>
                </a:solidFill>
                <a:effectLst/>
                <a:uLnTx/>
                <a:uFillTx/>
                <a:latin typeface="Sabon Next LT"/>
                <a:ea typeface="+mn-ea"/>
                <a:cs typeface="+mn-cs"/>
                <a:hlinkClick r:id="rId5">
                  <a:extLst>
                    <a:ext uri="{A12FA001-AC4F-418D-AE19-62706E023703}">
                      <ahyp:hlinkClr xmlns:ahyp="http://schemas.microsoft.com/office/drawing/2018/hyperlinkcolor" val="tx"/>
                    </a:ext>
                  </a:extLst>
                </a:hlinkClick>
              </a:rPr>
              <a:t>4370961@myuwc.ac.za</a:t>
            </a:r>
            <a:endParaRPr kumimoji="0" lang="en-ZA" sz="1800" b="1" i="0" u="none" strike="noStrike" kern="1200" cap="none" spc="0" normalizeH="0" baseline="0" noProof="0" dirty="0">
              <a:ln>
                <a:noFill/>
              </a:ln>
              <a:solidFill>
                <a:srgbClr val="000000"/>
              </a:solidFill>
              <a:effectLst/>
              <a:uLnTx/>
              <a:uFillTx/>
              <a:latin typeface="Sabon Next LT"/>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1800" b="1" i="0" u="none" strike="noStrike" kern="1200" cap="none" spc="0" normalizeH="0" baseline="0" noProof="0" dirty="0">
                <a:ln>
                  <a:noFill/>
                </a:ln>
                <a:solidFill>
                  <a:srgbClr val="000000"/>
                </a:solidFill>
                <a:effectLst/>
                <a:uLnTx/>
                <a:uFillTx/>
                <a:latin typeface="Sabon Next LT"/>
                <a:ea typeface="+mn-ea"/>
                <a:cs typeface="+mn-cs"/>
              </a:rPr>
              <a:t>University Of The Western Cape</a:t>
            </a:r>
          </a:p>
        </p:txBody>
      </p:sp>
    </p:spTree>
    <p:extLst>
      <p:ext uri="{BB962C8B-B14F-4D97-AF65-F5344CB8AC3E}">
        <p14:creationId xmlns:p14="http://schemas.microsoft.com/office/powerpoint/2010/main" val="1042307804"/>
      </p:ext>
    </p:extLst>
  </p:cSld>
  <p:clrMapOvr>
    <a:masterClrMapping/>
  </p:clrMapOvr>
  <mc:AlternateContent xmlns:mc="http://schemas.openxmlformats.org/markup-compatibility/2006">
    <mc:Choice xmlns:p14="http://schemas.microsoft.com/office/powerpoint/2010/main" Requires="p14">
      <p:transition spd="slow" p14:dur="2000" advTm="1440"/>
    </mc:Choice>
    <mc:Fallback>
      <p:transition spd="slow" advTm="1440"/>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687316" y="200026"/>
            <a:ext cx="6583680" cy="765678"/>
          </a:xfrm>
          <a:solidFill>
            <a:schemeClr val="bg1">
              <a:alpha val="0"/>
            </a:schemeClr>
          </a:solidFill>
        </p:spPr>
        <p:txBody>
          <a:bodyPr/>
          <a:lstStyle/>
          <a:p>
            <a:r>
              <a:rPr lang="en-US" dirty="0"/>
              <a:t>outline</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687316" y="1209240"/>
            <a:ext cx="6583680" cy="5277283"/>
          </a:xfrm>
          <a:solidFill>
            <a:schemeClr val="bg1">
              <a:alpha val="0"/>
            </a:schemeClr>
          </a:solidFill>
        </p:spPr>
        <p:txBody>
          <a:bodyPr>
            <a:normAutofit fontScale="85000" lnSpcReduction="10000"/>
          </a:bodyPr>
          <a:lstStyle/>
          <a:p>
            <a:pPr marL="342900" indent="-342900">
              <a:lnSpc>
                <a:spcPct val="200000"/>
              </a:lnSpc>
              <a:buFont typeface="Arial" panose="020B0604020202020204" pitchFamily="34" charset="0"/>
              <a:buChar char="•"/>
            </a:pPr>
            <a:r>
              <a:rPr lang="en-ZA" dirty="0"/>
              <a:t>Background and Introduction</a:t>
            </a:r>
          </a:p>
          <a:p>
            <a:pPr marL="342900" indent="-342900">
              <a:lnSpc>
                <a:spcPct val="200000"/>
              </a:lnSpc>
              <a:buFont typeface="Arial" panose="020B0604020202020204" pitchFamily="34" charset="0"/>
              <a:buChar char="•"/>
            </a:pPr>
            <a:r>
              <a:rPr lang="en-ZA" dirty="0"/>
              <a:t>Literature review</a:t>
            </a:r>
          </a:p>
          <a:p>
            <a:pPr marL="342900" indent="-342900">
              <a:lnSpc>
                <a:spcPct val="200000"/>
              </a:lnSpc>
              <a:buFont typeface="Arial" panose="020B0604020202020204" pitchFamily="34" charset="0"/>
              <a:buChar char="•"/>
            </a:pPr>
            <a:r>
              <a:rPr lang="en-ZA" dirty="0"/>
              <a:t>Aim &amp; Objectives</a:t>
            </a:r>
          </a:p>
          <a:p>
            <a:pPr marL="342900" indent="-342900">
              <a:lnSpc>
                <a:spcPct val="200000"/>
              </a:lnSpc>
              <a:buFont typeface="Arial" panose="020B0604020202020204" pitchFamily="34" charset="0"/>
              <a:buChar char="•"/>
            </a:pPr>
            <a:r>
              <a:rPr lang="en-ZA" dirty="0"/>
              <a:t>Proposed Methodology (incl. Dual Dataset Approach, Extended Segmentation Layers, Interface Development)</a:t>
            </a:r>
          </a:p>
          <a:p>
            <a:pPr marL="342900" indent="-342900">
              <a:lnSpc>
                <a:spcPct val="200000"/>
              </a:lnSpc>
              <a:buFont typeface="Arial" panose="020B0604020202020204" pitchFamily="34" charset="0"/>
              <a:buChar char="•"/>
            </a:pPr>
            <a:r>
              <a:rPr lang="en-ZA" dirty="0"/>
              <a:t>Potential Outcome</a:t>
            </a:r>
          </a:p>
          <a:p>
            <a:pPr marL="342900" indent="-342900">
              <a:lnSpc>
                <a:spcPct val="200000"/>
              </a:lnSpc>
              <a:buFont typeface="Arial" panose="020B0604020202020204" pitchFamily="34" charset="0"/>
              <a:buChar char="•"/>
            </a:pPr>
            <a:r>
              <a:rPr lang="en-ZA" dirty="0"/>
              <a:t>Timeline</a:t>
            </a:r>
          </a:p>
          <a:p>
            <a:pPr marL="342900" indent="-342900">
              <a:lnSpc>
                <a:spcPct val="200000"/>
              </a:lnSpc>
              <a:buFont typeface="Arial" panose="020B0604020202020204" pitchFamily="34" charset="0"/>
              <a:buChar char="•"/>
            </a:pPr>
            <a:r>
              <a:rPr lang="en-ZA" dirty="0"/>
              <a:t>Acknowledgements</a:t>
            </a:r>
          </a:p>
          <a:p>
            <a:pPr marL="342900" indent="-342900">
              <a:lnSpc>
                <a:spcPct val="200000"/>
              </a:lnSpc>
              <a:buFont typeface="Arial" panose="020B0604020202020204" pitchFamily="34" charset="0"/>
              <a:buChar char="•"/>
            </a:pPr>
            <a:r>
              <a:rPr lang="en-ZA" dirty="0"/>
              <a:t>References </a:t>
            </a:r>
          </a:p>
        </p:txBody>
      </p:sp>
    </p:spTree>
    <p:extLst>
      <p:ext uri="{BB962C8B-B14F-4D97-AF65-F5344CB8AC3E}">
        <p14:creationId xmlns:p14="http://schemas.microsoft.com/office/powerpoint/2010/main" val="3913219759"/>
      </p:ext>
    </p:extLst>
  </p:cSld>
  <p:clrMapOvr>
    <a:masterClrMapping/>
  </p:clrMapOvr>
  <mc:AlternateContent xmlns:mc="http://schemas.openxmlformats.org/markup-compatibility/2006">
    <mc:Choice xmlns:p14="http://schemas.microsoft.com/office/powerpoint/2010/main" Requires="p14">
      <p:transition spd="slow" p14:dur="2000" advTm="782"/>
    </mc:Choice>
    <mc:Fallback>
      <p:transition spd="slow" advTm="782"/>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C8C31B-A1B7-4B5E-BB95-0DFAEFE19665}"/>
              </a:ext>
            </a:extLst>
          </p:cNvPr>
          <p:cNvSpPr>
            <a:spLocks noGrp="1"/>
          </p:cNvSpPr>
          <p:nvPr>
            <p:ph type="title"/>
          </p:nvPr>
        </p:nvSpPr>
        <p:spPr>
          <a:xfrm>
            <a:off x="310219" y="361511"/>
            <a:ext cx="7064248" cy="680381"/>
          </a:xfrm>
        </p:spPr>
        <p:txBody>
          <a:bodyPr/>
          <a:lstStyle/>
          <a:p>
            <a:pPr algn="l"/>
            <a:r>
              <a:rPr lang="en-US" dirty="0"/>
              <a:t>Background</a:t>
            </a:r>
          </a:p>
        </p:txBody>
      </p:sp>
      <p:pic>
        <p:nvPicPr>
          <p:cNvPr id="6" name="Picture Placeholder 5">
            <a:extLst>
              <a:ext uri="{FF2B5EF4-FFF2-40B4-BE49-F238E27FC236}">
                <a16:creationId xmlns:a16="http://schemas.microsoft.com/office/drawing/2014/main" id="{59CC0F23-90D5-A35E-18EF-8F4CCC5FC487}"/>
              </a:ext>
            </a:extLst>
          </p:cNvPr>
          <p:cNvPicPr>
            <a:picLocks noGrp="1" noChangeAspect="1"/>
          </p:cNvPicPr>
          <p:nvPr>
            <p:ph idx="1"/>
          </p:nvPr>
        </p:nvPicPr>
        <p:blipFill>
          <a:blip r:embed="rId3">
            <a:extLst>
              <a:ext uri="{837473B0-CC2E-450A-ABE3-18F120FF3D39}">
                <a1611:picAttrSrcUrl xmlns:a1611="http://schemas.microsoft.com/office/drawing/2016/11/main" r:id="rId4"/>
              </a:ext>
            </a:extLst>
          </a:blip>
          <a:srcRect l="11109" t="8465" r="9988" b="12826"/>
          <a:stretch>
            <a:fillRect/>
          </a:stretch>
        </p:blipFill>
        <p:spPr>
          <a:xfrm>
            <a:off x="7615547" y="1384653"/>
            <a:ext cx="4157641" cy="2600162"/>
          </a:xfrm>
          <a:prstGeom prst="ellipse">
            <a:avLst/>
          </a:prstGeom>
          <a:noFill/>
        </p:spPr>
      </p:pic>
      <p:sp>
        <p:nvSpPr>
          <p:cNvPr id="3" name="TextBox 2">
            <a:extLst>
              <a:ext uri="{FF2B5EF4-FFF2-40B4-BE49-F238E27FC236}">
                <a16:creationId xmlns:a16="http://schemas.microsoft.com/office/drawing/2014/main" id="{4F99FC72-9CC0-EDFC-7CBB-6116E6BFDF6F}"/>
              </a:ext>
            </a:extLst>
          </p:cNvPr>
          <p:cNvSpPr txBox="1"/>
          <p:nvPr/>
        </p:nvSpPr>
        <p:spPr>
          <a:xfrm>
            <a:off x="367119" y="1121327"/>
            <a:ext cx="11608245" cy="3554819"/>
          </a:xfrm>
          <a:prstGeom prst="rect">
            <a:avLst/>
          </a:prstGeom>
          <a:noFill/>
        </p:spPr>
        <p:txBody>
          <a:bodyPr wrap="square">
            <a:spAutoFit/>
          </a:bodyPr>
          <a:lstStyle/>
          <a:p>
            <a:pPr>
              <a:spcAft>
                <a:spcPts val="600"/>
              </a:spcAft>
            </a:pPr>
            <a:r>
              <a:rPr lang="en-US" sz="2000" b="1" dirty="0">
                <a:solidFill>
                  <a:schemeClr val="accent2"/>
                </a:solidFill>
              </a:rPr>
              <a:t>Customer Segmentation</a:t>
            </a:r>
            <a:r>
              <a:rPr lang="en-US" sz="2000" dirty="0">
                <a:solidFill>
                  <a:schemeClr val="accent6"/>
                </a:solidFill>
              </a:rPr>
              <a:t>: Dividing a business’s customers into </a:t>
            </a:r>
            <a:r>
              <a:rPr lang="en-US" sz="2000" b="1" dirty="0">
                <a:solidFill>
                  <a:schemeClr val="accent2"/>
                </a:solidFill>
              </a:rPr>
              <a:t>distinct groups based on shared </a:t>
            </a:r>
          </a:p>
          <a:p>
            <a:pPr>
              <a:spcAft>
                <a:spcPts val="600"/>
              </a:spcAft>
            </a:pPr>
            <a:r>
              <a:rPr lang="en-US" sz="2000" b="1" dirty="0">
                <a:solidFill>
                  <a:schemeClr val="accent2"/>
                </a:solidFill>
              </a:rPr>
              <a:t>	characteristics,  behavior </a:t>
            </a:r>
            <a:r>
              <a:rPr lang="en-US" sz="2000" b="1" dirty="0">
                <a:solidFill>
                  <a:schemeClr val="accent6"/>
                </a:solidFill>
              </a:rPr>
              <a:t>:</a:t>
            </a:r>
            <a:endParaRPr lang="en-US" sz="2000" dirty="0">
              <a:solidFill>
                <a:schemeClr val="accent6"/>
              </a:solidFill>
            </a:endParaRPr>
          </a:p>
          <a:p>
            <a:pPr marL="800100" lvl="1" indent="-342900">
              <a:spcAft>
                <a:spcPts val="600"/>
              </a:spcAft>
              <a:buFont typeface="Wingdings" panose="05000000000000000000" pitchFamily="2" charset="2"/>
              <a:buChar char="§"/>
            </a:pPr>
            <a:r>
              <a:rPr lang="en-US" sz="2000" dirty="0">
                <a:solidFill>
                  <a:schemeClr val="accent6"/>
                </a:solidFill>
              </a:rPr>
              <a:t>To tailor marketing strategies [1].</a:t>
            </a:r>
          </a:p>
          <a:p>
            <a:pPr marL="800100" lvl="1" indent="-342900">
              <a:spcAft>
                <a:spcPts val="600"/>
              </a:spcAft>
              <a:buFont typeface="Wingdings" panose="05000000000000000000" pitchFamily="2" charset="2"/>
              <a:buChar char="§"/>
            </a:pPr>
            <a:r>
              <a:rPr lang="en-US" sz="2000" dirty="0">
                <a:solidFill>
                  <a:schemeClr val="accent6"/>
                </a:solidFill>
              </a:rPr>
              <a:t>Improve consumer satisfaction and loyalty [1].</a:t>
            </a:r>
          </a:p>
          <a:p>
            <a:pPr marL="800100" lvl="1" indent="-342900">
              <a:spcAft>
                <a:spcPts val="600"/>
              </a:spcAft>
              <a:buFont typeface="Wingdings" panose="05000000000000000000" pitchFamily="2" charset="2"/>
              <a:buChar char="§"/>
            </a:pPr>
            <a:r>
              <a:rPr lang="en-US" sz="2000" dirty="0">
                <a:solidFill>
                  <a:schemeClr val="accent6"/>
                </a:solidFill>
              </a:rPr>
              <a:t>Enhanced business’s competitiveness [2].</a:t>
            </a:r>
          </a:p>
          <a:p>
            <a:pPr marL="1257300" lvl="2" indent="-342900">
              <a:spcAft>
                <a:spcPts val="600"/>
              </a:spcAft>
              <a:buFont typeface="Wingdings" panose="05000000000000000000" pitchFamily="2" charset="2"/>
              <a:buChar char="§"/>
            </a:pPr>
            <a:endParaRPr lang="en-US" sz="2000" dirty="0">
              <a:solidFill>
                <a:schemeClr val="accent6"/>
              </a:solidFill>
            </a:endParaRPr>
          </a:p>
          <a:p>
            <a:pPr lvl="2">
              <a:spcAft>
                <a:spcPts val="600"/>
              </a:spcAft>
            </a:pPr>
            <a:endParaRPr lang="en-US" sz="2000" dirty="0">
              <a:solidFill>
                <a:schemeClr val="accent6"/>
              </a:solidFill>
            </a:endParaRPr>
          </a:p>
          <a:p>
            <a:pPr>
              <a:spcAft>
                <a:spcPts val="1200"/>
              </a:spcAft>
            </a:pPr>
            <a:endParaRPr lang="en-US" sz="2000" dirty="0">
              <a:solidFill>
                <a:schemeClr val="accent6"/>
              </a:solidFill>
            </a:endParaRPr>
          </a:p>
          <a:p>
            <a:pPr>
              <a:spcAft>
                <a:spcPts val="1200"/>
              </a:spcAft>
            </a:pPr>
            <a:endParaRPr lang="en-ZA" sz="2000" dirty="0">
              <a:solidFill>
                <a:schemeClr val="accent6"/>
              </a:solidFill>
            </a:endParaRPr>
          </a:p>
        </p:txBody>
      </p:sp>
      <p:sp>
        <p:nvSpPr>
          <p:cNvPr id="8" name="Title 1">
            <a:extLst>
              <a:ext uri="{FF2B5EF4-FFF2-40B4-BE49-F238E27FC236}">
                <a16:creationId xmlns:a16="http://schemas.microsoft.com/office/drawing/2014/main" id="{1E5F2160-B0E0-4F4A-25CF-278BD71A211B}"/>
              </a:ext>
            </a:extLst>
          </p:cNvPr>
          <p:cNvSpPr txBox="1">
            <a:spLocks/>
          </p:cNvSpPr>
          <p:nvPr/>
        </p:nvSpPr>
        <p:spPr>
          <a:xfrm>
            <a:off x="493057" y="3786601"/>
            <a:ext cx="6920315" cy="468715"/>
          </a:xfrm>
          <a:prstGeom prst="rect">
            <a:avLst/>
          </a:prstGeom>
        </p:spPr>
        <p:txBody>
          <a:bodyPr vert="horz" lIns="91440" tIns="45720" rIns="91440" bIns="45720" rtlCol="0" anchor="b" anchorCtr="0">
            <a:noAutofit/>
          </a:bodyPr>
          <a:lstStyle>
            <a:lvl1pPr algn="ctr" defTabSz="914400" rtl="0" eaLnBrk="1" latinLnBrk="0" hangingPunct="1">
              <a:lnSpc>
                <a:spcPct val="100000"/>
              </a:lnSpc>
              <a:spcBef>
                <a:spcPct val="0"/>
              </a:spcBef>
              <a:buNone/>
              <a:defRPr sz="3200" b="1" kern="1200" cap="all" baseline="0">
                <a:solidFill>
                  <a:schemeClr val="accent6"/>
                </a:solidFill>
                <a:latin typeface="+mj-lt"/>
                <a:ea typeface="+mj-ea"/>
                <a:cs typeface="+mj-cs"/>
              </a:defRPr>
            </a:lvl1pPr>
          </a:lstStyle>
          <a:p>
            <a:pPr algn="l"/>
            <a:r>
              <a:rPr lang="en-ZA" sz="2000" dirty="0"/>
              <a:t>Types of segmentation</a:t>
            </a:r>
          </a:p>
        </p:txBody>
      </p:sp>
      <p:sp>
        <p:nvSpPr>
          <p:cNvPr id="9" name="Rectangle 1">
            <a:extLst>
              <a:ext uri="{FF2B5EF4-FFF2-40B4-BE49-F238E27FC236}">
                <a16:creationId xmlns:a16="http://schemas.microsoft.com/office/drawing/2014/main" id="{5804FE2D-F631-C0C7-1B67-EC9E4FDA8013}"/>
              </a:ext>
            </a:extLst>
          </p:cNvPr>
          <p:cNvSpPr>
            <a:spLocks noChangeArrowheads="1"/>
          </p:cNvSpPr>
          <p:nvPr/>
        </p:nvSpPr>
        <p:spPr bwMode="auto">
          <a:xfrm>
            <a:off x="493057" y="4220873"/>
            <a:ext cx="1148230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2000" b="1" i="0" u="none" strike="noStrike" cap="none" normalizeH="0" baseline="0" dirty="0">
                <a:ln>
                  <a:noFill/>
                </a:ln>
                <a:solidFill>
                  <a:srgbClr val="0F9F2A"/>
                </a:solidFill>
                <a:effectLst/>
              </a:rPr>
              <a:t>Geographic segmentation</a:t>
            </a:r>
            <a:r>
              <a:rPr lang="en-US" altLang="en-US" sz="2000" b="1" dirty="0">
                <a:solidFill>
                  <a:srgbClr val="0F9F2A"/>
                </a:solidFill>
              </a:rPr>
              <a:t> </a:t>
            </a:r>
            <a:r>
              <a:rPr lang="en-US" altLang="en-US" dirty="0">
                <a:solidFill>
                  <a:schemeClr val="accent6"/>
                </a:solidFill>
              </a:rPr>
              <a:t>(</a:t>
            </a:r>
            <a:r>
              <a:rPr kumimoji="0" lang="en-US" altLang="en-US" i="0" u="none" strike="noStrike" cap="none" normalizeH="0" baseline="0" dirty="0">
                <a:ln>
                  <a:noFill/>
                </a:ln>
                <a:solidFill>
                  <a:schemeClr val="accent6"/>
                </a:solidFill>
                <a:effectLst/>
              </a:rPr>
              <a:t>location, region, and city/town/state).</a:t>
            </a:r>
          </a:p>
          <a:p>
            <a:pPr marL="0" marR="0" lvl="0" indent="0" algn="l" defTabSz="914400" rtl="0" eaLnBrk="0" fontAlgn="base" latinLnBrk="0" hangingPunct="0">
              <a:lnSpc>
                <a:spcPct val="100000"/>
              </a:lnSpc>
              <a:spcBef>
                <a:spcPct val="0"/>
              </a:spcBef>
              <a:spcAft>
                <a:spcPts val="1200"/>
              </a:spcAft>
              <a:buClrTx/>
              <a:buSzTx/>
              <a:buFontTx/>
              <a:buChar char="•"/>
              <a:tabLst/>
            </a:pPr>
            <a:r>
              <a:rPr kumimoji="0" lang="en-US" altLang="en-US" sz="2000" b="1" i="0" u="none" strike="noStrike" cap="none" normalizeH="0" baseline="0" dirty="0">
                <a:ln>
                  <a:noFill/>
                </a:ln>
                <a:solidFill>
                  <a:srgbClr val="0F9F2A"/>
                </a:solidFill>
                <a:effectLst/>
              </a:rPr>
              <a:t>Demographic segmentation</a:t>
            </a:r>
            <a:r>
              <a:rPr lang="en-US" altLang="en-US" sz="2000" b="1" dirty="0">
                <a:solidFill>
                  <a:srgbClr val="0F9F2A"/>
                </a:solidFill>
              </a:rPr>
              <a:t> </a:t>
            </a:r>
            <a:r>
              <a:rPr kumimoji="0" lang="en-US" altLang="en-US" i="0" u="none" strike="noStrike" cap="none" normalizeH="0" baseline="0" dirty="0">
                <a:ln>
                  <a:noFill/>
                </a:ln>
                <a:solidFill>
                  <a:schemeClr val="accent6"/>
                </a:solidFill>
                <a:effectLst/>
              </a:rPr>
              <a:t>(age, gender, occupation, and socio-economic group</a:t>
            </a:r>
            <a:r>
              <a:rPr lang="en-US" altLang="en-US" dirty="0">
                <a:solidFill>
                  <a:schemeClr val="accent6"/>
                </a:solidFill>
              </a:rPr>
              <a:t>).</a:t>
            </a:r>
            <a:endParaRPr kumimoji="0" lang="en-US" altLang="en-US" i="0" u="none" strike="noStrike" cap="none" normalizeH="0" baseline="0" dirty="0">
              <a:ln>
                <a:noFill/>
              </a:ln>
              <a:solidFill>
                <a:schemeClr val="accent6"/>
              </a:solidFill>
              <a:effectLst/>
            </a:endParaRPr>
          </a:p>
          <a:p>
            <a:pPr defTabSz="914400" eaLnBrk="0" fontAlgn="base" hangingPunct="0">
              <a:spcBef>
                <a:spcPct val="0"/>
              </a:spcBef>
              <a:spcAft>
                <a:spcPts val="1200"/>
              </a:spcAft>
              <a:buFontTx/>
              <a:buChar char="•"/>
            </a:pPr>
            <a:r>
              <a:rPr kumimoji="0" lang="en-US" altLang="en-US" sz="2000" b="1" i="0" u="none" strike="noStrike" cap="none" normalizeH="0" baseline="0" dirty="0">
                <a:ln>
                  <a:noFill/>
                </a:ln>
                <a:solidFill>
                  <a:srgbClr val="0F9F2A"/>
                </a:solidFill>
                <a:effectLst/>
              </a:rPr>
              <a:t>Behavioral segmentation</a:t>
            </a:r>
            <a:r>
              <a:rPr lang="en-US" altLang="en-US" sz="2000" b="1" dirty="0">
                <a:solidFill>
                  <a:srgbClr val="0F9F2A"/>
                </a:solidFill>
              </a:rPr>
              <a:t> </a:t>
            </a:r>
            <a:r>
              <a:rPr lang="en-US" altLang="en-US" dirty="0">
                <a:solidFill>
                  <a:schemeClr val="accent6"/>
                </a:solidFill>
              </a:rPr>
              <a:t>(</a:t>
            </a:r>
            <a:r>
              <a:rPr kumimoji="0" lang="en-US" altLang="en-US" i="0" u="none" strike="noStrike" cap="none" normalizeH="0" baseline="0" dirty="0">
                <a:ln>
                  <a:noFill/>
                </a:ln>
                <a:solidFill>
                  <a:schemeClr val="accent6"/>
                </a:solidFill>
                <a:effectLst/>
              </a:rPr>
              <a:t>benefits sought, loyalty status, readiness to buy, and early adopters) </a:t>
            </a:r>
            <a:r>
              <a:rPr kumimoji="0" lang="en-US" altLang="en-US" sz="2000" i="0" u="none" strike="noStrike" cap="none" normalizeH="0" baseline="0" dirty="0">
                <a:ln>
                  <a:noFill/>
                </a:ln>
                <a:solidFill>
                  <a:schemeClr val="accent6"/>
                </a:solidFill>
                <a:effectLst/>
              </a:rPr>
              <a:t>.</a:t>
            </a:r>
            <a:endParaRPr kumimoji="0" lang="en-US" altLang="en-US" sz="2000" b="1" i="0" u="none" strike="noStrike" cap="none" normalizeH="0" baseline="0" dirty="0">
              <a:ln>
                <a:noFill/>
              </a:ln>
              <a:solidFill>
                <a:schemeClr val="accent6"/>
              </a:solidFill>
              <a:effectLst/>
            </a:endParaRPr>
          </a:p>
          <a:p>
            <a:pPr defTabSz="914400" eaLnBrk="0" fontAlgn="base" hangingPunct="0">
              <a:spcBef>
                <a:spcPct val="0"/>
              </a:spcBef>
              <a:spcAft>
                <a:spcPts val="1200"/>
              </a:spcAft>
              <a:buFontTx/>
              <a:buChar char="•"/>
            </a:pPr>
            <a:r>
              <a:rPr kumimoji="0" lang="en-US" altLang="en-US" sz="2000" b="1" i="0" u="none" strike="noStrike" cap="none" normalizeH="0" baseline="0" dirty="0">
                <a:ln>
                  <a:noFill/>
                </a:ln>
                <a:solidFill>
                  <a:srgbClr val="0F9F2A"/>
                </a:solidFill>
                <a:effectLst/>
              </a:rPr>
              <a:t>Psychographic segmentation</a:t>
            </a:r>
            <a:r>
              <a:rPr lang="en-US" altLang="en-US" sz="2000" b="1" dirty="0">
                <a:solidFill>
                  <a:srgbClr val="0F9F2A"/>
                </a:solidFill>
              </a:rPr>
              <a:t> </a:t>
            </a:r>
            <a:r>
              <a:rPr kumimoji="0" lang="en-US" altLang="en-US" i="0" u="none" strike="noStrike" cap="none" normalizeH="0" baseline="0" dirty="0">
                <a:ln>
                  <a:noFill/>
                </a:ln>
                <a:solidFill>
                  <a:schemeClr val="accent6"/>
                </a:solidFill>
                <a:effectLst/>
              </a:rPr>
              <a:t>(lifestyle, attitude, education level, class, and personality) </a:t>
            </a:r>
            <a:r>
              <a:rPr lang="en-US" dirty="0">
                <a:solidFill>
                  <a:schemeClr val="accent6"/>
                </a:solidFill>
              </a:rPr>
              <a:t>[1]</a:t>
            </a:r>
            <a:r>
              <a:rPr kumimoji="0" lang="en-US" altLang="en-US" i="0" u="none" strike="noStrike" cap="none" normalizeH="0" baseline="0" dirty="0">
                <a:ln>
                  <a:noFill/>
                </a:ln>
                <a:solidFill>
                  <a:schemeClr val="accent6"/>
                </a:solidFill>
                <a:effectLst/>
              </a:rPr>
              <a:t>.</a:t>
            </a:r>
          </a:p>
          <a:p>
            <a:pPr defTabSz="914400" eaLnBrk="0" fontAlgn="base" hangingPunct="0">
              <a:spcBef>
                <a:spcPct val="0"/>
              </a:spcBef>
              <a:spcAft>
                <a:spcPts val="1200"/>
              </a:spcAft>
              <a:buFontTx/>
              <a:buChar char="•"/>
            </a:pPr>
            <a:r>
              <a:rPr kumimoji="0" lang="en-US" altLang="en-US" sz="2000" b="1" i="0" u="none" strike="noStrike" cap="none" normalizeH="0" baseline="0" dirty="0">
                <a:ln>
                  <a:noFill/>
                </a:ln>
                <a:solidFill>
                  <a:srgbClr val="0F9F2A"/>
                </a:solidFill>
                <a:effectLst/>
              </a:rPr>
              <a:t>Firmographic segmentation </a:t>
            </a:r>
            <a:r>
              <a:rPr kumimoji="0" lang="en-US" altLang="en-US" i="0" u="none" strike="noStrike" cap="none" normalizeH="0" baseline="0" dirty="0">
                <a:ln>
                  <a:noFill/>
                </a:ln>
                <a:solidFill>
                  <a:schemeClr val="accent6"/>
                </a:solidFill>
                <a:effectLst/>
              </a:rPr>
              <a:t>(Industry/sector, Company size, Business location, Company age, Ownership type ).</a:t>
            </a:r>
          </a:p>
        </p:txBody>
      </p:sp>
      <p:sp>
        <p:nvSpPr>
          <p:cNvPr id="4" name="TextBox 3">
            <a:extLst>
              <a:ext uri="{FF2B5EF4-FFF2-40B4-BE49-F238E27FC236}">
                <a16:creationId xmlns:a16="http://schemas.microsoft.com/office/drawing/2014/main" id="{A08D98C2-8C69-18C3-724D-76B059054103}"/>
              </a:ext>
            </a:extLst>
          </p:cNvPr>
          <p:cNvSpPr txBox="1"/>
          <p:nvPr/>
        </p:nvSpPr>
        <p:spPr>
          <a:xfrm>
            <a:off x="8109126" y="3959263"/>
            <a:ext cx="4525347" cy="261610"/>
          </a:xfrm>
          <a:prstGeom prst="rect">
            <a:avLst/>
          </a:prstGeom>
          <a:noFill/>
        </p:spPr>
        <p:txBody>
          <a:bodyPr wrap="square" rtlCol="0">
            <a:spAutoFit/>
          </a:bodyPr>
          <a:lstStyle/>
          <a:p>
            <a:r>
              <a:rPr lang="en-US" sz="1100" dirty="0">
                <a:solidFill>
                  <a:schemeClr val="accent6"/>
                </a:solidFill>
              </a:rPr>
              <a:t>Figure 1: Customer segmentation visualization</a:t>
            </a:r>
            <a:endParaRPr lang="en-ZA" sz="1100" dirty="0">
              <a:solidFill>
                <a:schemeClr val="accent6"/>
              </a:solidFill>
            </a:endParaRPr>
          </a:p>
        </p:txBody>
      </p:sp>
    </p:spTree>
    <p:extLst>
      <p:ext uri="{BB962C8B-B14F-4D97-AF65-F5344CB8AC3E}">
        <p14:creationId xmlns:p14="http://schemas.microsoft.com/office/powerpoint/2010/main" val="1787630050"/>
      </p:ext>
    </p:extLst>
  </p:cSld>
  <p:clrMapOvr>
    <a:masterClrMapping/>
  </p:clrMapOvr>
  <mc:AlternateContent xmlns:mc="http://schemas.openxmlformats.org/markup-compatibility/2006">
    <mc:Choice xmlns:p14="http://schemas.microsoft.com/office/powerpoint/2010/main" Requires="p14">
      <p:transition spd="slow" p14:dur="2000" advTm="531"/>
    </mc:Choice>
    <mc:Fallback>
      <p:transition spd="slow" advTm="53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D575D-D92D-7833-5F24-C3247D3784BD}"/>
              </a:ext>
            </a:extLst>
          </p:cNvPr>
          <p:cNvSpPr>
            <a:spLocks noGrp="1"/>
          </p:cNvSpPr>
          <p:nvPr>
            <p:ph type="title"/>
          </p:nvPr>
        </p:nvSpPr>
        <p:spPr>
          <a:xfrm>
            <a:off x="526102" y="52059"/>
            <a:ext cx="9879437" cy="660989"/>
          </a:xfrm>
        </p:spPr>
        <p:txBody>
          <a:bodyPr vert="horz" lIns="91440" tIns="0" rIns="91440" bIns="0" rtlCol="0" anchor="b" anchorCtr="0">
            <a:normAutofit/>
          </a:bodyPr>
          <a:lstStyle/>
          <a:p>
            <a:r>
              <a:rPr lang="en-US" b="1" kern="1200" cap="all" baseline="0" dirty="0">
                <a:latin typeface="+mj-lt"/>
                <a:ea typeface="+mj-ea"/>
                <a:cs typeface="+mj-cs"/>
              </a:rPr>
              <a:t>Clustering </a:t>
            </a:r>
          </a:p>
        </p:txBody>
      </p:sp>
      <p:sp>
        <p:nvSpPr>
          <p:cNvPr id="7" name="TextBox 6">
            <a:extLst>
              <a:ext uri="{FF2B5EF4-FFF2-40B4-BE49-F238E27FC236}">
                <a16:creationId xmlns:a16="http://schemas.microsoft.com/office/drawing/2014/main" id="{C92C7F02-B121-D121-9DA7-4EED81FCA405}"/>
              </a:ext>
            </a:extLst>
          </p:cNvPr>
          <p:cNvSpPr txBox="1"/>
          <p:nvPr/>
        </p:nvSpPr>
        <p:spPr>
          <a:xfrm>
            <a:off x="526103" y="2487644"/>
            <a:ext cx="3831293" cy="4295859"/>
          </a:xfrm>
          <a:prstGeom prst="rect">
            <a:avLst/>
          </a:prstGeom>
        </p:spPr>
        <p:txBody>
          <a:bodyPr vert="horz" lIns="91440" tIns="0" rIns="91440" bIns="0" rtlCol="0" anchor="t" anchorCtr="0">
            <a:noAutofit/>
          </a:bodyPr>
          <a:lstStyle/>
          <a:p>
            <a:pPr marL="285750" indent="-285750" defTabSz="914400">
              <a:spcAft>
                <a:spcPts val="1800"/>
              </a:spcAft>
              <a:buFont typeface="Arial" panose="020B0604020202020204" pitchFamily="34" charset="0"/>
              <a:buChar char="•"/>
            </a:pPr>
            <a:r>
              <a:rPr lang="en-US" kern="1200" dirty="0">
                <a:solidFill>
                  <a:schemeClr val="accent6"/>
                </a:solidFill>
                <a:latin typeface="+mn-lt"/>
                <a:ea typeface="+mn-ea"/>
                <a:cs typeface="+mn-cs"/>
              </a:rPr>
              <a:t>In hard clustering, each data point belongs to exactly one cluster. </a:t>
            </a:r>
            <a:r>
              <a:rPr lang="en-US" b="1" kern="1200" dirty="0">
                <a:solidFill>
                  <a:schemeClr val="accent2"/>
                </a:solidFill>
                <a:latin typeface="+mn-lt"/>
                <a:ea typeface="+mn-ea"/>
                <a:cs typeface="+mn-cs"/>
              </a:rPr>
              <a:t>Membership is binary</a:t>
            </a:r>
            <a:r>
              <a:rPr lang="en-US" b="1" kern="1200" dirty="0">
                <a:solidFill>
                  <a:schemeClr val="accent6"/>
                </a:solidFill>
                <a:latin typeface="+mn-lt"/>
                <a:ea typeface="+mn-ea"/>
                <a:cs typeface="+mn-cs"/>
              </a:rPr>
              <a:t>  </a:t>
            </a:r>
            <a:r>
              <a:rPr lang="en-US" kern="1200" dirty="0">
                <a:solidFill>
                  <a:schemeClr val="accent6"/>
                </a:solidFill>
                <a:latin typeface="+mn-lt"/>
                <a:ea typeface="+mn-ea"/>
                <a:cs typeface="+mn-cs"/>
              </a:rPr>
              <a:t>either a point is in a cluster or it isn’t</a:t>
            </a:r>
            <a:r>
              <a:rPr lang="en-US" dirty="0">
                <a:solidFill>
                  <a:schemeClr val="accent6"/>
                </a:solidFill>
              </a:rPr>
              <a:t> [5]</a:t>
            </a:r>
            <a:r>
              <a:rPr lang="en-US" kern="1200" dirty="0">
                <a:solidFill>
                  <a:schemeClr val="accent6"/>
                </a:solidFill>
                <a:latin typeface="+mn-lt"/>
                <a:ea typeface="+mn-ea"/>
                <a:cs typeface="+mn-cs"/>
              </a:rPr>
              <a:t>.</a:t>
            </a:r>
          </a:p>
          <a:p>
            <a:pPr marL="285750" indent="-285750" defTabSz="914400">
              <a:spcAft>
                <a:spcPts val="2400"/>
              </a:spcAft>
              <a:buFont typeface="Arial" panose="020B0604020202020204" pitchFamily="34" charset="0"/>
              <a:buChar char="•"/>
            </a:pPr>
            <a:r>
              <a:rPr lang="en-US" kern="1200" dirty="0">
                <a:solidFill>
                  <a:schemeClr val="accent6"/>
                </a:solidFill>
                <a:latin typeface="+mn-lt"/>
                <a:ea typeface="+mn-ea"/>
                <a:cs typeface="+mn-cs"/>
              </a:rPr>
              <a:t>Soft clustering assigns probabilities or </a:t>
            </a:r>
            <a:r>
              <a:rPr lang="en-US" b="1" kern="1200" dirty="0">
                <a:solidFill>
                  <a:schemeClr val="accent2"/>
                </a:solidFill>
                <a:latin typeface="+mn-lt"/>
                <a:ea typeface="+mn-ea"/>
                <a:cs typeface="+mn-cs"/>
              </a:rPr>
              <a:t>degrees of membership to multiple clusters for each data point</a:t>
            </a:r>
            <a:r>
              <a:rPr lang="en-US" b="1" kern="1200" dirty="0">
                <a:solidFill>
                  <a:schemeClr val="accent6"/>
                </a:solidFill>
                <a:latin typeface="+mn-lt"/>
                <a:ea typeface="+mn-ea"/>
                <a:cs typeface="+mn-cs"/>
              </a:rPr>
              <a:t> </a:t>
            </a:r>
            <a:r>
              <a:rPr lang="en-US" kern="1200" dirty="0">
                <a:solidFill>
                  <a:schemeClr val="accent6"/>
                </a:solidFill>
                <a:latin typeface="+mn-lt"/>
                <a:ea typeface="+mn-ea"/>
                <a:cs typeface="+mn-cs"/>
              </a:rPr>
              <a:t>[2].</a:t>
            </a:r>
          </a:p>
          <a:p>
            <a:pPr marL="285750" indent="-285750" defTabSz="914400">
              <a:spcAft>
                <a:spcPts val="1800"/>
              </a:spcAft>
              <a:buFont typeface="Arial" panose="020B0604020202020204" pitchFamily="34" charset="0"/>
              <a:buChar char="•"/>
            </a:pPr>
            <a:r>
              <a:rPr lang="en-US" kern="1200" dirty="0">
                <a:solidFill>
                  <a:schemeClr val="accent6"/>
                </a:solidFill>
                <a:latin typeface="+mn-lt"/>
                <a:ea typeface="+mn-ea"/>
                <a:cs typeface="+mn-cs"/>
              </a:rPr>
              <a:t>This study will </a:t>
            </a:r>
            <a:r>
              <a:rPr lang="en-US" dirty="0">
                <a:solidFill>
                  <a:schemeClr val="accent6"/>
                </a:solidFill>
              </a:rPr>
              <a:t>mainly use </a:t>
            </a:r>
            <a:r>
              <a:rPr lang="en-US" kern="1200" dirty="0">
                <a:solidFill>
                  <a:schemeClr val="accent6"/>
                </a:solidFill>
                <a:latin typeface="+mn-lt"/>
                <a:ea typeface="+mn-ea"/>
                <a:cs typeface="+mn-cs"/>
              </a:rPr>
              <a:t>soft clustering approach.</a:t>
            </a:r>
          </a:p>
        </p:txBody>
      </p:sp>
      <p:pic>
        <p:nvPicPr>
          <p:cNvPr id="6" name="Content Placeholder 5">
            <a:extLst>
              <a:ext uri="{FF2B5EF4-FFF2-40B4-BE49-F238E27FC236}">
                <a16:creationId xmlns:a16="http://schemas.microsoft.com/office/drawing/2014/main" id="{8379C52D-4BC2-5C73-4182-A4B324C92ED8}"/>
              </a:ext>
            </a:extLst>
          </p:cNvPr>
          <p:cNvPicPr>
            <a:picLocks noGrp="1" noChangeAspect="1"/>
          </p:cNvPicPr>
          <p:nvPr>
            <p:ph sz="half" idx="1"/>
          </p:nvPr>
        </p:nvPicPr>
        <p:blipFill>
          <a:blip r:embed="rId2"/>
          <a:stretch>
            <a:fillRect/>
          </a:stretch>
        </p:blipFill>
        <p:spPr>
          <a:xfrm>
            <a:off x="4795935" y="1959429"/>
            <a:ext cx="7224526" cy="4141020"/>
          </a:xfrm>
          <a:prstGeom prst="roundRect">
            <a:avLst/>
          </a:prstGeom>
          <a:noFill/>
        </p:spPr>
      </p:pic>
      <p:sp>
        <p:nvSpPr>
          <p:cNvPr id="8" name="TextBox 7">
            <a:extLst>
              <a:ext uri="{FF2B5EF4-FFF2-40B4-BE49-F238E27FC236}">
                <a16:creationId xmlns:a16="http://schemas.microsoft.com/office/drawing/2014/main" id="{AFA67C30-4E3D-4589-41CC-2A2FD1793560}"/>
              </a:ext>
            </a:extLst>
          </p:cNvPr>
          <p:cNvSpPr txBox="1"/>
          <p:nvPr/>
        </p:nvSpPr>
        <p:spPr>
          <a:xfrm>
            <a:off x="526103" y="1069539"/>
            <a:ext cx="10773270" cy="1015663"/>
          </a:xfrm>
          <a:prstGeom prst="rect">
            <a:avLst/>
          </a:prstGeom>
          <a:noFill/>
        </p:spPr>
        <p:txBody>
          <a:bodyPr wrap="square">
            <a:spAutoFit/>
          </a:bodyPr>
          <a:lstStyle/>
          <a:p>
            <a:pPr>
              <a:spcAft>
                <a:spcPts val="1200"/>
              </a:spcAft>
            </a:pPr>
            <a:r>
              <a:rPr lang="en-US" sz="2000" b="1" dirty="0">
                <a:solidFill>
                  <a:schemeClr val="accent6"/>
                </a:solidFill>
              </a:rPr>
              <a:t>Clustering</a:t>
            </a:r>
            <a:r>
              <a:rPr lang="en-US" sz="2000" dirty="0">
                <a:solidFill>
                  <a:schemeClr val="accent6"/>
                </a:solidFill>
              </a:rPr>
              <a:t> is one of the main techniques used in </a:t>
            </a:r>
            <a:r>
              <a:rPr lang="en-US" sz="2000" b="1" dirty="0">
                <a:solidFill>
                  <a:srgbClr val="0F9F2A"/>
                </a:solidFill>
              </a:rPr>
              <a:t>Unsupervised learning </a:t>
            </a:r>
            <a:r>
              <a:rPr lang="en-US" sz="2000" dirty="0">
                <a:solidFill>
                  <a:schemeClr val="accent6"/>
                </a:solidFill>
              </a:rPr>
              <a:t>which is a type of machine learning where the algorithm works with data that has no known categories or outcomes [2,5].</a:t>
            </a:r>
            <a:endParaRPr lang="en-ZA" sz="2000" dirty="0">
              <a:solidFill>
                <a:schemeClr val="accent6"/>
              </a:solidFill>
            </a:endParaRPr>
          </a:p>
        </p:txBody>
      </p:sp>
      <p:sp>
        <p:nvSpPr>
          <p:cNvPr id="10" name="TextBox 9">
            <a:extLst>
              <a:ext uri="{FF2B5EF4-FFF2-40B4-BE49-F238E27FC236}">
                <a16:creationId xmlns:a16="http://schemas.microsoft.com/office/drawing/2014/main" id="{35DD9E6E-7A4A-9A8D-6245-D05857D2CC93}"/>
              </a:ext>
            </a:extLst>
          </p:cNvPr>
          <p:cNvSpPr txBox="1"/>
          <p:nvPr/>
        </p:nvSpPr>
        <p:spPr>
          <a:xfrm>
            <a:off x="4905983" y="6043508"/>
            <a:ext cx="5722411" cy="307777"/>
          </a:xfrm>
          <a:prstGeom prst="rect">
            <a:avLst/>
          </a:prstGeom>
          <a:noFill/>
        </p:spPr>
        <p:txBody>
          <a:bodyPr wrap="square">
            <a:spAutoFit/>
          </a:bodyPr>
          <a:lstStyle/>
          <a:p>
            <a:r>
              <a:rPr lang="en-US" sz="1400" dirty="0">
                <a:solidFill>
                  <a:schemeClr val="accent6"/>
                </a:solidFill>
              </a:rPr>
              <a:t>Figure 2 : Clustering types comparison visualization</a:t>
            </a:r>
            <a:endParaRPr lang="en-ZA" sz="1400" dirty="0">
              <a:solidFill>
                <a:schemeClr val="accent6"/>
              </a:solidFill>
            </a:endParaRPr>
          </a:p>
        </p:txBody>
      </p:sp>
    </p:spTree>
    <p:extLst>
      <p:ext uri="{BB962C8B-B14F-4D97-AF65-F5344CB8AC3E}">
        <p14:creationId xmlns:p14="http://schemas.microsoft.com/office/powerpoint/2010/main" val="1555375483"/>
      </p:ext>
    </p:extLst>
  </p:cSld>
  <p:clrMapOvr>
    <a:masterClrMapping/>
  </p:clrMapOvr>
  <mc:AlternateContent xmlns:mc="http://schemas.openxmlformats.org/markup-compatibility/2006">
    <mc:Choice xmlns:p14="http://schemas.microsoft.com/office/powerpoint/2010/main" Requires="p14">
      <p:transition spd="slow" p14:dur="2000" advTm="414"/>
    </mc:Choice>
    <mc:Fallback>
      <p:transition spd="slow" advTm="414"/>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A102376-BCB9-CDDB-2FCC-5CD9E3D48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5DC5CD-70B5-0F64-8D48-4BEB03299421}"/>
              </a:ext>
            </a:extLst>
          </p:cNvPr>
          <p:cNvSpPr>
            <a:spLocks noGrp="1"/>
          </p:cNvSpPr>
          <p:nvPr>
            <p:ph type="title"/>
          </p:nvPr>
        </p:nvSpPr>
        <p:spPr>
          <a:xfrm>
            <a:off x="923136" y="108155"/>
            <a:ext cx="10511627" cy="576809"/>
          </a:xfrm>
        </p:spPr>
        <p:txBody>
          <a:bodyPr/>
          <a:lstStyle/>
          <a:p>
            <a:r>
              <a:rPr lang="en-ZA" dirty="0"/>
              <a:t>Summary of literature</a:t>
            </a:r>
          </a:p>
        </p:txBody>
      </p:sp>
      <p:graphicFrame>
        <p:nvGraphicFramePr>
          <p:cNvPr id="3" name="Table 2">
            <a:extLst>
              <a:ext uri="{FF2B5EF4-FFF2-40B4-BE49-F238E27FC236}">
                <a16:creationId xmlns:a16="http://schemas.microsoft.com/office/drawing/2014/main" id="{12C05722-EE4E-A816-3BF6-65C33122D0FF}"/>
              </a:ext>
            </a:extLst>
          </p:cNvPr>
          <p:cNvGraphicFramePr>
            <a:graphicFrameLocks noGrp="1"/>
          </p:cNvGraphicFramePr>
          <p:nvPr>
            <p:extLst>
              <p:ext uri="{D42A27DB-BD31-4B8C-83A1-F6EECF244321}">
                <p14:modId xmlns:p14="http://schemas.microsoft.com/office/powerpoint/2010/main" val="2557809595"/>
              </p:ext>
            </p:extLst>
          </p:nvPr>
        </p:nvGraphicFramePr>
        <p:xfrm>
          <a:off x="97227" y="1192369"/>
          <a:ext cx="11998443" cy="5374245"/>
        </p:xfrm>
        <a:graphic>
          <a:graphicData uri="http://schemas.openxmlformats.org/drawingml/2006/table">
            <a:tbl>
              <a:tblPr firstRow="1" firstCol="1" bandRow="1">
                <a:tableStyleId>{68D230F3-CF80-4859-8CE7-A43EE81993B5}</a:tableStyleId>
              </a:tblPr>
              <a:tblGrid>
                <a:gridCol w="1280709">
                  <a:extLst>
                    <a:ext uri="{9D8B030D-6E8A-4147-A177-3AD203B41FA5}">
                      <a16:colId xmlns:a16="http://schemas.microsoft.com/office/drawing/2014/main" val="1829096056"/>
                    </a:ext>
                  </a:extLst>
                </a:gridCol>
                <a:gridCol w="1560814">
                  <a:extLst>
                    <a:ext uri="{9D8B030D-6E8A-4147-A177-3AD203B41FA5}">
                      <a16:colId xmlns:a16="http://schemas.microsoft.com/office/drawing/2014/main" val="1874936931"/>
                    </a:ext>
                  </a:extLst>
                </a:gridCol>
                <a:gridCol w="1745650">
                  <a:extLst>
                    <a:ext uri="{9D8B030D-6E8A-4147-A177-3AD203B41FA5}">
                      <a16:colId xmlns:a16="http://schemas.microsoft.com/office/drawing/2014/main" val="2437290032"/>
                    </a:ext>
                  </a:extLst>
                </a:gridCol>
                <a:gridCol w="2133159">
                  <a:extLst>
                    <a:ext uri="{9D8B030D-6E8A-4147-A177-3AD203B41FA5}">
                      <a16:colId xmlns:a16="http://schemas.microsoft.com/office/drawing/2014/main" val="4082194622"/>
                    </a:ext>
                  </a:extLst>
                </a:gridCol>
                <a:gridCol w="2986422">
                  <a:extLst>
                    <a:ext uri="{9D8B030D-6E8A-4147-A177-3AD203B41FA5}">
                      <a16:colId xmlns:a16="http://schemas.microsoft.com/office/drawing/2014/main" val="2297141052"/>
                    </a:ext>
                  </a:extLst>
                </a:gridCol>
                <a:gridCol w="2291689">
                  <a:extLst>
                    <a:ext uri="{9D8B030D-6E8A-4147-A177-3AD203B41FA5}">
                      <a16:colId xmlns:a16="http://schemas.microsoft.com/office/drawing/2014/main" val="3712518591"/>
                    </a:ext>
                  </a:extLst>
                </a:gridCol>
              </a:tblGrid>
              <a:tr h="672789">
                <a:tc>
                  <a:txBody>
                    <a:bodyPr/>
                    <a:lstStyle/>
                    <a:p>
                      <a:pPr>
                        <a:buNone/>
                      </a:pPr>
                      <a:r>
                        <a:rPr lang="en-ZA" sz="1600" b="1" dirty="0">
                          <a:solidFill>
                            <a:schemeClr val="accent6"/>
                          </a:solidFill>
                        </a:rPr>
                        <a:t>Ref</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Main Focus / Topic</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Dataset Used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Methodology / Model Used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Key Findings / Contributions</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Limitations / Gaps Identified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3344052833"/>
                  </a:ext>
                </a:extLst>
              </a:tr>
              <a:tr h="1460538">
                <a:tc>
                  <a:txBody>
                    <a:bodyPr/>
                    <a:lstStyle/>
                    <a:p>
                      <a:pPr>
                        <a:buNone/>
                      </a:pPr>
                      <a:r>
                        <a:rPr lang="en-US" sz="1300" b="0" dirty="0">
                          <a:solidFill>
                            <a:schemeClr val="accent6"/>
                          </a:solidFill>
                        </a:rPr>
                        <a:t>H. Şentürk et al. (2024) [3]</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Retail customer profiling using clustering methods.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Textile retail e-commerce dataset with 38,975 customers over one year.</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RFM scoring with K-means, AGNES, and DBSCAN.</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Demonstrates that conventional clustering can </a:t>
                      </a:r>
                      <a:r>
                        <a:rPr lang="en-US" sz="1300" b="1" dirty="0">
                          <a:solidFill>
                            <a:schemeClr val="accent6"/>
                          </a:solidFill>
                        </a:rPr>
                        <a:t>identify practical customer groups such as loyal, potential, new, and lost customers.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Snapshot-based and conventional; </a:t>
                      </a:r>
                      <a:r>
                        <a:rPr lang="en-US" sz="1300" dirty="0">
                          <a:solidFill>
                            <a:srgbClr val="0F9F2A"/>
                          </a:solidFill>
                        </a:rPr>
                        <a:t>does not adapt continuously over time</a:t>
                      </a:r>
                      <a:r>
                        <a:rPr lang="en-US" sz="1300" dirty="0">
                          <a:solidFill>
                            <a:schemeClr val="accent6"/>
                          </a:solidFill>
                        </a:rPr>
                        <a:t>.</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341820193"/>
                  </a:ext>
                </a:extLst>
              </a:tr>
              <a:tr h="1574963">
                <a:tc>
                  <a:txBody>
                    <a:bodyPr/>
                    <a:lstStyle/>
                    <a:p>
                      <a:pPr>
                        <a:buNone/>
                      </a:pPr>
                      <a:r>
                        <a:rPr lang="pl-PL" sz="1300" b="0" dirty="0">
                          <a:solidFill>
                            <a:schemeClr val="accent6"/>
                          </a:solidFill>
                        </a:rPr>
                        <a:t>S. Sobantu and O. E. Isafiade (2025)</a:t>
                      </a:r>
                      <a:r>
                        <a:rPr lang="en-ZA" sz="1300" b="0" dirty="0">
                          <a:solidFill>
                            <a:schemeClr val="accent6"/>
                          </a:solidFill>
                        </a:rPr>
                        <a:t> </a:t>
                      </a:r>
                      <a:r>
                        <a:rPr lang="pl-PL" sz="1300" b="0" dirty="0">
                          <a:solidFill>
                            <a:schemeClr val="accent6"/>
                          </a:solidFill>
                        </a:rPr>
                        <a:t>[4] </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rgbClr val="0F9F2A"/>
                          </a:solidFill>
                        </a:rPr>
                        <a:t>Dynamic customer segmentation for automating continuous transactional updates.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South African pharmacy retail transactional dataset (55,150 records; 7 variables).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300" b="0" dirty="0">
                          <a:solidFill>
                            <a:schemeClr val="accent6"/>
                          </a:solidFill>
                        </a:rPr>
                        <a:t>Cascaded RFM, Modified Dynamic Fuzzy C-Means (MDFCM), Crespo’s Dynamic Fuzzy C-Means (CDFCM).</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proposes a cascaded RFM-based dynamic segmentation framework and shows MDFCM improves as the number of clusters increases.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rgbClr val="0F9F2A"/>
                          </a:solidFill>
                        </a:rPr>
                        <a:t>Customer segmentation in this study remains static and does not fully demonstrate how customer segments change over time.</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263357573"/>
                  </a:ext>
                </a:extLst>
              </a:tr>
              <a:tr h="1665955">
                <a:tc>
                  <a:txBody>
                    <a:bodyPr/>
                    <a:lstStyle/>
                    <a:p>
                      <a:pPr>
                        <a:buNone/>
                      </a:pPr>
                      <a:r>
                        <a:rPr lang="en-ZA" sz="1300" b="0" dirty="0">
                          <a:solidFill>
                            <a:schemeClr val="accent6"/>
                          </a:solidFill>
                        </a:rPr>
                        <a:t>M. Alves Gomes and T. Meisen (2023) [5] </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Review of customer segmentation methods for personalized targeting in e-commerce.</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Literature review of 105 publications (2000-2022).</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Structured review of segmentation process, variables, algorithms, and evaluation practices.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Strong review anchor showing that segmentation literature is dominated by RFM, manual feature handling, and clustering approaches such as k-means.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Review study only; </a:t>
                      </a:r>
                      <a:r>
                        <a:rPr lang="en-US" sz="1300" dirty="0">
                          <a:solidFill>
                            <a:srgbClr val="0F9F2A"/>
                          </a:solidFill>
                        </a:rPr>
                        <a:t>does not propose a single dynamic segmentation framework</a:t>
                      </a:r>
                      <a:r>
                        <a:rPr lang="en-US" sz="1300" dirty="0">
                          <a:solidFill>
                            <a:schemeClr val="accent6"/>
                          </a:solidFill>
                        </a:rPr>
                        <a:t>.</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2894363744"/>
                  </a:ext>
                </a:extLst>
              </a:tr>
            </a:tbl>
          </a:graphicData>
        </a:graphic>
      </p:graphicFrame>
      <p:sp>
        <p:nvSpPr>
          <p:cNvPr id="4" name="TextBox 3">
            <a:extLst>
              <a:ext uri="{FF2B5EF4-FFF2-40B4-BE49-F238E27FC236}">
                <a16:creationId xmlns:a16="http://schemas.microsoft.com/office/drawing/2014/main" id="{654F76CD-AD22-205C-411C-763E05ED655E}"/>
              </a:ext>
            </a:extLst>
          </p:cNvPr>
          <p:cNvSpPr txBox="1"/>
          <p:nvPr/>
        </p:nvSpPr>
        <p:spPr>
          <a:xfrm>
            <a:off x="68826" y="884342"/>
            <a:ext cx="6204858" cy="246221"/>
          </a:xfrm>
          <a:prstGeom prst="rect">
            <a:avLst/>
          </a:prstGeom>
          <a:noFill/>
        </p:spPr>
        <p:txBody>
          <a:bodyPr wrap="square" rtlCol="0">
            <a:spAutoFit/>
          </a:bodyPr>
          <a:lstStyle/>
          <a:p>
            <a:r>
              <a:rPr lang="en-ZA" sz="1000" dirty="0">
                <a:solidFill>
                  <a:schemeClr val="accent6"/>
                </a:solidFill>
              </a:rPr>
              <a:t>Table 1 : Overview of related work on clustering techniques</a:t>
            </a:r>
          </a:p>
        </p:txBody>
      </p:sp>
      <p:sp>
        <p:nvSpPr>
          <p:cNvPr id="8" name="TextBox 7">
            <a:extLst>
              <a:ext uri="{FF2B5EF4-FFF2-40B4-BE49-F238E27FC236}">
                <a16:creationId xmlns:a16="http://schemas.microsoft.com/office/drawing/2014/main" id="{8E7A8233-03F3-044A-95E5-FC6CFD793BB6}"/>
              </a:ext>
            </a:extLst>
          </p:cNvPr>
          <p:cNvSpPr txBox="1"/>
          <p:nvPr/>
        </p:nvSpPr>
        <p:spPr>
          <a:xfrm>
            <a:off x="10385525" y="6604250"/>
            <a:ext cx="1681744" cy="2462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ZA" sz="1000" b="0" i="0" u="none" strike="noStrike" kern="1200" cap="none" spc="0" normalizeH="0" baseline="0" noProof="0" dirty="0">
                <a:ln>
                  <a:noFill/>
                </a:ln>
                <a:solidFill>
                  <a:schemeClr val="accent6"/>
                </a:solidFill>
                <a:effectLst/>
                <a:uLnTx/>
                <a:uFillTx/>
                <a:latin typeface="Sabon Next LT"/>
                <a:ea typeface="+mn-ea"/>
                <a:cs typeface="+mn-cs"/>
              </a:rPr>
              <a:t>(continued)</a:t>
            </a:r>
          </a:p>
        </p:txBody>
      </p:sp>
    </p:spTree>
    <p:extLst>
      <p:ext uri="{BB962C8B-B14F-4D97-AF65-F5344CB8AC3E}">
        <p14:creationId xmlns:p14="http://schemas.microsoft.com/office/powerpoint/2010/main" val="2138764420"/>
      </p:ext>
    </p:extLst>
  </p:cSld>
  <p:clrMapOvr>
    <a:masterClrMapping/>
  </p:clrMapOvr>
  <mc:AlternateContent xmlns:mc="http://schemas.openxmlformats.org/markup-compatibility/2006">
    <mc:Choice xmlns:p14="http://schemas.microsoft.com/office/powerpoint/2010/main" Requires="p14">
      <p:transition spd="slow" p14:dur="2000" advTm="357"/>
    </mc:Choice>
    <mc:Fallback>
      <p:transition spd="slow" advTm="357"/>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1613FDA-7DDB-7C49-D5A2-821CB15EEF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DAF33-34E1-AEEC-112C-4F648AEE7666}"/>
              </a:ext>
            </a:extLst>
          </p:cNvPr>
          <p:cNvSpPr>
            <a:spLocks noGrp="1"/>
          </p:cNvSpPr>
          <p:nvPr>
            <p:ph type="title"/>
          </p:nvPr>
        </p:nvSpPr>
        <p:spPr>
          <a:xfrm>
            <a:off x="923136" y="144481"/>
            <a:ext cx="10511627" cy="1012785"/>
          </a:xfrm>
        </p:spPr>
        <p:txBody>
          <a:bodyPr/>
          <a:lstStyle/>
          <a:p>
            <a:r>
              <a:rPr lang="en-ZA" dirty="0"/>
              <a:t>Summary of literature </a:t>
            </a:r>
            <a:r>
              <a:rPr kumimoji="0" lang="en-ZA" sz="1800" b="1" i="0" u="none" strike="noStrike" kern="1200" cap="none" spc="0" normalizeH="0" baseline="0" noProof="0" dirty="0">
                <a:ln>
                  <a:noFill/>
                </a:ln>
                <a:solidFill>
                  <a:srgbClr val="1F2C8F"/>
                </a:solidFill>
                <a:effectLst/>
                <a:uLnTx/>
                <a:uFillTx/>
                <a:latin typeface="Arial Black"/>
                <a:ea typeface="+mj-ea"/>
                <a:cs typeface="+mj-cs"/>
              </a:rPr>
              <a:t>cont.</a:t>
            </a:r>
            <a:br>
              <a:rPr lang="en-ZA" dirty="0"/>
            </a:br>
            <a:r>
              <a:rPr lang="en-US" dirty="0"/>
              <a:t> </a:t>
            </a:r>
            <a:endParaRPr lang="en-ZA" dirty="0"/>
          </a:p>
        </p:txBody>
      </p:sp>
      <p:graphicFrame>
        <p:nvGraphicFramePr>
          <p:cNvPr id="3" name="Table 2">
            <a:extLst>
              <a:ext uri="{FF2B5EF4-FFF2-40B4-BE49-F238E27FC236}">
                <a16:creationId xmlns:a16="http://schemas.microsoft.com/office/drawing/2014/main" id="{951E76F7-24DD-920E-366F-39120C165332}"/>
              </a:ext>
            </a:extLst>
          </p:cNvPr>
          <p:cNvGraphicFramePr>
            <a:graphicFrameLocks noGrp="1"/>
          </p:cNvGraphicFramePr>
          <p:nvPr>
            <p:extLst>
              <p:ext uri="{D42A27DB-BD31-4B8C-83A1-F6EECF244321}">
                <p14:modId xmlns:p14="http://schemas.microsoft.com/office/powerpoint/2010/main" val="50155236"/>
              </p:ext>
            </p:extLst>
          </p:nvPr>
        </p:nvGraphicFramePr>
        <p:xfrm>
          <a:off x="98323" y="1010724"/>
          <a:ext cx="12024851" cy="5596552"/>
        </p:xfrm>
        <a:graphic>
          <a:graphicData uri="http://schemas.openxmlformats.org/drawingml/2006/table">
            <a:tbl>
              <a:tblPr firstRow="1" firstCol="1" bandRow="1">
                <a:tableStyleId>{68D230F3-CF80-4859-8CE7-A43EE81993B5}</a:tableStyleId>
              </a:tblPr>
              <a:tblGrid>
                <a:gridCol w="1201839">
                  <a:extLst>
                    <a:ext uri="{9D8B030D-6E8A-4147-A177-3AD203B41FA5}">
                      <a16:colId xmlns:a16="http://schemas.microsoft.com/office/drawing/2014/main" val="1829096056"/>
                    </a:ext>
                  </a:extLst>
                </a:gridCol>
                <a:gridCol w="1708509">
                  <a:extLst>
                    <a:ext uri="{9D8B030D-6E8A-4147-A177-3AD203B41FA5}">
                      <a16:colId xmlns:a16="http://schemas.microsoft.com/office/drawing/2014/main" val="1874936931"/>
                    </a:ext>
                  </a:extLst>
                </a:gridCol>
                <a:gridCol w="1307690">
                  <a:extLst>
                    <a:ext uri="{9D8B030D-6E8A-4147-A177-3AD203B41FA5}">
                      <a16:colId xmlns:a16="http://schemas.microsoft.com/office/drawing/2014/main" val="2437290032"/>
                    </a:ext>
                  </a:extLst>
                </a:gridCol>
                <a:gridCol w="2340078">
                  <a:extLst>
                    <a:ext uri="{9D8B030D-6E8A-4147-A177-3AD203B41FA5}">
                      <a16:colId xmlns:a16="http://schemas.microsoft.com/office/drawing/2014/main" val="4082194622"/>
                    </a:ext>
                  </a:extLst>
                </a:gridCol>
                <a:gridCol w="2998838">
                  <a:extLst>
                    <a:ext uri="{9D8B030D-6E8A-4147-A177-3AD203B41FA5}">
                      <a16:colId xmlns:a16="http://schemas.microsoft.com/office/drawing/2014/main" val="2297141052"/>
                    </a:ext>
                  </a:extLst>
                </a:gridCol>
                <a:gridCol w="2467897">
                  <a:extLst>
                    <a:ext uri="{9D8B030D-6E8A-4147-A177-3AD203B41FA5}">
                      <a16:colId xmlns:a16="http://schemas.microsoft.com/office/drawing/2014/main" val="3712518591"/>
                    </a:ext>
                  </a:extLst>
                </a:gridCol>
              </a:tblGrid>
              <a:tr h="786787">
                <a:tc>
                  <a:txBody>
                    <a:bodyPr/>
                    <a:lstStyle/>
                    <a:p>
                      <a:pPr>
                        <a:buNone/>
                      </a:pPr>
                      <a:r>
                        <a:rPr lang="en-ZA" sz="1600" b="1" dirty="0">
                          <a:solidFill>
                            <a:schemeClr val="accent6"/>
                          </a:solidFill>
                        </a:rPr>
                        <a:t>Ref</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Main Focus / Topic</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Dataset Used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Methodology / Model Used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Key Findings / Contributions</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Limitations / Gaps Identified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3344052833"/>
                  </a:ext>
                </a:extLst>
              </a:tr>
              <a:tr h="1462017">
                <a:tc>
                  <a:txBody>
                    <a:bodyPr/>
                    <a:lstStyle/>
                    <a:p>
                      <a:pPr>
                        <a:buNone/>
                      </a:pPr>
                      <a:r>
                        <a:rPr lang="en-ZA" sz="1400" b="0" dirty="0">
                          <a:solidFill>
                            <a:schemeClr val="accent6"/>
                          </a:solidFill>
                        </a:rPr>
                        <a:t>B. Türkmen (2022) [6] </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Machine learning for customer segmentation in online retail.</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400" dirty="0">
                          <a:solidFill>
                            <a:schemeClr val="accent6"/>
                          </a:solidFill>
                        </a:rPr>
                        <a:t>Online retail data.</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K-means, Hierarchical Clustering, DBSCAN, and traditional RFM-based grouping.</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Provides a comparative view of unsupervised retail segmentation methods and their practical marketing usability.</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rgbClr val="0F9F2A"/>
                          </a:solidFill>
                        </a:rPr>
                        <a:t>Mainly static and comparative; does not solve continuous adaptation over time.</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211714259"/>
                  </a:ext>
                </a:extLst>
              </a:tr>
              <a:tr h="1673874">
                <a:tc>
                  <a:txBody>
                    <a:bodyPr/>
                    <a:lstStyle/>
                    <a:p>
                      <a:pPr>
                        <a:buNone/>
                      </a:pPr>
                      <a:r>
                        <a:rPr lang="en-ZA" sz="1400" b="0" dirty="0">
                          <a:solidFill>
                            <a:schemeClr val="accent6"/>
                          </a:solidFill>
                        </a:rPr>
                        <a:t>N. N. Son et al. (2025) [7] </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b="0" dirty="0">
                          <a:solidFill>
                            <a:schemeClr val="accent6"/>
                          </a:solidFill>
                        </a:rPr>
                        <a:t>Geodemographic market targeting in major localized cities.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b="0" dirty="0">
                          <a:solidFill>
                            <a:schemeClr val="accent6"/>
                          </a:solidFill>
                        </a:rPr>
                        <a:t>Vietnam demographic dataset covering 11,165 administrative units.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b="1" dirty="0">
                          <a:solidFill>
                            <a:schemeClr val="accent6"/>
                          </a:solidFill>
                        </a:rPr>
                        <a:t>Principal Component Analysis (PCA), K-means clustering, </a:t>
                      </a:r>
                      <a:r>
                        <a:rPr lang="en-US" sz="1400" b="0" dirty="0">
                          <a:solidFill>
                            <a:schemeClr val="accent6"/>
                          </a:solidFill>
                        </a:rPr>
                        <a:t>geodemographic modelling.</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b="0" dirty="0">
                          <a:solidFill>
                            <a:srgbClr val="0F9F2A"/>
                          </a:solidFill>
                        </a:rPr>
                        <a:t>Supports the argument that segmentation can move beyond basic RFM and include richer contextual demographic variables</a:t>
                      </a:r>
                      <a:r>
                        <a:rPr lang="en-US" sz="1400" b="0" dirty="0">
                          <a:solidFill>
                            <a:schemeClr val="accent6"/>
                          </a:solidFill>
                        </a:rPr>
                        <a:t>.</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b="0" dirty="0">
                          <a:solidFill>
                            <a:schemeClr val="accent6"/>
                          </a:solidFill>
                        </a:rPr>
                        <a:t>Relies mainly on demographic and census-type data; lacks transactional and behavioral updating.</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341820193"/>
                  </a:ext>
                </a:extLst>
              </a:tr>
              <a:tr h="1673874">
                <a:tc>
                  <a:txBody>
                    <a:bodyPr/>
                    <a:lstStyle/>
                    <a:p>
                      <a:pPr>
                        <a:buNone/>
                      </a:pPr>
                      <a:r>
                        <a:rPr lang="en-ZA" sz="1400" b="0" dirty="0">
                          <a:solidFill>
                            <a:schemeClr val="accent6"/>
                          </a:solidFill>
                        </a:rPr>
                        <a:t>C. P </a:t>
                      </a:r>
                      <a:r>
                        <a:rPr lang="en-ZA" sz="1400" b="0" dirty="0" err="1">
                          <a:solidFill>
                            <a:schemeClr val="accent6"/>
                          </a:solidFill>
                        </a:rPr>
                        <a:t>Ufeli</a:t>
                      </a:r>
                      <a:r>
                        <a:rPr lang="en-ZA" sz="1400" b="0" dirty="0">
                          <a:solidFill>
                            <a:schemeClr val="accent6"/>
                          </a:solidFill>
                        </a:rPr>
                        <a:t> et al. (2025) [8] </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Customer segmentation with mixed-type variables using dimensionality reduction.</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Retail dataset with 3,900 customers.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Factor Analysis of Mixed Data (FAMD), K-means, Agglomerative Clustering.</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Shows that mixed numerical and categorical customer variables can improve segmentation quality and reveal richer customer groups.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rgbClr val="0F9F2A"/>
                          </a:solidFill>
                        </a:rPr>
                        <a:t>Still a static clustering setup; does not address real-time or continuous updating</a:t>
                      </a:r>
                      <a:r>
                        <a:rPr lang="en-US" sz="1400" dirty="0">
                          <a:solidFill>
                            <a:schemeClr val="accent6"/>
                          </a:solidFill>
                        </a:rPr>
                        <a:t>.</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263357573"/>
                  </a:ext>
                </a:extLst>
              </a:tr>
            </a:tbl>
          </a:graphicData>
        </a:graphic>
      </p:graphicFrame>
      <p:sp>
        <p:nvSpPr>
          <p:cNvPr id="8" name="TextBox 7">
            <a:extLst>
              <a:ext uri="{FF2B5EF4-FFF2-40B4-BE49-F238E27FC236}">
                <a16:creationId xmlns:a16="http://schemas.microsoft.com/office/drawing/2014/main" id="{64A94D75-4DE0-F8C1-AC48-FD6F77CB4A7C}"/>
              </a:ext>
            </a:extLst>
          </p:cNvPr>
          <p:cNvSpPr txBox="1"/>
          <p:nvPr/>
        </p:nvSpPr>
        <p:spPr>
          <a:xfrm>
            <a:off x="10411933" y="6599857"/>
            <a:ext cx="1681744" cy="2462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ZA" sz="1000" b="0" i="0" u="none" strike="noStrike" kern="1200" cap="none" spc="0" normalizeH="0" baseline="0" noProof="0" dirty="0">
                <a:ln>
                  <a:noFill/>
                </a:ln>
                <a:solidFill>
                  <a:schemeClr val="accent6"/>
                </a:solidFill>
                <a:effectLst/>
                <a:uLnTx/>
                <a:uFillTx/>
                <a:latin typeface="Sabon Next LT"/>
                <a:ea typeface="+mn-ea"/>
                <a:cs typeface="+mn-cs"/>
              </a:rPr>
              <a:t>(continued)</a:t>
            </a:r>
          </a:p>
        </p:txBody>
      </p:sp>
      <p:sp>
        <p:nvSpPr>
          <p:cNvPr id="5" name="TextBox 4">
            <a:extLst>
              <a:ext uri="{FF2B5EF4-FFF2-40B4-BE49-F238E27FC236}">
                <a16:creationId xmlns:a16="http://schemas.microsoft.com/office/drawing/2014/main" id="{F547B8CD-4AD4-55CC-0ACB-38F71DED906E}"/>
              </a:ext>
            </a:extLst>
          </p:cNvPr>
          <p:cNvSpPr txBox="1"/>
          <p:nvPr/>
        </p:nvSpPr>
        <p:spPr>
          <a:xfrm>
            <a:off x="98323" y="771922"/>
            <a:ext cx="6204858" cy="246221"/>
          </a:xfrm>
          <a:prstGeom prst="rect">
            <a:avLst/>
          </a:prstGeom>
          <a:noFill/>
        </p:spPr>
        <p:txBody>
          <a:bodyPr wrap="square" rtlCol="0">
            <a:spAutoFit/>
          </a:bodyPr>
          <a:lstStyle/>
          <a:p>
            <a:r>
              <a:rPr lang="en-ZA" sz="1000" dirty="0">
                <a:solidFill>
                  <a:schemeClr val="accent6"/>
                </a:solidFill>
              </a:rPr>
              <a:t>Table 1 (continued)</a:t>
            </a:r>
          </a:p>
        </p:txBody>
      </p:sp>
    </p:spTree>
    <p:extLst>
      <p:ext uri="{BB962C8B-B14F-4D97-AF65-F5344CB8AC3E}">
        <p14:creationId xmlns:p14="http://schemas.microsoft.com/office/powerpoint/2010/main" val="3379647641"/>
      </p:ext>
    </p:extLst>
  </p:cSld>
  <p:clrMapOvr>
    <a:masterClrMapping/>
  </p:clrMapOvr>
  <mc:AlternateContent xmlns:mc="http://schemas.openxmlformats.org/markup-compatibility/2006">
    <mc:Choice xmlns:p14="http://schemas.microsoft.com/office/powerpoint/2010/main" Requires="p14">
      <p:transition spd="slow" p14:dur="2000" advTm="2532"/>
    </mc:Choice>
    <mc:Fallback>
      <p:transition spd="slow" advTm="2532"/>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8846B9-82E8-DD92-226C-13EFC3FC8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19AB22-D81C-5E74-966E-5751B54F36C3}"/>
              </a:ext>
            </a:extLst>
          </p:cNvPr>
          <p:cNvSpPr>
            <a:spLocks noGrp="1"/>
          </p:cNvSpPr>
          <p:nvPr>
            <p:ph type="title"/>
          </p:nvPr>
        </p:nvSpPr>
        <p:spPr>
          <a:xfrm>
            <a:off x="923136" y="144481"/>
            <a:ext cx="10511627" cy="1012785"/>
          </a:xfrm>
        </p:spPr>
        <p:txBody>
          <a:bodyPr/>
          <a:lstStyle/>
          <a:p>
            <a:r>
              <a:rPr lang="en-ZA" dirty="0"/>
              <a:t>Summary of literature </a:t>
            </a:r>
            <a:r>
              <a:rPr kumimoji="0" lang="en-ZA" sz="1800" b="1" i="0" u="none" strike="noStrike" kern="1200" cap="none" spc="0" normalizeH="0" baseline="0" noProof="0" dirty="0">
                <a:ln>
                  <a:noFill/>
                </a:ln>
                <a:solidFill>
                  <a:srgbClr val="1F2C8F"/>
                </a:solidFill>
                <a:effectLst/>
                <a:uLnTx/>
                <a:uFillTx/>
                <a:latin typeface="Arial Black"/>
                <a:ea typeface="+mj-ea"/>
                <a:cs typeface="+mj-cs"/>
              </a:rPr>
              <a:t>cont.</a:t>
            </a:r>
            <a:br>
              <a:rPr lang="en-ZA" dirty="0"/>
            </a:br>
            <a:r>
              <a:rPr lang="en-US" dirty="0"/>
              <a:t> </a:t>
            </a:r>
            <a:endParaRPr lang="en-ZA" dirty="0"/>
          </a:p>
        </p:txBody>
      </p:sp>
      <p:graphicFrame>
        <p:nvGraphicFramePr>
          <p:cNvPr id="3" name="Table 2">
            <a:extLst>
              <a:ext uri="{FF2B5EF4-FFF2-40B4-BE49-F238E27FC236}">
                <a16:creationId xmlns:a16="http://schemas.microsoft.com/office/drawing/2014/main" id="{F92B70C2-CEF5-96C1-7EDF-896F7C13B575}"/>
              </a:ext>
            </a:extLst>
          </p:cNvPr>
          <p:cNvGraphicFramePr>
            <a:graphicFrameLocks noGrp="1"/>
          </p:cNvGraphicFramePr>
          <p:nvPr>
            <p:extLst>
              <p:ext uri="{D42A27DB-BD31-4B8C-83A1-F6EECF244321}">
                <p14:modId xmlns:p14="http://schemas.microsoft.com/office/powerpoint/2010/main" val="41897065"/>
              </p:ext>
            </p:extLst>
          </p:nvPr>
        </p:nvGraphicFramePr>
        <p:xfrm>
          <a:off x="133292" y="949915"/>
          <a:ext cx="11925415" cy="5661864"/>
        </p:xfrm>
        <a:graphic>
          <a:graphicData uri="http://schemas.openxmlformats.org/drawingml/2006/table">
            <a:tbl>
              <a:tblPr firstRow="1" firstCol="1" bandRow="1">
                <a:tableStyleId>{68D230F3-CF80-4859-8CE7-A43EE81993B5}</a:tableStyleId>
              </a:tblPr>
              <a:tblGrid>
                <a:gridCol w="1174202">
                  <a:extLst>
                    <a:ext uri="{9D8B030D-6E8A-4147-A177-3AD203B41FA5}">
                      <a16:colId xmlns:a16="http://schemas.microsoft.com/office/drawing/2014/main" val="1829096056"/>
                    </a:ext>
                  </a:extLst>
                </a:gridCol>
                <a:gridCol w="1760171">
                  <a:extLst>
                    <a:ext uri="{9D8B030D-6E8A-4147-A177-3AD203B41FA5}">
                      <a16:colId xmlns:a16="http://schemas.microsoft.com/office/drawing/2014/main" val="1874936931"/>
                    </a:ext>
                  </a:extLst>
                </a:gridCol>
                <a:gridCol w="2375046">
                  <a:extLst>
                    <a:ext uri="{9D8B030D-6E8A-4147-A177-3AD203B41FA5}">
                      <a16:colId xmlns:a16="http://schemas.microsoft.com/office/drawing/2014/main" val="2437290032"/>
                    </a:ext>
                  </a:extLst>
                </a:gridCol>
                <a:gridCol w="2324773">
                  <a:extLst>
                    <a:ext uri="{9D8B030D-6E8A-4147-A177-3AD203B41FA5}">
                      <a16:colId xmlns:a16="http://schemas.microsoft.com/office/drawing/2014/main" val="4082194622"/>
                    </a:ext>
                  </a:extLst>
                </a:gridCol>
                <a:gridCol w="2330245">
                  <a:extLst>
                    <a:ext uri="{9D8B030D-6E8A-4147-A177-3AD203B41FA5}">
                      <a16:colId xmlns:a16="http://schemas.microsoft.com/office/drawing/2014/main" val="2297141052"/>
                    </a:ext>
                  </a:extLst>
                </a:gridCol>
                <a:gridCol w="1960978">
                  <a:extLst>
                    <a:ext uri="{9D8B030D-6E8A-4147-A177-3AD203B41FA5}">
                      <a16:colId xmlns:a16="http://schemas.microsoft.com/office/drawing/2014/main" val="3712518591"/>
                    </a:ext>
                  </a:extLst>
                </a:gridCol>
              </a:tblGrid>
              <a:tr h="709607">
                <a:tc>
                  <a:txBody>
                    <a:bodyPr/>
                    <a:lstStyle/>
                    <a:p>
                      <a:pPr>
                        <a:buNone/>
                      </a:pPr>
                      <a:r>
                        <a:rPr lang="en-ZA" sz="1600" b="0" dirty="0">
                          <a:solidFill>
                            <a:schemeClr val="accent6"/>
                          </a:solidFill>
                        </a:rPr>
                        <a:t>Ref</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Main Focus / Topic</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Dataset Used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Methodology / Model Used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Key Findings / Contributions</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600" dirty="0">
                          <a:solidFill>
                            <a:schemeClr val="accent6"/>
                          </a:solidFill>
                        </a:rPr>
                        <a:t>Limitations / Gaps Identified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3344052833"/>
                  </a:ext>
                </a:extLst>
              </a:tr>
              <a:tr h="1565362">
                <a:tc>
                  <a:txBody>
                    <a:bodyPr/>
                    <a:lstStyle/>
                    <a:p>
                      <a:pPr>
                        <a:buNone/>
                      </a:pPr>
                      <a:r>
                        <a:rPr lang="en-ZA" sz="1400" b="0" dirty="0">
                          <a:solidFill>
                            <a:schemeClr val="accent6"/>
                          </a:solidFill>
                        </a:rPr>
                        <a:t>A. Ashraf et al. (2025) [9] </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Framework for customer segmentation to improve marketing strategies.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400" dirty="0">
                          <a:solidFill>
                            <a:schemeClr val="accent6"/>
                          </a:solidFill>
                        </a:rPr>
                        <a:t>Online retail dataset.</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RFM features with K-means, Mini-Batch K-means, Spectral Clustering, and Fuzzy K-means.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Useful framework-oriented source linking customer segmentation directly to marketing decision support.</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rgbClr val="0F9F2A"/>
                          </a:solidFill>
                        </a:rPr>
                        <a:t>Remains centered on conventional static clustering over RFM features.</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2894363744"/>
                  </a:ext>
                </a:extLst>
              </a:tr>
              <a:tr h="1661652">
                <a:tc>
                  <a:txBody>
                    <a:bodyPr/>
                    <a:lstStyle/>
                    <a:p>
                      <a:pPr>
                        <a:buNone/>
                      </a:pPr>
                      <a:r>
                        <a:rPr lang="en-ZA" sz="1400" b="0" dirty="0">
                          <a:solidFill>
                            <a:schemeClr val="accent6"/>
                          </a:solidFill>
                        </a:rPr>
                        <a:t>C. </a:t>
                      </a:r>
                      <a:r>
                        <a:rPr lang="en-ZA" sz="1400" b="0" dirty="0" err="1">
                          <a:solidFill>
                            <a:schemeClr val="accent6"/>
                          </a:solidFill>
                        </a:rPr>
                        <a:t>Rungruang</a:t>
                      </a:r>
                      <a:r>
                        <a:rPr lang="en-ZA" sz="1400" b="0" dirty="0">
                          <a:solidFill>
                            <a:schemeClr val="accent6"/>
                          </a:solidFill>
                        </a:rPr>
                        <a:t> et al. (2024)  [10] </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400" dirty="0">
                          <a:solidFill>
                            <a:schemeClr val="accent6"/>
                          </a:solidFill>
                        </a:rPr>
                        <a:t>Interpretable RFM-based customer segmentation.</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b="0" dirty="0">
                          <a:solidFill>
                            <a:schemeClr val="accent6"/>
                          </a:solidFill>
                        </a:rPr>
                        <a:t>Online Retail II dataset (UCI Machine Learning Repository).</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RFM model combined with Formal Concept Analysis (FCA).</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chemeClr val="accent6"/>
                          </a:solidFill>
                        </a:rPr>
                        <a:t>Useful for feature engineering and RFM extension because it improves interpretability and knowledge representation.</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400" dirty="0">
                          <a:solidFill>
                            <a:srgbClr val="0F9F2A"/>
                          </a:solidFill>
                        </a:rPr>
                        <a:t>Still limited by the traditional RFM structure and is not fully dynamic.</a:t>
                      </a: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1613513414"/>
                  </a:ext>
                </a:extLst>
              </a:tr>
              <a:tr h="1725243">
                <a:tc>
                  <a:txBody>
                    <a:bodyPr/>
                    <a:lstStyle/>
                    <a:p>
                      <a:pPr marL="20955">
                        <a:lnSpc>
                          <a:spcPct val="110000"/>
                        </a:lnSpc>
                        <a:buNone/>
                      </a:pPr>
                      <a:r>
                        <a:rPr lang="en-US"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R. Sharma et al. (2023) [11]</a:t>
                      </a:r>
                      <a:endParaRPr lang="en-ZA"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Broad review of e-commerce and digital transformation, covering trends, consumer behavior</a:t>
                      </a:r>
                      <a:endParaRPr lang="en-ZA"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Secondary data from academic journals, government reports, industry publications, and economic analyses, framed around the Indian economy.</a:t>
                      </a:r>
                      <a:endParaRPr lang="en-ZA"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Mixed-method study combining qualitative and quantitative secondary-data analysis</a:t>
                      </a:r>
                      <a:endParaRPr lang="en-ZA"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Shows that digital transformation can improve operational efficiency, market reach, and customer experience.</a:t>
                      </a:r>
                      <a:endParaRPr lang="en-ZA"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no primary transactional dataset or cluster-validation experiment is reported, and the scope is partly India-centered. </a:t>
                      </a:r>
                      <a:endParaRPr lang="en-ZA" sz="14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3133555823"/>
                  </a:ext>
                </a:extLst>
              </a:tr>
            </a:tbl>
          </a:graphicData>
        </a:graphic>
      </p:graphicFrame>
      <p:sp>
        <p:nvSpPr>
          <p:cNvPr id="8" name="TextBox 7">
            <a:extLst>
              <a:ext uri="{FF2B5EF4-FFF2-40B4-BE49-F238E27FC236}">
                <a16:creationId xmlns:a16="http://schemas.microsoft.com/office/drawing/2014/main" id="{42451C8D-2AF7-B29D-4A58-B5D7ABD777E4}"/>
              </a:ext>
            </a:extLst>
          </p:cNvPr>
          <p:cNvSpPr txBox="1"/>
          <p:nvPr/>
        </p:nvSpPr>
        <p:spPr>
          <a:xfrm>
            <a:off x="10361658" y="6611779"/>
            <a:ext cx="1681744" cy="2462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ZA" sz="1000" b="0" i="0" u="none" strike="noStrike" kern="1200" cap="none" spc="0" normalizeH="0" baseline="0" noProof="0" dirty="0">
                <a:ln>
                  <a:noFill/>
                </a:ln>
                <a:solidFill>
                  <a:schemeClr val="accent6"/>
                </a:solidFill>
                <a:effectLst/>
                <a:uLnTx/>
                <a:uFillTx/>
                <a:latin typeface="Sabon Next LT"/>
                <a:ea typeface="+mn-ea"/>
                <a:cs typeface="+mn-cs"/>
              </a:rPr>
              <a:t>(continued)</a:t>
            </a:r>
          </a:p>
        </p:txBody>
      </p:sp>
      <p:sp>
        <p:nvSpPr>
          <p:cNvPr id="5" name="TextBox 4">
            <a:extLst>
              <a:ext uri="{FF2B5EF4-FFF2-40B4-BE49-F238E27FC236}">
                <a16:creationId xmlns:a16="http://schemas.microsoft.com/office/drawing/2014/main" id="{1A7CE20D-C7B6-C763-60B5-B28D1DE52780}"/>
              </a:ext>
            </a:extLst>
          </p:cNvPr>
          <p:cNvSpPr txBox="1"/>
          <p:nvPr/>
        </p:nvSpPr>
        <p:spPr>
          <a:xfrm>
            <a:off x="133292" y="703694"/>
            <a:ext cx="6204858" cy="246221"/>
          </a:xfrm>
          <a:prstGeom prst="rect">
            <a:avLst/>
          </a:prstGeom>
          <a:noFill/>
        </p:spPr>
        <p:txBody>
          <a:bodyPr wrap="square" rtlCol="0">
            <a:spAutoFit/>
          </a:bodyPr>
          <a:lstStyle/>
          <a:p>
            <a:r>
              <a:rPr lang="en-ZA" sz="1000" dirty="0">
                <a:solidFill>
                  <a:schemeClr val="accent6"/>
                </a:solidFill>
              </a:rPr>
              <a:t>Table 1 (continued)</a:t>
            </a:r>
          </a:p>
        </p:txBody>
      </p:sp>
    </p:spTree>
    <p:extLst>
      <p:ext uri="{BB962C8B-B14F-4D97-AF65-F5344CB8AC3E}">
        <p14:creationId xmlns:p14="http://schemas.microsoft.com/office/powerpoint/2010/main" val="2026230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C193F0-B101-7CD4-BE2C-83636F4831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9B136-D089-A2F0-8EF1-61E970072697}"/>
              </a:ext>
            </a:extLst>
          </p:cNvPr>
          <p:cNvSpPr>
            <a:spLocks noGrp="1"/>
          </p:cNvSpPr>
          <p:nvPr>
            <p:ph type="title"/>
          </p:nvPr>
        </p:nvSpPr>
        <p:spPr>
          <a:xfrm>
            <a:off x="923136" y="144481"/>
            <a:ext cx="10511627" cy="1012785"/>
          </a:xfrm>
        </p:spPr>
        <p:txBody>
          <a:bodyPr/>
          <a:lstStyle/>
          <a:p>
            <a:r>
              <a:rPr lang="en-ZA" dirty="0"/>
              <a:t>Summary of literature </a:t>
            </a:r>
            <a:r>
              <a:rPr kumimoji="0" lang="en-ZA" sz="1800" b="1" i="0" u="none" strike="noStrike" kern="1200" cap="none" spc="0" normalizeH="0" baseline="0" noProof="0" dirty="0">
                <a:ln>
                  <a:noFill/>
                </a:ln>
                <a:solidFill>
                  <a:srgbClr val="1F2C8F"/>
                </a:solidFill>
                <a:effectLst/>
                <a:uLnTx/>
                <a:uFillTx/>
                <a:latin typeface="Arial Black"/>
                <a:ea typeface="+mj-ea"/>
                <a:cs typeface="+mj-cs"/>
              </a:rPr>
              <a:t>cont.</a:t>
            </a:r>
            <a:br>
              <a:rPr lang="en-ZA" dirty="0"/>
            </a:br>
            <a:r>
              <a:rPr lang="en-US" dirty="0"/>
              <a:t> </a:t>
            </a:r>
            <a:endParaRPr lang="en-ZA" dirty="0"/>
          </a:p>
        </p:txBody>
      </p:sp>
      <p:graphicFrame>
        <p:nvGraphicFramePr>
          <p:cNvPr id="3" name="Table 2">
            <a:extLst>
              <a:ext uri="{FF2B5EF4-FFF2-40B4-BE49-F238E27FC236}">
                <a16:creationId xmlns:a16="http://schemas.microsoft.com/office/drawing/2014/main" id="{7BF9FF90-58DA-DFEF-E995-4C4A7920C7C6}"/>
              </a:ext>
            </a:extLst>
          </p:cNvPr>
          <p:cNvGraphicFramePr>
            <a:graphicFrameLocks noGrp="1"/>
          </p:cNvGraphicFramePr>
          <p:nvPr>
            <p:extLst>
              <p:ext uri="{D42A27DB-BD31-4B8C-83A1-F6EECF244321}">
                <p14:modId xmlns:p14="http://schemas.microsoft.com/office/powerpoint/2010/main" val="3877225874"/>
              </p:ext>
            </p:extLst>
          </p:nvPr>
        </p:nvGraphicFramePr>
        <p:xfrm>
          <a:off x="256066" y="993936"/>
          <a:ext cx="11845766" cy="5719583"/>
        </p:xfrm>
        <a:graphic>
          <a:graphicData uri="http://schemas.openxmlformats.org/drawingml/2006/table">
            <a:tbl>
              <a:tblPr firstRow="1" firstCol="1" bandRow="1">
                <a:tableStyleId>{68D230F3-CF80-4859-8CE7-A43EE81993B5}</a:tableStyleId>
              </a:tblPr>
              <a:tblGrid>
                <a:gridCol w="1016000">
                  <a:extLst>
                    <a:ext uri="{9D8B030D-6E8A-4147-A177-3AD203B41FA5}">
                      <a16:colId xmlns:a16="http://schemas.microsoft.com/office/drawing/2014/main" val="1829096056"/>
                    </a:ext>
                  </a:extLst>
                </a:gridCol>
                <a:gridCol w="1518759">
                  <a:extLst>
                    <a:ext uri="{9D8B030D-6E8A-4147-A177-3AD203B41FA5}">
                      <a16:colId xmlns:a16="http://schemas.microsoft.com/office/drawing/2014/main" val="1874936931"/>
                    </a:ext>
                  </a:extLst>
                </a:gridCol>
                <a:gridCol w="1524000">
                  <a:extLst>
                    <a:ext uri="{9D8B030D-6E8A-4147-A177-3AD203B41FA5}">
                      <a16:colId xmlns:a16="http://schemas.microsoft.com/office/drawing/2014/main" val="2437290032"/>
                    </a:ext>
                  </a:extLst>
                </a:gridCol>
                <a:gridCol w="1771650">
                  <a:extLst>
                    <a:ext uri="{9D8B030D-6E8A-4147-A177-3AD203B41FA5}">
                      <a16:colId xmlns:a16="http://schemas.microsoft.com/office/drawing/2014/main" val="4082194622"/>
                    </a:ext>
                  </a:extLst>
                </a:gridCol>
                <a:gridCol w="2933700">
                  <a:extLst>
                    <a:ext uri="{9D8B030D-6E8A-4147-A177-3AD203B41FA5}">
                      <a16:colId xmlns:a16="http://schemas.microsoft.com/office/drawing/2014/main" val="2297141052"/>
                    </a:ext>
                  </a:extLst>
                </a:gridCol>
                <a:gridCol w="2904223">
                  <a:extLst>
                    <a:ext uri="{9D8B030D-6E8A-4147-A177-3AD203B41FA5}">
                      <a16:colId xmlns:a16="http://schemas.microsoft.com/office/drawing/2014/main" val="3712518591"/>
                    </a:ext>
                  </a:extLst>
                </a:gridCol>
                <a:gridCol w="177434">
                  <a:extLst>
                    <a:ext uri="{9D8B030D-6E8A-4147-A177-3AD203B41FA5}">
                      <a16:colId xmlns:a16="http://schemas.microsoft.com/office/drawing/2014/main" val="3771505610"/>
                    </a:ext>
                  </a:extLst>
                </a:gridCol>
              </a:tblGrid>
              <a:tr h="579667">
                <a:tc>
                  <a:txBody>
                    <a:bodyPr/>
                    <a:lstStyle/>
                    <a:p>
                      <a:pPr>
                        <a:buNone/>
                      </a:pPr>
                      <a:r>
                        <a:rPr lang="en-ZA" sz="1400" b="0" dirty="0">
                          <a:solidFill>
                            <a:schemeClr val="accent6"/>
                          </a:solidFill>
                        </a:rPr>
                        <a:t>Ref</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400" dirty="0">
                          <a:solidFill>
                            <a:schemeClr val="accent6"/>
                          </a:solidFill>
                        </a:rPr>
                        <a:t>Main Focus / Topic</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400" dirty="0">
                          <a:solidFill>
                            <a:schemeClr val="accent6"/>
                          </a:solidFill>
                        </a:rPr>
                        <a:t>Dataset Used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400" dirty="0">
                          <a:solidFill>
                            <a:schemeClr val="accent6"/>
                          </a:solidFill>
                        </a:rPr>
                        <a:t>Methodology / Model Used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400" dirty="0">
                          <a:solidFill>
                            <a:schemeClr val="accent6"/>
                          </a:solidFill>
                        </a:rPr>
                        <a:t>Key Findings / Contributions</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ZA" sz="1400" dirty="0">
                          <a:solidFill>
                            <a:schemeClr val="accent6"/>
                          </a:solidFill>
                        </a:rPr>
                        <a:t>Limitations / Gaps Identified</a:t>
                      </a:r>
                    </a:p>
                  </a:txBody>
                  <a:tcPr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endParaRPr lang="en-ZA" sz="1400" dirty="0">
                        <a:solidFill>
                          <a:schemeClr val="accent6"/>
                        </a:solidFill>
                        <a:effectLst/>
                        <a:latin typeface="Linux Libertine"/>
                        <a:ea typeface="Calibri" panose="020F0502020204030204" pitchFamily="34" charset="0"/>
                        <a:cs typeface="Times New Roman" panose="02020603050405020304" pitchFamily="18" charset="0"/>
                      </a:endParaRPr>
                    </a:p>
                  </a:txBody>
                  <a:tcPr marL="59121" marR="59121" marT="0" marB="0" anchor="ctr">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3344052833"/>
                  </a:ext>
                </a:extLst>
              </a:tr>
              <a:tr h="1742242">
                <a:tc>
                  <a:txBody>
                    <a:bodyPr/>
                    <a:lstStyle/>
                    <a:p>
                      <a:pPr>
                        <a:buNone/>
                      </a:pPr>
                      <a:r>
                        <a:rPr lang="it-IT" sz="1300" b="0" dirty="0">
                          <a:solidFill>
                            <a:schemeClr val="accent6"/>
                          </a:solidFill>
                        </a:rPr>
                        <a:t>R. S. Cordova (2024) [12] </a:t>
                      </a:r>
                      <a:endParaRPr lang="en-ZA" sz="1300" b="0" dirty="0">
                        <a:solidFill>
                          <a:schemeClr val="accent6"/>
                        </a:solidFill>
                        <a:latin typeface="+mn-lt"/>
                      </a:endParaRP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Big-data-driven customer segmentation in online retail.</a:t>
                      </a:r>
                      <a:endParaRPr lang="en-ZA" sz="1300" dirty="0">
                        <a:solidFill>
                          <a:schemeClr val="accent6"/>
                        </a:solidFill>
                        <a:latin typeface="+mn-lt"/>
                      </a:endParaRP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Online Retail Ecommerce Dataset; UK-based retailer transaction data</a:t>
                      </a:r>
                      <a:endParaRPr lang="en-US" sz="1300" dirty="0">
                        <a:solidFill>
                          <a:schemeClr val="accent6"/>
                        </a:solidFill>
                        <a:latin typeface="+mn-lt"/>
                      </a:endParaRP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Descriptive analytics, data cleaning, feature engineering, exploratory data analysis, descriptive statistics, and K-means clustering in Python.</a:t>
                      </a:r>
                      <a:endParaRPr lang="en-US" sz="1300" dirty="0">
                        <a:solidFill>
                          <a:schemeClr val="accent6"/>
                        </a:solidFill>
                        <a:latin typeface="+mn-lt"/>
                      </a:endParaRP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chemeClr val="accent6"/>
                          </a:solidFill>
                        </a:rPr>
                        <a:t>Shows that online retail transaction data can support practical customer segmentation; identifies country, product, hourly, daily, and monthly sales patterns, and finds that some clusters have higher sales frequency and sales value.</a:t>
                      </a:r>
                      <a:endParaRPr lang="en-US" sz="1300" dirty="0">
                        <a:solidFill>
                          <a:schemeClr val="accent6"/>
                        </a:solidFill>
                        <a:latin typeface="+mn-lt"/>
                      </a:endParaRP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buNone/>
                      </a:pPr>
                      <a:r>
                        <a:rPr lang="en-US" sz="1300" dirty="0">
                          <a:solidFill>
                            <a:srgbClr val="0F9F2A"/>
                          </a:solidFill>
                        </a:rPr>
                        <a:t>Claims dynamic, real-time, and demographic-rich segmentation, but the implemented study is mostly static and transaction-based; no true streaming or online update mechanism is shown.</a:t>
                      </a:r>
                      <a:endParaRPr lang="en-US" sz="1300" dirty="0">
                        <a:solidFill>
                          <a:srgbClr val="0F9F2A"/>
                        </a:solidFill>
                        <a:latin typeface="+mn-lt"/>
                      </a:endParaRPr>
                    </a:p>
                  </a:txBody>
                  <a:tcPr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endParaRPr lang="en-ZA" sz="1200" dirty="0">
                        <a:solidFill>
                          <a:schemeClr val="accent6"/>
                        </a:solidFill>
                        <a:effectLst/>
                        <a:latin typeface="Linux Libertine"/>
                        <a:ea typeface="Calibri" panose="020F0502020204030204" pitchFamily="34" charset="0"/>
                        <a:cs typeface="Times New Roman" panose="02020603050405020304" pitchFamily="18" charset="0"/>
                      </a:endParaRPr>
                    </a:p>
                  </a:txBody>
                  <a:tcPr marL="59121" marR="59121"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978744524"/>
                  </a:ext>
                </a:extLst>
              </a:tr>
              <a:tr h="2256592">
                <a:tc>
                  <a:txBody>
                    <a:bodyPr/>
                    <a:lstStyle/>
                    <a:p>
                      <a:pPr>
                        <a:lnSpc>
                          <a:spcPct val="110000"/>
                        </a:lnSpc>
                        <a:buNone/>
                      </a:pP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M. Sivaguru and M. </a:t>
                      </a:r>
                      <a:r>
                        <a:rPr lang="en-US" sz="1300" b="0" dirty="0" err="1">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Punniyamoorthy</a:t>
                      </a: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 (2020) [13]</a:t>
                      </a:r>
                      <a:endParaRPr lang="en-ZA"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Dynamic customer segmentation using a modified dynamic fuzzy c-means (MDFCM) clustering algorithm.</a:t>
                      </a:r>
                      <a:endParaRPr lang="en-ZA"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Retail supermarket dataset with eleven new data updates.</a:t>
                      </a:r>
                      <a:endParaRPr lang="en-ZA"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compares MDFCM against CDFCM and FDFCM; validates using Xie-Beni, WSSE, RMSE, Kwon, and Tang indices.</a:t>
                      </a:r>
                      <a:endParaRPr lang="en-ZA"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300" b="1" dirty="0">
                          <a:solidFill>
                            <a:schemeClr val="accent2"/>
                          </a:solidFill>
                          <a:effectLst/>
                          <a:latin typeface="Times New Roman" panose="02020603050405020304" pitchFamily="18" charset="0"/>
                          <a:ea typeface="Calibri" panose="020F0502020204030204" pitchFamily="34" charset="0"/>
                          <a:cs typeface="Arial" panose="020B0604020202020204" pitchFamily="34" charset="0"/>
                        </a:rPr>
                        <a:t>Finds that MDFCM is the most effective algorithm among the compared methods for DCS and demonstrates its usefulness through a proposed dynamic customer segmentation framework.</a:t>
                      </a:r>
                      <a:endParaRPr lang="en-ZA" sz="1300" b="1" dirty="0">
                        <a:solidFill>
                          <a:schemeClr val="accent2"/>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1300" dirty="0">
                          <a:solidFill>
                            <a:srgbClr val="0F9F2A"/>
                          </a:solidFill>
                        </a:rPr>
                        <a:t>The study tested MDFCM using only one retail supermarket dataset with only 11 time cycles/updates. Because of this, the results do not fully prove that MDFCM will work well in many other industries or larger customer datasets.</a:t>
                      </a:r>
                      <a:r>
                        <a:rPr lang="en-US" sz="1300" b="0" dirty="0">
                          <a:solidFill>
                            <a:srgbClr val="0F9F2A"/>
                          </a:solidFill>
                          <a:effectLst/>
                          <a:latin typeface="Times New Roman" panose="02020603050405020304" pitchFamily="18" charset="0"/>
                          <a:ea typeface="Calibri" panose="020F0502020204030204" pitchFamily="34" charset="0"/>
                          <a:cs typeface="Arial" panose="020B0604020202020204" pitchFamily="34" charset="0"/>
                        </a:rPr>
                        <a:t> </a:t>
                      </a:r>
                      <a:r>
                        <a:rPr lang="en-US" sz="1300" dirty="0">
                          <a:solidFill>
                            <a:srgbClr val="0F9F2A"/>
                          </a:solidFill>
                        </a:rPr>
                        <a:t>it did not strongly show how managers can interpret clusters for marketing decisions.</a:t>
                      </a: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endParaRPr lang="en-ZA" sz="1200" dirty="0">
                        <a:solidFill>
                          <a:schemeClr val="accent6"/>
                        </a:solidFill>
                        <a:effectLst/>
                        <a:latin typeface="Linux Libertine"/>
                        <a:ea typeface="Calibri" panose="020F0502020204030204" pitchFamily="34" charset="0"/>
                        <a:cs typeface="Times New Roman" panose="02020603050405020304" pitchFamily="18" charset="0"/>
                      </a:endParaRPr>
                    </a:p>
                  </a:txBody>
                  <a:tcPr marL="59121" marR="59121"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2494794857"/>
                  </a:ext>
                </a:extLst>
              </a:tr>
              <a:tr h="1141082">
                <a:tc>
                  <a:txBody>
                    <a:bodyPr/>
                    <a:lstStyle/>
                    <a:p>
                      <a:pPr>
                        <a:lnSpc>
                          <a:spcPct val="110000"/>
                        </a:lnSpc>
                        <a:buNone/>
                      </a:pP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This study </a:t>
                      </a:r>
                      <a:endParaRPr lang="en-ZA"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Customer segmentation in online retail sector</a:t>
                      </a:r>
                      <a:endParaRPr lang="en-ZA"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300" b="0" dirty="0" err="1">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SoCosmetic</a:t>
                      </a: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 Retail Business Dataset and UK-based retailer transaction data</a:t>
                      </a:r>
                      <a:endParaRPr lang="en-ZA"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Cascaded RFM, K means, MDFCM </a:t>
                      </a:r>
                      <a:endParaRPr lang="en-ZA"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Study still in progress</a:t>
                      </a:r>
                      <a:endParaRPr lang="en-ZA"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marL="0" marR="0" lvl="0" indent="0" algn="l" defTabSz="914400" rtl="0" eaLnBrk="1" fontAlgn="auto" latinLnBrk="0" hangingPunct="1">
                        <a:lnSpc>
                          <a:spcPct val="110000"/>
                        </a:lnSpc>
                        <a:spcBef>
                          <a:spcPts val="0"/>
                        </a:spcBef>
                        <a:spcAft>
                          <a:spcPts val="0"/>
                        </a:spcAft>
                        <a:buClrTx/>
                        <a:buSzTx/>
                        <a:buFontTx/>
                        <a:buNone/>
                        <a:tabLst/>
                        <a:defRPr/>
                      </a:pPr>
                      <a:r>
                        <a:rPr lang="en-US"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rPr>
                        <a:t>Study still in progress</a:t>
                      </a:r>
                      <a:endParaRPr lang="en-ZA" sz="1300" b="0" dirty="0">
                        <a:solidFill>
                          <a:schemeClr val="accent6"/>
                        </a:solidFill>
                        <a:effectLst/>
                        <a:latin typeface="Times New Roman" panose="02020603050405020304" pitchFamily="18" charset="0"/>
                        <a:ea typeface="Calibri" panose="020F0502020204030204" pitchFamily="34" charset="0"/>
                        <a:cs typeface="Arial" panose="020B0604020202020204" pitchFamily="34" charset="0"/>
                      </a:endParaRPr>
                    </a:p>
                  </a:txBody>
                  <a:tcPr marL="68580" marR="68580"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tc>
                  <a:txBody>
                    <a:bodyPr/>
                    <a:lstStyle/>
                    <a:p>
                      <a:pPr>
                        <a:lnSpc>
                          <a:spcPct val="110000"/>
                        </a:lnSpc>
                        <a:buNone/>
                      </a:pPr>
                      <a:endParaRPr lang="en-ZA" sz="1200" dirty="0">
                        <a:solidFill>
                          <a:schemeClr val="accent6"/>
                        </a:solidFill>
                        <a:effectLst/>
                        <a:latin typeface="Linux Libertine"/>
                        <a:ea typeface="Calibri" panose="020F0502020204030204" pitchFamily="34" charset="0"/>
                        <a:cs typeface="Times New Roman" panose="02020603050405020304" pitchFamily="18" charset="0"/>
                      </a:endParaRPr>
                    </a:p>
                  </a:txBody>
                  <a:tcPr marL="59121" marR="59121" marT="0" marB="0" anchor="ctr">
                    <a:lnT w="28575" cap="flat" cmpd="sng" algn="ctr">
                      <a:solidFill>
                        <a:schemeClr val="accent6">
                          <a:lumMod val="60000"/>
                          <a:lumOff val="40000"/>
                        </a:schemeClr>
                      </a:solidFill>
                      <a:prstDash val="solid"/>
                      <a:round/>
                      <a:headEnd type="none" w="med" len="med"/>
                      <a:tailEnd type="none" w="med" len="med"/>
                    </a:lnT>
                    <a:lnB w="28575" cap="flat" cmpd="sng" algn="ctr">
                      <a:solidFill>
                        <a:schemeClr val="accent6">
                          <a:lumMod val="60000"/>
                          <a:lumOff val="40000"/>
                        </a:schemeClr>
                      </a:solidFill>
                      <a:prstDash val="solid"/>
                      <a:round/>
                      <a:headEnd type="none" w="med" len="med"/>
                      <a:tailEnd type="none" w="med" len="med"/>
                    </a:lnB>
                    <a:solidFill>
                      <a:srgbClr val="FDFBF6">
                        <a:alpha val="0"/>
                      </a:srgbClr>
                    </a:solidFill>
                  </a:tcPr>
                </a:tc>
                <a:extLst>
                  <a:ext uri="{0D108BD9-81ED-4DB2-BD59-A6C34878D82A}">
                    <a16:rowId xmlns:a16="http://schemas.microsoft.com/office/drawing/2014/main" val="2313514310"/>
                  </a:ext>
                </a:extLst>
              </a:tr>
            </a:tbl>
          </a:graphicData>
        </a:graphic>
      </p:graphicFrame>
      <p:sp>
        <p:nvSpPr>
          <p:cNvPr id="5" name="TextBox 4">
            <a:extLst>
              <a:ext uri="{FF2B5EF4-FFF2-40B4-BE49-F238E27FC236}">
                <a16:creationId xmlns:a16="http://schemas.microsoft.com/office/drawing/2014/main" id="{9DAEACC4-CD62-AE47-AA20-A4AD34DA608D}"/>
              </a:ext>
            </a:extLst>
          </p:cNvPr>
          <p:cNvSpPr txBox="1"/>
          <p:nvPr/>
        </p:nvSpPr>
        <p:spPr>
          <a:xfrm>
            <a:off x="146448" y="723623"/>
            <a:ext cx="6204858" cy="246221"/>
          </a:xfrm>
          <a:prstGeom prst="rect">
            <a:avLst/>
          </a:prstGeom>
          <a:noFill/>
        </p:spPr>
        <p:txBody>
          <a:bodyPr wrap="square" rtlCol="0">
            <a:spAutoFit/>
          </a:bodyPr>
          <a:lstStyle/>
          <a:p>
            <a:r>
              <a:rPr lang="en-ZA" sz="1000" dirty="0">
                <a:solidFill>
                  <a:schemeClr val="accent6"/>
                </a:solidFill>
              </a:rPr>
              <a:t>Table 1 (continued)</a:t>
            </a:r>
          </a:p>
        </p:txBody>
      </p:sp>
    </p:spTree>
    <p:extLst>
      <p:ext uri="{BB962C8B-B14F-4D97-AF65-F5344CB8AC3E}">
        <p14:creationId xmlns:p14="http://schemas.microsoft.com/office/powerpoint/2010/main" val="17180838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B5747-2C5B-EF76-5694-816D942DA258}"/>
              </a:ext>
            </a:extLst>
          </p:cNvPr>
          <p:cNvSpPr>
            <a:spLocks noGrp="1"/>
          </p:cNvSpPr>
          <p:nvPr>
            <p:ph type="title"/>
          </p:nvPr>
        </p:nvSpPr>
        <p:spPr>
          <a:xfrm>
            <a:off x="1137227" y="172872"/>
            <a:ext cx="9413933" cy="557076"/>
          </a:xfrm>
        </p:spPr>
        <p:txBody>
          <a:bodyPr/>
          <a:lstStyle/>
          <a:p>
            <a:r>
              <a:rPr lang="en-ZA" dirty="0"/>
              <a:t>Related Work</a:t>
            </a:r>
          </a:p>
        </p:txBody>
      </p:sp>
      <p:sp>
        <p:nvSpPr>
          <p:cNvPr id="7" name="TextBox 6">
            <a:extLst>
              <a:ext uri="{FF2B5EF4-FFF2-40B4-BE49-F238E27FC236}">
                <a16:creationId xmlns:a16="http://schemas.microsoft.com/office/drawing/2014/main" id="{0455A9C7-3937-9888-C6AF-89EF27BD1314}"/>
              </a:ext>
            </a:extLst>
          </p:cNvPr>
          <p:cNvSpPr txBox="1"/>
          <p:nvPr/>
        </p:nvSpPr>
        <p:spPr>
          <a:xfrm>
            <a:off x="317499" y="1580780"/>
            <a:ext cx="11376868" cy="646331"/>
          </a:xfrm>
          <a:prstGeom prst="rect">
            <a:avLst/>
          </a:prstGeom>
          <a:noFill/>
        </p:spPr>
        <p:txBody>
          <a:bodyPr wrap="square" rtlCol="0">
            <a:spAutoFit/>
          </a:bodyPr>
          <a:lstStyle/>
          <a:p>
            <a:r>
              <a:rPr lang="en-US" dirty="0">
                <a:solidFill>
                  <a:schemeClr val="accent6"/>
                </a:solidFill>
              </a:rPr>
              <a:t>Customer representation in segmentation is achieved by constructing and organizing variables that capture meaningful patterns in customer behavior and improve the quality and interpretability of clustering results [5], [7].</a:t>
            </a:r>
          </a:p>
        </p:txBody>
      </p:sp>
      <p:sp>
        <p:nvSpPr>
          <p:cNvPr id="9" name="TextBox 8">
            <a:extLst>
              <a:ext uri="{FF2B5EF4-FFF2-40B4-BE49-F238E27FC236}">
                <a16:creationId xmlns:a16="http://schemas.microsoft.com/office/drawing/2014/main" id="{182694B8-A927-97BD-F44B-170DF7098893}"/>
              </a:ext>
            </a:extLst>
          </p:cNvPr>
          <p:cNvSpPr txBox="1"/>
          <p:nvPr/>
        </p:nvSpPr>
        <p:spPr>
          <a:xfrm>
            <a:off x="317499" y="1054631"/>
            <a:ext cx="8493760" cy="461665"/>
          </a:xfrm>
          <a:prstGeom prst="rect">
            <a:avLst/>
          </a:prstGeom>
          <a:noFill/>
        </p:spPr>
        <p:txBody>
          <a:bodyPr wrap="square">
            <a:spAutoFit/>
          </a:bodyPr>
          <a:lstStyle/>
          <a:p>
            <a:r>
              <a:rPr kumimoji="0" lang="en-ZA" sz="2400" b="1" i="0" u="none" strike="noStrike" kern="1200" spc="0" normalizeH="0" baseline="0" noProof="0" dirty="0">
                <a:ln>
                  <a:noFill/>
                </a:ln>
                <a:solidFill>
                  <a:schemeClr val="accent6"/>
                </a:solidFill>
                <a:effectLst/>
                <a:uLnTx/>
                <a:uFillTx/>
                <a:latin typeface="Arial Black"/>
                <a:ea typeface="+mj-ea"/>
                <a:cs typeface="+mj-cs"/>
              </a:rPr>
              <a:t>Feature Representation Methods</a:t>
            </a:r>
            <a:endParaRPr lang="en-ZA" sz="2400" dirty="0">
              <a:solidFill>
                <a:schemeClr val="accent6"/>
              </a:solidFill>
            </a:endParaRPr>
          </a:p>
        </p:txBody>
      </p:sp>
      <p:sp>
        <p:nvSpPr>
          <p:cNvPr id="3" name="Rectangle 1">
            <a:extLst>
              <a:ext uri="{FF2B5EF4-FFF2-40B4-BE49-F238E27FC236}">
                <a16:creationId xmlns:a16="http://schemas.microsoft.com/office/drawing/2014/main" id="{DB98C226-BC77-624C-9FDB-6DCFEFBAC346}"/>
              </a:ext>
            </a:extLst>
          </p:cNvPr>
          <p:cNvSpPr>
            <a:spLocks noChangeArrowheads="1"/>
          </p:cNvSpPr>
          <p:nvPr/>
        </p:nvSpPr>
        <p:spPr bwMode="auto">
          <a:xfrm>
            <a:off x="317499" y="2529948"/>
            <a:ext cx="11557001"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2400"/>
              </a:spcAft>
              <a:buClrTx/>
              <a:buSzTx/>
              <a:buFontTx/>
              <a:buChar char="•"/>
              <a:tabLst/>
            </a:pPr>
            <a:r>
              <a:rPr kumimoji="0" lang="en-US" altLang="en-US" sz="1600" b="1" i="0" u="none" strike="noStrike" cap="none" normalizeH="0" baseline="0" dirty="0">
                <a:ln>
                  <a:noFill/>
                </a:ln>
                <a:solidFill>
                  <a:schemeClr val="accent6"/>
                </a:solidFill>
                <a:effectLst/>
              </a:rPr>
              <a:t>RFM Representation (Recency, Frequency, Monetary Value)</a:t>
            </a:r>
            <a:r>
              <a:rPr kumimoji="0" lang="en-US" altLang="en-US" sz="1600" b="0" i="0" u="none" strike="noStrike" cap="none" normalizeH="0" baseline="0" dirty="0">
                <a:ln>
                  <a:noFill/>
                </a:ln>
                <a:solidFill>
                  <a:schemeClr val="accent6"/>
                </a:solidFill>
                <a:effectLst/>
              </a:rPr>
              <a:t> RFM is the most widely used customer representation framework in retail segmentation because </a:t>
            </a:r>
            <a:r>
              <a:rPr kumimoji="0" lang="en-US" altLang="en-US" sz="1600" b="0" i="0" u="none" strike="noStrike" cap="none" normalizeH="0" baseline="0" dirty="0">
                <a:ln>
                  <a:noFill/>
                </a:ln>
                <a:solidFill>
                  <a:srgbClr val="00B050"/>
                </a:solidFill>
                <a:effectLst/>
              </a:rPr>
              <a:t>it converts transaction histories into interpretable behavioral indicators describing how recently a customer purchased, how often they buy, and how much they spend [3], [5], [6], [9].</a:t>
            </a:r>
          </a:p>
          <a:p>
            <a:pPr marL="0" marR="0" lvl="0" indent="0" algn="l" defTabSz="914400" rtl="0" eaLnBrk="0" fontAlgn="base" latinLnBrk="0" hangingPunct="0">
              <a:lnSpc>
                <a:spcPct val="100000"/>
              </a:lnSpc>
              <a:spcBef>
                <a:spcPct val="0"/>
              </a:spcBef>
              <a:spcAft>
                <a:spcPts val="2400"/>
              </a:spcAft>
              <a:buClrTx/>
              <a:buSzTx/>
              <a:buFontTx/>
              <a:buChar char="•"/>
              <a:tabLst/>
            </a:pPr>
            <a:r>
              <a:rPr kumimoji="0" lang="en-US" altLang="en-US" sz="1600" b="1" i="0" u="none" strike="noStrike" cap="none" normalizeH="0" baseline="0" dirty="0">
                <a:ln>
                  <a:noFill/>
                </a:ln>
                <a:solidFill>
                  <a:schemeClr val="accent6"/>
                </a:solidFill>
                <a:effectLst/>
              </a:rPr>
              <a:t>Cascaded RFM Representation</a:t>
            </a:r>
            <a:r>
              <a:rPr kumimoji="0" lang="en-US" altLang="en-US" sz="1600" b="0" i="0" u="none" strike="noStrike" cap="none" normalizeH="0" baseline="0" dirty="0">
                <a:ln>
                  <a:noFill/>
                </a:ln>
                <a:solidFill>
                  <a:schemeClr val="accent6"/>
                </a:solidFill>
                <a:effectLst/>
              </a:rPr>
              <a:t> - Cascaded RFM was chosen to </a:t>
            </a:r>
            <a:r>
              <a:rPr kumimoji="0" lang="en-US" altLang="en-US" sz="1600" b="0" i="0" u="none" strike="noStrike" cap="none" normalizeH="0" baseline="0" dirty="0">
                <a:ln>
                  <a:noFill/>
                </a:ln>
                <a:solidFill>
                  <a:schemeClr val="accent1">
                    <a:lumMod val="50000"/>
                  </a:schemeClr>
                </a:solidFill>
                <a:effectLst/>
              </a:rPr>
              <a:t>overcome the static nature of traditional RFM and better support continuous customer updates in dynamic segmentation [4].</a:t>
            </a:r>
          </a:p>
          <a:p>
            <a:pPr marL="0" marR="0" lvl="0" indent="0" algn="l" defTabSz="914400" rtl="0" eaLnBrk="0" fontAlgn="base" latinLnBrk="0" hangingPunct="0">
              <a:lnSpc>
                <a:spcPct val="100000"/>
              </a:lnSpc>
              <a:spcBef>
                <a:spcPct val="0"/>
              </a:spcBef>
              <a:spcAft>
                <a:spcPts val="2400"/>
              </a:spcAft>
              <a:buClrTx/>
              <a:buSzTx/>
              <a:buFontTx/>
              <a:buChar char="•"/>
              <a:tabLst/>
            </a:pPr>
            <a:r>
              <a:rPr kumimoji="0" lang="en-US" altLang="en-US" sz="1600" b="1" i="0" u="none" strike="noStrike" cap="none" normalizeH="0" baseline="0" dirty="0">
                <a:ln>
                  <a:noFill/>
                </a:ln>
                <a:solidFill>
                  <a:schemeClr val="accent6"/>
                </a:solidFill>
                <a:effectLst/>
              </a:rPr>
              <a:t>Mixed-Type Representation Using FAMD</a:t>
            </a:r>
            <a:r>
              <a:rPr kumimoji="0" lang="en-US" altLang="en-US" sz="1600" b="0" i="0" u="none" strike="noStrike" cap="none" normalizeH="0" baseline="0" dirty="0">
                <a:ln>
                  <a:noFill/>
                </a:ln>
                <a:solidFill>
                  <a:schemeClr val="accent6"/>
                </a:solidFill>
                <a:effectLst/>
              </a:rPr>
              <a:t> - FAMD was chosen because </a:t>
            </a:r>
            <a:r>
              <a:rPr kumimoji="0" lang="en-US" altLang="en-US" sz="1600" b="0" i="0" u="none" strike="noStrike" cap="none" normalizeH="0" baseline="0" dirty="0">
                <a:ln>
                  <a:noFill/>
                </a:ln>
                <a:solidFill>
                  <a:srgbClr val="FFC000"/>
                </a:solidFill>
                <a:effectLst/>
              </a:rPr>
              <a:t>it can represent customers using both numerical and categorical variables, enabling richer profiling [8].</a:t>
            </a:r>
          </a:p>
          <a:p>
            <a:pPr marL="0" marR="0" lvl="0" indent="0" algn="l" defTabSz="914400" rtl="0" eaLnBrk="0" fontAlgn="base" latinLnBrk="0" hangingPunct="0">
              <a:lnSpc>
                <a:spcPct val="100000"/>
              </a:lnSpc>
              <a:spcBef>
                <a:spcPct val="0"/>
              </a:spcBef>
              <a:spcAft>
                <a:spcPts val="2400"/>
              </a:spcAft>
              <a:buClrTx/>
              <a:buSzTx/>
              <a:buFontTx/>
              <a:buChar char="•"/>
              <a:tabLst/>
            </a:pPr>
            <a:r>
              <a:rPr kumimoji="0" lang="en-US" altLang="en-US" sz="1600" b="1" i="0" u="none" strike="noStrike" cap="none" normalizeH="0" baseline="0" dirty="0">
                <a:ln>
                  <a:noFill/>
                </a:ln>
                <a:solidFill>
                  <a:schemeClr val="accent6"/>
                </a:solidFill>
                <a:effectLst/>
              </a:rPr>
              <a:t>PCA-Based Representation</a:t>
            </a:r>
            <a:r>
              <a:rPr kumimoji="0" lang="en-US" altLang="en-US" sz="1600" b="0" i="0" u="none" strike="noStrike" cap="none" normalizeH="0" baseline="0" dirty="0">
                <a:ln>
                  <a:noFill/>
                </a:ln>
                <a:solidFill>
                  <a:schemeClr val="accent6"/>
                </a:solidFill>
                <a:effectLst/>
              </a:rPr>
              <a:t> - PCA was chosen to </a:t>
            </a:r>
            <a:r>
              <a:rPr kumimoji="0" lang="en-US" altLang="en-US" sz="1600" b="0" i="0" u="none" strike="noStrike" cap="none" normalizeH="0" baseline="0" dirty="0">
                <a:ln>
                  <a:noFill/>
                </a:ln>
                <a:solidFill>
                  <a:srgbClr val="00B0F0"/>
                </a:solidFill>
                <a:effectLst/>
              </a:rPr>
              <a:t>reduce redundancy among correlated variables and create a more compact representation before clustering [7].</a:t>
            </a:r>
          </a:p>
          <a:p>
            <a:pPr marL="0" marR="0" lvl="0" indent="0" algn="l" defTabSz="914400" rtl="0" eaLnBrk="0" fontAlgn="base" latinLnBrk="0" hangingPunct="0">
              <a:lnSpc>
                <a:spcPct val="100000"/>
              </a:lnSpc>
              <a:spcBef>
                <a:spcPct val="0"/>
              </a:spcBef>
              <a:spcAft>
                <a:spcPts val="2400"/>
              </a:spcAft>
              <a:buClrTx/>
              <a:buSzTx/>
              <a:buFontTx/>
              <a:buChar char="•"/>
              <a:tabLst/>
            </a:pPr>
            <a:r>
              <a:rPr kumimoji="0" lang="en-US" altLang="en-US" sz="1600" b="1" i="0" u="none" strike="noStrike" cap="none" normalizeH="0" baseline="0" dirty="0">
                <a:ln>
                  <a:noFill/>
                </a:ln>
                <a:solidFill>
                  <a:schemeClr val="accent6"/>
                </a:solidFill>
                <a:effectLst/>
              </a:rPr>
              <a:t>FCA-Based Representation</a:t>
            </a:r>
            <a:r>
              <a:rPr kumimoji="0" lang="en-US" altLang="en-US" sz="1600" b="0" i="0" u="none" strike="noStrike" cap="none" normalizeH="0" baseline="0" dirty="0">
                <a:ln>
                  <a:noFill/>
                </a:ln>
                <a:solidFill>
                  <a:schemeClr val="accent6"/>
                </a:solidFill>
                <a:effectLst/>
              </a:rPr>
              <a:t> - FCA enhances the interpretability of customer representation by </a:t>
            </a:r>
            <a:r>
              <a:rPr kumimoji="0" lang="en-US" altLang="en-US" sz="1600" b="0" i="0" u="none" strike="noStrike" cap="none" normalizeH="0" baseline="0" dirty="0">
                <a:ln>
                  <a:noFill/>
                </a:ln>
                <a:solidFill>
                  <a:srgbClr val="7030A0"/>
                </a:solidFill>
                <a:effectLst/>
              </a:rPr>
              <a:t>organizing feature relationships and segment structures in a more explainable way [10].</a:t>
            </a:r>
          </a:p>
        </p:txBody>
      </p:sp>
    </p:spTree>
    <p:extLst>
      <p:ext uri="{BB962C8B-B14F-4D97-AF65-F5344CB8AC3E}">
        <p14:creationId xmlns:p14="http://schemas.microsoft.com/office/powerpoint/2010/main" val="527565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4D76F-A5C6-4A6D-B337-6163DD0A578F}"/>
              </a:ext>
            </a:extLst>
          </p:cNvPr>
          <p:cNvSpPr>
            <a:spLocks noGrp="1"/>
          </p:cNvSpPr>
          <p:nvPr>
            <p:ph type="title"/>
          </p:nvPr>
        </p:nvSpPr>
        <p:spPr>
          <a:xfrm>
            <a:off x="127518" y="735855"/>
            <a:ext cx="10511627" cy="498474"/>
          </a:xfrm>
        </p:spPr>
        <p:txBody>
          <a:bodyPr/>
          <a:lstStyle/>
          <a:p>
            <a:pPr algn="l"/>
            <a:r>
              <a:rPr lang="en-ZA" sz="2400" cap="none" dirty="0"/>
              <a:t>Segmentation Methods </a:t>
            </a:r>
          </a:p>
        </p:txBody>
      </p:sp>
      <p:graphicFrame>
        <p:nvGraphicFramePr>
          <p:cNvPr id="6" name="Table 5">
            <a:extLst>
              <a:ext uri="{FF2B5EF4-FFF2-40B4-BE49-F238E27FC236}">
                <a16:creationId xmlns:a16="http://schemas.microsoft.com/office/drawing/2014/main" id="{9C341B5A-BF3A-ADF0-277F-8D25597E67B5}"/>
              </a:ext>
            </a:extLst>
          </p:cNvPr>
          <p:cNvGraphicFramePr>
            <a:graphicFrameLocks noGrp="1"/>
          </p:cNvGraphicFramePr>
          <p:nvPr>
            <p:extLst>
              <p:ext uri="{D42A27DB-BD31-4B8C-83A1-F6EECF244321}">
                <p14:modId xmlns:p14="http://schemas.microsoft.com/office/powerpoint/2010/main" val="2622658230"/>
              </p:ext>
            </p:extLst>
          </p:nvPr>
        </p:nvGraphicFramePr>
        <p:xfrm>
          <a:off x="208383" y="1869769"/>
          <a:ext cx="11775233" cy="4861968"/>
        </p:xfrm>
        <a:graphic>
          <a:graphicData uri="http://schemas.openxmlformats.org/drawingml/2006/table">
            <a:tbl>
              <a:tblPr firstRow="1" bandRow="1">
                <a:tableStyleId>{3B4B98B0-60AC-42C2-AFA5-B58CD77FA1E5}</a:tableStyleId>
              </a:tblPr>
              <a:tblGrid>
                <a:gridCol w="2649894">
                  <a:extLst>
                    <a:ext uri="{9D8B030D-6E8A-4147-A177-3AD203B41FA5}">
                      <a16:colId xmlns:a16="http://schemas.microsoft.com/office/drawing/2014/main" val="462232630"/>
                    </a:ext>
                  </a:extLst>
                </a:gridCol>
                <a:gridCol w="9125339">
                  <a:extLst>
                    <a:ext uri="{9D8B030D-6E8A-4147-A177-3AD203B41FA5}">
                      <a16:colId xmlns:a16="http://schemas.microsoft.com/office/drawing/2014/main" val="193168768"/>
                    </a:ext>
                  </a:extLst>
                </a:gridCol>
              </a:tblGrid>
              <a:tr h="1348574">
                <a:tc>
                  <a:txBody>
                    <a:bodyPr/>
                    <a:lstStyle/>
                    <a:p>
                      <a:pPr algn="l"/>
                      <a:r>
                        <a:rPr lang="en-US" sz="1800" b="1" dirty="0">
                          <a:solidFill>
                            <a:schemeClr val="accent6"/>
                          </a:solidFill>
                        </a:rPr>
                        <a:t>K-means</a:t>
                      </a:r>
                      <a:endParaRPr lang="en-ZA" sz="1800" b="1" dirty="0">
                        <a:solidFill>
                          <a:schemeClr val="accent6"/>
                        </a:solidFill>
                      </a:endParaRPr>
                    </a:p>
                  </a:txBody>
                  <a:tcPr anchor="ctr">
                    <a:lnL>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0"/>
                      </a:schemeClr>
                    </a:solidFill>
                  </a:tcPr>
                </a:tc>
                <a:tc>
                  <a:txBody>
                    <a:bodyPr/>
                    <a:lstStyle/>
                    <a:p>
                      <a:pPr algn="l"/>
                      <a:r>
                        <a:rPr lang="en-US" sz="1800" b="0" dirty="0">
                          <a:solidFill>
                            <a:schemeClr val="accent6"/>
                          </a:solidFill>
                        </a:rPr>
                        <a:t>K-means is the most frequently used segmentation method across the reviewed studies and is widely applied in retail customer segmentation because </a:t>
                      </a:r>
                      <a:r>
                        <a:rPr lang="en-US" sz="1800" b="0" dirty="0">
                          <a:solidFill>
                            <a:srgbClr val="00B050"/>
                          </a:solidFill>
                        </a:rPr>
                        <a:t>it is simple, efficient, and effective for partitioning customers into distinct groups based on similarity </a:t>
                      </a:r>
                      <a:r>
                        <a:rPr lang="en-US" sz="1800" b="0" dirty="0">
                          <a:solidFill>
                            <a:schemeClr val="accent6"/>
                          </a:solidFill>
                        </a:rPr>
                        <a:t>[3], [6], [8], [9].</a:t>
                      </a:r>
                      <a:endParaRPr lang="en-ZA" sz="1800" b="0" dirty="0">
                        <a:solidFill>
                          <a:schemeClr val="accent6"/>
                        </a:solidFill>
                      </a:endParaRPr>
                    </a:p>
                  </a:txBody>
                  <a:tcPr anchor="ctr">
                    <a:lnL w="12700" cap="flat" cmpd="sng" algn="ctr">
                      <a:solidFill>
                        <a:schemeClr val="tx1"/>
                      </a:solidFill>
                      <a:prstDash val="solid"/>
                      <a:round/>
                      <a:headEnd type="none" w="med" len="med"/>
                      <a:tailEnd type="none" w="med" len="med"/>
                    </a:lnL>
                    <a:lnR>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912057255"/>
                  </a:ext>
                </a:extLst>
              </a:tr>
              <a:tr h="1607829">
                <a:tc>
                  <a:txBody>
                    <a:bodyPr/>
                    <a:lstStyle/>
                    <a:p>
                      <a:pPr algn="l"/>
                      <a:r>
                        <a:rPr lang="en-ZA" sz="1800" b="1" dirty="0">
                          <a:solidFill>
                            <a:schemeClr val="accent6"/>
                          </a:solidFill>
                        </a:rPr>
                        <a:t>Fuzzy C-Means (FCM) approach</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0"/>
                      </a:schemeClr>
                    </a:solidFill>
                  </a:tcPr>
                </a:tc>
                <a:tc>
                  <a:txBody>
                    <a:bodyPr/>
                    <a:lstStyle/>
                    <a:p>
                      <a:pPr algn="l"/>
                      <a:r>
                        <a:rPr lang="en-US" sz="1800" b="0" dirty="0">
                          <a:solidFill>
                            <a:schemeClr val="accent6"/>
                          </a:solidFill>
                        </a:rPr>
                        <a:t>Fuzzy clustering allows customers to belong to multiple groups with different degrees of membership, making it more flexible than hard clustering. In the </a:t>
                      </a:r>
                      <a:r>
                        <a:rPr lang="en-US" sz="1800" b="0" dirty="0">
                          <a:solidFill>
                            <a:srgbClr val="0F9F2A"/>
                          </a:solidFill>
                        </a:rPr>
                        <a:t>reviewed literature, this is especially important in dynamic settings, where </a:t>
                      </a:r>
                      <a:r>
                        <a:rPr lang="en-US" sz="1800" b="1" dirty="0">
                          <a:solidFill>
                            <a:srgbClr val="0F9F2A"/>
                          </a:solidFill>
                        </a:rPr>
                        <a:t>MDFCM</a:t>
                      </a:r>
                      <a:r>
                        <a:rPr lang="en-US" sz="1800" b="0" dirty="0">
                          <a:solidFill>
                            <a:srgbClr val="0F9F2A"/>
                          </a:solidFill>
                        </a:rPr>
                        <a:t> is used to update clusters as new transactional data arrives over time</a:t>
                      </a:r>
                      <a:r>
                        <a:rPr lang="en-US" sz="1800" b="0" dirty="0">
                          <a:solidFill>
                            <a:schemeClr val="accent6"/>
                          </a:solidFill>
                        </a:rPr>
                        <a:t> [4].</a:t>
                      </a:r>
                      <a:endParaRPr lang="en-ZA" sz="1800" b="0" dirty="0">
                        <a:solidFill>
                          <a:srgbClr val="0F9F2A"/>
                        </a:solidFill>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2562840366"/>
                  </a:ext>
                </a:extLst>
              </a:tr>
              <a:tr h="1004893">
                <a:tc>
                  <a:txBody>
                    <a:bodyPr/>
                    <a:lstStyle/>
                    <a:p>
                      <a:pPr algn="l"/>
                      <a:r>
                        <a:rPr lang="en-ZA" sz="1800" b="1" dirty="0">
                          <a:solidFill>
                            <a:schemeClr val="accent6"/>
                          </a:solidFill>
                        </a:rPr>
                        <a:t>Hierarchical clustering</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0"/>
                      </a:schemeClr>
                    </a:solidFill>
                  </a:tcPr>
                </a:tc>
                <a:tc>
                  <a:txBody>
                    <a:bodyPr/>
                    <a:lstStyle/>
                    <a:p>
                      <a:pPr algn="l"/>
                      <a:r>
                        <a:rPr lang="en-US" sz="1800" b="0" dirty="0">
                          <a:solidFill>
                            <a:schemeClr val="accent6"/>
                          </a:solidFill>
                        </a:rPr>
                        <a:t>Hierarchical clustering is used to reveal layered or nested customer group structures and is often applied alongside other clustering methods for comparison or interpretability [6], [8], [10].</a:t>
                      </a:r>
                      <a:endParaRPr lang="en-ZA" sz="1800" b="0" dirty="0">
                        <a:solidFill>
                          <a:schemeClr val="accent6"/>
                        </a:solidFill>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3998024086"/>
                  </a:ext>
                </a:extLst>
              </a:tr>
              <a:tr h="900672">
                <a:tc>
                  <a:txBody>
                    <a:bodyPr/>
                    <a:lstStyle/>
                    <a:p>
                      <a:pPr algn="l"/>
                      <a:r>
                        <a:rPr lang="en-ZA" sz="1800" b="1" dirty="0">
                          <a:solidFill>
                            <a:schemeClr val="accent6"/>
                          </a:solidFill>
                        </a:rPr>
                        <a:t>RFM-based / Threshold-based Segmentation</a:t>
                      </a: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0"/>
                      </a:schemeClr>
                    </a:solidFill>
                  </a:tcPr>
                </a:tc>
                <a:tc>
                  <a:txBody>
                    <a:bodyPr/>
                    <a:lstStyle/>
                    <a:p>
                      <a:pPr algn="l"/>
                      <a:r>
                        <a:rPr lang="en-US" sz="1800" b="0" dirty="0">
                          <a:solidFill>
                            <a:schemeClr val="accent6"/>
                          </a:solidFill>
                        </a:rPr>
                        <a:t>Commonly used as a baseline customer grouping approach, but often limited by </a:t>
                      </a:r>
                      <a:r>
                        <a:rPr lang="en-US" sz="1800" b="0" dirty="0">
                          <a:solidFill>
                            <a:srgbClr val="00B050"/>
                          </a:solidFill>
                        </a:rPr>
                        <a:t>static rules and manual thresholds</a:t>
                      </a:r>
                      <a:r>
                        <a:rPr lang="en-US" sz="1800" b="0" dirty="0">
                          <a:solidFill>
                            <a:schemeClr val="accent6"/>
                          </a:solidFill>
                        </a:rPr>
                        <a:t> [3], [4], [5], [6], [10].</a:t>
                      </a:r>
                      <a:endParaRPr lang="en-ZA" sz="1800" b="0" dirty="0">
                        <a:solidFill>
                          <a:schemeClr val="accent6"/>
                        </a:solidFill>
                      </a:endParaRP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alpha val="0"/>
                      </a:schemeClr>
                    </a:solidFill>
                  </a:tcPr>
                </a:tc>
                <a:extLst>
                  <a:ext uri="{0D108BD9-81ED-4DB2-BD59-A6C34878D82A}">
                    <a16:rowId xmlns:a16="http://schemas.microsoft.com/office/drawing/2014/main" val="3322008714"/>
                  </a:ext>
                </a:extLst>
              </a:tr>
            </a:tbl>
          </a:graphicData>
        </a:graphic>
      </p:graphicFrame>
      <p:sp>
        <p:nvSpPr>
          <p:cNvPr id="7" name="TextBox 6">
            <a:extLst>
              <a:ext uri="{FF2B5EF4-FFF2-40B4-BE49-F238E27FC236}">
                <a16:creationId xmlns:a16="http://schemas.microsoft.com/office/drawing/2014/main" id="{E42C3087-C0D2-3C73-3277-1F9DF409ECAA}"/>
              </a:ext>
            </a:extLst>
          </p:cNvPr>
          <p:cNvSpPr txBox="1"/>
          <p:nvPr/>
        </p:nvSpPr>
        <p:spPr>
          <a:xfrm>
            <a:off x="3982720" y="126263"/>
            <a:ext cx="6096000"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3600" b="1" i="0" u="none" strike="noStrike" kern="1200" cap="all" spc="0" normalizeH="0" baseline="0" noProof="0" dirty="0">
                <a:ln>
                  <a:noFill/>
                </a:ln>
                <a:solidFill>
                  <a:srgbClr val="1F2C8F"/>
                </a:solidFill>
                <a:effectLst/>
                <a:uLnTx/>
                <a:uFillTx/>
                <a:latin typeface="Arial Black"/>
                <a:ea typeface="+mn-ea"/>
                <a:cs typeface="+mn-cs"/>
              </a:rPr>
              <a:t>Related Work </a:t>
            </a:r>
            <a:r>
              <a:rPr kumimoji="0" lang="en-ZA" sz="2000" b="1" i="0" u="none" strike="noStrike" kern="1200" cap="none" spc="0" normalizeH="0" baseline="0" noProof="0" dirty="0">
                <a:ln>
                  <a:noFill/>
                </a:ln>
                <a:solidFill>
                  <a:srgbClr val="1F2C8F"/>
                </a:solidFill>
                <a:effectLst/>
                <a:uLnTx/>
                <a:uFillTx/>
                <a:latin typeface="Arial Black"/>
                <a:ea typeface="+mn-ea"/>
                <a:cs typeface="+mn-cs"/>
              </a:rPr>
              <a:t>cont.</a:t>
            </a:r>
            <a:endParaRPr kumimoji="0" lang="en-ZA" sz="2000" b="0" i="0" u="none" strike="noStrike" kern="1200" cap="none" spc="0" normalizeH="0" baseline="0" noProof="0" dirty="0">
              <a:ln>
                <a:noFill/>
              </a:ln>
              <a:solidFill>
                <a:srgbClr val="000000"/>
              </a:solidFill>
              <a:effectLst/>
              <a:uLnTx/>
              <a:uFillTx/>
              <a:latin typeface="Sabon Next LT"/>
              <a:ea typeface="+mn-ea"/>
              <a:cs typeface="+mn-cs"/>
            </a:endParaRPr>
          </a:p>
        </p:txBody>
      </p:sp>
      <p:sp>
        <p:nvSpPr>
          <p:cNvPr id="8" name="TextBox 7">
            <a:extLst>
              <a:ext uri="{FF2B5EF4-FFF2-40B4-BE49-F238E27FC236}">
                <a16:creationId xmlns:a16="http://schemas.microsoft.com/office/drawing/2014/main" id="{AFA26F7E-D88E-FE8E-9B98-B98800D1E466}"/>
              </a:ext>
            </a:extLst>
          </p:cNvPr>
          <p:cNvSpPr txBox="1"/>
          <p:nvPr/>
        </p:nvSpPr>
        <p:spPr>
          <a:xfrm>
            <a:off x="127518" y="1574589"/>
            <a:ext cx="6097554" cy="27699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1200" b="0" i="0" u="none" strike="noStrike" kern="1200" cap="none" spc="0" normalizeH="0" baseline="0" noProof="0" dirty="0">
                <a:ln>
                  <a:noFill/>
                </a:ln>
                <a:solidFill>
                  <a:srgbClr val="1F2C8F"/>
                </a:solidFill>
                <a:effectLst/>
                <a:uLnTx/>
                <a:uFillTx/>
                <a:latin typeface="Sabon Next LT"/>
                <a:ea typeface="+mn-ea"/>
                <a:cs typeface="+mn-cs"/>
              </a:rPr>
              <a:t>Table 2 : Overview of segmentation methods in recent studies </a:t>
            </a:r>
          </a:p>
        </p:txBody>
      </p:sp>
    </p:spTree>
    <p:extLst>
      <p:ext uri="{BB962C8B-B14F-4D97-AF65-F5344CB8AC3E}">
        <p14:creationId xmlns:p14="http://schemas.microsoft.com/office/powerpoint/2010/main" val="3732645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26841" y="121297"/>
            <a:ext cx="10338318" cy="1156997"/>
          </a:xfrm>
        </p:spPr>
        <p:txBody>
          <a:bodyPr vert="horz" lIns="91440" tIns="0" rIns="91440" bIns="0" rtlCol="0" anchor="b" anchorCtr="0">
            <a:normAutofit/>
          </a:bodyPr>
          <a:lstStyle/>
          <a:p>
            <a:pPr>
              <a:lnSpc>
                <a:spcPct val="90000"/>
              </a:lnSpc>
            </a:pPr>
            <a:r>
              <a:rPr lang="en-ZA" cap="none" dirty="0"/>
              <a:t>Limitations of Conventional Segmentation Models</a:t>
            </a:r>
            <a:endParaRPr lang="en-US" b="1" kern="1200" cap="all" baseline="0" dirty="0">
              <a:latin typeface="+mj-lt"/>
              <a:ea typeface="+mj-ea"/>
              <a:cs typeface="+mj-cs"/>
            </a:endParaRPr>
          </a:p>
        </p:txBody>
      </p:sp>
      <p:graphicFrame>
        <p:nvGraphicFramePr>
          <p:cNvPr id="14" name="TextBox 6">
            <a:extLst>
              <a:ext uri="{FF2B5EF4-FFF2-40B4-BE49-F238E27FC236}">
                <a16:creationId xmlns:a16="http://schemas.microsoft.com/office/drawing/2014/main" id="{7FFE8985-3203-F889-8B7E-7397F2BE3619}"/>
              </a:ext>
            </a:extLst>
          </p:cNvPr>
          <p:cNvGraphicFramePr/>
          <p:nvPr>
            <p:extLst>
              <p:ext uri="{D42A27DB-BD31-4B8C-83A1-F6EECF244321}">
                <p14:modId xmlns:p14="http://schemas.microsoft.com/office/powerpoint/2010/main" val="17713380"/>
              </p:ext>
            </p:extLst>
          </p:nvPr>
        </p:nvGraphicFramePr>
        <p:xfrm>
          <a:off x="466532" y="1744824"/>
          <a:ext cx="11383346" cy="48612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952923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1158374" y="265522"/>
            <a:ext cx="9710057" cy="542694"/>
          </a:xfrm>
        </p:spPr>
        <p:txBody>
          <a:bodyPr/>
          <a:lstStyle/>
          <a:p>
            <a:pPr algn="ctr"/>
            <a:r>
              <a:rPr lang="en-US" dirty="0"/>
              <a:t>AIM &amp; Objectives</a:t>
            </a:r>
          </a:p>
        </p:txBody>
      </p:sp>
      <p:sp>
        <p:nvSpPr>
          <p:cNvPr id="4" name="TextBox 3">
            <a:extLst>
              <a:ext uri="{FF2B5EF4-FFF2-40B4-BE49-F238E27FC236}">
                <a16:creationId xmlns:a16="http://schemas.microsoft.com/office/drawing/2014/main" id="{1F29C336-3757-0CE7-FB26-93D033B3C9F1}"/>
              </a:ext>
            </a:extLst>
          </p:cNvPr>
          <p:cNvSpPr txBox="1"/>
          <p:nvPr/>
        </p:nvSpPr>
        <p:spPr>
          <a:xfrm>
            <a:off x="506963" y="1170384"/>
            <a:ext cx="11178072" cy="1938992"/>
          </a:xfrm>
          <a:prstGeom prst="rect">
            <a:avLst/>
          </a:prstGeom>
          <a:noFill/>
        </p:spPr>
        <p:txBody>
          <a:bodyPr wrap="square" rtlCol="0">
            <a:spAutoFit/>
          </a:bodyPr>
          <a:lstStyle/>
          <a:p>
            <a:r>
              <a:rPr lang="en-US" sz="2000" b="1" dirty="0">
                <a:solidFill>
                  <a:schemeClr val="accent6"/>
                </a:solidFill>
              </a:rPr>
              <a:t>Problem: </a:t>
            </a:r>
            <a:r>
              <a:rPr lang="en-US" sz="2000" dirty="0">
                <a:solidFill>
                  <a:schemeClr val="accent6"/>
                </a:solidFill>
              </a:rPr>
              <a:t>While traditional segmentation heavily relies on static demographic and geodemographic models to target generalized local and national markets [6], modern retail </a:t>
            </a:r>
            <a:r>
              <a:rPr lang="en-US" sz="2000" dirty="0">
                <a:solidFill>
                  <a:srgbClr val="0F9F2A"/>
                </a:solidFill>
              </a:rPr>
              <a:t>requires continuous, behavioral tracking to stay competitive</a:t>
            </a:r>
            <a:r>
              <a:rPr lang="en-US" sz="2000" dirty="0">
                <a:solidFill>
                  <a:schemeClr val="accent6"/>
                </a:solidFill>
              </a:rPr>
              <a:t> [4].</a:t>
            </a:r>
            <a:endParaRPr lang="en-ZA" sz="2000" dirty="0"/>
          </a:p>
          <a:p>
            <a:endParaRPr lang="en-US" sz="2000" dirty="0">
              <a:solidFill>
                <a:schemeClr val="accent6"/>
              </a:solidFill>
            </a:endParaRPr>
          </a:p>
          <a:p>
            <a:r>
              <a:rPr lang="en-US" sz="2000" b="1" dirty="0">
                <a:solidFill>
                  <a:schemeClr val="accent6"/>
                </a:solidFill>
              </a:rPr>
              <a:t>Aim: </a:t>
            </a:r>
            <a:r>
              <a:rPr lang="en-ZA" sz="2000" dirty="0">
                <a:solidFill>
                  <a:schemeClr val="accent6"/>
                </a:solidFill>
              </a:rPr>
              <a:t>Promoting  Dynamic Customer Segmentation</a:t>
            </a:r>
            <a:r>
              <a:rPr lang="en-US" sz="2000" dirty="0">
                <a:solidFill>
                  <a:schemeClr val="accent6"/>
                </a:solidFill>
              </a:rPr>
              <a:t> in the retail sector by </a:t>
            </a:r>
            <a:r>
              <a:rPr lang="en-US" sz="2000" dirty="0">
                <a:solidFill>
                  <a:srgbClr val="0F9F2A"/>
                </a:solidFill>
              </a:rPr>
              <a:t>moving beyond static</a:t>
            </a:r>
            <a:r>
              <a:rPr lang="en-US" sz="2000" dirty="0">
                <a:solidFill>
                  <a:schemeClr val="accent6"/>
                </a:solidFill>
              </a:rPr>
              <a:t>, </a:t>
            </a:r>
          </a:p>
          <a:p>
            <a:r>
              <a:rPr lang="en-US" sz="2000" dirty="0">
                <a:solidFill>
                  <a:schemeClr val="accent6"/>
                </a:solidFill>
              </a:rPr>
              <a:t>snapshot-based analysis towards a </a:t>
            </a:r>
            <a:r>
              <a:rPr lang="en-US" sz="2000" dirty="0">
                <a:solidFill>
                  <a:srgbClr val="0F9F2A"/>
                </a:solidFill>
              </a:rPr>
              <a:t>real-time, automated</a:t>
            </a:r>
            <a:r>
              <a:rPr lang="en-US" sz="2000" dirty="0">
                <a:solidFill>
                  <a:schemeClr val="accent6"/>
                </a:solidFill>
              </a:rPr>
              <a:t> understanding of consumer behavior.</a:t>
            </a:r>
            <a:endParaRPr lang="en-ZA" sz="2000" dirty="0">
              <a:solidFill>
                <a:schemeClr val="accent6"/>
              </a:solidFill>
            </a:endParaRPr>
          </a:p>
        </p:txBody>
      </p:sp>
      <p:sp>
        <p:nvSpPr>
          <p:cNvPr id="10" name="TextBox 9">
            <a:extLst>
              <a:ext uri="{FF2B5EF4-FFF2-40B4-BE49-F238E27FC236}">
                <a16:creationId xmlns:a16="http://schemas.microsoft.com/office/drawing/2014/main" id="{DC8676F0-3A5F-90ED-027C-75D430309BFF}"/>
              </a:ext>
            </a:extLst>
          </p:cNvPr>
          <p:cNvSpPr txBox="1"/>
          <p:nvPr/>
        </p:nvSpPr>
        <p:spPr>
          <a:xfrm>
            <a:off x="4354966" y="3609171"/>
            <a:ext cx="6391274" cy="461665"/>
          </a:xfrm>
          <a:prstGeom prst="rect">
            <a:avLst/>
          </a:prstGeom>
          <a:noFill/>
        </p:spPr>
        <p:txBody>
          <a:bodyPr wrap="square">
            <a:spAutoFit/>
          </a:bodyPr>
          <a:lstStyle/>
          <a:p>
            <a:r>
              <a:rPr kumimoji="0" lang="en-US" sz="2400" b="1" i="0" u="none" strike="noStrike" kern="1200" cap="all" spc="0" normalizeH="0" baseline="0" noProof="0" dirty="0">
                <a:ln>
                  <a:noFill/>
                </a:ln>
                <a:solidFill>
                  <a:srgbClr val="1F2C8F"/>
                </a:solidFill>
                <a:effectLst/>
                <a:uLnTx/>
                <a:uFillTx/>
                <a:latin typeface="Arial Black"/>
                <a:ea typeface="+mj-ea"/>
                <a:cs typeface="+mj-cs"/>
              </a:rPr>
              <a:t>objectives</a:t>
            </a:r>
            <a:endParaRPr lang="en-ZA" sz="2400" dirty="0"/>
          </a:p>
        </p:txBody>
      </p:sp>
      <p:sp>
        <p:nvSpPr>
          <p:cNvPr id="13" name="TextBox 12">
            <a:extLst>
              <a:ext uri="{FF2B5EF4-FFF2-40B4-BE49-F238E27FC236}">
                <a16:creationId xmlns:a16="http://schemas.microsoft.com/office/drawing/2014/main" id="{7F389778-34AB-3116-48AB-EFD9885FB263}"/>
              </a:ext>
            </a:extLst>
          </p:cNvPr>
          <p:cNvSpPr txBox="1"/>
          <p:nvPr/>
        </p:nvSpPr>
        <p:spPr>
          <a:xfrm>
            <a:off x="94326" y="4070431"/>
            <a:ext cx="12003347" cy="254332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1800" b="1" dirty="0">
                <a:solidFill>
                  <a:schemeClr val="accent6"/>
                </a:solidFill>
              </a:rPr>
              <a:t>Develop Cascaded Framework:</a:t>
            </a:r>
            <a:r>
              <a:rPr lang="en-US" sz="1800" dirty="0">
                <a:solidFill>
                  <a:schemeClr val="accent6"/>
                </a:solidFill>
              </a:rPr>
              <a:t> To design and implement a system that integrates the baseline RFM model with continuous behavioral and demographic variables, successfully moving beyond the constraints of static numerical coding [3].</a:t>
            </a:r>
          </a:p>
          <a:p>
            <a:pPr marL="342900" indent="-342900">
              <a:lnSpc>
                <a:spcPct val="150000"/>
              </a:lnSpc>
              <a:buFont typeface="Arial" panose="020B0604020202020204" pitchFamily="34" charset="0"/>
              <a:buChar char="•"/>
            </a:pPr>
            <a:r>
              <a:rPr lang="en-US" sz="1800" b="1" dirty="0">
                <a:solidFill>
                  <a:schemeClr val="accent6"/>
                </a:solidFill>
              </a:rPr>
              <a:t>Enhance Marketing Strategy:</a:t>
            </a:r>
            <a:r>
              <a:rPr lang="en-US" sz="1800" dirty="0">
                <a:solidFill>
                  <a:schemeClr val="accent6"/>
                </a:solidFill>
              </a:rPr>
              <a:t> To provide the resulting </a:t>
            </a:r>
            <a:r>
              <a:rPr lang="en-US" sz="1800" dirty="0">
                <a:solidFill>
                  <a:srgbClr val="0F9F2A"/>
                </a:solidFill>
              </a:rPr>
              <a:t>adaptive system</a:t>
            </a:r>
            <a:r>
              <a:rPr lang="en-US" sz="1800" dirty="0">
                <a:solidFill>
                  <a:schemeClr val="accent6"/>
                </a:solidFill>
              </a:rPr>
              <a:t> through an interface that simulates customer segmentation from different potential economic scenarios and allows retailers to anticipate and </a:t>
            </a:r>
            <a:r>
              <a:rPr lang="en-US" sz="1800" dirty="0">
                <a:solidFill>
                  <a:srgbClr val="0F9F2A"/>
                </a:solidFill>
              </a:rPr>
              <a:t>respond to shifting consumer trends</a:t>
            </a:r>
            <a:r>
              <a:rPr lang="en-US" sz="1800" dirty="0">
                <a:solidFill>
                  <a:schemeClr val="accent6"/>
                </a:solidFill>
              </a:rPr>
              <a:t>, ultimately optimizing customer retention and personalized value delivery.</a:t>
            </a:r>
            <a:endParaRPr lang="en-ZA" sz="1800" b="1" dirty="0">
              <a:solidFill>
                <a:schemeClr val="accent6"/>
              </a:solidFill>
            </a:endParaRPr>
          </a:p>
        </p:txBody>
      </p:sp>
    </p:spTree>
    <p:extLst>
      <p:ext uri="{BB962C8B-B14F-4D97-AF65-F5344CB8AC3E}">
        <p14:creationId xmlns:p14="http://schemas.microsoft.com/office/powerpoint/2010/main" val="2906491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1AE97C5-62F1-646A-175E-68E8739D7ECB}"/>
            </a:ext>
          </a:extLst>
        </p:cNvPr>
        <p:cNvGrpSpPr/>
        <p:nvPr/>
      </p:nvGrpSpPr>
      <p:grpSpPr>
        <a:xfrm>
          <a:off x="0" y="0"/>
          <a:ext cx="0" cy="0"/>
          <a:chOff x="0" y="0"/>
          <a:chExt cx="0" cy="0"/>
        </a:xfrm>
      </p:grpSpPr>
      <p:sp>
        <p:nvSpPr>
          <p:cNvPr id="41" name="Partial Circle 40">
            <a:extLst>
              <a:ext uri="{FF2B5EF4-FFF2-40B4-BE49-F238E27FC236}">
                <a16:creationId xmlns:a16="http://schemas.microsoft.com/office/drawing/2014/main" id="{F9921AB0-C87A-4058-36B0-E97ABE84EB28}"/>
              </a:ext>
            </a:extLst>
          </p:cNvPr>
          <p:cNvSpPr/>
          <p:nvPr/>
        </p:nvSpPr>
        <p:spPr>
          <a:xfrm flipH="1">
            <a:off x="356106" y="3870546"/>
            <a:ext cx="4817778" cy="2955348"/>
          </a:xfrm>
          <a:prstGeom prst="pie">
            <a:avLst>
              <a:gd name="adj1" fmla="val 0"/>
              <a:gd name="adj2" fmla="val 17314792"/>
            </a:avLst>
          </a:prstGeom>
          <a:solidFill>
            <a:srgbClr val="FFFFFF"/>
          </a:solid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solidFill>
            </a:endParaRPr>
          </a:p>
        </p:txBody>
      </p:sp>
      <p:sp>
        <p:nvSpPr>
          <p:cNvPr id="9" name="TextBox 8">
            <a:extLst>
              <a:ext uri="{FF2B5EF4-FFF2-40B4-BE49-F238E27FC236}">
                <a16:creationId xmlns:a16="http://schemas.microsoft.com/office/drawing/2014/main" id="{9B24608B-0C53-CF90-FDEC-2F83C3AE8DCA}"/>
              </a:ext>
            </a:extLst>
          </p:cNvPr>
          <p:cNvSpPr txBox="1"/>
          <p:nvPr/>
        </p:nvSpPr>
        <p:spPr>
          <a:xfrm>
            <a:off x="3871446" y="82688"/>
            <a:ext cx="4498007" cy="646331"/>
          </a:xfrm>
          <a:prstGeom prst="rect">
            <a:avLst/>
          </a:prstGeom>
          <a:solidFill>
            <a:schemeClr val="bg1">
              <a:alpha val="0"/>
            </a:schemeClr>
          </a:solidFill>
          <a:ln>
            <a:noFill/>
          </a:ln>
        </p:spPr>
        <p:txBody>
          <a:bodyPr wrap="square">
            <a:spAutoFit/>
          </a:bodyPr>
          <a:lstStyle/>
          <a:p>
            <a:r>
              <a:rPr kumimoji="0" lang="en-ZA" sz="3600" b="1" i="0" u="none" strike="noStrike" kern="1200" cap="all" spc="0" normalizeH="0" baseline="0" noProof="0" dirty="0">
                <a:ln>
                  <a:noFill/>
                </a:ln>
                <a:solidFill>
                  <a:srgbClr val="1F2C8F"/>
                </a:solidFill>
                <a:effectLst/>
                <a:uLnTx/>
                <a:uFillTx/>
                <a:latin typeface="Arial Black"/>
                <a:ea typeface="+mj-ea"/>
                <a:cs typeface="+mj-cs"/>
              </a:rPr>
              <a:t>Methodology</a:t>
            </a:r>
            <a:endParaRPr lang="en-ZA" sz="3600" dirty="0"/>
          </a:p>
        </p:txBody>
      </p:sp>
      <p:sp>
        <p:nvSpPr>
          <p:cNvPr id="12" name="TextBox 11">
            <a:extLst>
              <a:ext uri="{FF2B5EF4-FFF2-40B4-BE49-F238E27FC236}">
                <a16:creationId xmlns:a16="http://schemas.microsoft.com/office/drawing/2014/main" id="{87AEE416-4A8F-40D3-39C2-247BA3D07342}"/>
              </a:ext>
            </a:extLst>
          </p:cNvPr>
          <p:cNvSpPr txBox="1"/>
          <p:nvPr/>
        </p:nvSpPr>
        <p:spPr>
          <a:xfrm>
            <a:off x="5346927" y="6497502"/>
            <a:ext cx="6097554" cy="246221"/>
          </a:xfrm>
          <a:prstGeom prst="rect">
            <a:avLst/>
          </a:prstGeom>
          <a:solidFill>
            <a:schemeClr val="bg1">
              <a:alpha val="0"/>
            </a:schemeClr>
          </a:solidFill>
          <a:ln>
            <a:solidFill>
              <a:schemeClr val="bg1"/>
            </a:solidFill>
          </a:ln>
        </p:spPr>
        <p:txBody>
          <a:bodyPr wrap="square">
            <a:spAutoFit/>
          </a:bodyPr>
          <a:lstStyle/>
          <a:p>
            <a:r>
              <a:rPr kumimoji="0" lang="en-US" altLang="en-US" sz="1000" i="0" u="none" strike="noStrike" kern="1200" cap="none" spc="0" normalizeH="0" noProof="0" dirty="0">
                <a:ln>
                  <a:noFill/>
                </a:ln>
                <a:solidFill>
                  <a:schemeClr val="accent6"/>
                </a:solidFill>
                <a:effectLst/>
                <a:uLnTx/>
                <a:uFillTx/>
                <a:latin typeface="Sabon Next LT"/>
              </a:rPr>
              <a:t>Figure 3 : Diagram of the methodology steps</a:t>
            </a:r>
            <a:endParaRPr lang="en-ZA" sz="1000" dirty="0">
              <a:solidFill>
                <a:schemeClr val="accent6"/>
              </a:solidFill>
            </a:endParaRPr>
          </a:p>
        </p:txBody>
      </p:sp>
      <p:sp>
        <p:nvSpPr>
          <p:cNvPr id="4" name="Rectangle: Rounded Corners 3">
            <a:extLst>
              <a:ext uri="{FF2B5EF4-FFF2-40B4-BE49-F238E27FC236}">
                <a16:creationId xmlns:a16="http://schemas.microsoft.com/office/drawing/2014/main" id="{A98A5A26-4A48-C354-27E7-CD52FA25C111}"/>
              </a:ext>
            </a:extLst>
          </p:cNvPr>
          <p:cNvSpPr/>
          <p:nvPr/>
        </p:nvSpPr>
        <p:spPr>
          <a:xfrm>
            <a:off x="189406" y="1313809"/>
            <a:ext cx="1432918" cy="1128476"/>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Dual Data Exploration </a:t>
            </a:r>
            <a:br>
              <a:rPr lang="en-US" sz="1100" b="1" dirty="0">
                <a:solidFill>
                  <a:schemeClr val="accent6"/>
                </a:solidFill>
              </a:rPr>
            </a:br>
            <a:r>
              <a:rPr lang="en-US" sz="1100" dirty="0">
                <a:solidFill>
                  <a:schemeClr val="accent6"/>
                </a:solidFill>
              </a:rPr>
              <a:t>Raw customer transaction data </a:t>
            </a:r>
          </a:p>
          <a:p>
            <a:pPr algn="ctr"/>
            <a:endParaRPr lang="en-US" sz="1100" b="1" dirty="0">
              <a:solidFill>
                <a:schemeClr val="accent6"/>
              </a:solidFill>
            </a:endParaRPr>
          </a:p>
        </p:txBody>
      </p:sp>
      <p:sp>
        <p:nvSpPr>
          <p:cNvPr id="24" name="Arrow: Right 23">
            <a:extLst>
              <a:ext uri="{FF2B5EF4-FFF2-40B4-BE49-F238E27FC236}">
                <a16:creationId xmlns:a16="http://schemas.microsoft.com/office/drawing/2014/main" id="{F8C594B0-E0AB-CF12-5A93-FF8DBA5ECA18}"/>
              </a:ext>
            </a:extLst>
          </p:cNvPr>
          <p:cNvSpPr/>
          <p:nvPr/>
        </p:nvSpPr>
        <p:spPr>
          <a:xfrm>
            <a:off x="1738372" y="1755536"/>
            <a:ext cx="338430" cy="245022"/>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25" name="Rectangle: Rounded Corners 24">
            <a:extLst>
              <a:ext uri="{FF2B5EF4-FFF2-40B4-BE49-F238E27FC236}">
                <a16:creationId xmlns:a16="http://schemas.microsoft.com/office/drawing/2014/main" id="{BFCD99D1-DAF9-CBAE-0380-7AEF75FCE45E}"/>
              </a:ext>
            </a:extLst>
          </p:cNvPr>
          <p:cNvSpPr/>
          <p:nvPr/>
        </p:nvSpPr>
        <p:spPr>
          <a:xfrm>
            <a:off x="7063546" y="1042650"/>
            <a:ext cx="1834983" cy="835397"/>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Feature Engineering</a:t>
            </a:r>
            <a:br>
              <a:rPr lang="en-US" sz="1100" dirty="0">
                <a:solidFill>
                  <a:schemeClr val="accent6"/>
                </a:solidFill>
              </a:rPr>
            </a:br>
            <a:r>
              <a:rPr lang="en-US" sz="1100" dirty="0">
                <a:solidFill>
                  <a:schemeClr val="accent6"/>
                </a:solidFill>
              </a:rPr>
              <a:t>Cascaded RFM Aggregation</a:t>
            </a:r>
            <a:endParaRPr lang="en-ZA" sz="1100" dirty="0">
              <a:solidFill>
                <a:schemeClr val="accent6"/>
              </a:solidFill>
            </a:endParaRPr>
          </a:p>
        </p:txBody>
      </p:sp>
      <p:sp>
        <p:nvSpPr>
          <p:cNvPr id="26" name="Arrow: Right 25">
            <a:extLst>
              <a:ext uri="{FF2B5EF4-FFF2-40B4-BE49-F238E27FC236}">
                <a16:creationId xmlns:a16="http://schemas.microsoft.com/office/drawing/2014/main" id="{D750565C-6EC6-1FD6-B9AE-353BFEAFF677}"/>
              </a:ext>
            </a:extLst>
          </p:cNvPr>
          <p:cNvSpPr/>
          <p:nvPr/>
        </p:nvSpPr>
        <p:spPr>
          <a:xfrm>
            <a:off x="3883510" y="1776818"/>
            <a:ext cx="367993" cy="223740"/>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27" name="Rectangle: Rounded Corners 26">
            <a:extLst>
              <a:ext uri="{FF2B5EF4-FFF2-40B4-BE49-F238E27FC236}">
                <a16:creationId xmlns:a16="http://schemas.microsoft.com/office/drawing/2014/main" id="{641EA9E7-C80A-05EA-C14E-C085FD828567}"/>
              </a:ext>
            </a:extLst>
          </p:cNvPr>
          <p:cNvSpPr/>
          <p:nvPr/>
        </p:nvSpPr>
        <p:spPr>
          <a:xfrm>
            <a:off x="4361495" y="1301582"/>
            <a:ext cx="1734505" cy="1128476"/>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Time Slicing</a:t>
            </a:r>
            <a:br>
              <a:rPr lang="en-US" sz="1100" dirty="0">
                <a:solidFill>
                  <a:schemeClr val="accent6"/>
                </a:solidFill>
              </a:rPr>
            </a:br>
            <a:r>
              <a:rPr lang="en-US" sz="1100" dirty="0">
                <a:solidFill>
                  <a:schemeClr val="accent6"/>
                </a:solidFill>
              </a:rPr>
              <a:t>Split data into chronological batches</a:t>
            </a:r>
          </a:p>
        </p:txBody>
      </p:sp>
      <p:sp>
        <p:nvSpPr>
          <p:cNvPr id="28" name="Arrow: Right 27">
            <a:extLst>
              <a:ext uri="{FF2B5EF4-FFF2-40B4-BE49-F238E27FC236}">
                <a16:creationId xmlns:a16="http://schemas.microsoft.com/office/drawing/2014/main" id="{FE47138B-8A8C-AB9F-E761-A4C0540E1607}"/>
              </a:ext>
            </a:extLst>
          </p:cNvPr>
          <p:cNvSpPr/>
          <p:nvPr/>
        </p:nvSpPr>
        <p:spPr>
          <a:xfrm rot="219145">
            <a:off x="9159750" y="1852190"/>
            <a:ext cx="324904" cy="245113"/>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29" name="Rectangle: Rounded Corners 28">
            <a:extLst>
              <a:ext uri="{FF2B5EF4-FFF2-40B4-BE49-F238E27FC236}">
                <a16:creationId xmlns:a16="http://schemas.microsoft.com/office/drawing/2014/main" id="{0BAD5566-2884-F5AD-6237-C144CC897E7A}"/>
              </a:ext>
            </a:extLst>
          </p:cNvPr>
          <p:cNvSpPr/>
          <p:nvPr/>
        </p:nvSpPr>
        <p:spPr>
          <a:xfrm>
            <a:off x="9677219" y="1588197"/>
            <a:ext cx="1933772" cy="835397"/>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Database Creation</a:t>
            </a:r>
          </a:p>
          <a:p>
            <a:pPr marL="171450" indent="-171450" algn="ctr">
              <a:buFont typeface="Arial" panose="020B0604020202020204" pitchFamily="34" charset="0"/>
              <a:buChar char="•"/>
            </a:pPr>
            <a:r>
              <a:rPr lang="en-US" sz="1100" dirty="0">
                <a:solidFill>
                  <a:schemeClr val="accent6"/>
                </a:solidFill>
              </a:rPr>
              <a:t>Customer profile table</a:t>
            </a:r>
          </a:p>
          <a:p>
            <a:pPr marL="171450" indent="-171450" algn="ctr">
              <a:buFont typeface="Arial" panose="020B0604020202020204" pitchFamily="34" charset="0"/>
              <a:buChar char="•"/>
            </a:pPr>
            <a:r>
              <a:rPr lang="en-US" sz="1100" dirty="0">
                <a:solidFill>
                  <a:schemeClr val="accent6"/>
                </a:solidFill>
              </a:rPr>
              <a:t>Time Cyle results table</a:t>
            </a:r>
            <a:br>
              <a:rPr lang="en-US" sz="1100" dirty="0">
                <a:solidFill>
                  <a:schemeClr val="accent6"/>
                </a:solidFill>
              </a:rPr>
            </a:br>
            <a:r>
              <a:rPr lang="en-US" sz="1100" dirty="0">
                <a:solidFill>
                  <a:schemeClr val="accent6"/>
                </a:solidFill>
              </a:rPr>
              <a:t> </a:t>
            </a:r>
            <a:endParaRPr lang="en-ZA" sz="1100" dirty="0">
              <a:solidFill>
                <a:schemeClr val="accent6"/>
              </a:solidFill>
            </a:endParaRPr>
          </a:p>
        </p:txBody>
      </p:sp>
      <p:sp>
        <p:nvSpPr>
          <p:cNvPr id="31" name="Rectangle: Rounded Corners 30">
            <a:extLst>
              <a:ext uri="{FF2B5EF4-FFF2-40B4-BE49-F238E27FC236}">
                <a16:creationId xmlns:a16="http://schemas.microsoft.com/office/drawing/2014/main" id="{D2D3A59C-5EA2-D041-7373-839BB11FA942}"/>
              </a:ext>
            </a:extLst>
          </p:cNvPr>
          <p:cNvSpPr/>
          <p:nvPr/>
        </p:nvSpPr>
        <p:spPr>
          <a:xfrm>
            <a:off x="392726" y="4439684"/>
            <a:ext cx="1794991" cy="627358"/>
          </a:xfrm>
          <a:prstGeom prst="roundRect">
            <a:avLst/>
          </a:prstGeom>
          <a:solidFill>
            <a:srgbClr val="FFFF00"/>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b="1" dirty="0">
                <a:solidFill>
                  <a:schemeClr val="accent6"/>
                </a:solidFill>
              </a:rPr>
              <a:t>Final Segments</a:t>
            </a:r>
            <a:br>
              <a:rPr lang="en-US" sz="1100" dirty="0">
                <a:solidFill>
                  <a:schemeClr val="accent6"/>
                </a:solidFill>
              </a:rPr>
            </a:br>
            <a:r>
              <a:rPr lang="en-US" sz="1100" dirty="0">
                <a:solidFill>
                  <a:schemeClr val="accent6"/>
                </a:solidFill>
              </a:rPr>
              <a:t>Produce adaptive customer groups</a:t>
            </a:r>
            <a:endParaRPr lang="en-ZA" sz="1100" dirty="0">
              <a:solidFill>
                <a:schemeClr val="accent6"/>
              </a:solidFill>
            </a:endParaRPr>
          </a:p>
        </p:txBody>
      </p:sp>
      <p:sp>
        <p:nvSpPr>
          <p:cNvPr id="35" name="Rectangle: Rounded Corners 34">
            <a:extLst>
              <a:ext uri="{FF2B5EF4-FFF2-40B4-BE49-F238E27FC236}">
                <a16:creationId xmlns:a16="http://schemas.microsoft.com/office/drawing/2014/main" id="{FF393DF6-BE21-F061-AF14-4A3B802D6841}"/>
              </a:ext>
            </a:extLst>
          </p:cNvPr>
          <p:cNvSpPr/>
          <p:nvPr/>
        </p:nvSpPr>
        <p:spPr>
          <a:xfrm>
            <a:off x="3519150" y="4883273"/>
            <a:ext cx="1400584" cy="1054852"/>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Dynamic Updates</a:t>
            </a:r>
            <a:br>
              <a:rPr lang="en-US" sz="1100" dirty="0">
                <a:solidFill>
                  <a:schemeClr val="accent6"/>
                </a:solidFill>
              </a:rPr>
            </a:br>
            <a:r>
              <a:rPr lang="en-US" sz="1100" dirty="0">
                <a:solidFill>
                  <a:schemeClr val="accent6"/>
                </a:solidFill>
              </a:rPr>
              <a:t>Use MDFC for sequential cluster adaptation</a:t>
            </a:r>
            <a:endParaRPr lang="en-ZA" sz="1100" dirty="0">
              <a:solidFill>
                <a:schemeClr val="accent6"/>
              </a:solidFill>
            </a:endParaRPr>
          </a:p>
        </p:txBody>
      </p:sp>
      <p:sp>
        <p:nvSpPr>
          <p:cNvPr id="36" name="Arrow: Right 35">
            <a:extLst>
              <a:ext uri="{FF2B5EF4-FFF2-40B4-BE49-F238E27FC236}">
                <a16:creationId xmlns:a16="http://schemas.microsoft.com/office/drawing/2014/main" id="{87FBE80F-7B6D-1F0B-83B3-4D4A0F93B78F}"/>
              </a:ext>
            </a:extLst>
          </p:cNvPr>
          <p:cNvSpPr/>
          <p:nvPr/>
        </p:nvSpPr>
        <p:spPr>
          <a:xfrm rot="10800000">
            <a:off x="5238200" y="5296724"/>
            <a:ext cx="457094" cy="312186"/>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37" name="Rectangle: Rounded Corners 36">
            <a:extLst>
              <a:ext uri="{FF2B5EF4-FFF2-40B4-BE49-F238E27FC236}">
                <a16:creationId xmlns:a16="http://schemas.microsoft.com/office/drawing/2014/main" id="{CB7188EE-FE9D-5806-889F-B295B55137F7}"/>
              </a:ext>
            </a:extLst>
          </p:cNvPr>
          <p:cNvSpPr/>
          <p:nvPr/>
        </p:nvSpPr>
        <p:spPr>
          <a:xfrm>
            <a:off x="7549686" y="4947351"/>
            <a:ext cx="1692036" cy="958561"/>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Initial K-means</a:t>
            </a:r>
            <a:br>
              <a:rPr lang="en-US" sz="1100" dirty="0">
                <a:solidFill>
                  <a:schemeClr val="accent6"/>
                </a:solidFill>
              </a:rPr>
            </a:br>
            <a:r>
              <a:rPr lang="en-US" sz="1100" dirty="0">
                <a:solidFill>
                  <a:schemeClr val="accent6"/>
                </a:solidFill>
              </a:rPr>
              <a:t>Build the starting cluster structure</a:t>
            </a:r>
          </a:p>
        </p:txBody>
      </p:sp>
      <p:sp>
        <p:nvSpPr>
          <p:cNvPr id="51" name="Arrow: Right 50">
            <a:extLst>
              <a:ext uri="{FF2B5EF4-FFF2-40B4-BE49-F238E27FC236}">
                <a16:creationId xmlns:a16="http://schemas.microsoft.com/office/drawing/2014/main" id="{3B33CEB7-82AA-AA21-4E18-76553B4775B9}"/>
              </a:ext>
            </a:extLst>
          </p:cNvPr>
          <p:cNvSpPr/>
          <p:nvPr/>
        </p:nvSpPr>
        <p:spPr>
          <a:xfrm rot="5400000">
            <a:off x="6403477" y="5116283"/>
            <a:ext cx="111729" cy="172418"/>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2" name="Arrow: Right 1">
            <a:extLst>
              <a:ext uri="{FF2B5EF4-FFF2-40B4-BE49-F238E27FC236}">
                <a16:creationId xmlns:a16="http://schemas.microsoft.com/office/drawing/2014/main" id="{D6FEEE57-5816-5FC7-6113-C9FF205213C9}"/>
              </a:ext>
            </a:extLst>
          </p:cNvPr>
          <p:cNvSpPr/>
          <p:nvPr/>
        </p:nvSpPr>
        <p:spPr>
          <a:xfrm rot="19994087">
            <a:off x="6326325" y="1410621"/>
            <a:ext cx="618847" cy="239694"/>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5" name="Rectangle: Rounded Corners 4">
            <a:extLst>
              <a:ext uri="{FF2B5EF4-FFF2-40B4-BE49-F238E27FC236}">
                <a16:creationId xmlns:a16="http://schemas.microsoft.com/office/drawing/2014/main" id="{F5F9189E-CF28-E776-4F83-A88D7FC9A548}"/>
              </a:ext>
            </a:extLst>
          </p:cNvPr>
          <p:cNvSpPr/>
          <p:nvPr/>
        </p:nvSpPr>
        <p:spPr>
          <a:xfrm>
            <a:off x="7094236" y="2076341"/>
            <a:ext cx="1834983" cy="866041"/>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Data Preprocessing</a:t>
            </a:r>
            <a:br>
              <a:rPr lang="en-US" sz="1100" dirty="0">
                <a:solidFill>
                  <a:schemeClr val="accent6"/>
                </a:solidFill>
              </a:rPr>
            </a:br>
            <a:r>
              <a:rPr lang="en-US" sz="1100" dirty="0">
                <a:solidFill>
                  <a:schemeClr val="accent6"/>
                </a:solidFill>
              </a:rPr>
              <a:t>Log Transformation &amp;</a:t>
            </a:r>
          </a:p>
          <a:p>
            <a:pPr algn="ctr"/>
            <a:r>
              <a:rPr lang="en-US" sz="1100" dirty="0">
                <a:solidFill>
                  <a:schemeClr val="accent6"/>
                </a:solidFill>
              </a:rPr>
              <a:t>Standardization</a:t>
            </a:r>
            <a:endParaRPr lang="en-ZA" sz="1100" dirty="0">
              <a:solidFill>
                <a:schemeClr val="accent6"/>
              </a:solidFill>
            </a:endParaRPr>
          </a:p>
        </p:txBody>
      </p:sp>
      <p:sp>
        <p:nvSpPr>
          <p:cNvPr id="11" name="Rectangle: Rounded Corners 10">
            <a:extLst>
              <a:ext uri="{FF2B5EF4-FFF2-40B4-BE49-F238E27FC236}">
                <a16:creationId xmlns:a16="http://schemas.microsoft.com/office/drawing/2014/main" id="{EFBED274-8FB8-E651-2A85-3063220380F5}"/>
              </a:ext>
            </a:extLst>
          </p:cNvPr>
          <p:cNvSpPr/>
          <p:nvPr/>
        </p:nvSpPr>
        <p:spPr>
          <a:xfrm>
            <a:off x="2219543" y="1317721"/>
            <a:ext cx="1457652" cy="1124564"/>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Data Cleaning </a:t>
            </a:r>
            <a:br>
              <a:rPr lang="en-US" sz="1100" b="1" dirty="0">
                <a:solidFill>
                  <a:schemeClr val="accent6"/>
                </a:solidFill>
              </a:rPr>
            </a:br>
            <a:r>
              <a:rPr lang="en-US" sz="1100" dirty="0">
                <a:solidFill>
                  <a:schemeClr val="accent6"/>
                </a:solidFill>
              </a:rPr>
              <a:t>Remove missing, duplicate, and invalid records</a:t>
            </a:r>
            <a:endParaRPr lang="en-ZA" sz="1100" dirty="0">
              <a:solidFill>
                <a:schemeClr val="accent6"/>
              </a:solidFill>
            </a:endParaRPr>
          </a:p>
        </p:txBody>
      </p:sp>
      <p:sp>
        <p:nvSpPr>
          <p:cNvPr id="13" name="Arrow: Right 12">
            <a:extLst>
              <a:ext uri="{FF2B5EF4-FFF2-40B4-BE49-F238E27FC236}">
                <a16:creationId xmlns:a16="http://schemas.microsoft.com/office/drawing/2014/main" id="{037B8671-11D8-9BFA-8D01-2E245A3FB2CE}"/>
              </a:ext>
            </a:extLst>
          </p:cNvPr>
          <p:cNvSpPr/>
          <p:nvPr/>
        </p:nvSpPr>
        <p:spPr>
          <a:xfrm rot="1802765">
            <a:off x="6307234" y="2248561"/>
            <a:ext cx="618847" cy="239694"/>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14" name="Rectangle: Rounded Corners 13">
            <a:extLst>
              <a:ext uri="{FF2B5EF4-FFF2-40B4-BE49-F238E27FC236}">
                <a16:creationId xmlns:a16="http://schemas.microsoft.com/office/drawing/2014/main" id="{732327A1-DBEC-2F13-EDA9-5639C598B3AC}"/>
              </a:ext>
            </a:extLst>
          </p:cNvPr>
          <p:cNvSpPr/>
          <p:nvPr/>
        </p:nvSpPr>
        <p:spPr>
          <a:xfrm>
            <a:off x="9492132" y="3139759"/>
            <a:ext cx="2236626" cy="1698158"/>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Data Synthesis</a:t>
            </a:r>
          </a:p>
          <a:p>
            <a:pPr marL="171450" indent="-171450" algn="ctr">
              <a:buFont typeface="Arial" panose="020B0604020202020204" pitchFamily="34" charset="0"/>
              <a:buChar char="•"/>
            </a:pPr>
            <a:r>
              <a:rPr lang="en-US" sz="1100" dirty="0">
                <a:solidFill>
                  <a:schemeClr val="accent6"/>
                </a:solidFill>
              </a:rPr>
              <a:t>Generating Geographic and Demographic variables</a:t>
            </a:r>
          </a:p>
          <a:p>
            <a:pPr marL="171450" indent="-171450" algn="ctr">
              <a:buFont typeface="Arial" panose="020B0604020202020204" pitchFamily="34" charset="0"/>
              <a:buChar char="•"/>
            </a:pPr>
            <a:r>
              <a:rPr lang="en-US" sz="1100" dirty="0">
                <a:solidFill>
                  <a:schemeClr val="accent6"/>
                </a:solidFill>
              </a:rPr>
              <a:t>Synthesized data integration with customer Profile</a:t>
            </a:r>
            <a:br>
              <a:rPr lang="en-US" sz="1100" dirty="0">
                <a:solidFill>
                  <a:schemeClr val="accent6"/>
                </a:solidFill>
              </a:rPr>
            </a:br>
            <a:endParaRPr lang="en-US" sz="1100" dirty="0">
              <a:solidFill>
                <a:schemeClr val="accent6"/>
              </a:solidFill>
            </a:endParaRPr>
          </a:p>
        </p:txBody>
      </p:sp>
      <p:sp>
        <p:nvSpPr>
          <p:cNvPr id="17" name="Arrow: Right 16">
            <a:extLst>
              <a:ext uri="{FF2B5EF4-FFF2-40B4-BE49-F238E27FC236}">
                <a16:creationId xmlns:a16="http://schemas.microsoft.com/office/drawing/2014/main" id="{CD936967-2DA7-049E-3965-D8E438862952}"/>
              </a:ext>
            </a:extLst>
          </p:cNvPr>
          <p:cNvSpPr/>
          <p:nvPr/>
        </p:nvSpPr>
        <p:spPr>
          <a:xfrm rot="8815755">
            <a:off x="7231745" y="5792611"/>
            <a:ext cx="289797" cy="226602"/>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18" name="Arrow: Right 17">
            <a:extLst>
              <a:ext uri="{FF2B5EF4-FFF2-40B4-BE49-F238E27FC236}">
                <a16:creationId xmlns:a16="http://schemas.microsoft.com/office/drawing/2014/main" id="{494DFB1E-0717-4144-1BC3-D985B7F99814}"/>
              </a:ext>
            </a:extLst>
          </p:cNvPr>
          <p:cNvSpPr/>
          <p:nvPr/>
        </p:nvSpPr>
        <p:spPr>
          <a:xfrm rot="12295257">
            <a:off x="7220947" y="4889758"/>
            <a:ext cx="289965" cy="198708"/>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20" name="Rectangle: Rounded Corners 19">
            <a:extLst>
              <a:ext uri="{FF2B5EF4-FFF2-40B4-BE49-F238E27FC236}">
                <a16:creationId xmlns:a16="http://schemas.microsoft.com/office/drawing/2014/main" id="{2B6D8EC6-92D4-8FE9-AEF9-64B36B92138B}"/>
              </a:ext>
            </a:extLst>
          </p:cNvPr>
          <p:cNvSpPr/>
          <p:nvPr/>
        </p:nvSpPr>
        <p:spPr>
          <a:xfrm>
            <a:off x="5644678" y="5873168"/>
            <a:ext cx="1517943" cy="452595"/>
          </a:xfrm>
          <a:prstGeom prst="round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1100" b="1" dirty="0">
                <a:solidFill>
                  <a:schemeClr val="accent6"/>
                </a:solidFill>
              </a:rPr>
              <a:t>Psychographic segmentation</a:t>
            </a:r>
          </a:p>
        </p:txBody>
      </p:sp>
      <p:sp>
        <p:nvSpPr>
          <p:cNvPr id="22" name="Arrow: Bent 21">
            <a:extLst>
              <a:ext uri="{FF2B5EF4-FFF2-40B4-BE49-F238E27FC236}">
                <a16:creationId xmlns:a16="http://schemas.microsoft.com/office/drawing/2014/main" id="{3ED6CC9E-859F-D44F-A367-809291548ECD}"/>
              </a:ext>
            </a:extLst>
          </p:cNvPr>
          <p:cNvSpPr/>
          <p:nvPr/>
        </p:nvSpPr>
        <p:spPr>
          <a:xfrm rot="10800000">
            <a:off x="9393670" y="5082638"/>
            <a:ext cx="1280550" cy="517050"/>
          </a:xfrm>
          <a:prstGeom prst="bentArrow">
            <a:avLst/>
          </a:prstGeom>
          <a:solidFill>
            <a:srgbClr val="FFEFEF"/>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solidFill>
                <a:schemeClr val="tx1"/>
              </a:solidFill>
            </a:endParaRPr>
          </a:p>
        </p:txBody>
      </p:sp>
      <p:sp>
        <p:nvSpPr>
          <p:cNvPr id="32" name="Rectangle: Rounded Corners 31">
            <a:extLst>
              <a:ext uri="{FF2B5EF4-FFF2-40B4-BE49-F238E27FC236}">
                <a16:creationId xmlns:a16="http://schemas.microsoft.com/office/drawing/2014/main" id="{CF087B65-EA18-1063-0B9E-667ABD92B227}"/>
              </a:ext>
            </a:extLst>
          </p:cNvPr>
          <p:cNvSpPr/>
          <p:nvPr/>
        </p:nvSpPr>
        <p:spPr>
          <a:xfrm>
            <a:off x="5763190" y="4688891"/>
            <a:ext cx="1430203" cy="378150"/>
          </a:xfrm>
          <a:prstGeom prst="round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1100" b="1" dirty="0">
                <a:solidFill>
                  <a:schemeClr val="accent6"/>
                </a:solidFill>
              </a:rPr>
              <a:t>Model Evaluation</a:t>
            </a:r>
          </a:p>
        </p:txBody>
      </p:sp>
      <p:sp>
        <p:nvSpPr>
          <p:cNvPr id="40" name="TextBox 39">
            <a:extLst>
              <a:ext uri="{FF2B5EF4-FFF2-40B4-BE49-F238E27FC236}">
                <a16:creationId xmlns:a16="http://schemas.microsoft.com/office/drawing/2014/main" id="{F4E82AAC-8C02-CBA2-46FE-4365F71DFAE8}"/>
              </a:ext>
            </a:extLst>
          </p:cNvPr>
          <p:cNvSpPr txBox="1"/>
          <p:nvPr/>
        </p:nvSpPr>
        <p:spPr>
          <a:xfrm>
            <a:off x="2221951" y="3574996"/>
            <a:ext cx="3155031" cy="307777"/>
          </a:xfrm>
          <a:prstGeom prst="rect">
            <a:avLst/>
          </a:prstGeom>
          <a:noFill/>
        </p:spPr>
        <p:txBody>
          <a:bodyPr wrap="none" rtlCol="0">
            <a:spAutoFit/>
          </a:bodyPr>
          <a:lstStyle/>
          <a:p>
            <a:r>
              <a:rPr lang="en-ZA" sz="1400" b="1" i="1" dirty="0">
                <a:solidFill>
                  <a:schemeClr val="accent6"/>
                </a:solidFill>
              </a:rPr>
              <a:t>Dynamic Loop until nth cycle iteration</a:t>
            </a:r>
          </a:p>
        </p:txBody>
      </p:sp>
      <p:sp>
        <p:nvSpPr>
          <p:cNvPr id="42" name="Rectangle: Rounded Corners 41">
            <a:extLst>
              <a:ext uri="{FF2B5EF4-FFF2-40B4-BE49-F238E27FC236}">
                <a16:creationId xmlns:a16="http://schemas.microsoft.com/office/drawing/2014/main" id="{231443BA-7F49-E7CD-6E38-300769963724}"/>
              </a:ext>
            </a:extLst>
          </p:cNvPr>
          <p:cNvSpPr/>
          <p:nvPr/>
        </p:nvSpPr>
        <p:spPr>
          <a:xfrm>
            <a:off x="2568216" y="4016724"/>
            <a:ext cx="1381016" cy="711256"/>
          </a:xfrm>
          <a:prstGeom prst="round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900" b="1" dirty="0">
                <a:solidFill>
                  <a:schemeClr val="accent6"/>
                </a:solidFill>
              </a:rPr>
              <a:t>Model Evaluation</a:t>
            </a:r>
          </a:p>
          <a:p>
            <a:pPr marL="171450" indent="-171450" algn="ctr">
              <a:buFont typeface="Arial" panose="020B0604020202020204" pitchFamily="34" charset="0"/>
              <a:buChar char="•"/>
            </a:pPr>
            <a:r>
              <a:rPr lang="en-US" sz="900" b="1" dirty="0">
                <a:solidFill>
                  <a:schemeClr val="accent6"/>
                </a:solidFill>
              </a:rPr>
              <a:t>Xie Beni Index</a:t>
            </a:r>
          </a:p>
          <a:p>
            <a:pPr marL="171450" indent="-171450" algn="ctr">
              <a:buFont typeface="Arial" panose="020B0604020202020204" pitchFamily="34" charset="0"/>
              <a:buChar char="•"/>
            </a:pPr>
            <a:r>
              <a:rPr lang="en-US" sz="900" b="1" dirty="0">
                <a:solidFill>
                  <a:schemeClr val="accent6"/>
                </a:solidFill>
              </a:rPr>
              <a:t>Migration rare</a:t>
            </a:r>
          </a:p>
          <a:p>
            <a:pPr marL="171450" indent="-171450" algn="ctr">
              <a:buFont typeface="Arial" panose="020B0604020202020204" pitchFamily="34" charset="0"/>
              <a:buChar char="•"/>
            </a:pPr>
            <a:r>
              <a:rPr lang="en-US" sz="900" b="1" dirty="0">
                <a:solidFill>
                  <a:schemeClr val="accent6"/>
                </a:solidFill>
              </a:rPr>
              <a:t>Segment change</a:t>
            </a:r>
          </a:p>
          <a:p>
            <a:pPr marL="171450" indent="-171450" algn="ctr">
              <a:buFont typeface="Arial" panose="020B0604020202020204" pitchFamily="34" charset="0"/>
              <a:buChar char="•"/>
            </a:pPr>
            <a:endParaRPr lang="en-US" sz="900" b="1" dirty="0">
              <a:solidFill>
                <a:schemeClr val="accent6"/>
              </a:solidFill>
            </a:endParaRPr>
          </a:p>
        </p:txBody>
      </p:sp>
      <p:sp>
        <p:nvSpPr>
          <p:cNvPr id="43" name="Arrow: Right 42">
            <a:extLst>
              <a:ext uri="{FF2B5EF4-FFF2-40B4-BE49-F238E27FC236}">
                <a16:creationId xmlns:a16="http://schemas.microsoft.com/office/drawing/2014/main" id="{955FB2B7-E303-C35C-D123-3294FBD751FE}"/>
              </a:ext>
            </a:extLst>
          </p:cNvPr>
          <p:cNvSpPr/>
          <p:nvPr/>
        </p:nvSpPr>
        <p:spPr>
          <a:xfrm rot="13328332">
            <a:off x="3991209" y="4619060"/>
            <a:ext cx="342066" cy="232875"/>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44" name="Arrow: Right 43">
            <a:extLst>
              <a:ext uri="{FF2B5EF4-FFF2-40B4-BE49-F238E27FC236}">
                <a16:creationId xmlns:a16="http://schemas.microsoft.com/office/drawing/2014/main" id="{AB78EFEE-80A1-D4A9-B3F3-6DB820E3A865}"/>
              </a:ext>
            </a:extLst>
          </p:cNvPr>
          <p:cNvSpPr/>
          <p:nvPr/>
        </p:nvSpPr>
        <p:spPr>
          <a:xfrm rot="7711066">
            <a:off x="3632149" y="6069678"/>
            <a:ext cx="388736" cy="222501"/>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45" name="Rectangle: Rounded Corners 44">
            <a:extLst>
              <a:ext uri="{FF2B5EF4-FFF2-40B4-BE49-F238E27FC236}">
                <a16:creationId xmlns:a16="http://schemas.microsoft.com/office/drawing/2014/main" id="{33AB0B54-2565-45A4-9965-4BFE6F8B6FB3}"/>
              </a:ext>
            </a:extLst>
          </p:cNvPr>
          <p:cNvSpPr/>
          <p:nvPr/>
        </p:nvSpPr>
        <p:spPr>
          <a:xfrm>
            <a:off x="1866684" y="6251797"/>
            <a:ext cx="1794991" cy="343870"/>
          </a:xfrm>
          <a:prstGeom prst="round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900" b="1" dirty="0" err="1">
                <a:solidFill>
                  <a:schemeClr val="accent6"/>
                </a:solidFill>
              </a:rPr>
              <a:t>Pyschographic</a:t>
            </a:r>
            <a:r>
              <a:rPr lang="en-US" sz="900" b="1" dirty="0">
                <a:solidFill>
                  <a:schemeClr val="accent6"/>
                </a:solidFill>
              </a:rPr>
              <a:t> segmentation</a:t>
            </a:r>
          </a:p>
        </p:txBody>
      </p:sp>
      <p:sp>
        <p:nvSpPr>
          <p:cNvPr id="48" name="Rectangle: Rounded Corners 47">
            <a:extLst>
              <a:ext uri="{FF2B5EF4-FFF2-40B4-BE49-F238E27FC236}">
                <a16:creationId xmlns:a16="http://schemas.microsoft.com/office/drawing/2014/main" id="{756D8633-A7B2-9BAE-56D7-625B7F0F8ACE}"/>
              </a:ext>
            </a:extLst>
          </p:cNvPr>
          <p:cNvSpPr/>
          <p:nvPr/>
        </p:nvSpPr>
        <p:spPr>
          <a:xfrm>
            <a:off x="5744598" y="5296724"/>
            <a:ext cx="1430203" cy="378150"/>
          </a:xfrm>
          <a:prstGeom prst="round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1100" b="1" dirty="0">
                <a:solidFill>
                  <a:schemeClr val="accent6"/>
                </a:solidFill>
              </a:rPr>
              <a:t>Results to database</a:t>
            </a:r>
            <a:endParaRPr lang="en-ZA" sz="1100" dirty="0">
              <a:solidFill>
                <a:schemeClr val="accent6"/>
              </a:solidFill>
            </a:endParaRPr>
          </a:p>
        </p:txBody>
      </p:sp>
      <p:sp>
        <p:nvSpPr>
          <p:cNvPr id="49" name="Arrow: Right 48">
            <a:extLst>
              <a:ext uri="{FF2B5EF4-FFF2-40B4-BE49-F238E27FC236}">
                <a16:creationId xmlns:a16="http://schemas.microsoft.com/office/drawing/2014/main" id="{5C86E674-6E6D-7F7E-4396-9E02D8FA9737}"/>
              </a:ext>
            </a:extLst>
          </p:cNvPr>
          <p:cNvSpPr/>
          <p:nvPr/>
        </p:nvSpPr>
        <p:spPr>
          <a:xfrm rot="16200000">
            <a:off x="6412651" y="5704540"/>
            <a:ext cx="111729" cy="172418"/>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3" name="Arrow: Right 52">
            <a:extLst>
              <a:ext uri="{FF2B5EF4-FFF2-40B4-BE49-F238E27FC236}">
                <a16:creationId xmlns:a16="http://schemas.microsoft.com/office/drawing/2014/main" id="{29A175A9-9401-F59E-B7A4-17DFE94641F1}"/>
              </a:ext>
            </a:extLst>
          </p:cNvPr>
          <p:cNvSpPr/>
          <p:nvPr/>
        </p:nvSpPr>
        <p:spPr>
          <a:xfrm rot="10800000">
            <a:off x="7264914" y="5382010"/>
            <a:ext cx="111729" cy="172418"/>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4" name="Rectangle: Rounded Corners 53">
            <a:extLst>
              <a:ext uri="{FF2B5EF4-FFF2-40B4-BE49-F238E27FC236}">
                <a16:creationId xmlns:a16="http://schemas.microsoft.com/office/drawing/2014/main" id="{6A64B4CA-DD84-BE96-3821-5DAFE81EEFB5}"/>
              </a:ext>
            </a:extLst>
          </p:cNvPr>
          <p:cNvSpPr/>
          <p:nvPr/>
        </p:nvSpPr>
        <p:spPr>
          <a:xfrm>
            <a:off x="939687" y="5674874"/>
            <a:ext cx="1250819" cy="405052"/>
          </a:xfrm>
          <a:prstGeom prst="roundRect">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900" b="1" dirty="0">
                <a:solidFill>
                  <a:schemeClr val="accent6"/>
                </a:solidFill>
              </a:rPr>
              <a:t>Results to database</a:t>
            </a:r>
            <a:endParaRPr lang="en-ZA" sz="900" dirty="0">
              <a:solidFill>
                <a:schemeClr val="accent6"/>
              </a:solidFill>
            </a:endParaRPr>
          </a:p>
        </p:txBody>
      </p:sp>
      <p:sp>
        <p:nvSpPr>
          <p:cNvPr id="55" name="Arrow: Bent 54">
            <a:extLst>
              <a:ext uri="{FF2B5EF4-FFF2-40B4-BE49-F238E27FC236}">
                <a16:creationId xmlns:a16="http://schemas.microsoft.com/office/drawing/2014/main" id="{ADBE6A1B-5798-574E-903E-F15D81BD0EF0}"/>
              </a:ext>
            </a:extLst>
          </p:cNvPr>
          <p:cNvSpPr/>
          <p:nvPr/>
        </p:nvSpPr>
        <p:spPr>
          <a:xfrm flipH="1" flipV="1">
            <a:off x="2588922" y="4837917"/>
            <a:ext cx="359513" cy="1183652"/>
          </a:xfrm>
          <a:prstGeom prst="bentArrow">
            <a:avLst/>
          </a:prstGeom>
          <a:solidFill>
            <a:srgbClr val="FFF5F5"/>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
        <p:nvSpPr>
          <p:cNvPr id="56" name="Arrow: Bent 55">
            <a:extLst>
              <a:ext uri="{FF2B5EF4-FFF2-40B4-BE49-F238E27FC236}">
                <a16:creationId xmlns:a16="http://schemas.microsoft.com/office/drawing/2014/main" id="{09B09986-C8B9-437F-3A64-CE16B3A321B3}"/>
              </a:ext>
            </a:extLst>
          </p:cNvPr>
          <p:cNvSpPr/>
          <p:nvPr/>
        </p:nvSpPr>
        <p:spPr>
          <a:xfrm flipH="1">
            <a:off x="2270211" y="5783797"/>
            <a:ext cx="453003" cy="397131"/>
          </a:xfrm>
          <a:prstGeom prst="bentArrow">
            <a:avLst/>
          </a:prstGeom>
          <a:solidFill>
            <a:srgbClr val="FFEFEF"/>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
        <p:nvSpPr>
          <p:cNvPr id="59" name="Rectangle: Rounded Corners 58">
            <a:extLst>
              <a:ext uri="{FF2B5EF4-FFF2-40B4-BE49-F238E27FC236}">
                <a16:creationId xmlns:a16="http://schemas.microsoft.com/office/drawing/2014/main" id="{3BBBB5AE-5FE5-C56B-A670-644D26372AA7}"/>
              </a:ext>
            </a:extLst>
          </p:cNvPr>
          <p:cNvSpPr/>
          <p:nvPr/>
        </p:nvSpPr>
        <p:spPr>
          <a:xfrm>
            <a:off x="363358" y="4048115"/>
            <a:ext cx="1827148" cy="180671"/>
          </a:xfrm>
          <a:prstGeom prst="roundRect">
            <a:avLst/>
          </a:prstGeom>
          <a:solidFill>
            <a:srgbClr val="FFFF00"/>
          </a:solidFill>
          <a:ln w="12700">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200" b="1" dirty="0">
                <a:solidFill>
                  <a:schemeClr val="accent6"/>
                </a:solidFill>
              </a:rPr>
              <a:t>Dashboard Interface</a:t>
            </a:r>
            <a:endParaRPr lang="en-ZA" sz="1200" dirty="0">
              <a:solidFill>
                <a:schemeClr val="accent6"/>
              </a:solidFill>
            </a:endParaRPr>
          </a:p>
        </p:txBody>
      </p:sp>
      <p:sp>
        <p:nvSpPr>
          <p:cNvPr id="60" name="TextBox 59">
            <a:extLst>
              <a:ext uri="{FF2B5EF4-FFF2-40B4-BE49-F238E27FC236}">
                <a16:creationId xmlns:a16="http://schemas.microsoft.com/office/drawing/2014/main" id="{D661DABC-E5FD-5DC6-BFF0-B6831C0A66DC}"/>
              </a:ext>
            </a:extLst>
          </p:cNvPr>
          <p:cNvSpPr txBox="1"/>
          <p:nvPr/>
        </p:nvSpPr>
        <p:spPr>
          <a:xfrm>
            <a:off x="1130303" y="4115317"/>
            <a:ext cx="342177" cy="369332"/>
          </a:xfrm>
          <a:prstGeom prst="rect">
            <a:avLst/>
          </a:prstGeom>
          <a:noFill/>
        </p:spPr>
        <p:txBody>
          <a:bodyPr wrap="square" rtlCol="0">
            <a:spAutoFit/>
          </a:bodyPr>
          <a:lstStyle/>
          <a:p>
            <a:r>
              <a:rPr lang="en-ZA" dirty="0"/>
              <a:t>+</a:t>
            </a:r>
          </a:p>
        </p:txBody>
      </p:sp>
      <p:sp>
        <p:nvSpPr>
          <p:cNvPr id="61" name="Arrow: Right 60">
            <a:extLst>
              <a:ext uri="{FF2B5EF4-FFF2-40B4-BE49-F238E27FC236}">
                <a16:creationId xmlns:a16="http://schemas.microsoft.com/office/drawing/2014/main" id="{B43EE462-6C1A-4960-5B0F-37F55B91209F}"/>
              </a:ext>
            </a:extLst>
          </p:cNvPr>
          <p:cNvSpPr/>
          <p:nvPr/>
        </p:nvSpPr>
        <p:spPr>
          <a:xfrm rot="5400000">
            <a:off x="10500291" y="2695320"/>
            <a:ext cx="324904" cy="245113"/>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dirty="0"/>
          </a:p>
        </p:txBody>
      </p:sp>
      <p:cxnSp>
        <p:nvCxnSpPr>
          <p:cNvPr id="7" name="Straight Arrow Connector 6">
            <a:extLst>
              <a:ext uri="{FF2B5EF4-FFF2-40B4-BE49-F238E27FC236}">
                <a16:creationId xmlns:a16="http://schemas.microsoft.com/office/drawing/2014/main" id="{F1804D79-A5AA-903C-9E05-34A85A788B4F}"/>
              </a:ext>
            </a:extLst>
          </p:cNvPr>
          <p:cNvCxnSpPr>
            <a:cxnSpLocks/>
          </p:cNvCxnSpPr>
          <p:nvPr/>
        </p:nvCxnSpPr>
        <p:spPr>
          <a:xfrm flipV="1">
            <a:off x="1389675" y="5140307"/>
            <a:ext cx="0" cy="4038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933243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5F95B5F-1EBB-A2FB-A617-4CBE35EBE1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BF7A5-6C24-D401-ADE6-0C165F5D451D}"/>
              </a:ext>
            </a:extLst>
          </p:cNvPr>
          <p:cNvSpPr>
            <a:spLocks noGrp="1"/>
          </p:cNvSpPr>
          <p:nvPr>
            <p:ph type="title"/>
          </p:nvPr>
        </p:nvSpPr>
        <p:spPr>
          <a:xfrm>
            <a:off x="3312735" y="143595"/>
            <a:ext cx="4825482" cy="530614"/>
          </a:xfrm>
        </p:spPr>
        <p:txBody>
          <a:bodyPr>
            <a:normAutofit/>
          </a:bodyPr>
          <a:lstStyle/>
          <a:p>
            <a:r>
              <a:rPr lang="en-ZA" sz="3200" dirty="0">
                <a:solidFill>
                  <a:srgbClr val="202C8F"/>
                </a:solidFill>
                <a:latin typeface="Arial Black" panose="020B0A04020102020204" pitchFamily="34" charset="0"/>
              </a:rPr>
              <a:t>System Architecture</a:t>
            </a:r>
          </a:p>
        </p:txBody>
      </p:sp>
      <p:grpSp>
        <p:nvGrpSpPr>
          <p:cNvPr id="7" name="Group 6">
            <a:extLst>
              <a:ext uri="{FF2B5EF4-FFF2-40B4-BE49-F238E27FC236}">
                <a16:creationId xmlns:a16="http://schemas.microsoft.com/office/drawing/2014/main" id="{302C0396-BDB6-B7DC-53C4-5E0DFF4CB663}"/>
              </a:ext>
            </a:extLst>
          </p:cNvPr>
          <p:cNvGrpSpPr/>
          <p:nvPr/>
        </p:nvGrpSpPr>
        <p:grpSpPr>
          <a:xfrm>
            <a:off x="2850193" y="814619"/>
            <a:ext cx="9341808" cy="5767496"/>
            <a:chOff x="252478" y="1510239"/>
            <a:chExt cx="6822620" cy="6068779"/>
          </a:xfrm>
        </p:grpSpPr>
        <p:pic>
          <p:nvPicPr>
            <p:cNvPr id="5" name="Content Placeholder 4">
              <a:extLst>
                <a:ext uri="{FF2B5EF4-FFF2-40B4-BE49-F238E27FC236}">
                  <a16:creationId xmlns:a16="http://schemas.microsoft.com/office/drawing/2014/main" id="{3A795851-FD1A-BD5F-42DB-2B6E86348A03}"/>
                </a:ext>
              </a:extLst>
            </p:cNvPr>
            <p:cNvPicPr>
              <a:picLocks noGrp="1" noChangeAspect="1"/>
            </p:cNvPicPr>
            <p:nvPr>
              <p:ph idx="1"/>
            </p:nvPr>
          </p:nvPicPr>
          <p:blipFill>
            <a:blip r:embed="rId3"/>
            <a:srcRect l="3151" b="2193"/>
            <a:stretch>
              <a:fillRect/>
            </a:stretch>
          </p:blipFill>
          <p:spPr>
            <a:xfrm>
              <a:off x="252478" y="1510239"/>
              <a:ext cx="6822620" cy="6068779"/>
            </a:xfrm>
            <a:prstGeom prst="rect">
              <a:avLst/>
            </a:prstGeom>
          </p:spPr>
        </p:pic>
        <p:sp>
          <p:nvSpPr>
            <p:cNvPr id="6" name="TextBox 5">
              <a:extLst>
                <a:ext uri="{FF2B5EF4-FFF2-40B4-BE49-F238E27FC236}">
                  <a16:creationId xmlns:a16="http://schemas.microsoft.com/office/drawing/2014/main" id="{59D2D3D3-27A0-1528-757F-7FA6587C86E6}"/>
                </a:ext>
              </a:extLst>
            </p:cNvPr>
            <p:cNvSpPr txBox="1">
              <a:spLocks/>
            </p:cNvSpPr>
            <p:nvPr/>
          </p:nvSpPr>
          <p:spPr>
            <a:xfrm>
              <a:off x="4024397" y="5063758"/>
              <a:ext cx="781283" cy="184666"/>
            </a:xfrm>
            <a:prstGeom prst="rect">
              <a:avLst/>
            </a:prstGeom>
            <a:solidFill>
              <a:schemeClr val="tx1"/>
            </a:solidFill>
            <a:ln>
              <a:solidFill>
                <a:schemeClr val="bg1"/>
              </a:solidFill>
            </a:ln>
          </p:spPr>
          <p:txBody>
            <a:bodyPr wrap="square" rtlCol="0">
              <a:spAutoFit/>
            </a:bodyPr>
            <a:lstStyle/>
            <a:p>
              <a:r>
                <a:rPr lang="en-ZA" sz="600" dirty="0">
                  <a:solidFill>
                    <a:schemeClr val="bg1"/>
                  </a:solidFill>
                  <a:latin typeface="Arial" panose="020B0604020202020204" pitchFamily="34" charset="0"/>
                  <a:cs typeface="Arial" panose="020B0604020202020204" pitchFamily="34" charset="0"/>
                </a:rPr>
                <a:t>MDFCM Cluster</a:t>
              </a:r>
            </a:p>
          </p:txBody>
        </p:sp>
      </p:grpSp>
      <p:sp>
        <p:nvSpPr>
          <p:cNvPr id="14" name="Rectangle: Folded Corner 13">
            <a:extLst>
              <a:ext uri="{FF2B5EF4-FFF2-40B4-BE49-F238E27FC236}">
                <a16:creationId xmlns:a16="http://schemas.microsoft.com/office/drawing/2014/main" id="{1674890D-BAD4-F7E5-124E-820708F3956A}"/>
              </a:ext>
            </a:extLst>
          </p:cNvPr>
          <p:cNvSpPr/>
          <p:nvPr/>
        </p:nvSpPr>
        <p:spPr>
          <a:xfrm>
            <a:off x="221064" y="1036185"/>
            <a:ext cx="2482948" cy="1200330"/>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TextBox 10">
            <a:extLst>
              <a:ext uri="{FF2B5EF4-FFF2-40B4-BE49-F238E27FC236}">
                <a16:creationId xmlns:a16="http://schemas.microsoft.com/office/drawing/2014/main" id="{9FDF6D86-2593-CE3A-D6FD-89F06C7F1162}"/>
              </a:ext>
            </a:extLst>
          </p:cNvPr>
          <p:cNvSpPr txBox="1"/>
          <p:nvPr/>
        </p:nvSpPr>
        <p:spPr>
          <a:xfrm>
            <a:off x="248937" y="1106494"/>
            <a:ext cx="2427202" cy="923330"/>
          </a:xfrm>
          <a:prstGeom prst="rect">
            <a:avLst/>
          </a:prstGeom>
          <a:noFill/>
        </p:spPr>
        <p:txBody>
          <a:bodyPr wrap="square" rtlCol="0">
            <a:spAutoFit/>
          </a:bodyPr>
          <a:lstStyle/>
          <a:p>
            <a:pPr algn="ctr"/>
            <a:r>
              <a:rPr lang="en-ZA" b="1" dirty="0"/>
              <a:t>Top most layer </a:t>
            </a:r>
          </a:p>
          <a:p>
            <a:endParaRPr lang="en-ZA" b="1" dirty="0"/>
          </a:p>
          <a:p>
            <a:r>
              <a:rPr lang="en-ZA" dirty="0"/>
              <a:t>End User Engagement </a:t>
            </a:r>
          </a:p>
        </p:txBody>
      </p:sp>
      <p:sp>
        <p:nvSpPr>
          <p:cNvPr id="15" name="Rectangle: Folded Corner 14">
            <a:extLst>
              <a:ext uri="{FF2B5EF4-FFF2-40B4-BE49-F238E27FC236}">
                <a16:creationId xmlns:a16="http://schemas.microsoft.com/office/drawing/2014/main" id="{205B55BC-181A-BB57-37F8-F59858645778}"/>
              </a:ext>
            </a:extLst>
          </p:cNvPr>
          <p:cNvSpPr/>
          <p:nvPr/>
        </p:nvSpPr>
        <p:spPr>
          <a:xfrm>
            <a:off x="193191" y="3342473"/>
            <a:ext cx="2482948" cy="1200330"/>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Rectangle: Folded Corner 15">
            <a:extLst>
              <a:ext uri="{FF2B5EF4-FFF2-40B4-BE49-F238E27FC236}">
                <a16:creationId xmlns:a16="http://schemas.microsoft.com/office/drawing/2014/main" id="{E8581218-C220-E00C-9D0E-CDCBF73525DD}"/>
              </a:ext>
            </a:extLst>
          </p:cNvPr>
          <p:cNvSpPr/>
          <p:nvPr/>
        </p:nvSpPr>
        <p:spPr>
          <a:xfrm>
            <a:off x="130629" y="5283251"/>
            <a:ext cx="2691691" cy="1077127"/>
          </a:xfrm>
          <a:prstGeom prst="foldedCorne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TextBox 11">
            <a:extLst>
              <a:ext uri="{FF2B5EF4-FFF2-40B4-BE49-F238E27FC236}">
                <a16:creationId xmlns:a16="http://schemas.microsoft.com/office/drawing/2014/main" id="{9EE665D4-2C5C-57FB-DACF-649430050537}"/>
              </a:ext>
            </a:extLst>
          </p:cNvPr>
          <p:cNvSpPr txBox="1"/>
          <p:nvPr/>
        </p:nvSpPr>
        <p:spPr>
          <a:xfrm>
            <a:off x="147973" y="3409086"/>
            <a:ext cx="2573383" cy="923330"/>
          </a:xfrm>
          <a:prstGeom prst="rect">
            <a:avLst/>
          </a:prstGeom>
          <a:noFill/>
        </p:spPr>
        <p:txBody>
          <a:bodyPr wrap="square" rtlCol="0">
            <a:spAutoFit/>
          </a:bodyPr>
          <a:lstStyle/>
          <a:p>
            <a:pPr algn="ctr"/>
            <a:r>
              <a:rPr lang="en-ZA" b="1" dirty="0"/>
              <a:t>Middle Layer </a:t>
            </a:r>
          </a:p>
          <a:p>
            <a:endParaRPr lang="en-ZA" dirty="0"/>
          </a:p>
          <a:p>
            <a:r>
              <a:rPr lang="en-ZA" dirty="0"/>
              <a:t>Data Processing &amp; logic</a:t>
            </a:r>
          </a:p>
        </p:txBody>
      </p:sp>
      <p:sp>
        <p:nvSpPr>
          <p:cNvPr id="13" name="TextBox 12">
            <a:extLst>
              <a:ext uri="{FF2B5EF4-FFF2-40B4-BE49-F238E27FC236}">
                <a16:creationId xmlns:a16="http://schemas.microsoft.com/office/drawing/2014/main" id="{E99A80D0-0EDC-040E-0D9A-012BABFBCD1D}"/>
              </a:ext>
            </a:extLst>
          </p:cNvPr>
          <p:cNvSpPr txBox="1"/>
          <p:nvPr/>
        </p:nvSpPr>
        <p:spPr>
          <a:xfrm>
            <a:off x="130629" y="5360150"/>
            <a:ext cx="2719564" cy="923330"/>
          </a:xfrm>
          <a:prstGeom prst="rect">
            <a:avLst/>
          </a:prstGeom>
          <a:noFill/>
        </p:spPr>
        <p:txBody>
          <a:bodyPr wrap="square" rtlCol="0">
            <a:spAutoFit/>
          </a:bodyPr>
          <a:lstStyle/>
          <a:p>
            <a:pPr algn="ctr"/>
            <a:r>
              <a:rPr lang="en-ZA" b="1" dirty="0"/>
              <a:t>Bottom layer </a:t>
            </a:r>
          </a:p>
          <a:p>
            <a:endParaRPr lang="en-ZA" dirty="0"/>
          </a:p>
          <a:p>
            <a:r>
              <a:rPr lang="en-ZA" dirty="0"/>
              <a:t>Data Collection &amp; storage</a:t>
            </a:r>
          </a:p>
        </p:txBody>
      </p:sp>
    </p:spTree>
    <p:extLst>
      <p:ext uri="{BB962C8B-B14F-4D97-AF65-F5344CB8AC3E}">
        <p14:creationId xmlns:p14="http://schemas.microsoft.com/office/powerpoint/2010/main" val="3013043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Component Diagram"/>
          <p:cNvPicPr>
            <a:picLocks noChangeAspect="1"/>
          </p:cNvPicPr>
          <p:nvPr/>
        </p:nvPicPr>
        <p:blipFill>
          <a:blip r:embed="rId3"/>
          <a:srcRect l="27675" t="11841" r="9107" b="27822"/>
          <a:stretch>
            <a:fillRect/>
          </a:stretch>
        </p:blipFill>
        <p:spPr>
          <a:xfrm>
            <a:off x="3838470" y="0"/>
            <a:ext cx="8661678" cy="6782938"/>
          </a:xfrm>
          <a:prstGeom prst="rect">
            <a:avLst/>
          </a:prstGeom>
        </p:spPr>
      </p:pic>
      <p:sp>
        <p:nvSpPr>
          <p:cNvPr id="9" name="TextBox 8">
            <a:extLst>
              <a:ext uri="{FF2B5EF4-FFF2-40B4-BE49-F238E27FC236}">
                <a16:creationId xmlns:a16="http://schemas.microsoft.com/office/drawing/2014/main" id="{DC3AF022-37C7-0348-15D6-B42F33191EED}"/>
              </a:ext>
            </a:extLst>
          </p:cNvPr>
          <p:cNvSpPr txBox="1"/>
          <p:nvPr/>
        </p:nvSpPr>
        <p:spPr>
          <a:xfrm>
            <a:off x="515816" y="1582347"/>
            <a:ext cx="3825072" cy="4801314"/>
          </a:xfrm>
          <a:prstGeom prst="rect">
            <a:avLst/>
          </a:prstGeom>
          <a:noFill/>
        </p:spPr>
        <p:txBody>
          <a:bodyPr wrap="square">
            <a:spAutoFit/>
          </a:bodyPr>
          <a:lstStyle/>
          <a:p>
            <a:pPr marL="285750" indent="-285750">
              <a:buFont typeface="Arial" panose="020B0604020202020204" pitchFamily="34" charset="0"/>
              <a:buChar char="•"/>
            </a:pPr>
            <a:r>
              <a:rPr lang="en-ZA" dirty="0">
                <a:solidFill>
                  <a:srgbClr val="002060"/>
                </a:solidFill>
              </a:rPr>
              <a:t>Shows the technical components of the Dynamic Customer Segmentation system.</a:t>
            </a:r>
          </a:p>
          <a:p>
            <a:pPr marL="285750" indent="-285750">
              <a:buFont typeface="Arial" panose="020B0604020202020204" pitchFamily="34" charset="0"/>
              <a:buChar char="•"/>
            </a:pPr>
            <a:endParaRPr lang="en-ZA" dirty="0">
              <a:solidFill>
                <a:srgbClr val="002060"/>
              </a:solidFill>
            </a:endParaRPr>
          </a:p>
          <a:p>
            <a:pPr marL="285750" indent="-285750">
              <a:buFont typeface="Arial" panose="020B0604020202020204" pitchFamily="34" charset="0"/>
              <a:buChar char="•"/>
            </a:pPr>
            <a:r>
              <a:rPr lang="en-ZA" dirty="0">
                <a:solidFill>
                  <a:srgbClr val="002060"/>
                </a:solidFill>
              </a:rPr>
              <a:t>The frontend displays dashboards, segments, customers, and insights.</a:t>
            </a:r>
          </a:p>
          <a:p>
            <a:pPr marL="285750" indent="-285750">
              <a:buFont typeface="Arial" panose="020B0604020202020204" pitchFamily="34" charset="0"/>
              <a:buChar char="•"/>
            </a:pPr>
            <a:endParaRPr lang="en-ZA" dirty="0">
              <a:solidFill>
                <a:srgbClr val="002060"/>
              </a:solidFill>
              <a:latin typeface="+mj-lt"/>
            </a:endParaRPr>
          </a:p>
          <a:p>
            <a:pPr marL="285750" indent="-285750">
              <a:buFont typeface="Arial" panose="020B0604020202020204" pitchFamily="34" charset="0"/>
              <a:buChar char="•"/>
            </a:pPr>
            <a:r>
              <a:rPr lang="en-ZA" dirty="0">
                <a:solidFill>
                  <a:srgbClr val="002060"/>
                </a:solidFill>
              </a:rPr>
              <a:t> The backend manages requests, processing calls, and data retrieval.</a:t>
            </a:r>
          </a:p>
          <a:p>
            <a:pPr marL="285750" indent="-285750">
              <a:buFont typeface="Arial" panose="020B0604020202020204" pitchFamily="34" charset="0"/>
              <a:buChar char="•"/>
            </a:pPr>
            <a:endParaRPr lang="en-ZA" dirty="0">
              <a:solidFill>
                <a:srgbClr val="002060"/>
              </a:solidFill>
            </a:endParaRPr>
          </a:p>
          <a:p>
            <a:pPr marL="285750" indent="-285750">
              <a:buFont typeface="Arial" panose="020B0604020202020204" pitchFamily="34" charset="0"/>
              <a:buChar char="•"/>
            </a:pPr>
            <a:r>
              <a:rPr lang="en-ZA" dirty="0">
                <a:solidFill>
                  <a:srgbClr val="002060"/>
                </a:solidFill>
              </a:rPr>
              <a:t> Data processing creates RFM features, while the clustering engine produces segment outputs.</a:t>
            </a:r>
          </a:p>
          <a:p>
            <a:pPr marL="285750" indent="-285750">
              <a:buFont typeface="Arial" panose="020B0604020202020204" pitchFamily="34" charset="0"/>
              <a:buChar char="•"/>
            </a:pPr>
            <a:endParaRPr lang="en-ZA" dirty="0">
              <a:solidFill>
                <a:srgbClr val="002060"/>
              </a:solidFill>
            </a:endParaRPr>
          </a:p>
          <a:p>
            <a:pPr marL="285750" indent="-285750">
              <a:buFont typeface="Arial" panose="020B0604020202020204" pitchFamily="34" charset="0"/>
              <a:buChar char="•"/>
            </a:pPr>
            <a:r>
              <a:rPr lang="en-ZA" dirty="0">
                <a:solidFill>
                  <a:srgbClr val="002060"/>
                </a:solidFill>
              </a:rPr>
              <a:t> The database stores customer features, model results, and final segment outputs.</a:t>
            </a:r>
          </a:p>
        </p:txBody>
      </p:sp>
      <p:sp>
        <p:nvSpPr>
          <p:cNvPr id="11" name="TextBox 10">
            <a:extLst>
              <a:ext uri="{FF2B5EF4-FFF2-40B4-BE49-F238E27FC236}">
                <a16:creationId xmlns:a16="http://schemas.microsoft.com/office/drawing/2014/main" id="{90BBB820-E43E-A9E4-E113-04910234B055}"/>
              </a:ext>
            </a:extLst>
          </p:cNvPr>
          <p:cNvSpPr txBox="1"/>
          <p:nvPr/>
        </p:nvSpPr>
        <p:spPr>
          <a:xfrm>
            <a:off x="178675" y="126124"/>
            <a:ext cx="6096000" cy="892552"/>
          </a:xfrm>
          <a:prstGeom prst="rect">
            <a:avLst/>
          </a:prstGeom>
          <a:noFill/>
        </p:spPr>
        <p:txBody>
          <a:bodyPr wrap="square">
            <a:spAutoFit/>
          </a:bodyPr>
          <a:lstStyle/>
          <a:p>
            <a:r>
              <a:rPr lang="en-ZA" sz="3200" dirty="0">
                <a:solidFill>
                  <a:srgbClr val="002060"/>
                </a:solidFill>
                <a:latin typeface="+mj-lt"/>
              </a:rPr>
              <a:t>Component Diagram </a:t>
            </a:r>
            <a:r>
              <a:rPr lang="en-ZA" sz="2000" dirty="0">
                <a:solidFill>
                  <a:srgbClr val="002060"/>
                </a:solidFill>
                <a:latin typeface="+mj-lt"/>
              </a:rPr>
              <a:t>(Summarised Steps)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7AC2C46-A2C3-189E-C91E-A9C5BB1B9250}"/>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2462F2B-9D6D-F01A-B67E-292FC4B19ED1}"/>
              </a:ext>
            </a:extLst>
          </p:cNvPr>
          <p:cNvPicPr>
            <a:picLocks noChangeAspect="1"/>
          </p:cNvPicPr>
          <p:nvPr/>
        </p:nvPicPr>
        <p:blipFill>
          <a:blip r:embed="rId3"/>
          <a:stretch>
            <a:fillRect/>
          </a:stretch>
        </p:blipFill>
        <p:spPr>
          <a:xfrm>
            <a:off x="3179364" y="1059366"/>
            <a:ext cx="8887522" cy="5729177"/>
          </a:xfrm>
          <a:prstGeom prst="rect">
            <a:avLst/>
          </a:prstGeom>
        </p:spPr>
      </p:pic>
      <p:sp>
        <p:nvSpPr>
          <p:cNvPr id="9" name="Rectangle 1">
            <a:extLst>
              <a:ext uri="{FF2B5EF4-FFF2-40B4-BE49-F238E27FC236}">
                <a16:creationId xmlns:a16="http://schemas.microsoft.com/office/drawing/2014/main" id="{8F8C6776-A7D7-3A95-6B2B-BADE4C856981}"/>
              </a:ext>
            </a:extLst>
          </p:cNvPr>
          <p:cNvSpPr>
            <a:spLocks noChangeArrowheads="1"/>
          </p:cNvSpPr>
          <p:nvPr/>
        </p:nvSpPr>
        <p:spPr bwMode="auto">
          <a:xfrm>
            <a:off x="236626" y="1237378"/>
            <a:ext cx="332061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ts val="2400"/>
              </a:spcAft>
              <a:buClrTx/>
              <a:buSzTx/>
              <a:buFont typeface="Arial" panose="020B0604020202020204" pitchFamily="34" charset="0"/>
              <a:buChar char="•"/>
              <a:tabLst/>
            </a:pPr>
            <a:r>
              <a:rPr kumimoji="0" lang="en-US" altLang="en-US" sz="1600" b="1" i="0" u="none" strike="noStrike" cap="none" normalizeH="0" baseline="0" dirty="0">
                <a:ln>
                  <a:noFill/>
                </a:ln>
                <a:solidFill>
                  <a:schemeClr val="accent6">
                    <a:lumMod val="75000"/>
                  </a:schemeClr>
                </a:solidFill>
                <a:effectLst/>
                <a:latin typeface="Arial" panose="020B0604020202020204" pitchFamily="34" charset="0"/>
              </a:rPr>
              <a:t>System Loop:</a:t>
            </a:r>
            <a:r>
              <a:rPr kumimoji="0" lang="en-US" altLang="en-US" sz="1600" b="0" i="0" u="none" strike="noStrike" cap="none" normalizeH="0" baseline="0" dirty="0">
                <a:ln>
                  <a:noFill/>
                </a:ln>
                <a:solidFill>
                  <a:schemeClr val="accent6">
                    <a:lumMod val="75000"/>
                  </a:schemeClr>
                </a:solidFill>
                <a:effectLst/>
                <a:latin typeface="Arial" panose="020B0604020202020204" pitchFamily="34" charset="0"/>
              </a:rPr>
              <a:t> The main Python controller iterating through the months.</a:t>
            </a:r>
          </a:p>
          <a:p>
            <a:pPr marL="285750" marR="0" lvl="0" indent="-285750" algn="l" defTabSz="914400" rtl="0" eaLnBrk="0" fontAlgn="base" latinLnBrk="0" hangingPunct="0">
              <a:lnSpc>
                <a:spcPct val="100000"/>
              </a:lnSpc>
              <a:spcBef>
                <a:spcPct val="0"/>
              </a:spcBef>
              <a:spcAft>
                <a:spcPts val="2400"/>
              </a:spcAft>
              <a:buClrTx/>
              <a:buSzTx/>
              <a:buFont typeface="Arial" panose="020B0604020202020204" pitchFamily="34" charset="0"/>
              <a:buChar char="•"/>
              <a:tabLst/>
            </a:pPr>
            <a:r>
              <a:rPr kumimoji="0" lang="en-US" altLang="en-US" sz="1600" b="1" i="0" u="none" strike="noStrike" cap="none" normalizeH="0" baseline="0" dirty="0">
                <a:ln>
                  <a:noFill/>
                </a:ln>
                <a:solidFill>
                  <a:schemeClr val="accent6">
                    <a:lumMod val="75000"/>
                  </a:schemeClr>
                </a:solidFill>
                <a:effectLst/>
                <a:latin typeface="Arial" panose="020B0604020202020204" pitchFamily="34" charset="0"/>
              </a:rPr>
              <a:t>Data Processor:</a:t>
            </a:r>
            <a:r>
              <a:rPr kumimoji="0" lang="en-US" altLang="en-US" sz="1600" b="0" i="0" u="none" strike="noStrike" cap="none" normalizeH="0" baseline="0" dirty="0">
                <a:ln>
                  <a:noFill/>
                </a:ln>
                <a:solidFill>
                  <a:schemeClr val="accent6">
                    <a:lumMod val="75000"/>
                  </a:schemeClr>
                </a:solidFill>
                <a:effectLst/>
                <a:latin typeface="Arial" panose="020B0604020202020204" pitchFamily="34" charset="0"/>
              </a:rPr>
              <a:t> Handles the Cascaded RFM logic, log transformations, and scaling.</a:t>
            </a:r>
          </a:p>
          <a:p>
            <a:pPr marL="285750" marR="0" lvl="0" indent="-285750" algn="l" defTabSz="914400" rtl="0" eaLnBrk="0" fontAlgn="base" latinLnBrk="0" hangingPunct="0">
              <a:lnSpc>
                <a:spcPct val="100000"/>
              </a:lnSpc>
              <a:spcBef>
                <a:spcPct val="0"/>
              </a:spcBef>
              <a:spcAft>
                <a:spcPts val="2400"/>
              </a:spcAft>
              <a:buClrTx/>
              <a:buSzTx/>
              <a:buFont typeface="Arial" panose="020B0604020202020204" pitchFamily="34" charset="0"/>
              <a:buChar char="•"/>
              <a:tabLst/>
            </a:pPr>
            <a:r>
              <a:rPr kumimoji="0" lang="en-US" altLang="en-US" sz="1600" b="1" i="0" u="none" strike="noStrike" cap="none" normalizeH="0" baseline="0" dirty="0">
                <a:ln>
                  <a:noFill/>
                </a:ln>
                <a:solidFill>
                  <a:schemeClr val="accent6">
                    <a:lumMod val="75000"/>
                  </a:schemeClr>
                </a:solidFill>
                <a:effectLst/>
                <a:latin typeface="Arial" panose="020B0604020202020204" pitchFamily="34" charset="0"/>
              </a:rPr>
              <a:t>K-Means Engine:</a:t>
            </a:r>
            <a:r>
              <a:rPr kumimoji="0" lang="en-US" altLang="en-US" sz="1600" b="0" i="0" u="none" strike="noStrike" cap="none" normalizeH="0" baseline="0" dirty="0">
                <a:ln>
                  <a:noFill/>
                </a:ln>
                <a:solidFill>
                  <a:schemeClr val="accent6">
                    <a:lumMod val="75000"/>
                  </a:schemeClr>
                </a:solidFill>
                <a:effectLst/>
                <a:latin typeface="Arial" panose="020B0604020202020204" pitchFamily="34" charset="0"/>
              </a:rPr>
              <a:t> The static algorithm used only for Cycle 0.</a:t>
            </a:r>
          </a:p>
          <a:p>
            <a:pPr marL="285750" marR="0" lvl="0" indent="-285750" algn="l" defTabSz="914400" rtl="0" eaLnBrk="0" fontAlgn="base" latinLnBrk="0" hangingPunct="0">
              <a:lnSpc>
                <a:spcPct val="100000"/>
              </a:lnSpc>
              <a:spcBef>
                <a:spcPct val="0"/>
              </a:spcBef>
              <a:spcAft>
                <a:spcPts val="2400"/>
              </a:spcAft>
              <a:buClrTx/>
              <a:buSzTx/>
              <a:buFont typeface="Arial" panose="020B0604020202020204" pitchFamily="34" charset="0"/>
              <a:buChar char="•"/>
              <a:tabLst/>
            </a:pPr>
            <a:r>
              <a:rPr kumimoji="0" lang="en-US" altLang="en-US" sz="1600" b="1" i="0" u="none" strike="noStrike" cap="none" normalizeH="0" baseline="0" dirty="0">
                <a:ln>
                  <a:noFill/>
                </a:ln>
                <a:solidFill>
                  <a:schemeClr val="accent6">
                    <a:lumMod val="75000"/>
                  </a:schemeClr>
                </a:solidFill>
                <a:effectLst/>
                <a:latin typeface="Arial" panose="020B0604020202020204" pitchFamily="34" charset="0"/>
              </a:rPr>
              <a:t>Hybrid Dynamic Engine:</a:t>
            </a:r>
            <a:r>
              <a:rPr kumimoji="0" lang="en-US" altLang="en-US" sz="1600" b="0" i="0" u="none" strike="noStrike" cap="none" normalizeH="0" baseline="0" dirty="0">
                <a:ln>
                  <a:noFill/>
                </a:ln>
                <a:solidFill>
                  <a:schemeClr val="accent6">
                    <a:lumMod val="75000"/>
                  </a:schemeClr>
                </a:solidFill>
                <a:effectLst/>
                <a:latin typeface="Arial" panose="020B0604020202020204" pitchFamily="34" charset="0"/>
              </a:rPr>
              <a:t> The combined MDFCM logic.</a:t>
            </a:r>
          </a:p>
          <a:p>
            <a:pPr marL="285750" marR="0" lvl="0" indent="-285750" algn="l" defTabSz="914400" rtl="0" eaLnBrk="0" fontAlgn="base" latinLnBrk="0" hangingPunct="0">
              <a:lnSpc>
                <a:spcPct val="100000"/>
              </a:lnSpc>
              <a:spcBef>
                <a:spcPct val="0"/>
              </a:spcBef>
              <a:spcAft>
                <a:spcPts val="2400"/>
              </a:spcAft>
              <a:buClrTx/>
              <a:buSzTx/>
              <a:buFont typeface="Arial" panose="020B0604020202020204" pitchFamily="34" charset="0"/>
              <a:buChar char="•"/>
              <a:tabLst/>
            </a:pPr>
            <a:r>
              <a:rPr kumimoji="0" lang="en-US" altLang="en-US" sz="1600" b="1" i="0" u="none" strike="noStrike" cap="none" normalizeH="0" baseline="0" dirty="0">
                <a:ln>
                  <a:noFill/>
                </a:ln>
                <a:solidFill>
                  <a:schemeClr val="accent6">
                    <a:lumMod val="75000"/>
                  </a:schemeClr>
                </a:solidFill>
                <a:effectLst/>
                <a:latin typeface="Arial" panose="020B0604020202020204" pitchFamily="34" charset="0"/>
              </a:rPr>
              <a:t>RF Analytics:</a:t>
            </a:r>
            <a:r>
              <a:rPr kumimoji="0" lang="en-US" altLang="en-US" sz="1600" b="0" i="0" u="none" strike="noStrike" cap="none" normalizeH="0" baseline="0" dirty="0">
                <a:ln>
                  <a:noFill/>
                </a:ln>
                <a:solidFill>
                  <a:schemeClr val="accent6">
                    <a:lumMod val="75000"/>
                  </a:schemeClr>
                </a:solidFill>
                <a:effectLst/>
                <a:latin typeface="Arial" panose="020B0604020202020204" pitchFamily="34" charset="0"/>
              </a:rPr>
              <a:t> The Random Forest model for feature importance.</a:t>
            </a:r>
          </a:p>
          <a:p>
            <a:pPr marL="285750" marR="0" lvl="0" indent="-285750" algn="l" defTabSz="914400" rtl="0" eaLnBrk="0" fontAlgn="base" latinLnBrk="0" hangingPunct="0">
              <a:lnSpc>
                <a:spcPct val="100000"/>
              </a:lnSpc>
              <a:spcBef>
                <a:spcPct val="0"/>
              </a:spcBef>
              <a:spcAft>
                <a:spcPts val="2400"/>
              </a:spcAft>
              <a:buClrTx/>
              <a:buSzTx/>
              <a:buFont typeface="Arial" panose="020B0604020202020204" pitchFamily="34" charset="0"/>
              <a:buChar char="•"/>
              <a:tabLst/>
            </a:pPr>
            <a:r>
              <a:rPr kumimoji="0" lang="en-US" altLang="en-US" sz="1600" b="1" i="0" u="none" strike="noStrike" cap="none" normalizeH="0" baseline="0" dirty="0">
                <a:ln>
                  <a:noFill/>
                </a:ln>
                <a:solidFill>
                  <a:schemeClr val="accent6">
                    <a:lumMod val="75000"/>
                  </a:schemeClr>
                </a:solidFill>
                <a:effectLst/>
                <a:latin typeface="Arial" panose="020B0604020202020204" pitchFamily="34" charset="0"/>
              </a:rPr>
              <a:t>Database:</a:t>
            </a:r>
            <a:r>
              <a:rPr kumimoji="0" lang="en-US" altLang="en-US" sz="1600" b="0" i="0" u="none" strike="noStrike" cap="none" normalizeH="0" baseline="0" dirty="0">
                <a:ln>
                  <a:noFill/>
                </a:ln>
                <a:solidFill>
                  <a:schemeClr val="accent6">
                    <a:lumMod val="75000"/>
                  </a:schemeClr>
                </a:solidFill>
                <a:effectLst/>
                <a:latin typeface="Arial" panose="020B0604020202020204" pitchFamily="34" charset="0"/>
              </a:rPr>
              <a:t> SQLite storage.</a:t>
            </a:r>
          </a:p>
        </p:txBody>
      </p:sp>
      <p:sp>
        <p:nvSpPr>
          <p:cNvPr id="4" name="Title 1">
            <a:extLst>
              <a:ext uri="{FF2B5EF4-FFF2-40B4-BE49-F238E27FC236}">
                <a16:creationId xmlns:a16="http://schemas.microsoft.com/office/drawing/2014/main" id="{48B09AFE-1193-B9E3-F833-8CF815524FBF}"/>
              </a:ext>
            </a:extLst>
          </p:cNvPr>
          <p:cNvSpPr>
            <a:spLocks noGrp="1"/>
          </p:cNvSpPr>
          <p:nvPr>
            <p:ph type="title"/>
          </p:nvPr>
        </p:nvSpPr>
        <p:spPr>
          <a:xfrm>
            <a:off x="2844646" y="167692"/>
            <a:ext cx="6111550" cy="529206"/>
          </a:xfrm>
        </p:spPr>
        <p:txBody>
          <a:bodyPr>
            <a:normAutofit fontScale="90000"/>
          </a:bodyPr>
          <a:lstStyle/>
          <a:p>
            <a:r>
              <a:rPr lang="en-ZA" dirty="0"/>
              <a:t>Sequence diagram</a:t>
            </a:r>
          </a:p>
        </p:txBody>
      </p:sp>
    </p:spTree>
    <p:extLst>
      <p:ext uri="{BB962C8B-B14F-4D97-AF65-F5344CB8AC3E}">
        <p14:creationId xmlns:p14="http://schemas.microsoft.com/office/powerpoint/2010/main" val="3980625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790C452-56F1-E5B0-8250-F2D7D0AB67E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1DD9E65-0975-8518-8747-611C6D88A8A2}"/>
              </a:ext>
            </a:extLst>
          </p:cNvPr>
          <p:cNvSpPr txBox="1"/>
          <p:nvPr/>
        </p:nvSpPr>
        <p:spPr>
          <a:xfrm>
            <a:off x="3746865" y="85710"/>
            <a:ext cx="4498007" cy="646331"/>
          </a:xfrm>
          <a:prstGeom prst="rect">
            <a:avLst/>
          </a:prstGeom>
          <a:solidFill>
            <a:schemeClr val="bg1">
              <a:alpha val="0"/>
            </a:schemeClr>
          </a:solidFill>
          <a:ln>
            <a:noFill/>
          </a:ln>
        </p:spPr>
        <p:txBody>
          <a:bodyPr wrap="square">
            <a:spAutoFit/>
          </a:bodyPr>
          <a:lstStyle/>
          <a:p>
            <a:r>
              <a:rPr kumimoji="0" lang="en-ZA" sz="3600" b="1" i="0" u="none" strike="noStrike" kern="1200" cap="all" spc="0" normalizeH="0" baseline="0" noProof="0" dirty="0">
                <a:ln>
                  <a:noFill/>
                </a:ln>
                <a:solidFill>
                  <a:srgbClr val="1F2C8F"/>
                </a:solidFill>
                <a:effectLst/>
                <a:uLnTx/>
                <a:uFillTx/>
                <a:latin typeface="Arial Black"/>
                <a:ea typeface="+mj-ea"/>
                <a:cs typeface="+mj-cs"/>
              </a:rPr>
              <a:t>Methodology</a:t>
            </a:r>
            <a:endParaRPr lang="en-ZA" sz="3600" dirty="0"/>
          </a:p>
        </p:txBody>
      </p:sp>
      <p:sp>
        <p:nvSpPr>
          <p:cNvPr id="12" name="TextBox 11">
            <a:extLst>
              <a:ext uri="{FF2B5EF4-FFF2-40B4-BE49-F238E27FC236}">
                <a16:creationId xmlns:a16="http://schemas.microsoft.com/office/drawing/2014/main" id="{B306DCC7-263C-E722-3D89-5614562BC3C2}"/>
              </a:ext>
            </a:extLst>
          </p:cNvPr>
          <p:cNvSpPr txBox="1"/>
          <p:nvPr/>
        </p:nvSpPr>
        <p:spPr>
          <a:xfrm>
            <a:off x="5995868" y="6314335"/>
            <a:ext cx="5080792" cy="261610"/>
          </a:xfrm>
          <a:prstGeom prst="rect">
            <a:avLst/>
          </a:prstGeom>
          <a:solidFill>
            <a:schemeClr val="bg1">
              <a:alpha val="0"/>
            </a:schemeClr>
          </a:solidFill>
          <a:ln>
            <a:solidFill>
              <a:schemeClr val="bg1"/>
            </a:solidFill>
          </a:ln>
        </p:spPr>
        <p:txBody>
          <a:bodyPr wrap="square">
            <a:spAutoFit/>
          </a:bodyPr>
          <a:lstStyle/>
          <a:p>
            <a:r>
              <a:rPr kumimoji="0" lang="en-US" altLang="en-US" sz="1100" i="0" u="none" strike="noStrike" kern="1200" cap="none" spc="0" normalizeH="0" noProof="0" dirty="0">
                <a:ln>
                  <a:noFill/>
                </a:ln>
                <a:solidFill>
                  <a:schemeClr val="accent6"/>
                </a:solidFill>
                <a:effectLst/>
                <a:uLnTx/>
                <a:uFillTx/>
                <a:latin typeface="Sabon Next LT"/>
              </a:rPr>
              <a:t>Figure 3 : Diagram of the methodology steps</a:t>
            </a:r>
            <a:endParaRPr lang="en-ZA" sz="1100" dirty="0">
              <a:solidFill>
                <a:schemeClr val="accent6"/>
              </a:solidFill>
            </a:endParaRPr>
          </a:p>
        </p:txBody>
      </p:sp>
      <p:sp>
        <p:nvSpPr>
          <p:cNvPr id="4" name="Rectangle: Rounded Corners 3">
            <a:extLst>
              <a:ext uri="{FF2B5EF4-FFF2-40B4-BE49-F238E27FC236}">
                <a16:creationId xmlns:a16="http://schemas.microsoft.com/office/drawing/2014/main" id="{6C06BAFC-B559-A382-33FE-169DA33E2395}"/>
              </a:ext>
            </a:extLst>
          </p:cNvPr>
          <p:cNvSpPr/>
          <p:nvPr/>
        </p:nvSpPr>
        <p:spPr>
          <a:xfrm>
            <a:off x="7771408" y="1432172"/>
            <a:ext cx="2332381" cy="558876"/>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Dual Data Exploration </a:t>
            </a:r>
            <a:br>
              <a:rPr lang="en-US" sz="1100" b="1" dirty="0">
                <a:solidFill>
                  <a:schemeClr val="accent6"/>
                </a:solidFill>
              </a:rPr>
            </a:br>
            <a:r>
              <a:rPr lang="en-US" sz="1100" dirty="0">
                <a:solidFill>
                  <a:schemeClr val="accent6"/>
                </a:solidFill>
              </a:rPr>
              <a:t>Raw customer transaction data </a:t>
            </a:r>
          </a:p>
        </p:txBody>
      </p:sp>
      <p:sp>
        <p:nvSpPr>
          <p:cNvPr id="24" name="Arrow: Right 23">
            <a:extLst>
              <a:ext uri="{FF2B5EF4-FFF2-40B4-BE49-F238E27FC236}">
                <a16:creationId xmlns:a16="http://schemas.microsoft.com/office/drawing/2014/main" id="{FD4330E2-829A-3CC4-5BEE-ECBDFFE1A457}"/>
              </a:ext>
            </a:extLst>
          </p:cNvPr>
          <p:cNvSpPr/>
          <p:nvPr/>
        </p:nvSpPr>
        <p:spPr>
          <a:xfrm rot="8483728">
            <a:off x="7912747" y="2265034"/>
            <a:ext cx="457462" cy="241538"/>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26" name="Arrow: Right 25">
            <a:extLst>
              <a:ext uri="{FF2B5EF4-FFF2-40B4-BE49-F238E27FC236}">
                <a16:creationId xmlns:a16="http://schemas.microsoft.com/office/drawing/2014/main" id="{F729BCF7-C02B-E319-5CC5-E38C89BCFE79}"/>
              </a:ext>
            </a:extLst>
          </p:cNvPr>
          <p:cNvSpPr/>
          <p:nvPr/>
        </p:nvSpPr>
        <p:spPr>
          <a:xfrm rot="3209869">
            <a:off x="10076810" y="3527720"/>
            <a:ext cx="416386" cy="186432"/>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28" name="Arrow: Right 27">
            <a:extLst>
              <a:ext uri="{FF2B5EF4-FFF2-40B4-BE49-F238E27FC236}">
                <a16:creationId xmlns:a16="http://schemas.microsoft.com/office/drawing/2014/main" id="{F8667C2B-1D0B-5092-9BBB-A6C3DCCB3DFC}"/>
              </a:ext>
            </a:extLst>
          </p:cNvPr>
          <p:cNvSpPr/>
          <p:nvPr/>
        </p:nvSpPr>
        <p:spPr>
          <a:xfrm rot="2786351">
            <a:off x="9324190" y="2273379"/>
            <a:ext cx="440119" cy="223865"/>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dirty="0"/>
          </a:p>
        </p:txBody>
      </p:sp>
      <p:sp>
        <p:nvSpPr>
          <p:cNvPr id="36" name="Arrow: Right 35">
            <a:extLst>
              <a:ext uri="{FF2B5EF4-FFF2-40B4-BE49-F238E27FC236}">
                <a16:creationId xmlns:a16="http://schemas.microsoft.com/office/drawing/2014/main" id="{E7540A2F-9CAB-4EC4-A8EA-B55886E45C04}"/>
              </a:ext>
            </a:extLst>
          </p:cNvPr>
          <p:cNvSpPr/>
          <p:nvPr/>
        </p:nvSpPr>
        <p:spPr>
          <a:xfrm rot="2894236">
            <a:off x="10530382" y="4336414"/>
            <a:ext cx="179149" cy="205165"/>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1" name="Arrow: Right 50">
            <a:extLst>
              <a:ext uri="{FF2B5EF4-FFF2-40B4-BE49-F238E27FC236}">
                <a16:creationId xmlns:a16="http://schemas.microsoft.com/office/drawing/2014/main" id="{BB0690DE-FA4F-5F38-07F1-03ADDBA33B5E}"/>
              </a:ext>
            </a:extLst>
          </p:cNvPr>
          <p:cNvSpPr/>
          <p:nvPr/>
        </p:nvSpPr>
        <p:spPr>
          <a:xfrm rot="8161287">
            <a:off x="7101382" y="4269119"/>
            <a:ext cx="179809" cy="264547"/>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52" name="Arrow: Right 51">
            <a:extLst>
              <a:ext uri="{FF2B5EF4-FFF2-40B4-BE49-F238E27FC236}">
                <a16:creationId xmlns:a16="http://schemas.microsoft.com/office/drawing/2014/main" id="{9C4F2576-D580-A0F9-3BE7-5BD52F412779}"/>
              </a:ext>
            </a:extLst>
          </p:cNvPr>
          <p:cNvSpPr/>
          <p:nvPr/>
        </p:nvSpPr>
        <p:spPr>
          <a:xfrm rot="7999376">
            <a:off x="7580331" y="3531768"/>
            <a:ext cx="382152" cy="205163"/>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6" name="Rectangle: Rounded Corners 5">
            <a:extLst>
              <a:ext uri="{FF2B5EF4-FFF2-40B4-BE49-F238E27FC236}">
                <a16:creationId xmlns:a16="http://schemas.microsoft.com/office/drawing/2014/main" id="{93C1787D-265A-80D5-6377-95351CEB2F1B}"/>
              </a:ext>
            </a:extLst>
          </p:cNvPr>
          <p:cNvSpPr/>
          <p:nvPr/>
        </p:nvSpPr>
        <p:spPr>
          <a:xfrm>
            <a:off x="6697924" y="2697183"/>
            <a:ext cx="1916703" cy="646331"/>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Dataset A – Cosmetic Retail business (Simulation A)</a:t>
            </a:r>
          </a:p>
        </p:txBody>
      </p:sp>
      <p:sp>
        <p:nvSpPr>
          <p:cNvPr id="7" name="Rectangle: Rounded Corners 6">
            <a:extLst>
              <a:ext uri="{FF2B5EF4-FFF2-40B4-BE49-F238E27FC236}">
                <a16:creationId xmlns:a16="http://schemas.microsoft.com/office/drawing/2014/main" id="{B4D21C21-88F4-8E06-68CB-B1DED4E28996}"/>
              </a:ext>
            </a:extLst>
          </p:cNvPr>
          <p:cNvSpPr/>
          <p:nvPr/>
        </p:nvSpPr>
        <p:spPr>
          <a:xfrm>
            <a:off x="8937599" y="2738648"/>
            <a:ext cx="2037384" cy="581092"/>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Dataset B – UK Online Retail / UCI (Simulation B)</a:t>
            </a:r>
          </a:p>
        </p:txBody>
      </p:sp>
      <p:sp>
        <p:nvSpPr>
          <p:cNvPr id="11" name="Rectangle: Rounded Corners 10">
            <a:extLst>
              <a:ext uri="{FF2B5EF4-FFF2-40B4-BE49-F238E27FC236}">
                <a16:creationId xmlns:a16="http://schemas.microsoft.com/office/drawing/2014/main" id="{03A677EE-AB8C-C774-4F6D-EEE1BA617C13}"/>
              </a:ext>
            </a:extLst>
          </p:cNvPr>
          <p:cNvSpPr/>
          <p:nvPr/>
        </p:nvSpPr>
        <p:spPr>
          <a:xfrm>
            <a:off x="6897796" y="3906063"/>
            <a:ext cx="1243682" cy="277062"/>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B2C</a:t>
            </a:r>
          </a:p>
        </p:txBody>
      </p:sp>
      <p:sp>
        <p:nvSpPr>
          <p:cNvPr id="13" name="Rectangle: Rounded Corners 12">
            <a:extLst>
              <a:ext uri="{FF2B5EF4-FFF2-40B4-BE49-F238E27FC236}">
                <a16:creationId xmlns:a16="http://schemas.microsoft.com/office/drawing/2014/main" id="{C457F9FD-D373-4205-91BD-872541F91364}"/>
              </a:ext>
            </a:extLst>
          </p:cNvPr>
          <p:cNvSpPr/>
          <p:nvPr/>
        </p:nvSpPr>
        <p:spPr>
          <a:xfrm>
            <a:off x="9723878" y="3960797"/>
            <a:ext cx="1243682" cy="242577"/>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B2B</a:t>
            </a:r>
          </a:p>
        </p:txBody>
      </p:sp>
      <p:sp>
        <p:nvSpPr>
          <p:cNvPr id="14" name="Rectangle: Rounded Corners 13">
            <a:extLst>
              <a:ext uri="{FF2B5EF4-FFF2-40B4-BE49-F238E27FC236}">
                <a16:creationId xmlns:a16="http://schemas.microsoft.com/office/drawing/2014/main" id="{15FC56AF-A67F-0E72-B352-863F7F9998C5}"/>
              </a:ext>
            </a:extLst>
          </p:cNvPr>
          <p:cNvSpPr/>
          <p:nvPr/>
        </p:nvSpPr>
        <p:spPr>
          <a:xfrm>
            <a:off x="5995868" y="4629393"/>
            <a:ext cx="2721672" cy="625518"/>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defTabSz="914400" eaLnBrk="0" fontAlgn="base" hangingPunct="0">
              <a:spcBef>
                <a:spcPct val="0"/>
              </a:spcBef>
              <a:spcAft>
                <a:spcPts val="1200"/>
              </a:spcAft>
            </a:pPr>
            <a:r>
              <a:rPr lang="en-US" altLang="en-US" sz="1100" b="1" dirty="0">
                <a:solidFill>
                  <a:schemeClr val="accent6"/>
                </a:solidFill>
              </a:rPr>
              <a:t>Geographic, Demographic, Behavioral and Psychographic segmentation </a:t>
            </a:r>
          </a:p>
        </p:txBody>
      </p:sp>
      <p:sp>
        <p:nvSpPr>
          <p:cNvPr id="15" name="Rectangle: Rounded Corners 14">
            <a:extLst>
              <a:ext uri="{FF2B5EF4-FFF2-40B4-BE49-F238E27FC236}">
                <a16:creationId xmlns:a16="http://schemas.microsoft.com/office/drawing/2014/main" id="{6991ADB4-716B-A527-CF52-8E851614AE06}"/>
              </a:ext>
            </a:extLst>
          </p:cNvPr>
          <p:cNvSpPr/>
          <p:nvPr/>
        </p:nvSpPr>
        <p:spPr>
          <a:xfrm>
            <a:off x="9817534" y="4696994"/>
            <a:ext cx="1604845" cy="548186"/>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accent6"/>
                </a:solidFill>
              </a:rPr>
              <a:t>Firmographic segmentation </a:t>
            </a:r>
          </a:p>
        </p:txBody>
      </p:sp>
      <p:sp>
        <p:nvSpPr>
          <p:cNvPr id="8" name="Arrow: Right 7">
            <a:extLst>
              <a:ext uri="{FF2B5EF4-FFF2-40B4-BE49-F238E27FC236}">
                <a16:creationId xmlns:a16="http://schemas.microsoft.com/office/drawing/2014/main" id="{F2C039BF-118B-024E-8001-35D58D369ED3}"/>
              </a:ext>
            </a:extLst>
          </p:cNvPr>
          <p:cNvSpPr/>
          <p:nvPr/>
        </p:nvSpPr>
        <p:spPr>
          <a:xfrm rot="6860891">
            <a:off x="6942407" y="5375750"/>
            <a:ext cx="157009" cy="302963"/>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10" name="Arrow: Right 9">
            <a:extLst>
              <a:ext uri="{FF2B5EF4-FFF2-40B4-BE49-F238E27FC236}">
                <a16:creationId xmlns:a16="http://schemas.microsoft.com/office/drawing/2014/main" id="{4C20B1E9-0C93-B3FD-F3E5-E991CFA884B9}"/>
              </a:ext>
            </a:extLst>
          </p:cNvPr>
          <p:cNvSpPr/>
          <p:nvPr/>
        </p:nvSpPr>
        <p:spPr>
          <a:xfrm rot="3697382">
            <a:off x="10725888" y="5333769"/>
            <a:ext cx="157008" cy="302963"/>
          </a:xfrm>
          <a:prstGeom prst="rightArrow">
            <a:avLst/>
          </a:prstGeom>
          <a:solidFill>
            <a:schemeClr val="bg1"/>
          </a:solidFill>
          <a:ln w="190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100"/>
          </a:p>
        </p:txBody>
      </p:sp>
      <p:sp>
        <p:nvSpPr>
          <p:cNvPr id="18" name="Rectangle: Rounded Corners 17">
            <a:extLst>
              <a:ext uri="{FF2B5EF4-FFF2-40B4-BE49-F238E27FC236}">
                <a16:creationId xmlns:a16="http://schemas.microsoft.com/office/drawing/2014/main" id="{E53C2A23-1DF0-AA17-CB34-6EAFEE2C1D27}"/>
              </a:ext>
            </a:extLst>
          </p:cNvPr>
          <p:cNvSpPr/>
          <p:nvPr/>
        </p:nvSpPr>
        <p:spPr>
          <a:xfrm>
            <a:off x="5846281" y="5732172"/>
            <a:ext cx="1544015" cy="308806"/>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914400" eaLnBrk="0" fontAlgn="base" hangingPunct="0">
              <a:spcBef>
                <a:spcPct val="0"/>
              </a:spcBef>
              <a:spcAft>
                <a:spcPts val="1200"/>
              </a:spcAft>
            </a:pPr>
            <a:r>
              <a:rPr lang="en-US" altLang="en-US" sz="1600" b="1" dirty="0">
                <a:solidFill>
                  <a:schemeClr val="accent6"/>
                </a:solidFill>
              </a:rPr>
              <a:t>Pipeline A</a:t>
            </a:r>
          </a:p>
        </p:txBody>
      </p:sp>
      <p:sp>
        <p:nvSpPr>
          <p:cNvPr id="19" name="Rectangle: Rounded Corners 18">
            <a:extLst>
              <a:ext uri="{FF2B5EF4-FFF2-40B4-BE49-F238E27FC236}">
                <a16:creationId xmlns:a16="http://schemas.microsoft.com/office/drawing/2014/main" id="{7A4947D2-E9A9-978A-CC96-6BE1673BDBA3}"/>
              </a:ext>
            </a:extLst>
          </p:cNvPr>
          <p:cNvSpPr/>
          <p:nvPr/>
        </p:nvSpPr>
        <p:spPr>
          <a:xfrm>
            <a:off x="10345719" y="5749176"/>
            <a:ext cx="1544015" cy="308806"/>
          </a:xfrm>
          <a:prstGeom prst="roundRect">
            <a:avLst/>
          </a:prstGeom>
          <a:solidFill>
            <a:schemeClr val="bg1">
              <a:alpha val="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defTabSz="914400" eaLnBrk="0" fontAlgn="base" hangingPunct="0">
              <a:spcBef>
                <a:spcPct val="0"/>
              </a:spcBef>
              <a:spcAft>
                <a:spcPts val="1200"/>
              </a:spcAft>
            </a:pPr>
            <a:r>
              <a:rPr lang="en-US" altLang="en-US" sz="1600" b="1" dirty="0">
                <a:solidFill>
                  <a:schemeClr val="accent6"/>
                </a:solidFill>
              </a:rPr>
              <a:t>Pipeline B</a:t>
            </a:r>
          </a:p>
        </p:txBody>
      </p:sp>
      <p:cxnSp>
        <p:nvCxnSpPr>
          <p:cNvPr id="16" name="Straight Connector 15">
            <a:extLst>
              <a:ext uri="{FF2B5EF4-FFF2-40B4-BE49-F238E27FC236}">
                <a16:creationId xmlns:a16="http://schemas.microsoft.com/office/drawing/2014/main" id="{618476D6-AAF0-63FA-F234-05F63D0490D0}"/>
              </a:ext>
            </a:extLst>
          </p:cNvPr>
          <p:cNvCxnSpPr>
            <a:cxnSpLocks/>
          </p:cNvCxnSpPr>
          <p:nvPr/>
        </p:nvCxnSpPr>
        <p:spPr>
          <a:xfrm flipH="1" flipV="1">
            <a:off x="5554451" y="1432172"/>
            <a:ext cx="48331" cy="5220093"/>
          </a:xfrm>
          <a:prstGeom prst="line">
            <a:avLst/>
          </a:prstGeom>
          <a:ln w="762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1" name="Slide Number Placeholder 3">
            <a:extLst>
              <a:ext uri="{FF2B5EF4-FFF2-40B4-BE49-F238E27FC236}">
                <a16:creationId xmlns:a16="http://schemas.microsoft.com/office/drawing/2014/main" id="{CF0B91BB-50A8-4A09-D6EB-D493F66457EB}"/>
              </a:ext>
            </a:extLst>
          </p:cNvPr>
          <p:cNvSpPr txBox="1">
            <a:spLocks/>
          </p:cNvSpPr>
          <p:nvPr/>
        </p:nvSpPr>
        <p:spPr>
          <a:xfrm>
            <a:off x="10192668" y="607037"/>
            <a:ext cx="987552" cy="244503"/>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8F63A3B-78C7-47BE-AE5E-E10140E04643}" type="slidenum">
              <a:rPr lang="en-US" sz="1000" smtClean="0"/>
              <a:pPr/>
              <a:t>17</a:t>
            </a:fld>
            <a:endParaRPr lang="en-US" sz="1000" dirty="0"/>
          </a:p>
        </p:txBody>
      </p:sp>
      <p:sp>
        <p:nvSpPr>
          <p:cNvPr id="22" name="TextBox 21">
            <a:extLst>
              <a:ext uri="{FF2B5EF4-FFF2-40B4-BE49-F238E27FC236}">
                <a16:creationId xmlns:a16="http://schemas.microsoft.com/office/drawing/2014/main" id="{625296C2-8E43-6662-DC83-67AD677715BB}"/>
              </a:ext>
            </a:extLst>
          </p:cNvPr>
          <p:cNvSpPr txBox="1"/>
          <p:nvPr/>
        </p:nvSpPr>
        <p:spPr>
          <a:xfrm>
            <a:off x="322041" y="1476040"/>
            <a:ext cx="4839324" cy="400110"/>
          </a:xfrm>
          <a:prstGeom prst="rect">
            <a:avLst/>
          </a:prstGeom>
          <a:noFill/>
        </p:spPr>
        <p:txBody>
          <a:bodyPr wrap="square">
            <a:spAutoFit/>
          </a:bodyPr>
          <a:lstStyle/>
          <a:p>
            <a:pPr marL="0" marR="0" lvl="0" indent="0" algn="l">
              <a:lnSpc>
                <a:spcPct val="100000"/>
              </a:lnSpc>
              <a:spcBef>
                <a:spcPct val="0"/>
              </a:spcBef>
              <a:spcAft>
                <a:spcPct val="0"/>
              </a:spcAft>
              <a:buNone/>
            </a:pPr>
            <a:r>
              <a:rPr lang="en-US" sz="2000" b="1" dirty="0">
                <a:solidFill>
                  <a:srgbClr val="2E75B6"/>
                </a:solidFill>
              </a:rPr>
              <a:t>Pipeline A – Dataset A Cosmetic Retail</a:t>
            </a:r>
          </a:p>
        </p:txBody>
      </p:sp>
      <p:sp>
        <p:nvSpPr>
          <p:cNvPr id="23" name="TextBox 22">
            <a:extLst>
              <a:ext uri="{FF2B5EF4-FFF2-40B4-BE49-F238E27FC236}">
                <a16:creationId xmlns:a16="http://schemas.microsoft.com/office/drawing/2014/main" id="{2909595D-BCD9-F5CB-7178-E69C717F278A}"/>
              </a:ext>
            </a:extLst>
          </p:cNvPr>
          <p:cNvSpPr txBox="1"/>
          <p:nvPr/>
        </p:nvSpPr>
        <p:spPr>
          <a:xfrm>
            <a:off x="314528" y="4478165"/>
            <a:ext cx="4761739" cy="400110"/>
          </a:xfrm>
          <a:prstGeom prst="rect">
            <a:avLst/>
          </a:prstGeom>
          <a:noFill/>
        </p:spPr>
        <p:txBody>
          <a:bodyPr wrap="square">
            <a:spAutoFit/>
          </a:bodyPr>
          <a:lstStyle/>
          <a:p>
            <a:r>
              <a:rPr lang="en-US" sz="2000" b="1" dirty="0">
                <a:solidFill>
                  <a:srgbClr val="2E75B6"/>
                </a:solidFill>
              </a:rPr>
              <a:t>Pipeline A – Dataset B UK Online Retail </a:t>
            </a:r>
            <a:endParaRPr lang="en-ZA" sz="2000" dirty="0"/>
          </a:p>
        </p:txBody>
      </p:sp>
      <p:sp>
        <p:nvSpPr>
          <p:cNvPr id="25" name="TextBox 24">
            <a:extLst>
              <a:ext uri="{FF2B5EF4-FFF2-40B4-BE49-F238E27FC236}">
                <a16:creationId xmlns:a16="http://schemas.microsoft.com/office/drawing/2014/main" id="{B56E0A73-9366-F8F6-C8F0-E081246EB8E8}"/>
              </a:ext>
            </a:extLst>
          </p:cNvPr>
          <p:cNvSpPr txBox="1"/>
          <p:nvPr/>
        </p:nvSpPr>
        <p:spPr>
          <a:xfrm>
            <a:off x="352347" y="1860255"/>
            <a:ext cx="4747303" cy="1673856"/>
          </a:xfrm>
          <a:prstGeom prst="rect">
            <a:avLst/>
          </a:prstGeom>
          <a:noFill/>
        </p:spPr>
        <p:txBody>
          <a:bodyPr wrap="square">
            <a:spAutoFit/>
          </a:bodyPr>
          <a:lstStyle/>
          <a:p>
            <a:pPr lvl="0" defTabSz="914400" eaLnBrk="0" fontAlgn="base" hangingPunct="0">
              <a:lnSpc>
                <a:spcPct val="150000"/>
              </a:lnSpc>
              <a:spcBef>
                <a:spcPct val="0"/>
              </a:spcBef>
              <a:spcAft>
                <a:spcPts val="600"/>
              </a:spcAft>
            </a:pPr>
            <a:r>
              <a:rPr lang="en-US" altLang="en-US" sz="1400" b="1" dirty="0">
                <a:solidFill>
                  <a:schemeClr val="accent6"/>
                </a:solidFill>
              </a:rPr>
              <a:t>Data Collection </a:t>
            </a:r>
            <a:r>
              <a:rPr lang="en-US" altLang="en-US" sz="1400" b="1" dirty="0">
                <a:solidFill>
                  <a:srgbClr val="0F9F2A"/>
                </a:solidFill>
              </a:rPr>
              <a:t>➔</a:t>
            </a:r>
            <a:r>
              <a:rPr lang="en-US" altLang="en-US" sz="1400" b="1" dirty="0">
                <a:solidFill>
                  <a:schemeClr val="accent6"/>
                </a:solidFill>
              </a:rPr>
              <a:t> Cleansing </a:t>
            </a:r>
            <a:r>
              <a:rPr lang="en-US" altLang="en-US" sz="1400" b="1" dirty="0">
                <a:solidFill>
                  <a:srgbClr val="0F9F2A"/>
                </a:solidFill>
              </a:rPr>
              <a:t>➔</a:t>
            </a:r>
            <a:r>
              <a:rPr lang="en-US" altLang="en-US" sz="1400" b="1" dirty="0">
                <a:solidFill>
                  <a:schemeClr val="accent6"/>
                </a:solidFill>
              </a:rPr>
              <a:t> Dynamic Time Slicing </a:t>
            </a:r>
            <a:r>
              <a:rPr lang="en-US" altLang="en-US" sz="1400" b="1" dirty="0">
                <a:solidFill>
                  <a:srgbClr val="0F9F2A"/>
                </a:solidFill>
              </a:rPr>
              <a:t>➔</a:t>
            </a:r>
            <a:r>
              <a:rPr lang="en-US" altLang="en-US" sz="1400" b="1" dirty="0">
                <a:solidFill>
                  <a:schemeClr val="accent6"/>
                </a:solidFill>
              </a:rPr>
              <a:t> Cascaded RFM Feature Engineering </a:t>
            </a:r>
            <a:r>
              <a:rPr lang="en-US" altLang="en-US" sz="1400" b="1" dirty="0">
                <a:solidFill>
                  <a:srgbClr val="0F9F2A"/>
                </a:solidFill>
              </a:rPr>
              <a:t>➔</a:t>
            </a:r>
            <a:r>
              <a:rPr lang="en-US" altLang="en-US" sz="1400" b="1" dirty="0">
                <a:solidFill>
                  <a:schemeClr val="accent6"/>
                </a:solidFill>
              </a:rPr>
              <a:t> </a:t>
            </a:r>
            <a:r>
              <a:rPr lang="en-US" altLang="en-US" sz="1400" b="1" dirty="0">
                <a:solidFill>
                  <a:srgbClr val="FFC000"/>
                </a:solidFill>
              </a:rPr>
              <a:t>Data Synthesis (Injecting Geographic, Demographic, &amp; Psychographic profiles)</a:t>
            </a:r>
            <a:r>
              <a:rPr lang="en-US" altLang="en-US" sz="1400" b="1" dirty="0">
                <a:solidFill>
                  <a:schemeClr val="accent6"/>
                </a:solidFill>
              </a:rPr>
              <a:t> </a:t>
            </a:r>
            <a:r>
              <a:rPr lang="en-US" altLang="en-US" sz="1400" b="1" dirty="0">
                <a:solidFill>
                  <a:srgbClr val="0F9F2A"/>
                </a:solidFill>
              </a:rPr>
              <a:t>➔</a:t>
            </a:r>
            <a:r>
              <a:rPr lang="en-US" altLang="en-US" sz="1400" b="1" dirty="0">
                <a:solidFill>
                  <a:schemeClr val="accent6"/>
                </a:solidFill>
              </a:rPr>
              <a:t> K-Means Model </a:t>
            </a:r>
            <a:r>
              <a:rPr lang="en-US" altLang="en-US" sz="1400" b="1" dirty="0">
                <a:solidFill>
                  <a:srgbClr val="0F9F2A"/>
                </a:solidFill>
              </a:rPr>
              <a:t>➔</a:t>
            </a:r>
            <a:r>
              <a:rPr lang="en-US" altLang="en-US" sz="1400" b="1" dirty="0">
                <a:solidFill>
                  <a:schemeClr val="accent6"/>
                </a:solidFill>
              </a:rPr>
              <a:t> Dynamic Loop (MDFCM Model) </a:t>
            </a:r>
            <a:r>
              <a:rPr lang="en-US" altLang="en-US" sz="1400" b="1" dirty="0">
                <a:solidFill>
                  <a:srgbClr val="0F9F2A"/>
                </a:solidFill>
              </a:rPr>
              <a:t>➔</a:t>
            </a:r>
            <a:r>
              <a:rPr lang="en-US" altLang="en-US" sz="1400" b="1" dirty="0">
                <a:solidFill>
                  <a:schemeClr val="accent6"/>
                </a:solidFill>
              </a:rPr>
              <a:t> Evaluation measures</a:t>
            </a:r>
            <a:r>
              <a:rPr lang="en-US" altLang="en-US" sz="1400" b="1" dirty="0">
                <a:solidFill>
                  <a:srgbClr val="0F9F2A"/>
                </a:solidFill>
              </a:rPr>
              <a:t>➔</a:t>
            </a:r>
            <a:r>
              <a:rPr lang="en-US" altLang="en-US" sz="1400" b="1" dirty="0">
                <a:solidFill>
                  <a:schemeClr val="accent6"/>
                </a:solidFill>
              </a:rPr>
              <a:t> Dashboard Output</a:t>
            </a:r>
          </a:p>
        </p:txBody>
      </p:sp>
      <p:sp>
        <p:nvSpPr>
          <p:cNvPr id="27" name="TextBox 26">
            <a:extLst>
              <a:ext uri="{FF2B5EF4-FFF2-40B4-BE49-F238E27FC236}">
                <a16:creationId xmlns:a16="http://schemas.microsoft.com/office/drawing/2014/main" id="{3B9C2AE1-917C-8357-58FB-FA7AF3E08373}"/>
              </a:ext>
            </a:extLst>
          </p:cNvPr>
          <p:cNvSpPr txBox="1"/>
          <p:nvPr/>
        </p:nvSpPr>
        <p:spPr>
          <a:xfrm>
            <a:off x="352347" y="4932621"/>
            <a:ext cx="4994772" cy="1352293"/>
          </a:xfrm>
          <a:prstGeom prst="rect">
            <a:avLst/>
          </a:prstGeom>
          <a:noFill/>
        </p:spPr>
        <p:txBody>
          <a:bodyPr wrap="square">
            <a:spAutoFit/>
          </a:bodyPr>
          <a:lstStyle/>
          <a:p>
            <a:pPr lvl="0" defTabSz="914400" eaLnBrk="0" fontAlgn="base" hangingPunct="0">
              <a:lnSpc>
                <a:spcPct val="150000"/>
              </a:lnSpc>
              <a:spcBef>
                <a:spcPct val="0"/>
              </a:spcBef>
              <a:spcAft>
                <a:spcPts val="600"/>
              </a:spcAft>
            </a:pPr>
            <a:r>
              <a:rPr lang="en-US" altLang="en-US" sz="1400" b="1" dirty="0">
                <a:solidFill>
                  <a:schemeClr val="accent6"/>
                </a:solidFill>
              </a:rPr>
              <a:t>Data Collection </a:t>
            </a:r>
            <a:r>
              <a:rPr lang="en-US" altLang="en-US" sz="1400" b="1" dirty="0">
                <a:solidFill>
                  <a:srgbClr val="0F9F2A"/>
                </a:solidFill>
              </a:rPr>
              <a:t>➔</a:t>
            </a:r>
            <a:r>
              <a:rPr lang="en-US" altLang="en-US" sz="1400" b="1" dirty="0">
                <a:solidFill>
                  <a:schemeClr val="accent6"/>
                </a:solidFill>
              </a:rPr>
              <a:t> Cleansing </a:t>
            </a:r>
            <a:r>
              <a:rPr lang="en-US" altLang="en-US" sz="1400" b="1" dirty="0">
                <a:solidFill>
                  <a:srgbClr val="0F9F2A"/>
                </a:solidFill>
              </a:rPr>
              <a:t>➔</a:t>
            </a:r>
            <a:r>
              <a:rPr lang="en-US" altLang="en-US" sz="1400" b="1" dirty="0">
                <a:solidFill>
                  <a:schemeClr val="accent6"/>
                </a:solidFill>
              </a:rPr>
              <a:t> Dynamic Time Slicing </a:t>
            </a:r>
            <a:r>
              <a:rPr lang="en-US" altLang="en-US" sz="1400" b="1" dirty="0">
                <a:solidFill>
                  <a:srgbClr val="0F9F2A"/>
                </a:solidFill>
              </a:rPr>
              <a:t>➔</a:t>
            </a:r>
            <a:r>
              <a:rPr lang="en-US" altLang="en-US" sz="1400" b="1" dirty="0">
                <a:solidFill>
                  <a:schemeClr val="accent6"/>
                </a:solidFill>
              </a:rPr>
              <a:t> Cascaded RFM Feature Engineering </a:t>
            </a:r>
            <a:r>
              <a:rPr lang="en-US" altLang="en-US" sz="1400" b="1" dirty="0">
                <a:solidFill>
                  <a:srgbClr val="0F9F2A"/>
                </a:solidFill>
              </a:rPr>
              <a:t>➔</a:t>
            </a:r>
            <a:r>
              <a:rPr lang="en-US" altLang="en-US" sz="1400" b="1" dirty="0">
                <a:solidFill>
                  <a:schemeClr val="accent6"/>
                </a:solidFill>
              </a:rPr>
              <a:t> K-Means Model </a:t>
            </a:r>
            <a:r>
              <a:rPr lang="en-US" altLang="en-US" sz="1400" b="1" dirty="0">
                <a:solidFill>
                  <a:srgbClr val="0F9F2A"/>
                </a:solidFill>
              </a:rPr>
              <a:t>➔</a:t>
            </a:r>
            <a:r>
              <a:rPr lang="en-US" altLang="en-US" sz="1400" b="1" dirty="0">
                <a:solidFill>
                  <a:schemeClr val="accent6"/>
                </a:solidFill>
              </a:rPr>
              <a:t> Dynamic Loop (MDFCM Model) </a:t>
            </a:r>
            <a:r>
              <a:rPr lang="en-US" altLang="en-US" sz="1400" b="1" dirty="0">
                <a:solidFill>
                  <a:srgbClr val="0F9F2A"/>
                </a:solidFill>
              </a:rPr>
              <a:t>➔</a:t>
            </a:r>
            <a:r>
              <a:rPr lang="en-US" altLang="en-US" sz="1400" b="1" dirty="0">
                <a:solidFill>
                  <a:schemeClr val="accent6"/>
                </a:solidFill>
              </a:rPr>
              <a:t> Evaluation measures</a:t>
            </a:r>
            <a:r>
              <a:rPr lang="en-US" altLang="en-US" sz="1400" b="1" dirty="0">
                <a:solidFill>
                  <a:srgbClr val="0F9F2A"/>
                </a:solidFill>
              </a:rPr>
              <a:t>➔</a:t>
            </a:r>
            <a:r>
              <a:rPr lang="en-US" altLang="en-US" sz="1400" b="1" dirty="0">
                <a:solidFill>
                  <a:schemeClr val="accent6"/>
                </a:solidFill>
              </a:rPr>
              <a:t> Dashboard Output</a:t>
            </a:r>
          </a:p>
        </p:txBody>
      </p:sp>
    </p:spTree>
    <p:custDataLst>
      <p:tags r:id="rId1"/>
    </p:custDataLst>
    <p:extLst>
      <p:ext uri="{BB962C8B-B14F-4D97-AF65-F5344CB8AC3E}">
        <p14:creationId xmlns:p14="http://schemas.microsoft.com/office/powerpoint/2010/main" val="3408740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22437" y="199963"/>
            <a:ext cx="10906622" cy="471490"/>
          </a:xfrm>
        </p:spPr>
        <p:txBody>
          <a:bodyPr/>
          <a:lstStyle/>
          <a:p>
            <a:pPr algn="l"/>
            <a:r>
              <a:rPr lang="en-ZA" sz="2400" cap="none" dirty="0"/>
              <a:t>Dual Dataset Approach</a:t>
            </a:r>
          </a:p>
        </p:txBody>
      </p:sp>
      <p:sp>
        <p:nvSpPr>
          <p:cNvPr id="6" name="Rectangle 3"/>
          <p:cNvSpPr>
            <a:spLocks noGrp="1" noChangeArrowheads="1"/>
          </p:cNvSpPr>
          <p:nvPr>
            <p:ph sz="quarter" idx="4"/>
          </p:nvPr>
        </p:nvSpPr>
        <p:spPr bwMode="auto">
          <a:xfrm>
            <a:off x="406515" y="1082203"/>
            <a:ext cx="10738466" cy="5740033"/>
          </a:xfrm>
          <a:prstGeom prst="rect">
            <a:avLst/>
          </a:prstGeom>
          <a:noFill/>
          <a:ln>
            <a:noFill/>
          </a:ln>
        </p:spPr>
        <p:txBody>
          <a:bodyPr vert="horz" wrap="square" lIns="91440" tIns="0" rIns="91440" bIns="45720" numCol="1" anchor="t" anchorCtr="0" compatLnSpc="1">
            <a:prstTxWarp prst="textNoShape">
              <a:avLst/>
            </a:prstTxWarp>
            <a:spAutoFit/>
          </a:bodyPr>
          <a:lstStyle/>
          <a:p>
            <a:pPr marL="0" marR="0" lvl="0" indent="0" algn="l">
              <a:lnSpc>
                <a:spcPct val="100000"/>
              </a:lnSpc>
              <a:spcBef>
                <a:spcPct val="0"/>
              </a:spcBef>
              <a:spcAft>
                <a:spcPct val="0"/>
              </a:spcAft>
              <a:buNone/>
            </a:pPr>
            <a:r>
              <a:rPr lang="en-US" b="0" dirty="0"/>
              <a:t>The model is applied to two separate retail datasets.</a:t>
            </a:r>
          </a:p>
          <a:p>
            <a:pPr marL="0" marR="0" lvl="0" indent="0" algn="l">
              <a:lnSpc>
                <a:spcPct val="100000"/>
              </a:lnSpc>
              <a:spcBef>
                <a:spcPct val="0"/>
              </a:spcBef>
              <a:spcAft>
                <a:spcPct val="0"/>
              </a:spcAft>
              <a:buNone/>
            </a:pPr>
            <a:endParaRPr lang="en-US" sz="1400" dirty="0"/>
          </a:p>
          <a:p>
            <a:pPr marL="0" marR="0" lvl="0" indent="0" algn="l">
              <a:lnSpc>
                <a:spcPct val="100000"/>
              </a:lnSpc>
              <a:spcBef>
                <a:spcPct val="0"/>
              </a:spcBef>
              <a:spcAft>
                <a:spcPct val="0"/>
              </a:spcAft>
              <a:buNone/>
            </a:pPr>
            <a:r>
              <a:rPr lang="en-US" sz="2000" b="1" dirty="0">
                <a:solidFill>
                  <a:srgbClr val="2E75B6"/>
                </a:solidFill>
              </a:rPr>
              <a:t>Dataset A – Cosmetic Retail SA business (Simulation A)</a:t>
            </a:r>
          </a:p>
          <a:p>
            <a:pPr>
              <a:spcBef>
                <a:spcPct val="0"/>
              </a:spcBef>
              <a:spcAft>
                <a:spcPts val="1200"/>
              </a:spcAft>
            </a:pPr>
            <a:r>
              <a:rPr lang="en-US" dirty="0"/>
              <a:t> Cosmetic South African </a:t>
            </a:r>
            <a:r>
              <a:rPr lang="en-US" sz="1800" b="0" dirty="0"/>
              <a:t>retail point-of-sale transaction records covering Jan to Dec 202</a:t>
            </a:r>
            <a:r>
              <a:rPr lang="en-US" dirty="0"/>
              <a:t>4.</a:t>
            </a:r>
            <a:endParaRPr lang="en-US" sz="1800" b="0" dirty="0"/>
          </a:p>
          <a:p>
            <a:pPr>
              <a:spcBef>
                <a:spcPct val="0"/>
              </a:spcBef>
              <a:spcAft>
                <a:spcPts val="1200"/>
              </a:spcAft>
            </a:pPr>
            <a:r>
              <a:rPr lang="en-US" sz="1800" b="0" dirty="0"/>
              <a:t>206148 transaction records | 22,702 unique customers </a:t>
            </a:r>
          </a:p>
          <a:p>
            <a:pPr>
              <a:spcBef>
                <a:spcPct val="0"/>
              </a:spcBef>
              <a:spcAft>
                <a:spcPts val="1200"/>
              </a:spcAft>
            </a:pPr>
            <a:r>
              <a:rPr lang="en-US" sz="1800" b="0" dirty="0"/>
              <a:t>Business relationship type : </a:t>
            </a:r>
            <a:r>
              <a:rPr lang="en-US" sz="1800" b="0" dirty="0">
                <a:solidFill>
                  <a:srgbClr val="FFC000"/>
                </a:solidFill>
              </a:rPr>
              <a:t>B2C</a:t>
            </a:r>
            <a:r>
              <a:rPr lang="en-US" sz="1800" b="0" dirty="0"/>
              <a:t>  (business to everyday consumers)</a:t>
            </a:r>
          </a:p>
          <a:p>
            <a:pPr>
              <a:spcBef>
                <a:spcPct val="0"/>
              </a:spcBef>
              <a:spcAft>
                <a:spcPts val="1200"/>
              </a:spcAft>
            </a:pPr>
            <a:r>
              <a:rPr lang="en-US" sz="1800" b="0" dirty="0">
                <a:solidFill>
                  <a:srgbClr val="7030A0"/>
                </a:solidFill>
              </a:rPr>
              <a:t>Data Synthesis</a:t>
            </a:r>
          </a:p>
          <a:p>
            <a:pPr lvl="1">
              <a:spcBef>
                <a:spcPct val="0"/>
              </a:spcBef>
              <a:spcAft>
                <a:spcPts val="1200"/>
              </a:spcAft>
              <a:buFont typeface="Courier New" panose="02070309020205020404" pitchFamily="49" charset="0"/>
              <a:buChar char="o"/>
            </a:pPr>
            <a:r>
              <a:rPr lang="en-US" b="0" dirty="0">
                <a:solidFill>
                  <a:srgbClr val="0070C0"/>
                </a:solidFill>
              </a:rPr>
              <a:t> </a:t>
            </a:r>
            <a:r>
              <a:rPr lang="en-US" dirty="0">
                <a:solidFill>
                  <a:srgbClr val="0070C0"/>
                </a:solidFill>
              </a:rPr>
              <a:t>4</a:t>
            </a:r>
            <a:r>
              <a:rPr lang="en-US" b="0" dirty="0">
                <a:solidFill>
                  <a:srgbClr val="0070C0"/>
                </a:solidFill>
              </a:rPr>
              <a:t> demographic </a:t>
            </a:r>
            <a:r>
              <a:rPr lang="en-US" dirty="0">
                <a:solidFill>
                  <a:srgbClr val="0070C0"/>
                </a:solidFill>
              </a:rPr>
              <a:t>variables: Name, contact details, ID number and</a:t>
            </a:r>
            <a:r>
              <a:rPr lang="en-US" b="0" dirty="0">
                <a:solidFill>
                  <a:srgbClr val="0070C0"/>
                </a:solidFill>
              </a:rPr>
              <a:t> Gender</a:t>
            </a:r>
          </a:p>
          <a:p>
            <a:pPr lvl="1">
              <a:spcBef>
                <a:spcPct val="0"/>
              </a:spcBef>
              <a:spcAft>
                <a:spcPts val="1200"/>
              </a:spcAft>
              <a:buFont typeface="Courier New" panose="02070309020205020404" pitchFamily="49" charset="0"/>
              <a:buChar char="o"/>
            </a:pPr>
            <a:r>
              <a:rPr lang="en-US" b="0" dirty="0"/>
              <a:t> </a:t>
            </a:r>
            <a:r>
              <a:rPr lang="en-US" dirty="0">
                <a:solidFill>
                  <a:srgbClr val="918213"/>
                </a:solidFill>
              </a:rPr>
              <a:t>G</a:t>
            </a:r>
            <a:r>
              <a:rPr lang="en-US" b="0" dirty="0">
                <a:solidFill>
                  <a:srgbClr val="918213"/>
                </a:solidFill>
              </a:rPr>
              <a:t>eographic variable: Residential address or Region</a:t>
            </a:r>
          </a:p>
          <a:p>
            <a:pPr lvl="1">
              <a:spcBef>
                <a:spcPct val="0"/>
              </a:spcBef>
              <a:spcAft>
                <a:spcPts val="1200"/>
              </a:spcAft>
              <a:buFont typeface="Courier New" panose="02070309020205020404" pitchFamily="49" charset="0"/>
              <a:buChar char="o"/>
            </a:pPr>
            <a:r>
              <a:rPr lang="en-US" dirty="0">
                <a:solidFill>
                  <a:schemeClr val="accent1">
                    <a:lumMod val="75000"/>
                  </a:schemeClr>
                </a:solidFill>
              </a:rPr>
              <a:t>Psychographic variables </a:t>
            </a:r>
          </a:p>
          <a:p>
            <a:pPr marL="0" marR="0" lvl="0" indent="0" algn="l">
              <a:lnSpc>
                <a:spcPct val="100000"/>
              </a:lnSpc>
              <a:spcBef>
                <a:spcPct val="0"/>
              </a:spcBef>
              <a:spcAft>
                <a:spcPct val="0"/>
              </a:spcAft>
              <a:buNone/>
            </a:pPr>
            <a:endParaRPr lang="en-US" sz="1400" dirty="0"/>
          </a:p>
          <a:p>
            <a:pPr marL="0" marR="0" lvl="0" indent="0" algn="l">
              <a:lnSpc>
                <a:spcPct val="100000"/>
              </a:lnSpc>
              <a:spcBef>
                <a:spcPct val="0"/>
              </a:spcBef>
              <a:spcAft>
                <a:spcPct val="0"/>
              </a:spcAft>
              <a:buNone/>
            </a:pPr>
            <a:endParaRPr lang="en-US" sz="1400" dirty="0"/>
          </a:p>
          <a:p>
            <a:pPr marL="0" marR="0" lvl="0" indent="0" algn="l">
              <a:lnSpc>
                <a:spcPct val="100000"/>
              </a:lnSpc>
              <a:spcBef>
                <a:spcPct val="0"/>
              </a:spcBef>
              <a:spcAft>
                <a:spcPct val="0"/>
              </a:spcAft>
              <a:buNone/>
            </a:pPr>
            <a:r>
              <a:rPr lang="en-US" sz="2000" b="1" dirty="0">
                <a:solidFill>
                  <a:srgbClr val="2E75B6"/>
                </a:solidFill>
              </a:rPr>
              <a:t>Dataset B – UK Online Retail (Simulation B)</a:t>
            </a:r>
          </a:p>
          <a:p>
            <a:pPr>
              <a:spcBef>
                <a:spcPct val="0"/>
              </a:spcBef>
              <a:spcAft>
                <a:spcPts val="1200"/>
              </a:spcAft>
            </a:pPr>
            <a:r>
              <a:rPr lang="en-US" sz="1800" b="0" dirty="0"/>
              <a:t>UK-based non-store online retail transaction records from 01/12/2010 to 09/12/2011</a:t>
            </a:r>
            <a:r>
              <a:rPr lang="en-US" dirty="0"/>
              <a:t>.</a:t>
            </a:r>
          </a:p>
          <a:p>
            <a:pPr>
              <a:spcBef>
                <a:spcPct val="0"/>
              </a:spcBef>
              <a:spcAft>
                <a:spcPts val="1200"/>
              </a:spcAft>
            </a:pPr>
            <a:r>
              <a:rPr lang="en-US" dirty="0"/>
              <a:t>541,909 transaction records | 4,339 unique customers</a:t>
            </a:r>
          </a:p>
          <a:p>
            <a:pPr>
              <a:spcBef>
                <a:spcPct val="0"/>
              </a:spcBef>
              <a:spcAft>
                <a:spcPts val="1200"/>
              </a:spcAft>
            </a:pPr>
            <a:r>
              <a:rPr lang="en-US" dirty="0"/>
              <a:t>Business relationship type : </a:t>
            </a:r>
            <a:r>
              <a:rPr lang="en-US" dirty="0">
                <a:solidFill>
                  <a:srgbClr val="FFC000"/>
                </a:solidFill>
              </a:rPr>
              <a:t>B2B </a:t>
            </a:r>
            <a:r>
              <a:rPr lang="en-US" dirty="0"/>
              <a:t> (business to business)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583CAD5-1508-6186-7B35-C25AEB7AB8C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F608F4B-5C05-F87E-7E36-092F452C81B4}"/>
              </a:ext>
            </a:extLst>
          </p:cNvPr>
          <p:cNvSpPr>
            <a:spLocks noGrp="1"/>
          </p:cNvSpPr>
          <p:nvPr>
            <p:ph type="title"/>
          </p:nvPr>
        </p:nvSpPr>
        <p:spPr>
          <a:xfrm>
            <a:off x="465038" y="149001"/>
            <a:ext cx="10671048" cy="552702"/>
          </a:xfrm>
        </p:spPr>
        <p:txBody>
          <a:bodyPr/>
          <a:lstStyle/>
          <a:p>
            <a:r>
              <a:rPr lang="en-ZA" dirty="0"/>
              <a:t>Dual </a:t>
            </a:r>
            <a:r>
              <a:rPr lang="en-ZA" sz="4000" dirty="0"/>
              <a:t>Dataset features</a:t>
            </a:r>
            <a:endParaRPr lang="en-ZA" dirty="0"/>
          </a:p>
        </p:txBody>
      </p:sp>
      <p:graphicFrame>
        <p:nvGraphicFramePr>
          <p:cNvPr id="8" name="Table 7">
            <a:extLst>
              <a:ext uri="{FF2B5EF4-FFF2-40B4-BE49-F238E27FC236}">
                <a16:creationId xmlns:a16="http://schemas.microsoft.com/office/drawing/2014/main" id="{D9F23BF7-5B5A-DD9E-CE49-D949C2C52C3E}"/>
              </a:ext>
            </a:extLst>
          </p:cNvPr>
          <p:cNvGraphicFramePr>
            <a:graphicFrameLocks noGrp="1"/>
          </p:cNvGraphicFramePr>
          <p:nvPr>
            <p:extLst>
              <p:ext uri="{D42A27DB-BD31-4B8C-83A1-F6EECF244321}">
                <p14:modId xmlns:p14="http://schemas.microsoft.com/office/powerpoint/2010/main" val="1291813111"/>
              </p:ext>
            </p:extLst>
          </p:nvPr>
        </p:nvGraphicFramePr>
        <p:xfrm>
          <a:off x="6416351" y="1520993"/>
          <a:ext cx="5057191" cy="4861514"/>
        </p:xfrm>
        <a:graphic>
          <a:graphicData uri="http://schemas.openxmlformats.org/drawingml/2006/table">
            <a:tbl>
              <a:tblPr>
                <a:tableStyleId>{616DA210-FB5B-4158-B5E0-FEB733F419BA}</a:tableStyleId>
              </a:tblPr>
              <a:tblGrid>
                <a:gridCol w="1119673">
                  <a:extLst>
                    <a:ext uri="{9D8B030D-6E8A-4147-A177-3AD203B41FA5}">
                      <a16:colId xmlns:a16="http://schemas.microsoft.com/office/drawing/2014/main" val="2635327505"/>
                    </a:ext>
                  </a:extLst>
                </a:gridCol>
                <a:gridCol w="1073021">
                  <a:extLst>
                    <a:ext uri="{9D8B030D-6E8A-4147-A177-3AD203B41FA5}">
                      <a16:colId xmlns:a16="http://schemas.microsoft.com/office/drawing/2014/main" val="3687471656"/>
                    </a:ext>
                  </a:extLst>
                </a:gridCol>
                <a:gridCol w="2864497">
                  <a:extLst>
                    <a:ext uri="{9D8B030D-6E8A-4147-A177-3AD203B41FA5}">
                      <a16:colId xmlns:a16="http://schemas.microsoft.com/office/drawing/2014/main" val="543675315"/>
                    </a:ext>
                  </a:extLst>
                </a:gridCol>
              </a:tblGrid>
              <a:tr h="284035">
                <a:tc>
                  <a:txBody>
                    <a:bodyPr/>
                    <a:lstStyle/>
                    <a:p>
                      <a:pPr algn="ctr">
                        <a:buNone/>
                      </a:pPr>
                      <a:r>
                        <a:rPr lang="en-ZA" sz="1600" b="1" dirty="0"/>
                        <a:t>Features</a:t>
                      </a:r>
                    </a:p>
                  </a:txBody>
                  <a:tcPr marL="38170" marR="38170" marT="19085" marB="19085" anchor="ctr"/>
                </a:tc>
                <a:tc>
                  <a:txBody>
                    <a:bodyPr/>
                    <a:lstStyle/>
                    <a:p>
                      <a:pPr algn="ctr">
                        <a:buNone/>
                      </a:pPr>
                      <a:r>
                        <a:rPr lang="en-ZA" sz="1600" b="1" dirty="0"/>
                        <a:t>Data Type</a:t>
                      </a:r>
                    </a:p>
                  </a:txBody>
                  <a:tcPr marL="38170" marR="38170" marT="19085" marB="19085" anchor="ctr"/>
                </a:tc>
                <a:tc>
                  <a:txBody>
                    <a:bodyPr/>
                    <a:lstStyle/>
                    <a:p>
                      <a:pPr algn="ctr">
                        <a:buNone/>
                      </a:pPr>
                      <a:r>
                        <a:rPr lang="en-ZA" sz="1600" b="1" dirty="0"/>
                        <a:t>Description</a:t>
                      </a:r>
                    </a:p>
                  </a:txBody>
                  <a:tcPr marL="38170" marR="38170" marT="19085" marB="19085" anchor="ctr"/>
                </a:tc>
                <a:extLst>
                  <a:ext uri="{0D108BD9-81ED-4DB2-BD59-A6C34878D82A}">
                    <a16:rowId xmlns:a16="http://schemas.microsoft.com/office/drawing/2014/main" val="2705497590"/>
                  </a:ext>
                </a:extLst>
              </a:tr>
              <a:tr h="1075156">
                <a:tc>
                  <a:txBody>
                    <a:bodyPr/>
                    <a:lstStyle/>
                    <a:p>
                      <a:pPr>
                        <a:buNone/>
                      </a:pPr>
                      <a:r>
                        <a:rPr lang="en-ZA" sz="1400" dirty="0" err="1"/>
                        <a:t>InvoiceNo</a:t>
                      </a:r>
                      <a:endParaRPr lang="en-ZA" sz="1400" dirty="0"/>
                    </a:p>
                  </a:txBody>
                  <a:tcPr marL="38170" marR="38170" marT="19085" marB="19085" anchor="ctr"/>
                </a:tc>
                <a:tc>
                  <a:txBody>
                    <a:bodyPr/>
                    <a:lstStyle/>
                    <a:p>
                      <a:pPr>
                        <a:buNone/>
                      </a:pPr>
                      <a:r>
                        <a:rPr lang="en-ZA" sz="1400" dirty="0"/>
                        <a:t>Categorical</a:t>
                      </a:r>
                    </a:p>
                  </a:txBody>
                  <a:tcPr marL="38170" marR="38170" marT="19085" marB="19085" anchor="ctr"/>
                </a:tc>
                <a:tc>
                  <a:txBody>
                    <a:bodyPr/>
                    <a:lstStyle/>
                    <a:p>
                      <a:pPr>
                        <a:buNone/>
                      </a:pPr>
                      <a:r>
                        <a:rPr lang="en-US" sz="1400" dirty="0"/>
                        <a:t>a 6-digit integral number uniquely assigned to each transaction. If this code starts with letter ‘c’, it indicates a cancellation</a:t>
                      </a:r>
                    </a:p>
                  </a:txBody>
                  <a:tcPr marL="38170" marR="38170" marT="19085" marB="19085" anchor="ctr"/>
                </a:tc>
                <a:extLst>
                  <a:ext uri="{0D108BD9-81ED-4DB2-BD59-A6C34878D82A}">
                    <a16:rowId xmlns:a16="http://schemas.microsoft.com/office/drawing/2014/main" val="2004317834"/>
                  </a:ext>
                </a:extLst>
              </a:tr>
              <a:tr h="493374">
                <a:tc>
                  <a:txBody>
                    <a:bodyPr/>
                    <a:lstStyle/>
                    <a:p>
                      <a:pPr>
                        <a:buNone/>
                      </a:pPr>
                      <a:r>
                        <a:rPr lang="en-ZA" sz="1400" dirty="0" err="1"/>
                        <a:t>StockCode</a:t>
                      </a:r>
                      <a:endParaRPr lang="en-ZA" sz="1400" dirty="0"/>
                    </a:p>
                  </a:txBody>
                  <a:tcPr marL="38170" marR="38170" marT="19085" marB="19085" anchor="ctr"/>
                </a:tc>
                <a:tc>
                  <a:txBody>
                    <a:bodyPr/>
                    <a:lstStyle/>
                    <a:p>
                      <a:pPr>
                        <a:buNone/>
                      </a:pPr>
                      <a:r>
                        <a:rPr lang="en-ZA" sz="1400" dirty="0"/>
                        <a:t>Categorical</a:t>
                      </a:r>
                    </a:p>
                  </a:txBody>
                  <a:tcPr marL="38170" marR="38170" marT="19085" marB="19085" anchor="ctr"/>
                </a:tc>
                <a:tc>
                  <a:txBody>
                    <a:bodyPr/>
                    <a:lstStyle/>
                    <a:p>
                      <a:pPr>
                        <a:buNone/>
                      </a:pPr>
                      <a:r>
                        <a:rPr lang="en-US" sz="1400" dirty="0"/>
                        <a:t>a 5-digit integral number uniquely assigned to each distinct product</a:t>
                      </a:r>
                    </a:p>
                  </a:txBody>
                  <a:tcPr marL="38170" marR="38170" marT="19085" marB="19085" anchor="ctr"/>
                </a:tc>
                <a:extLst>
                  <a:ext uri="{0D108BD9-81ED-4DB2-BD59-A6C34878D82A}">
                    <a16:rowId xmlns:a16="http://schemas.microsoft.com/office/drawing/2014/main" val="209965597"/>
                  </a:ext>
                </a:extLst>
              </a:tr>
              <a:tr h="259735">
                <a:tc>
                  <a:txBody>
                    <a:bodyPr/>
                    <a:lstStyle/>
                    <a:p>
                      <a:pPr>
                        <a:buNone/>
                      </a:pPr>
                      <a:r>
                        <a:rPr lang="en-ZA" sz="1400"/>
                        <a:t>Description</a:t>
                      </a:r>
                    </a:p>
                  </a:txBody>
                  <a:tcPr marL="38170" marR="38170" marT="19085" marB="19085" anchor="ctr"/>
                </a:tc>
                <a:tc>
                  <a:txBody>
                    <a:bodyPr/>
                    <a:lstStyle/>
                    <a:p>
                      <a:pPr>
                        <a:buNone/>
                      </a:pPr>
                      <a:r>
                        <a:rPr lang="en-ZA" sz="1400"/>
                        <a:t>Categorical</a:t>
                      </a:r>
                    </a:p>
                  </a:txBody>
                  <a:tcPr marL="38170" marR="38170" marT="19085" marB="19085" anchor="ctr"/>
                </a:tc>
                <a:tc>
                  <a:txBody>
                    <a:bodyPr/>
                    <a:lstStyle/>
                    <a:p>
                      <a:pPr>
                        <a:buNone/>
                      </a:pPr>
                      <a:r>
                        <a:rPr lang="en-ZA" sz="1400"/>
                        <a:t>product name</a:t>
                      </a:r>
                    </a:p>
                  </a:txBody>
                  <a:tcPr marL="38170" marR="38170" marT="19085" marB="19085" anchor="ctr"/>
                </a:tc>
                <a:extLst>
                  <a:ext uri="{0D108BD9-81ED-4DB2-BD59-A6C34878D82A}">
                    <a16:rowId xmlns:a16="http://schemas.microsoft.com/office/drawing/2014/main" val="1642656734"/>
                  </a:ext>
                </a:extLst>
              </a:tr>
              <a:tr h="628341">
                <a:tc>
                  <a:txBody>
                    <a:bodyPr/>
                    <a:lstStyle/>
                    <a:p>
                      <a:pPr>
                        <a:buNone/>
                      </a:pPr>
                      <a:r>
                        <a:rPr lang="en-ZA" sz="1400" dirty="0"/>
                        <a:t>Quantity</a:t>
                      </a:r>
                    </a:p>
                  </a:txBody>
                  <a:tcPr marL="38170" marR="38170" marT="19085" marB="19085" anchor="ctr"/>
                </a:tc>
                <a:tc>
                  <a:txBody>
                    <a:bodyPr/>
                    <a:lstStyle/>
                    <a:p>
                      <a:pPr>
                        <a:buNone/>
                      </a:pPr>
                      <a:r>
                        <a:rPr lang="en-ZA" sz="1400" dirty="0"/>
                        <a:t>Integer</a:t>
                      </a:r>
                    </a:p>
                  </a:txBody>
                  <a:tcPr marL="38170" marR="38170" marT="19085" marB="19085" anchor="ctr"/>
                </a:tc>
                <a:tc>
                  <a:txBody>
                    <a:bodyPr/>
                    <a:lstStyle/>
                    <a:p>
                      <a:pPr>
                        <a:buNone/>
                      </a:pPr>
                      <a:r>
                        <a:rPr lang="en-US" sz="1400" dirty="0"/>
                        <a:t>the quantities of each product (item) per transaction</a:t>
                      </a:r>
                    </a:p>
                  </a:txBody>
                  <a:tcPr marL="38170" marR="38170" marT="19085" marB="19085" anchor="ctr"/>
                </a:tc>
                <a:extLst>
                  <a:ext uri="{0D108BD9-81ED-4DB2-BD59-A6C34878D82A}">
                    <a16:rowId xmlns:a16="http://schemas.microsoft.com/office/drawing/2014/main" val="2474620540"/>
                  </a:ext>
                </a:extLst>
              </a:tr>
              <a:tr h="581354">
                <a:tc>
                  <a:txBody>
                    <a:bodyPr/>
                    <a:lstStyle/>
                    <a:p>
                      <a:pPr>
                        <a:buNone/>
                      </a:pPr>
                      <a:r>
                        <a:rPr lang="en-ZA" sz="1400" dirty="0" err="1"/>
                        <a:t>InvoiceDate</a:t>
                      </a:r>
                      <a:endParaRPr lang="en-ZA" sz="1400" dirty="0"/>
                    </a:p>
                  </a:txBody>
                  <a:tcPr marL="38170" marR="38170" marT="19085" marB="19085" anchor="ctr"/>
                </a:tc>
                <a:tc>
                  <a:txBody>
                    <a:bodyPr/>
                    <a:lstStyle/>
                    <a:p>
                      <a:pPr>
                        <a:buNone/>
                      </a:pPr>
                      <a:r>
                        <a:rPr lang="en-ZA" sz="1400"/>
                        <a:t>Date</a:t>
                      </a:r>
                    </a:p>
                  </a:txBody>
                  <a:tcPr marL="38170" marR="38170" marT="19085" marB="19085" anchor="ctr"/>
                </a:tc>
                <a:tc>
                  <a:txBody>
                    <a:bodyPr/>
                    <a:lstStyle/>
                    <a:p>
                      <a:pPr>
                        <a:buNone/>
                      </a:pPr>
                      <a:r>
                        <a:rPr lang="en-US" sz="1400" dirty="0"/>
                        <a:t>the day and time when each transaction was generated</a:t>
                      </a:r>
                    </a:p>
                  </a:txBody>
                  <a:tcPr marL="38170" marR="38170" marT="19085" marB="19085" anchor="ctr"/>
                </a:tc>
                <a:extLst>
                  <a:ext uri="{0D108BD9-81ED-4DB2-BD59-A6C34878D82A}">
                    <a16:rowId xmlns:a16="http://schemas.microsoft.com/office/drawing/2014/main" val="2875263041"/>
                  </a:ext>
                </a:extLst>
              </a:tr>
              <a:tr h="253336">
                <a:tc>
                  <a:txBody>
                    <a:bodyPr/>
                    <a:lstStyle/>
                    <a:p>
                      <a:pPr>
                        <a:buNone/>
                      </a:pPr>
                      <a:r>
                        <a:rPr lang="en-ZA" sz="1400"/>
                        <a:t>UnitPrice</a:t>
                      </a:r>
                    </a:p>
                  </a:txBody>
                  <a:tcPr marL="38170" marR="38170" marT="19085" marB="19085" anchor="ctr"/>
                </a:tc>
                <a:tc>
                  <a:txBody>
                    <a:bodyPr/>
                    <a:lstStyle/>
                    <a:p>
                      <a:pPr>
                        <a:buNone/>
                      </a:pPr>
                      <a:r>
                        <a:rPr lang="en-ZA" sz="1400"/>
                        <a:t>Continuous</a:t>
                      </a:r>
                    </a:p>
                  </a:txBody>
                  <a:tcPr marL="38170" marR="38170" marT="19085" marB="19085" anchor="ctr"/>
                </a:tc>
                <a:tc>
                  <a:txBody>
                    <a:bodyPr/>
                    <a:lstStyle/>
                    <a:p>
                      <a:pPr>
                        <a:buNone/>
                      </a:pPr>
                      <a:r>
                        <a:rPr lang="en-ZA" sz="1400"/>
                        <a:t>product price per unit</a:t>
                      </a:r>
                    </a:p>
                  </a:txBody>
                  <a:tcPr marL="38170" marR="38170" marT="19085" marB="19085" anchor="ctr"/>
                </a:tc>
                <a:extLst>
                  <a:ext uri="{0D108BD9-81ED-4DB2-BD59-A6C34878D82A}">
                    <a16:rowId xmlns:a16="http://schemas.microsoft.com/office/drawing/2014/main" val="1966753122"/>
                  </a:ext>
                </a:extLst>
              </a:tr>
              <a:tr h="712028">
                <a:tc>
                  <a:txBody>
                    <a:bodyPr/>
                    <a:lstStyle/>
                    <a:p>
                      <a:pPr>
                        <a:buNone/>
                      </a:pPr>
                      <a:r>
                        <a:rPr lang="en-ZA" sz="1400" dirty="0"/>
                        <a:t>CustomerID</a:t>
                      </a:r>
                    </a:p>
                  </a:txBody>
                  <a:tcPr marL="38170" marR="38170" marT="19085" marB="19085" anchor="ctr"/>
                </a:tc>
                <a:tc>
                  <a:txBody>
                    <a:bodyPr/>
                    <a:lstStyle/>
                    <a:p>
                      <a:pPr>
                        <a:buNone/>
                      </a:pPr>
                      <a:r>
                        <a:rPr lang="en-ZA" sz="1400"/>
                        <a:t>Categorical</a:t>
                      </a:r>
                    </a:p>
                  </a:txBody>
                  <a:tcPr marL="38170" marR="38170" marT="19085" marB="19085" anchor="ctr"/>
                </a:tc>
                <a:tc>
                  <a:txBody>
                    <a:bodyPr/>
                    <a:lstStyle/>
                    <a:p>
                      <a:pPr>
                        <a:buNone/>
                      </a:pPr>
                      <a:r>
                        <a:rPr lang="en-US" sz="1400" dirty="0"/>
                        <a:t>a 5-digit integral number uniquely assigned to each customer</a:t>
                      </a:r>
                    </a:p>
                  </a:txBody>
                  <a:tcPr marL="38170" marR="38170" marT="19085" marB="19085" anchor="ctr"/>
                </a:tc>
                <a:extLst>
                  <a:ext uri="{0D108BD9-81ED-4DB2-BD59-A6C34878D82A}">
                    <a16:rowId xmlns:a16="http://schemas.microsoft.com/office/drawing/2014/main" val="3348277196"/>
                  </a:ext>
                </a:extLst>
              </a:tr>
              <a:tr h="574155">
                <a:tc>
                  <a:txBody>
                    <a:bodyPr/>
                    <a:lstStyle/>
                    <a:p>
                      <a:pPr>
                        <a:buNone/>
                      </a:pPr>
                      <a:r>
                        <a:rPr lang="en-ZA" sz="1400" dirty="0"/>
                        <a:t>Country</a:t>
                      </a:r>
                    </a:p>
                  </a:txBody>
                  <a:tcPr marL="38170" marR="38170" marT="19085" marB="19085" anchor="ctr"/>
                </a:tc>
                <a:tc>
                  <a:txBody>
                    <a:bodyPr/>
                    <a:lstStyle/>
                    <a:p>
                      <a:pPr>
                        <a:buNone/>
                      </a:pPr>
                      <a:r>
                        <a:rPr lang="en-ZA" sz="1400" dirty="0"/>
                        <a:t>Categorical</a:t>
                      </a:r>
                    </a:p>
                  </a:txBody>
                  <a:tcPr marL="38170" marR="38170" marT="19085" marB="19085" anchor="ctr"/>
                </a:tc>
                <a:tc>
                  <a:txBody>
                    <a:bodyPr/>
                    <a:lstStyle/>
                    <a:p>
                      <a:pPr>
                        <a:buNone/>
                      </a:pPr>
                      <a:r>
                        <a:rPr lang="en-US" sz="1400" dirty="0"/>
                        <a:t>the name of the country where each customer resides</a:t>
                      </a:r>
                    </a:p>
                  </a:txBody>
                  <a:tcPr marL="38170" marR="38170" marT="19085" marB="19085" anchor="ctr"/>
                </a:tc>
                <a:extLst>
                  <a:ext uri="{0D108BD9-81ED-4DB2-BD59-A6C34878D82A}">
                    <a16:rowId xmlns:a16="http://schemas.microsoft.com/office/drawing/2014/main" val="1805554331"/>
                  </a:ext>
                </a:extLst>
              </a:tr>
            </a:tbl>
          </a:graphicData>
        </a:graphic>
      </p:graphicFrame>
      <p:sp>
        <p:nvSpPr>
          <p:cNvPr id="10" name="TextBox 9">
            <a:extLst>
              <a:ext uri="{FF2B5EF4-FFF2-40B4-BE49-F238E27FC236}">
                <a16:creationId xmlns:a16="http://schemas.microsoft.com/office/drawing/2014/main" id="{116BE499-8A7D-3D7C-5202-8DDCA434672C}"/>
              </a:ext>
            </a:extLst>
          </p:cNvPr>
          <p:cNvSpPr txBox="1"/>
          <p:nvPr/>
        </p:nvSpPr>
        <p:spPr>
          <a:xfrm>
            <a:off x="3991947" y="6501295"/>
            <a:ext cx="6096000" cy="261610"/>
          </a:xfrm>
          <a:prstGeom prst="rect">
            <a:avLst/>
          </a:prstGeom>
          <a:noFill/>
        </p:spPr>
        <p:txBody>
          <a:bodyPr wrap="square">
            <a:spAutoFit/>
          </a:bodyPr>
          <a:lstStyle/>
          <a:p>
            <a:r>
              <a:rPr lang="en-ZA" sz="1100" dirty="0">
                <a:solidFill>
                  <a:schemeClr val="accent6"/>
                </a:solidFill>
              </a:rPr>
              <a:t>Table 3 : Two  Dataset Features and description tables side by side</a:t>
            </a:r>
          </a:p>
        </p:txBody>
      </p:sp>
      <p:sp>
        <p:nvSpPr>
          <p:cNvPr id="12" name="TextBox 11">
            <a:extLst>
              <a:ext uri="{FF2B5EF4-FFF2-40B4-BE49-F238E27FC236}">
                <a16:creationId xmlns:a16="http://schemas.microsoft.com/office/drawing/2014/main" id="{E760F707-BBF5-B6AB-8172-20D7E7DF22F4}"/>
              </a:ext>
            </a:extLst>
          </p:cNvPr>
          <p:cNvSpPr txBox="1"/>
          <p:nvPr/>
        </p:nvSpPr>
        <p:spPr>
          <a:xfrm>
            <a:off x="1250724" y="1142843"/>
            <a:ext cx="3517640" cy="400110"/>
          </a:xfrm>
          <a:prstGeom prst="rect">
            <a:avLst/>
          </a:prstGeom>
          <a:noFill/>
        </p:spPr>
        <p:txBody>
          <a:bodyPr wrap="square">
            <a:spAutoFit/>
          </a:bodyPr>
          <a:lstStyle/>
          <a:p>
            <a:pPr marL="0" marR="0" lvl="0" indent="0" algn="l">
              <a:lnSpc>
                <a:spcPct val="100000"/>
              </a:lnSpc>
              <a:spcBef>
                <a:spcPct val="0"/>
              </a:spcBef>
              <a:spcAft>
                <a:spcPct val="0"/>
              </a:spcAft>
              <a:buNone/>
            </a:pPr>
            <a:r>
              <a:rPr lang="en-US" sz="2000" b="1" dirty="0">
                <a:solidFill>
                  <a:srgbClr val="2E75B6"/>
                </a:solidFill>
              </a:rPr>
              <a:t>Dataset A – Cosmetic Retail</a:t>
            </a:r>
          </a:p>
        </p:txBody>
      </p:sp>
      <p:sp>
        <p:nvSpPr>
          <p:cNvPr id="14" name="TextBox 13">
            <a:extLst>
              <a:ext uri="{FF2B5EF4-FFF2-40B4-BE49-F238E27FC236}">
                <a16:creationId xmlns:a16="http://schemas.microsoft.com/office/drawing/2014/main" id="{3BAC5BB0-AA09-E32B-18D2-B2668BBF3971}"/>
              </a:ext>
            </a:extLst>
          </p:cNvPr>
          <p:cNvSpPr txBox="1"/>
          <p:nvPr/>
        </p:nvSpPr>
        <p:spPr>
          <a:xfrm>
            <a:off x="7247553" y="1123134"/>
            <a:ext cx="3517640" cy="400110"/>
          </a:xfrm>
          <a:prstGeom prst="rect">
            <a:avLst/>
          </a:prstGeom>
          <a:noFill/>
        </p:spPr>
        <p:txBody>
          <a:bodyPr wrap="square">
            <a:spAutoFit/>
          </a:bodyPr>
          <a:lstStyle/>
          <a:p>
            <a:r>
              <a:rPr lang="en-US" sz="2000" b="1" dirty="0">
                <a:solidFill>
                  <a:srgbClr val="2E75B6"/>
                </a:solidFill>
              </a:rPr>
              <a:t>Dataset B – UK Online Retail </a:t>
            </a:r>
            <a:endParaRPr lang="en-ZA" sz="2000" dirty="0"/>
          </a:p>
        </p:txBody>
      </p:sp>
      <p:cxnSp>
        <p:nvCxnSpPr>
          <p:cNvPr id="16" name="Straight Connector 15">
            <a:extLst>
              <a:ext uri="{FF2B5EF4-FFF2-40B4-BE49-F238E27FC236}">
                <a16:creationId xmlns:a16="http://schemas.microsoft.com/office/drawing/2014/main" id="{FDAEBFC4-EF65-CB67-D288-39794E6B1BC2}"/>
              </a:ext>
            </a:extLst>
          </p:cNvPr>
          <p:cNvCxnSpPr/>
          <p:nvPr/>
        </p:nvCxnSpPr>
        <p:spPr>
          <a:xfrm>
            <a:off x="5934633" y="1123134"/>
            <a:ext cx="0" cy="5287850"/>
          </a:xfrm>
          <a:prstGeom prst="line">
            <a:avLst/>
          </a:prstGeom>
          <a:ln w="762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FFFFB677-BB1C-FAB9-D4ED-13F01670BFFC}"/>
              </a:ext>
            </a:extLst>
          </p:cNvPr>
          <p:cNvGraphicFramePr>
            <a:graphicFrameLocks noGrp="1"/>
          </p:cNvGraphicFramePr>
          <p:nvPr>
            <p:extLst>
              <p:ext uri="{D42A27DB-BD31-4B8C-83A1-F6EECF244321}">
                <p14:modId xmlns:p14="http://schemas.microsoft.com/office/powerpoint/2010/main" val="65157286"/>
              </p:ext>
            </p:extLst>
          </p:nvPr>
        </p:nvGraphicFramePr>
        <p:xfrm>
          <a:off x="465038" y="1571408"/>
          <a:ext cx="4977024" cy="4901432"/>
        </p:xfrm>
        <a:graphic>
          <a:graphicData uri="http://schemas.openxmlformats.org/drawingml/2006/table">
            <a:tbl>
              <a:tblPr>
                <a:tableStyleId>{616DA210-FB5B-4158-B5E0-FEB733F419BA}</a:tableStyleId>
              </a:tblPr>
              <a:tblGrid>
                <a:gridCol w="1101924">
                  <a:extLst>
                    <a:ext uri="{9D8B030D-6E8A-4147-A177-3AD203B41FA5}">
                      <a16:colId xmlns:a16="http://schemas.microsoft.com/office/drawing/2014/main" val="2635327505"/>
                    </a:ext>
                  </a:extLst>
                </a:gridCol>
                <a:gridCol w="1077140">
                  <a:extLst>
                    <a:ext uri="{9D8B030D-6E8A-4147-A177-3AD203B41FA5}">
                      <a16:colId xmlns:a16="http://schemas.microsoft.com/office/drawing/2014/main" val="3687471656"/>
                    </a:ext>
                  </a:extLst>
                </a:gridCol>
                <a:gridCol w="2797960">
                  <a:extLst>
                    <a:ext uri="{9D8B030D-6E8A-4147-A177-3AD203B41FA5}">
                      <a16:colId xmlns:a16="http://schemas.microsoft.com/office/drawing/2014/main" val="543675315"/>
                    </a:ext>
                  </a:extLst>
                </a:gridCol>
              </a:tblGrid>
              <a:tr h="301831">
                <a:tc>
                  <a:txBody>
                    <a:bodyPr/>
                    <a:lstStyle/>
                    <a:p>
                      <a:pPr algn="ctr">
                        <a:buNone/>
                      </a:pPr>
                      <a:r>
                        <a:rPr lang="en-ZA" sz="1600" b="1" dirty="0"/>
                        <a:t>Features</a:t>
                      </a:r>
                    </a:p>
                  </a:txBody>
                  <a:tcPr marL="38170" marR="38170" marT="19085" marB="19085" anchor="ctr"/>
                </a:tc>
                <a:tc>
                  <a:txBody>
                    <a:bodyPr/>
                    <a:lstStyle/>
                    <a:p>
                      <a:pPr algn="ctr">
                        <a:buNone/>
                      </a:pPr>
                      <a:r>
                        <a:rPr lang="en-ZA" sz="1600" b="1" dirty="0"/>
                        <a:t>Data Type</a:t>
                      </a:r>
                    </a:p>
                  </a:txBody>
                  <a:tcPr marL="38170" marR="38170" marT="19085" marB="19085" anchor="ctr"/>
                </a:tc>
                <a:tc>
                  <a:txBody>
                    <a:bodyPr/>
                    <a:lstStyle/>
                    <a:p>
                      <a:pPr algn="ctr">
                        <a:buNone/>
                      </a:pPr>
                      <a:r>
                        <a:rPr lang="en-ZA" sz="1600" b="1" dirty="0"/>
                        <a:t>Description</a:t>
                      </a:r>
                    </a:p>
                  </a:txBody>
                  <a:tcPr marL="38170" marR="38170" marT="19085" marB="19085" anchor="ctr"/>
                </a:tc>
                <a:extLst>
                  <a:ext uri="{0D108BD9-81ED-4DB2-BD59-A6C34878D82A}">
                    <a16:rowId xmlns:a16="http://schemas.microsoft.com/office/drawing/2014/main" val="2705497590"/>
                  </a:ext>
                </a:extLst>
              </a:tr>
              <a:tr h="618914">
                <a:tc>
                  <a:txBody>
                    <a:bodyPr/>
                    <a:lstStyle/>
                    <a:p>
                      <a:pPr>
                        <a:buNone/>
                      </a:pPr>
                      <a:r>
                        <a:rPr lang="en-ZA" sz="1400" dirty="0" err="1"/>
                        <a:t>StoreNo</a:t>
                      </a:r>
                      <a:r>
                        <a:rPr lang="en-ZA" sz="1400" dirty="0"/>
                        <a:t> </a:t>
                      </a:r>
                    </a:p>
                  </a:txBody>
                  <a:tcPr marL="38170" marR="38170" marT="19085" marB="19085" anchor="ctr"/>
                </a:tc>
                <a:tc>
                  <a:txBody>
                    <a:bodyPr/>
                    <a:lstStyle/>
                    <a:p>
                      <a:pPr>
                        <a:buNone/>
                      </a:pPr>
                      <a:r>
                        <a:rPr lang="en-ZA" sz="1400" dirty="0"/>
                        <a:t>Numeric</a:t>
                      </a:r>
                    </a:p>
                  </a:txBody>
                  <a:tcPr marL="38170" marR="38170" marT="19085" marB="19085" anchor="ctr"/>
                </a:tc>
                <a:tc>
                  <a:txBody>
                    <a:bodyPr/>
                    <a:lstStyle/>
                    <a:p>
                      <a:pPr>
                        <a:buNone/>
                      </a:pPr>
                      <a:r>
                        <a:rPr lang="en-US" sz="1400" dirty="0"/>
                        <a:t>Store number </a:t>
                      </a:r>
                    </a:p>
                  </a:txBody>
                  <a:tcPr marL="38170" marR="38170" marT="19085" marB="19085" anchor="ctr"/>
                </a:tc>
                <a:extLst>
                  <a:ext uri="{0D108BD9-81ED-4DB2-BD59-A6C34878D82A}">
                    <a16:rowId xmlns:a16="http://schemas.microsoft.com/office/drawing/2014/main" val="1284206237"/>
                  </a:ext>
                </a:extLst>
              </a:tr>
              <a:tr h="711056">
                <a:tc>
                  <a:txBody>
                    <a:bodyPr/>
                    <a:lstStyle/>
                    <a:p>
                      <a:pPr>
                        <a:buNone/>
                      </a:pPr>
                      <a:r>
                        <a:rPr lang="en-ZA" sz="1400" dirty="0"/>
                        <a:t>Stock Keeping Unit (SKU)</a:t>
                      </a:r>
                    </a:p>
                  </a:txBody>
                  <a:tcPr marL="38170" marR="38170" marT="19085" marB="19085" anchor="ctr"/>
                </a:tc>
                <a:tc>
                  <a:txBody>
                    <a:bodyPr/>
                    <a:lstStyle/>
                    <a:p>
                      <a:pPr>
                        <a:buNone/>
                      </a:pPr>
                      <a:r>
                        <a:rPr lang="en-ZA" sz="1400" dirty="0"/>
                        <a:t>Numeric</a:t>
                      </a:r>
                    </a:p>
                  </a:txBody>
                  <a:tcPr marL="38170" marR="38170" marT="19085" marB="19085" anchor="ctr"/>
                </a:tc>
                <a:tc>
                  <a:txBody>
                    <a:bodyPr/>
                    <a:lstStyle/>
                    <a:p>
                      <a:pPr>
                        <a:buNone/>
                      </a:pPr>
                      <a:r>
                        <a:rPr lang="en-US" sz="1400" dirty="0"/>
                        <a:t>SKU Number code. A unique number is assigned to each distinct product</a:t>
                      </a:r>
                    </a:p>
                  </a:txBody>
                  <a:tcPr marL="38170" marR="38170" marT="19085" marB="19085" anchor="ctr"/>
                </a:tc>
                <a:extLst>
                  <a:ext uri="{0D108BD9-81ED-4DB2-BD59-A6C34878D82A}">
                    <a16:rowId xmlns:a16="http://schemas.microsoft.com/office/drawing/2014/main" val="209965597"/>
                  </a:ext>
                </a:extLst>
              </a:tr>
              <a:tr h="665476">
                <a:tc>
                  <a:txBody>
                    <a:bodyPr/>
                    <a:lstStyle/>
                    <a:p>
                      <a:pPr>
                        <a:buNone/>
                      </a:pPr>
                      <a:r>
                        <a:rPr lang="en-ZA" sz="1400" dirty="0"/>
                        <a:t>Quantity</a:t>
                      </a:r>
                    </a:p>
                  </a:txBody>
                  <a:tcPr marL="38170" marR="38170" marT="19085" marB="19085" anchor="ctr"/>
                </a:tc>
                <a:tc>
                  <a:txBody>
                    <a:bodyPr/>
                    <a:lstStyle/>
                    <a:p>
                      <a:pPr>
                        <a:buNone/>
                      </a:pPr>
                      <a:r>
                        <a:rPr lang="en-ZA" sz="1400" dirty="0"/>
                        <a:t>Numeric </a:t>
                      </a:r>
                    </a:p>
                  </a:txBody>
                  <a:tcPr marL="38170" marR="38170" marT="19085" marB="19085" anchor="ctr"/>
                </a:tc>
                <a:tc>
                  <a:txBody>
                    <a:bodyPr/>
                    <a:lstStyle/>
                    <a:p>
                      <a:pPr>
                        <a:buNone/>
                      </a:pPr>
                      <a:r>
                        <a:rPr lang="en-US" sz="1400" dirty="0"/>
                        <a:t>the quantities of each product (item) per transaction</a:t>
                      </a:r>
                    </a:p>
                  </a:txBody>
                  <a:tcPr marL="38170" marR="38170" marT="19085" marB="19085" anchor="ctr"/>
                </a:tc>
                <a:extLst>
                  <a:ext uri="{0D108BD9-81ED-4DB2-BD59-A6C34878D82A}">
                    <a16:rowId xmlns:a16="http://schemas.microsoft.com/office/drawing/2014/main" val="2474620540"/>
                  </a:ext>
                </a:extLst>
              </a:tr>
              <a:tr h="565199">
                <a:tc>
                  <a:txBody>
                    <a:bodyPr/>
                    <a:lstStyle/>
                    <a:p>
                      <a:pPr>
                        <a:buNone/>
                      </a:pPr>
                      <a:r>
                        <a:rPr lang="en-ZA" sz="1400" dirty="0" err="1"/>
                        <a:t>InvoiceDate</a:t>
                      </a:r>
                      <a:endParaRPr lang="en-ZA" sz="1400" dirty="0"/>
                    </a:p>
                  </a:txBody>
                  <a:tcPr marL="38170" marR="38170" marT="19085" marB="19085" anchor="ctr"/>
                </a:tc>
                <a:tc>
                  <a:txBody>
                    <a:bodyPr/>
                    <a:lstStyle/>
                    <a:p>
                      <a:pPr>
                        <a:buNone/>
                      </a:pPr>
                      <a:r>
                        <a:rPr lang="en-ZA" sz="1400" dirty="0"/>
                        <a:t>Date</a:t>
                      </a:r>
                    </a:p>
                  </a:txBody>
                  <a:tcPr marL="38170" marR="38170" marT="19085" marB="19085" anchor="ctr"/>
                </a:tc>
                <a:tc>
                  <a:txBody>
                    <a:bodyPr/>
                    <a:lstStyle/>
                    <a:p>
                      <a:pPr>
                        <a:buNone/>
                      </a:pPr>
                      <a:r>
                        <a:rPr lang="en-US" sz="1400" dirty="0"/>
                        <a:t>the day and time when each transaction was generated</a:t>
                      </a:r>
                    </a:p>
                  </a:txBody>
                  <a:tcPr marL="38170" marR="38170" marT="19085" marB="19085" anchor="ctr"/>
                </a:tc>
                <a:extLst>
                  <a:ext uri="{0D108BD9-81ED-4DB2-BD59-A6C34878D82A}">
                    <a16:rowId xmlns:a16="http://schemas.microsoft.com/office/drawing/2014/main" val="2875263041"/>
                  </a:ext>
                </a:extLst>
              </a:tr>
              <a:tr h="601663">
                <a:tc>
                  <a:txBody>
                    <a:bodyPr/>
                    <a:lstStyle/>
                    <a:p>
                      <a:pPr>
                        <a:buNone/>
                      </a:pPr>
                      <a:r>
                        <a:rPr lang="en-ZA" sz="1400" dirty="0" err="1"/>
                        <a:t>UnitPrice</a:t>
                      </a:r>
                      <a:endParaRPr lang="en-ZA" sz="1400" dirty="0"/>
                    </a:p>
                  </a:txBody>
                  <a:tcPr marL="38170" marR="38170" marT="19085" marB="19085" anchor="ctr"/>
                </a:tc>
                <a:tc>
                  <a:txBody>
                    <a:bodyPr/>
                    <a:lstStyle/>
                    <a:p>
                      <a:pPr>
                        <a:buNone/>
                      </a:pPr>
                      <a:r>
                        <a:rPr lang="en-ZA" sz="1400" dirty="0"/>
                        <a:t>Continuous</a:t>
                      </a:r>
                    </a:p>
                  </a:txBody>
                  <a:tcPr marL="38170" marR="38170" marT="19085" marB="19085" anchor="ctr"/>
                </a:tc>
                <a:tc>
                  <a:txBody>
                    <a:bodyPr/>
                    <a:lstStyle/>
                    <a:p>
                      <a:pPr>
                        <a:buNone/>
                      </a:pPr>
                      <a:r>
                        <a:rPr lang="en-ZA" sz="1400"/>
                        <a:t>product price per unit</a:t>
                      </a:r>
                    </a:p>
                  </a:txBody>
                  <a:tcPr marL="38170" marR="38170" marT="19085" marB="19085" anchor="ctr"/>
                </a:tc>
                <a:extLst>
                  <a:ext uri="{0D108BD9-81ED-4DB2-BD59-A6C34878D82A}">
                    <a16:rowId xmlns:a16="http://schemas.microsoft.com/office/drawing/2014/main" val="1966753122"/>
                  </a:ext>
                </a:extLst>
              </a:tr>
              <a:tr h="583430">
                <a:tc>
                  <a:txBody>
                    <a:bodyPr/>
                    <a:lstStyle/>
                    <a:p>
                      <a:pPr>
                        <a:buNone/>
                      </a:pPr>
                      <a:r>
                        <a:rPr lang="en-ZA" sz="1400" dirty="0"/>
                        <a:t>Supplier Cost</a:t>
                      </a:r>
                    </a:p>
                  </a:txBody>
                  <a:tcPr marL="38170" marR="38170" marT="19085" marB="19085" anchor="ctr"/>
                </a:tc>
                <a:tc>
                  <a:txBody>
                    <a:bodyPr/>
                    <a:lstStyle/>
                    <a:p>
                      <a:pPr>
                        <a:buNone/>
                      </a:pPr>
                      <a:r>
                        <a:rPr lang="en-ZA" sz="1400" dirty="0" err="1"/>
                        <a:t>Continous</a:t>
                      </a:r>
                      <a:r>
                        <a:rPr lang="en-ZA" sz="1400" dirty="0"/>
                        <a:t> </a:t>
                      </a:r>
                    </a:p>
                  </a:txBody>
                  <a:tcPr marL="38170" marR="38170" marT="19085" marB="19085" anchor="ctr"/>
                </a:tc>
                <a:tc>
                  <a:txBody>
                    <a:bodyPr/>
                    <a:lstStyle/>
                    <a:p>
                      <a:pPr>
                        <a:buNone/>
                      </a:pPr>
                      <a:r>
                        <a:rPr lang="en-ZA" sz="1400" dirty="0"/>
                        <a:t>Supplier Price</a:t>
                      </a:r>
                    </a:p>
                  </a:txBody>
                  <a:tcPr marL="38170" marR="38170" marT="19085" marB="19085" anchor="ctr"/>
                </a:tc>
                <a:extLst>
                  <a:ext uri="{0D108BD9-81ED-4DB2-BD59-A6C34878D82A}">
                    <a16:rowId xmlns:a16="http://schemas.microsoft.com/office/drawing/2014/main" val="1238251884"/>
                  </a:ext>
                </a:extLst>
              </a:tr>
              <a:tr h="853863">
                <a:tc>
                  <a:txBody>
                    <a:bodyPr/>
                    <a:lstStyle/>
                    <a:p>
                      <a:pPr>
                        <a:buNone/>
                      </a:pPr>
                      <a:r>
                        <a:rPr lang="en-ZA" sz="1400" dirty="0" err="1"/>
                        <a:t>PersonID</a:t>
                      </a:r>
                      <a:endParaRPr lang="en-ZA" sz="1400" dirty="0"/>
                    </a:p>
                  </a:txBody>
                  <a:tcPr marL="38170" marR="38170" marT="19085" marB="19085" anchor="ctr"/>
                </a:tc>
                <a:tc>
                  <a:txBody>
                    <a:bodyPr/>
                    <a:lstStyle/>
                    <a:p>
                      <a:pPr>
                        <a:buNone/>
                      </a:pPr>
                      <a:r>
                        <a:rPr lang="en-ZA" sz="1400" dirty="0"/>
                        <a:t>Numeric</a:t>
                      </a:r>
                    </a:p>
                  </a:txBody>
                  <a:tcPr marL="38170" marR="38170" marT="19085" marB="19085" anchor="ctr"/>
                </a:tc>
                <a:tc>
                  <a:txBody>
                    <a:bodyPr/>
                    <a:lstStyle/>
                    <a:p>
                      <a:pPr>
                        <a:buNone/>
                      </a:pPr>
                      <a:r>
                        <a:rPr lang="en-US" sz="1400" dirty="0"/>
                        <a:t>Customer Identification. Nominal, special integral value assigned to each customer. </a:t>
                      </a:r>
                    </a:p>
                  </a:txBody>
                  <a:tcPr marL="38170" marR="38170" marT="19085" marB="19085" anchor="ctr"/>
                </a:tc>
                <a:extLst>
                  <a:ext uri="{0D108BD9-81ED-4DB2-BD59-A6C34878D82A}">
                    <a16:rowId xmlns:a16="http://schemas.microsoft.com/office/drawing/2014/main" val="3348277196"/>
                  </a:ext>
                </a:extLst>
              </a:tr>
            </a:tbl>
          </a:graphicData>
        </a:graphic>
      </p:graphicFrame>
    </p:spTree>
    <p:extLst>
      <p:ext uri="{BB962C8B-B14F-4D97-AF65-F5344CB8AC3E}">
        <p14:creationId xmlns:p14="http://schemas.microsoft.com/office/powerpoint/2010/main" val="2240869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D735C79-517D-1337-5231-244D97A49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E206E6-EC97-7346-B358-D3901E1DCC5D}"/>
              </a:ext>
            </a:extLst>
          </p:cNvPr>
          <p:cNvSpPr>
            <a:spLocks noGrp="1"/>
          </p:cNvSpPr>
          <p:nvPr>
            <p:ph type="title"/>
          </p:nvPr>
        </p:nvSpPr>
        <p:spPr>
          <a:xfrm>
            <a:off x="4436906" y="387172"/>
            <a:ext cx="2921976" cy="471490"/>
          </a:xfrm>
        </p:spPr>
        <p:txBody>
          <a:bodyPr/>
          <a:lstStyle/>
          <a:p>
            <a:pPr algn="l"/>
            <a:r>
              <a:rPr lang="en-US" sz="3200" cap="none" dirty="0"/>
              <a:t>DATASET A</a:t>
            </a:r>
            <a:endParaRPr lang="en-ZA" sz="3200" dirty="0"/>
          </a:p>
        </p:txBody>
      </p:sp>
      <p:sp>
        <p:nvSpPr>
          <p:cNvPr id="9" name="TextBox 8">
            <a:extLst>
              <a:ext uri="{FF2B5EF4-FFF2-40B4-BE49-F238E27FC236}">
                <a16:creationId xmlns:a16="http://schemas.microsoft.com/office/drawing/2014/main" id="{D7D93BE8-882C-3C09-B099-5E764BE03BE7}"/>
              </a:ext>
            </a:extLst>
          </p:cNvPr>
          <p:cNvSpPr txBox="1"/>
          <p:nvPr/>
        </p:nvSpPr>
        <p:spPr>
          <a:xfrm>
            <a:off x="323365" y="1079699"/>
            <a:ext cx="6097554" cy="430887"/>
          </a:xfrm>
          <a:prstGeom prst="rect">
            <a:avLst/>
          </a:prstGeom>
          <a:noFill/>
        </p:spPr>
        <p:txBody>
          <a:bodyPr wrap="square">
            <a:spAutoFit/>
          </a:bodyPr>
          <a:lstStyle/>
          <a:p>
            <a:r>
              <a:rPr lang="en-US" sz="2200" b="1" cap="none" dirty="0">
                <a:solidFill>
                  <a:schemeClr val="accent6"/>
                </a:solidFill>
                <a:latin typeface="+mj-lt"/>
              </a:rPr>
              <a:t>Data Cleaning</a:t>
            </a:r>
            <a:endParaRPr lang="en-ZA" sz="2200" b="1" dirty="0">
              <a:solidFill>
                <a:schemeClr val="accent6"/>
              </a:solidFill>
              <a:latin typeface="+mj-lt"/>
            </a:endParaRPr>
          </a:p>
        </p:txBody>
      </p:sp>
      <p:sp>
        <p:nvSpPr>
          <p:cNvPr id="12" name="TextBox 11">
            <a:extLst>
              <a:ext uri="{FF2B5EF4-FFF2-40B4-BE49-F238E27FC236}">
                <a16:creationId xmlns:a16="http://schemas.microsoft.com/office/drawing/2014/main" id="{09D0038E-B12F-90E5-1CE3-9C324E32F78B}"/>
              </a:ext>
            </a:extLst>
          </p:cNvPr>
          <p:cNvSpPr txBox="1"/>
          <p:nvPr/>
        </p:nvSpPr>
        <p:spPr>
          <a:xfrm>
            <a:off x="329652" y="1667124"/>
            <a:ext cx="4233334" cy="4247317"/>
          </a:xfrm>
          <a:prstGeom prst="rect">
            <a:avLst/>
          </a:prstGeom>
          <a:noFill/>
        </p:spPr>
        <p:txBody>
          <a:bodyPr wrap="square">
            <a:spAutoFit/>
          </a:bodyPr>
          <a:lstStyle/>
          <a:p>
            <a:pPr marL="285750" indent="-285750">
              <a:spcAft>
                <a:spcPts val="1200"/>
              </a:spcAft>
              <a:buFont typeface="Arial" panose="020B0604020202020204" pitchFamily="34" charset="0"/>
              <a:buChar char="•"/>
            </a:pPr>
            <a:r>
              <a:rPr lang="en-US" b="1" dirty="0">
                <a:solidFill>
                  <a:schemeClr val="accent6"/>
                </a:solidFill>
              </a:rPr>
              <a:t>Handling Missing Data</a:t>
            </a:r>
          </a:p>
          <a:p>
            <a:pPr marL="742950" lvl="1" indent="-285750">
              <a:spcAft>
                <a:spcPts val="1200"/>
              </a:spcAft>
              <a:buFont typeface="Courier New" panose="02070309020205020404" pitchFamily="49" charset="0"/>
              <a:buChar char="o"/>
            </a:pPr>
            <a:r>
              <a:rPr lang="en-US" sz="1600" dirty="0">
                <a:solidFill>
                  <a:schemeClr val="accent6"/>
                </a:solidFill>
              </a:rPr>
              <a:t>Missing PERSON_IDs were exclusively linked to a single catch-all account (NWCUST_NO = 419700),</a:t>
            </a:r>
          </a:p>
          <a:p>
            <a:pPr marL="742950" lvl="1" indent="-285750">
              <a:spcAft>
                <a:spcPts val="1200"/>
              </a:spcAft>
              <a:buFont typeface="Courier New" panose="02070309020205020404" pitchFamily="49" charset="0"/>
              <a:buChar char="o"/>
            </a:pPr>
            <a:r>
              <a:rPr lang="en-US" sz="1600" dirty="0">
                <a:solidFill>
                  <a:schemeClr val="accent6"/>
                </a:solidFill>
              </a:rPr>
              <a:t>Missing values were removed since they represented non-member shoppers.</a:t>
            </a:r>
          </a:p>
          <a:p>
            <a:pPr lvl="1">
              <a:spcAft>
                <a:spcPts val="1200"/>
              </a:spcAft>
            </a:pPr>
            <a:endParaRPr lang="en-US" sz="1400" dirty="0">
              <a:solidFill>
                <a:schemeClr val="accent6"/>
              </a:solidFill>
            </a:endParaRPr>
          </a:p>
          <a:p>
            <a:pPr marL="285750" indent="-285750">
              <a:spcAft>
                <a:spcPts val="1200"/>
              </a:spcAft>
              <a:buFont typeface="Arial" panose="020B0604020202020204" pitchFamily="34" charset="0"/>
              <a:buChar char="•"/>
            </a:pPr>
            <a:r>
              <a:rPr lang="en-US" b="1" dirty="0">
                <a:solidFill>
                  <a:schemeClr val="accent6"/>
                </a:solidFill>
              </a:rPr>
              <a:t>Handling Returns</a:t>
            </a:r>
          </a:p>
          <a:p>
            <a:pPr marL="800100" lvl="1" indent="-342900">
              <a:spcAft>
                <a:spcPts val="1200"/>
              </a:spcAft>
              <a:buFont typeface="Courier New" panose="02070309020205020404" pitchFamily="49" charset="0"/>
              <a:buChar char="o"/>
            </a:pPr>
            <a:r>
              <a:rPr lang="en-US" sz="1600" dirty="0">
                <a:solidFill>
                  <a:schemeClr val="accent6"/>
                </a:solidFill>
              </a:rPr>
              <a:t>The dataset contained rows with negative quantities (e.g.  -1,-2,-9) and negative sales values</a:t>
            </a:r>
          </a:p>
          <a:p>
            <a:pPr marL="800100" lvl="1" indent="-342900">
              <a:spcAft>
                <a:spcPts val="1200"/>
              </a:spcAft>
              <a:buFont typeface="Courier New" panose="02070309020205020404" pitchFamily="49" charset="0"/>
              <a:buChar char="o"/>
            </a:pPr>
            <a:r>
              <a:rPr lang="en-US" sz="1600" dirty="0">
                <a:solidFill>
                  <a:schemeClr val="accent6"/>
                </a:solidFill>
              </a:rPr>
              <a:t>Filtered out negative sales </a:t>
            </a:r>
          </a:p>
        </p:txBody>
      </p:sp>
      <p:pic>
        <p:nvPicPr>
          <p:cNvPr id="16" name="Picture 15">
            <a:extLst>
              <a:ext uri="{FF2B5EF4-FFF2-40B4-BE49-F238E27FC236}">
                <a16:creationId xmlns:a16="http://schemas.microsoft.com/office/drawing/2014/main" id="{6AF28721-D0DF-AB71-FF34-17FD47DA5B20}"/>
              </a:ext>
            </a:extLst>
          </p:cNvPr>
          <p:cNvPicPr>
            <a:picLocks noChangeAspect="1"/>
          </p:cNvPicPr>
          <p:nvPr/>
        </p:nvPicPr>
        <p:blipFill>
          <a:blip r:embed="rId3"/>
          <a:srcRect/>
          <a:stretch/>
        </p:blipFill>
        <p:spPr>
          <a:xfrm>
            <a:off x="6096000" y="4066904"/>
            <a:ext cx="2484335" cy="325146"/>
          </a:xfrm>
          <a:prstGeom prst="rect">
            <a:avLst/>
          </a:prstGeom>
          <a:effectLst>
            <a:outerShdw blurRad="50800" dist="50800" dir="5400000" sx="110000" sy="110000" algn="ctr" rotWithShape="0">
              <a:srgbClr val="0070C0">
                <a:alpha val="43000"/>
              </a:srgbClr>
            </a:outerShdw>
          </a:effectLst>
        </p:spPr>
      </p:pic>
      <p:cxnSp>
        <p:nvCxnSpPr>
          <p:cNvPr id="17" name="Straight Connector 16">
            <a:extLst>
              <a:ext uri="{FF2B5EF4-FFF2-40B4-BE49-F238E27FC236}">
                <a16:creationId xmlns:a16="http://schemas.microsoft.com/office/drawing/2014/main" id="{F9AD9FFB-92A6-92BB-0282-6670FD0994BB}"/>
              </a:ext>
            </a:extLst>
          </p:cNvPr>
          <p:cNvCxnSpPr/>
          <p:nvPr/>
        </p:nvCxnSpPr>
        <p:spPr>
          <a:xfrm>
            <a:off x="5234310" y="1104221"/>
            <a:ext cx="0" cy="5287850"/>
          </a:xfrm>
          <a:prstGeom prst="line">
            <a:avLst/>
          </a:prstGeom>
          <a:ln w="762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3877B53-080C-DC8D-790C-DBEC3CC4ADC5}"/>
              </a:ext>
            </a:extLst>
          </p:cNvPr>
          <p:cNvSpPr txBox="1"/>
          <p:nvPr/>
        </p:nvSpPr>
        <p:spPr>
          <a:xfrm>
            <a:off x="5897894" y="993488"/>
            <a:ext cx="4117383" cy="369332"/>
          </a:xfrm>
          <a:prstGeom prst="rect">
            <a:avLst/>
          </a:prstGeom>
          <a:noFill/>
        </p:spPr>
        <p:txBody>
          <a:bodyPr wrap="square">
            <a:spAutoFit/>
          </a:bodyPr>
          <a:lstStyle/>
          <a:p>
            <a:r>
              <a:rPr lang="en-US" sz="1800" b="1" cap="none" dirty="0">
                <a:solidFill>
                  <a:schemeClr val="bg2">
                    <a:lumMod val="50000"/>
                  </a:schemeClr>
                </a:solidFill>
                <a:latin typeface="+mj-lt"/>
              </a:rPr>
              <a:t>Data + Code Snippets</a:t>
            </a:r>
            <a:endParaRPr lang="en-ZA" sz="1800" b="1" dirty="0">
              <a:solidFill>
                <a:schemeClr val="bg2">
                  <a:lumMod val="50000"/>
                </a:schemeClr>
              </a:solidFill>
              <a:latin typeface="+mj-lt"/>
            </a:endParaRPr>
          </a:p>
        </p:txBody>
      </p:sp>
      <p:pic>
        <p:nvPicPr>
          <p:cNvPr id="20" name="Picture 19">
            <a:extLst>
              <a:ext uri="{FF2B5EF4-FFF2-40B4-BE49-F238E27FC236}">
                <a16:creationId xmlns:a16="http://schemas.microsoft.com/office/drawing/2014/main" id="{8E0ED448-CD90-778E-00FB-D3E8C2B673B6}"/>
              </a:ext>
            </a:extLst>
          </p:cNvPr>
          <p:cNvPicPr>
            <a:picLocks noChangeAspect="1"/>
          </p:cNvPicPr>
          <p:nvPr/>
        </p:nvPicPr>
        <p:blipFill>
          <a:blip r:embed="rId4"/>
          <a:srcRect l="24446"/>
          <a:stretch>
            <a:fillRect/>
          </a:stretch>
        </p:blipFill>
        <p:spPr>
          <a:xfrm>
            <a:off x="5574892" y="1443903"/>
            <a:ext cx="6287451" cy="2396552"/>
          </a:xfrm>
          <a:prstGeom prst="rect">
            <a:avLst/>
          </a:prstGeom>
          <a:effectLst>
            <a:outerShdw blurRad="50800" dist="38100" dir="2700000" sx="1000" sy="1000" algn="tl" rotWithShape="0">
              <a:prstClr val="black">
                <a:alpha val="40000"/>
              </a:prstClr>
            </a:outerShdw>
          </a:effectLst>
        </p:spPr>
      </p:pic>
      <p:cxnSp>
        <p:nvCxnSpPr>
          <p:cNvPr id="22" name="Straight Arrow Connector 21">
            <a:extLst>
              <a:ext uri="{FF2B5EF4-FFF2-40B4-BE49-F238E27FC236}">
                <a16:creationId xmlns:a16="http://schemas.microsoft.com/office/drawing/2014/main" id="{317BF613-4094-E4D5-C0C3-691E926DC1B4}"/>
              </a:ext>
            </a:extLst>
          </p:cNvPr>
          <p:cNvCxnSpPr>
            <a:cxnSpLocks/>
          </p:cNvCxnSpPr>
          <p:nvPr/>
        </p:nvCxnSpPr>
        <p:spPr>
          <a:xfrm>
            <a:off x="3628103" y="2878013"/>
            <a:ext cx="5500711" cy="504226"/>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30F06CD-8574-A107-2F19-0D06CE2539D9}"/>
              </a:ext>
            </a:extLst>
          </p:cNvPr>
          <p:cNvCxnSpPr>
            <a:cxnSpLocks/>
          </p:cNvCxnSpPr>
          <p:nvPr/>
        </p:nvCxnSpPr>
        <p:spPr>
          <a:xfrm flipV="1">
            <a:off x="7440893" y="2816181"/>
            <a:ext cx="1687921" cy="45839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43" name="Picture 42">
            <a:extLst>
              <a:ext uri="{FF2B5EF4-FFF2-40B4-BE49-F238E27FC236}">
                <a16:creationId xmlns:a16="http://schemas.microsoft.com/office/drawing/2014/main" id="{D1122142-02CA-0B79-3A0E-0A1E582E2BC7}"/>
              </a:ext>
            </a:extLst>
          </p:cNvPr>
          <p:cNvPicPr>
            <a:picLocks noChangeAspect="1"/>
          </p:cNvPicPr>
          <p:nvPr/>
        </p:nvPicPr>
        <p:blipFill>
          <a:blip r:embed="rId5"/>
          <a:stretch>
            <a:fillRect/>
          </a:stretch>
        </p:blipFill>
        <p:spPr>
          <a:xfrm>
            <a:off x="5946387" y="4618500"/>
            <a:ext cx="5240272" cy="1441940"/>
          </a:xfrm>
          <a:prstGeom prst="rect">
            <a:avLst/>
          </a:prstGeom>
        </p:spPr>
      </p:pic>
      <p:pic>
        <p:nvPicPr>
          <p:cNvPr id="48" name="Picture 47">
            <a:extLst>
              <a:ext uri="{FF2B5EF4-FFF2-40B4-BE49-F238E27FC236}">
                <a16:creationId xmlns:a16="http://schemas.microsoft.com/office/drawing/2014/main" id="{6603EC2C-CC52-23B9-57A5-B5B9FEBDA669}"/>
              </a:ext>
            </a:extLst>
          </p:cNvPr>
          <p:cNvPicPr>
            <a:picLocks noChangeAspect="1"/>
          </p:cNvPicPr>
          <p:nvPr/>
        </p:nvPicPr>
        <p:blipFill>
          <a:blip r:embed="rId6"/>
          <a:srcRect/>
          <a:stretch/>
        </p:blipFill>
        <p:spPr>
          <a:xfrm>
            <a:off x="6166164" y="6328753"/>
            <a:ext cx="2549458" cy="284150"/>
          </a:xfrm>
          <a:prstGeom prst="rect">
            <a:avLst/>
          </a:prstGeom>
          <a:effectLst>
            <a:outerShdw blurRad="50800" dist="50800" dir="5400000" sx="114000" sy="114000" algn="ctr" rotWithShape="0">
              <a:srgbClr val="0070C0">
                <a:alpha val="43000"/>
              </a:srgbClr>
            </a:outerShdw>
          </a:effectLst>
        </p:spPr>
      </p:pic>
      <p:cxnSp>
        <p:nvCxnSpPr>
          <p:cNvPr id="51" name="Straight Arrow Connector 50">
            <a:extLst>
              <a:ext uri="{FF2B5EF4-FFF2-40B4-BE49-F238E27FC236}">
                <a16:creationId xmlns:a16="http://schemas.microsoft.com/office/drawing/2014/main" id="{C5169CFB-7790-6AD0-1B86-1C20E478BDC0}"/>
              </a:ext>
            </a:extLst>
          </p:cNvPr>
          <p:cNvCxnSpPr>
            <a:cxnSpLocks/>
          </p:cNvCxnSpPr>
          <p:nvPr/>
        </p:nvCxnSpPr>
        <p:spPr>
          <a:xfrm>
            <a:off x="3987349" y="5602147"/>
            <a:ext cx="4885827" cy="377330"/>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41ED4395-8640-A914-7313-4C10F5D2C9C2}"/>
              </a:ext>
            </a:extLst>
          </p:cNvPr>
          <p:cNvCxnSpPr>
            <a:cxnSpLocks/>
          </p:cNvCxnSpPr>
          <p:nvPr/>
        </p:nvCxnSpPr>
        <p:spPr>
          <a:xfrm>
            <a:off x="3372142" y="5521065"/>
            <a:ext cx="4058805" cy="458412"/>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0" name="Arrow: Up 9">
            <a:extLst>
              <a:ext uri="{FF2B5EF4-FFF2-40B4-BE49-F238E27FC236}">
                <a16:creationId xmlns:a16="http://schemas.microsoft.com/office/drawing/2014/main" id="{114F1AD9-E23A-1227-2212-8EDB6B7BDAF4}"/>
              </a:ext>
            </a:extLst>
          </p:cNvPr>
          <p:cNvSpPr/>
          <p:nvPr/>
        </p:nvSpPr>
        <p:spPr>
          <a:xfrm rot="3765723">
            <a:off x="10698263" y="3252681"/>
            <a:ext cx="176190" cy="369590"/>
          </a:xfrm>
          <a:prstGeom prst="upArrow">
            <a:avLst>
              <a:gd name="adj1" fmla="val 50000"/>
              <a:gd name="adj2" fmla="val 55320"/>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Arrow: Up 10">
            <a:extLst>
              <a:ext uri="{FF2B5EF4-FFF2-40B4-BE49-F238E27FC236}">
                <a16:creationId xmlns:a16="http://schemas.microsoft.com/office/drawing/2014/main" id="{9F039A39-33C2-8956-3D02-56AD69B0317F}"/>
              </a:ext>
            </a:extLst>
          </p:cNvPr>
          <p:cNvSpPr/>
          <p:nvPr/>
        </p:nvSpPr>
        <p:spPr>
          <a:xfrm rot="3765723">
            <a:off x="10719241" y="2693218"/>
            <a:ext cx="147406" cy="369590"/>
          </a:xfrm>
          <a:prstGeom prst="upArrow">
            <a:avLst>
              <a:gd name="adj1" fmla="val 50000"/>
              <a:gd name="adj2" fmla="val 55320"/>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37884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3AE6453-CCE8-386C-FC9A-B28AC60D4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7EA8B-953C-6B7F-9702-BD4164BCD553}"/>
              </a:ext>
            </a:extLst>
          </p:cNvPr>
          <p:cNvSpPr>
            <a:spLocks noGrp="1"/>
          </p:cNvSpPr>
          <p:nvPr>
            <p:ph type="title"/>
          </p:nvPr>
        </p:nvSpPr>
        <p:spPr>
          <a:xfrm>
            <a:off x="4906263" y="272318"/>
            <a:ext cx="2806229" cy="471490"/>
          </a:xfrm>
        </p:spPr>
        <p:txBody>
          <a:bodyPr/>
          <a:lstStyle/>
          <a:p>
            <a:pPr algn="l"/>
            <a:r>
              <a:rPr lang="en-US" sz="3200" cap="none" dirty="0"/>
              <a:t>DATASET A</a:t>
            </a:r>
            <a:endParaRPr lang="en-ZA" sz="3200" dirty="0"/>
          </a:p>
        </p:txBody>
      </p:sp>
      <p:sp>
        <p:nvSpPr>
          <p:cNvPr id="9" name="TextBox 8">
            <a:extLst>
              <a:ext uri="{FF2B5EF4-FFF2-40B4-BE49-F238E27FC236}">
                <a16:creationId xmlns:a16="http://schemas.microsoft.com/office/drawing/2014/main" id="{54CB851F-C93F-3341-08F1-B0B291160F7F}"/>
              </a:ext>
            </a:extLst>
          </p:cNvPr>
          <p:cNvSpPr txBox="1"/>
          <p:nvPr/>
        </p:nvSpPr>
        <p:spPr>
          <a:xfrm>
            <a:off x="228646" y="868134"/>
            <a:ext cx="6097554" cy="430887"/>
          </a:xfrm>
          <a:prstGeom prst="rect">
            <a:avLst/>
          </a:prstGeom>
          <a:noFill/>
        </p:spPr>
        <p:txBody>
          <a:bodyPr wrap="square">
            <a:spAutoFit/>
          </a:bodyPr>
          <a:lstStyle/>
          <a:p>
            <a:r>
              <a:rPr lang="en-US" sz="2200" b="1" cap="none" dirty="0">
                <a:solidFill>
                  <a:schemeClr val="accent6"/>
                </a:solidFill>
                <a:latin typeface="+mj-lt"/>
              </a:rPr>
              <a:t>Data Cleaning</a:t>
            </a:r>
            <a:endParaRPr lang="en-ZA" sz="2200" b="1" dirty="0">
              <a:solidFill>
                <a:schemeClr val="accent6"/>
              </a:solidFill>
              <a:latin typeface="+mj-lt"/>
            </a:endParaRPr>
          </a:p>
        </p:txBody>
      </p:sp>
      <p:cxnSp>
        <p:nvCxnSpPr>
          <p:cNvPr id="17" name="Straight Connector 16">
            <a:extLst>
              <a:ext uri="{FF2B5EF4-FFF2-40B4-BE49-F238E27FC236}">
                <a16:creationId xmlns:a16="http://schemas.microsoft.com/office/drawing/2014/main" id="{784F2F64-5FF6-D190-56AE-A83A368D10F4}"/>
              </a:ext>
            </a:extLst>
          </p:cNvPr>
          <p:cNvCxnSpPr>
            <a:cxnSpLocks/>
          </p:cNvCxnSpPr>
          <p:nvPr/>
        </p:nvCxnSpPr>
        <p:spPr>
          <a:xfrm flipH="1">
            <a:off x="323365" y="3583173"/>
            <a:ext cx="11545270" cy="0"/>
          </a:xfrm>
          <a:prstGeom prst="line">
            <a:avLst/>
          </a:prstGeom>
          <a:ln w="762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D472398-F56F-0659-10AA-D2D6F2F85ACD}"/>
              </a:ext>
            </a:extLst>
          </p:cNvPr>
          <p:cNvSpPr txBox="1"/>
          <p:nvPr/>
        </p:nvSpPr>
        <p:spPr>
          <a:xfrm>
            <a:off x="4906263" y="2690134"/>
            <a:ext cx="4117383" cy="369332"/>
          </a:xfrm>
          <a:prstGeom prst="rect">
            <a:avLst/>
          </a:prstGeom>
          <a:noFill/>
        </p:spPr>
        <p:txBody>
          <a:bodyPr wrap="square">
            <a:spAutoFit/>
          </a:bodyPr>
          <a:lstStyle/>
          <a:p>
            <a:r>
              <a:rPr lang="en-US" sz="1800" b="1" cap="none" dirty="0">
                <a:solidFill>
                  <a:schemeClr val="bg2">
                    <a:lumMod val="50000"/>
                  </a:schemeClr>
                </a:solidFill>
                <a:latin typeface="+mj-lt"/>
              </a:rPr>
              <a:t>Code Snippet</a:t>
            </a:r>
            <a:endParaRPr lang="en-ZA" sz="1800" b="1" dirty="0">
              <a:solidFill>
                <a:schemeClr val="bg2">
                  <a:lumMod val="50000"/>
                </a:schemeClr>
              </a:solidFill>
              <a:latin typeface="+mj-lt"/>
            </a:endParaRPr>
          </a:p>
        </p:txBody>
      </p:sp>
      <p:pic>
        <p:nvPicPr>
          <p:cNvPr id="5" name="Picture 4">
            <a:extLst>
              <a:ext uri="{FF2B5EF4-FFF2-40B4-BE49-F238E27FC236}">
                <a16:creationId xmlns:a16="http://schemas.microsoft.com/office/drawing/2014/main" id="{94DE73E8-C659-D113-1110-64CB22BF02E6}"/>
              </a:ext>
            </a:extLst>
          </p:cNvPr>
          <p:cNvPicPr>
            <a:picLocks noChangeAspect="1"/>
          </p:cNvPicPr>
          <p:nvPr/>
        </p:nvPicPr>
        <p:blipFill>
          <a:blip r:embed="rId3"/>
          <a:stretch>
            <a:fillRect/>
          </a:stretch>
        </p:blipFill>
        <p:spPr>
          <a:xfrm>
            <a:off x="3175170" y="3059466"/>
            <a:ext cx="5542434" cy="352256"/>
          </a:xfrm>
          <a:prstGeom prst="rect">
            <a:avLst/>
          </a:prstGeom>
        </p:spPr>
      </p:pic>
      <p:sp>
        <p:nvSpPr>
          <p:cNvPr id="7" name="TextBox 6">
            <a:extLst>
              <a:ext uri="{FF2B5EF4-FFF2-40B4-BE49-F238E27FC236}">
                <a16:creationId xmlns:a16="http://schemas.microsoft.com/office/drawing/2014/main" id="{878E67CB-95AC-C02E-62E3-F0AD97DA7065}"/>
              </a:ext>
            </a:extLst>
          </p:cNvPr>
          <p:cNvSpPr txBox="1"/>
          <p:nvPr/>
        </p:nvSpPr>
        <p:spPr>
          <a:xfrm>
            <a:off x="276005" y="1249703"/>
            <a:ext cx="11639989" cy="3570208"/>
          </a:xfrm>
          <a:prstGeom prst="rect">
            <a:avLst/>
          </a:prstGeom>
          <a:noFill/>
        </p:spPr>
        <p:txBody>
          <a:bodyPr wrap="square">
            <a:spAutoFit/>
          </a:bodyPr>
          <a:lstStyle/>
          <a:p>
            <a:pPr>
              <a:spcAft>
                <a:spcPts val="1200"/>
              </a:spcAft>
            </a:pPr>
            <a:r>
              <a:rPr lang="en-ZA" sz="1800" b="1" dirty="0">
                <a:solidFill>
                  <a:schemeClr val="accent6"/>
                </a:solidFill>
              </a:rPr>
              <a:t>Dates Validation</a:t>
            </a:r>
          </a:p>
          <a:p>
            <a:pPr marL="285750" indent="-285750">
              <a:spcAft>
                <a:spcPts val="1200"/>
              </a:spcAft>
              <a:buFont typeface="Arial" panose="020B0604020202020204" pitchFamily="34" charset="0"/>
              <a:buChar char="•"/>
            </a:pPr>
            <a:r>
              <a:rPr lang="en-US" sz="1400" dirty="0">
                <a:solidFill>
                  <a:schemeClr val="accent6"/>
                </a:solidFill>
              </a:rPr>
              <a:t>Dates were formatted as raw text strings (e.g., 08/MAY/24), which prevents chronological sorting and time-based math.</a:t>
            </a:r>
          </a:p>
          <a:p>
            <a:pPr marL="285750" indent="-285750">
              <a:spcAft>
                <a:spcPts val="1200"/>
              </a:spcAft>
              <a:buFont typeface="Arial" panose="020B0604020202020204" pitchFamily="34" charset="0"/>
              <a:buChar char="•"/>
            </a:pPr>
            <a:r>
              <a:rPr lang="en-US" sz="1400" dirty="0">
                <a:solidFill>
                  <a:schemeClr val="accent6"/>
                </a:solidFill>
              </a:rPr>
              <a:t>Standardized the format into intelligent </a:t>
            </a:r>
            <a:r>
              <a:rPr lang="en-US" sz="1400" dirty="0" err="1">
                <a:solidFill>
                  <a:schemeClr val="accent6"/>
                </a:solidFill>
              </a:rPr>
              <a:t>DateTime</a:t>
            </a:r>
            <a:r>
              <a:rPr lang="en-US" sz="1400" dirty="0">
                <a:solidFill>
                  <a:schemeClr val="accent6"/>
                </a:solidFill>
              </a:rPr>
              <a:t> objects using Pandas (</a:t>
            </a:r>
            <a:r>
              <a:rPr lang="en-US" sz="1400" dirty="0" err="1">
                <a:solidFill>
                  <a:schemeClr val="accent6"/>
                </a:solidFill>
              </a:rPr>
              <a:t>pd.to_datetime</a:t>
            </a:r>
            <a:r>
              <a:rPr lang="en-US" sz="1400" dirty="0">
                <a:solidFill>
                  <a:schemeClr val="accent6"/>
                </a:solidFill>
              </a:rPr>
              <a:t>).</a:t>
            </a:r>
            <a:endParaRPr lang="en-ZA" dirty="0">
              <a:solidFill>
                <a:schemeClr val="accent6"/>
              </a:solidFill>
            </a:endParaRPr>
          </a:p>
          <a:p>
            <a:pPr>
              <a:spcAft>
                <a:spcPts val="1200"/>
              </a:spcAft>
            </a:pPr>
            <a:endParaRPr lang="en-ZA" sz="1800" dirty="0">
              <a:solidFill>
                <a:schemeClr val="accent6"/>
              </a:solidFill>
            </a:endParaRPr>
          </a:p>
          <a:p>
            <a:pPr>
              <a:spcAft>
                <a:spcPts val="1200"/>
              </a:spcAft>
            </a:pPr>
            <a:endParaRPr lang="en-ZA" sz="1800" dirty="0">
              <a:solidFill>
                <a:schemeClr val="accent6"/>
              </a:solidFill>
            </a:endParaRPr>
          </a:p>
          <a:p>
            <a:pPr>
              <a:spcAft>
                <a:spcPts val="1200"/>
              </a:spcAft>
            </a:pPr>
            <a:endParaRPr lang="en-US" sz="1800" b="1" dirty="0">
              <a:solidFill>
                <a:schemeClr val="accent6"/>
              </a:solidFill>
              <a:latin typeface="Sabon Next LT"/>
            </a:endParaRPr>
          </a:p>
          <a:p>
            <a:pPr>
              <a:spcAft>
                <a:spcPts val="1200"/>
              </a:spcAft>
            </a:pPr>
            <a:r>
              <a:rPr lang="en-US" b="1" dirty="0">
                <a:solidFill>
                  <a:schemeClr val="accent6"/>
                </a:solidFill>
                <a:latin typeface="Sabon Next LT"/>
              </a:rPr>
              <a:t>Aggregate from transaction-level to customer-level</a:t>
            </a:r>
          </a:p>
          <a:p>
            <a:pPr>
              <a:spcAft>
                <a:spcPts val="1200"/>
              </a:spcAft>
            </a:pPr>
            <a:r>
              <a:rPr lang="en-US" sz="1400" dirty="0">
                <a:solidFill>
                  <a:schemeClr val="accent6"/>
                </a:solidFill>
                <a:latin typeface="Sabon Next LT"/>
              </a:rPr>
              <a:t>Converting the dataset from "one row per scanned item" to "one row per unique PERSON_ID" to analyze individual customer behavior</a:t>
            </a:r>
          </a:p>
          <a:p>
            <a:pPr>
              <a:spcAft>
                <a:spcPts val="1200"/>
              </a:spcAft>
            </a:pPr>
            <a:endParaRPr lang="en-US" sz="1400" dirty="0">
              <a:solidFill>
                <a:schemeClr val="accent6"/>
              </a:solidFill>
              <a:latin typeface="Sabon Next LT"/>
            </a:endParaRPr>
          </a:p>
        </p:txBody>
      </p:sp>
      <p:pic>
        <p:nvPicPr>
          <p:cNvPr id="19" name="Picture 18">
            <a:extLst>
              <a:ext uri="{FF2B5EF4-FFF2-40B4-BE49-F238E27FC236}">
                <a16:creationId xmlns:a16="http://schemas.microsoft.com/office/drawing/2014/main" id="{76687063-6825-2943-F469-FD91E1A16A78}"/>
              </a:ext>
            </a:extLst>
          </p:cNvPr>
          <p:cNvPicPr>
            <a:picLocks noChangeAspect="1"/>
          </p:cNvPicPr>
          <p:nvPr/>
        </p:nvPicPr>
        <p:blipFill>
          <a:blip r:embed="rId4"/>
          <a:srcRect t="49593"/>
          <a:stretch>
            <a:fillRect/>
          </a:stretch>
        </p:blipFill>
        <p:spPr>
          <a:xfrm>
            <a:off x="462987" y="5347987"/>
            <a:ext cx="3379808" cy="1054307"/>
          </a:xfrm>
          <a:prstGeom prst="rect">
            <a:avLst/>
          </a:prstGeom>
        </p:spPr>
      </p:pic>
      <p:pic>
        <p:nvPicPr>
          <p:cNvPr id="23" name="Picture 22">
            <a:extLst>
              <a:ext uri="{FF2B5EF4-FFF2-40B4-BE49-F238E27FC236}">
                <a16:creationId xmlns:a16="http://schemas.microsoft.com/office/drawing/2014/main" id="{7C6143DD-1D59-D5FD-09C5-30402A3A8446}"/>
              </a:ext>
            </a:extLst>
          </p:cNvPr>
          <p:cNvPicPr>
            <a:picLocks noChangeAspect="1"/>
          </p:cNvPicPr>
          <p:nvPr/>
        </p:nvPicPr>
        <p:blipFill>
          <a:blip r:embed="rId5"/>
          <a:stretch>
            <a:fillRect/>
          </a:stretch>
        </p:blipFill>
        <p:spPr>
          <a:xfrm>
            <a:off x="462987" y="5200870"/>
            <a:ext cx="3379808" cy="147117"/>
          </a:xfrm>
          <a:prstGeom prst="rect">
            <a:avLst/>
          </a:prstGeom>
        </p:spPr>
      </p:pic>
      <p:sp>
        <p:nvSpPr>
          <p:cNvPr id="24" name="Arrow: Right 23">
            <a:extLst>
              <a:ext uri="{FF2B5EF4-FFF2-40B4-BE49-F238E27FC236}">
                <a16:creationId xmlns:a16="http://schemas.microsoft.com/office/drawing/2014/main" id="{E18FD015-41B4-3D63-D53D-C05BC5B1EB63}"/>
              </a:ext>
            </a:extLst>
          </p:cNvPr>
          <p:cNvSpPr/>
          <p:nvPr/>
        </p:nvSpPr>
        <p:spPr>
          <a:xfrm>
            <a:off x="4010628" y="5567423"/>
            <a:ext cx="509286" cy="3077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26" name="Picture 25">
            <a:extLst>
              <a:ext uri="{FF2B5EF4-FFF2-40B4-BE49-F238E27FC236}">
                <a16:creationId xmlns:a16="http://schemas.microsoft.com/office/drawing/2014/main" id="{3B1002CB-1335-4A20-96A8-6438B06362E2}"/>
              </a:ext>
            </a:extLst>
          </p:cNvPr>
          <p:cNvPicPr>
            <a:picLocks noChangeAspect="1"/>
          </p:cNvPicPr>
          <p:nvPr/>
        </p:nvPicPr>
        <p:blipFill>
          <a:blip r:embed="rId6"/>
          <a:stretch>
            <a:fillRect/>
          </a:stretch>
        </p:blipFill>
        <p:spPr>
          <a:xfrm>
            <a:off x="4732957" y="5135207"/>
            <a:ext cx="3044142" cy="1280271"/>
          </a:xfrm>
          <a:prstGeom prst="rect">
            <a:avLst/>
          </a:prstGeom>
        </p:spPr>
      </p:pic>
      <p:sp>
        <p:nvSpPr>
          <p:cNvPr id="28" name="Arrow: Right 27">
            <a:extLst>
              <a:ext uri="{FF2B5EF4-FFF2-40B4-BE49-F238E27FC236}">
                <a16:creationId xmlns:a16="http://schemas.microsoft.com/office/drawing/2014/main" id="{86E32612-D7DF-E4ED-9E9F-72D9D89C49AA}"/>
              </a:ext>
            </a:extLst>
          </p:cNvPr>
          <p:cNvSpPr/>
          <p:nvPr/>
        </p:nvSpPr>
        <p:spPr>
          <a:xfrm>
            <a:off x="7909896" y="5567423"/>
            <a:ext cx="509286" cy="3077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0" name="Picture 29">
            <a:extLst>
              <a:ext uri="{FF2B5EF4-FFF2-40B4-BE49-F238E27FC236}">
                <a16:creationId xmlns:a16="http://schemas.microsoft.com/office/drawing/2014/main" id="{A2327EE9-C5EE-13A9-FCC2-17DB0BB283C9}"/>
              </a:ext>
            </a:extLst>
          </p:cNvPr>
          <p:cNvPicPr>
            <a:picLocks noChangeAspect="1"/>
          </p:cNvPicPr>
          <p:nvPr/>
        </p:nvPicPr>
        <p:blipFill>
          <a:blip r:embed="rId7"/>
          <a:stretch>
            <a:fillRect/>
          </a:stretch>
        </p:blipFill>
        <p:spPr>
          <a:xfrm>
            <a:off x="8478673" y="5135206"/>
            <a:ext cx="3484681" cy="1265593"/>
          </a:xfrm>
          <a:prstGeom prst="rect">
            <a:avLst/>
          </a:prstGeom>
        </p:spPr>
      </p:pic>
      <p:sp>
        <p:nvSpPr>
          <p:cNvPr id="31" name="TextBox 30">
            <a:extLst>
              <a:ext uri="{FF2B5EF4-FFF2-40B4-BE49-F238E27FC236}">
                <a16:creationId xmlns:a16="http://schemas.microsoft.com/office/drawing/2014/main" id="{2ECC21B4-947D-6AB5-5821-355F3126DD18}"/>
              </a:ext>
            </a:extLst>
          </p:cNvPr>
          <p:cNvSpPr txBox="1"/>
          <p:nvPr/>
        </p:nvSpPr>
        <p:spPr>
          <a:xfrm>
            <a:off x="4519914" y="4635245"/>
            <a:ext cx="4117383" cy="369332"/>
          </a:xfrm>
          <a:prstGeom prst="rect">
            <a:avLst/>
          </a:prstGeom>
          <a:noFill/>
        </p:spPr>
        <p:txBody>
          <a:bodyPr wrap="square">
            <a:spAutoFit/>
          </a:bodyPr>
          <a:lstStyle/>
          <a:p>
            <a:r>
              <a:rPr lang="en-US" sz="1800" b="1" cap="none" dirty="0">
                <a:solidFill>
                  <a:schemeClr val="bg2">
                    <a:lumMod val="50000"/>
                  </a:schemeClr>
                </a:solidFill>
                <a:latin typeface="+mj-lt"/>
              </a:rPr>
              <a:t>Data + Code Snippets</a:t>
            </a:r>
            <a:endParaRPr lang="en-ZA" sz="1800" b="1" dirty="0">
              <a:solidFill>
                <a:schemeClr val="bg2">
                  <a:lumMod val="50000"/>
                </a:schemeClr>
              </a:solidFill>
              <a:latin typeface="+mj-lt"/>
            </a:endParaRPr>
          </a:p>
        </p:txBody>
      </p:sp>
    </p:spTree>
    <p:extLst>
      <p:ext uri="{BB962C8B-B14F-4D97-AF65-F5344CB8AC3E}">
        <p14:creationId xmlns:p14="http://schemas.microsoft.com/office/powerpoint/2010/main" val="679234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2502AD8-E444-5D64-ECBE-3795112D7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7FA1C9-3811-D83B-B9A6-1978EBF2B778}"/>
              </a:ext>
            </a:extLst>
          </p:cNvPr>
          <p:cNvSpPr>
            <a:spLocks noGrp="1"/>
          </p:cNvSpPr>
          <p:nvPr>
            <p:ph type="title"/>
          </p:nvPr>
        </p:nvSpPr>
        <p:spPr>
          <a:xfrm>
            <a:off x="4333430" y="352083"/>
            <a:ext cx="3525140" cy="471490"/>
          </a:xfrm>
        </p:spPr>
        <p:txBody>
          <a:bodyPr/>
          <a:lstStyle/>
          <a:p>
            <a:pPr algn="l"/>
            <a:r>
              <a:rPr lang="en-US" sz="3200" dirty="0"/>
              <a:t>Time Slicing</a:t>
            </a:r>
            <a:endParaRPr lang="en-ZA" sz="3200" dirty="0"/>
          </a:p>
        </p:txBody>
      </p:sp>
      <p:sp>
        <p:nvSpPr>
          <p:cNvPr id="7" name="TextBox 6">
            <a:extLst>
              <a:ext uri="{FF2B5EF4-FFF2-40B4-BE49-F238E27FC236}">
                <a16:creationId xmlns:a16="http://schemas.microsoft.com/office/drawing/2014/main" id="{A7CE26C7-FD81-1038-5869-F1C14F462C4A}"/>
              </a:ext>
            </a:extLst>
          </p:cNvPr>
          <p:cNvSpPr txBox="1"/>
          <p:nvPr/>
        </p:nvSpPr>
        <p:spPr>
          <a:xfrm>
            <a:off x="255317" y="1533808"/>
            <a:ext cx="5512957" cy="584775"/>
          </a:xfrm>
          <a:prstGeom prst="rect">
            <a:avLst/>
          </a:prstGeom>
          <a:noFill/>
        </p:spPr>
        <p:txBody>
          <a:bodyPr wrap="square">
            <a:spAutoFit/>
          </a:bodyPr>
          <a:lstStyle/>
          <a:p>
            <a:pPr>
              <a:spcAft>
                <a:spcPts val="1200"/>
              </a:spcAft>
            </a:pPr>
            <a:r>
              <a:rPr lang="en-US" sz="1600" b="1" dirty="0">
                <a:solidFill>
                  <a:schemeClr val="accent6"/>
                </a:solidFill>
              </a:rPr>
              <a:t>GOAL: Simulates real-world retail environments where data arrives in monthly streams.</a:t>
            </a:r>
            <a:endParaRPr lang="en-US" sz="1600" b="1" dirty="0">
              <a:solidFill>
                <a:schemeClr val="accent6"/>
              </a:solidFill>
              <a:latin typeface="Sabon Next LT"/>
            </a:endParaRPr>
          </a:p>
        </p:txBody>
      </p:sp>
      <p:sp>
        <p:nvSpPr>
          <p:cNvPr id="30" name="TextBox 29">
            <a:extLst>
              <a:ext uri="{FF2B5EF4-FFF2-40B4-BE49-F238E27FC236}">
                <a16:creationId xmlns:a16="http://schemas.microsoft.com/office/drawing/2014/main" id="{DFED5DCE-A137-A8D5-CF87-C241DF1C8ED1}"/>
              </a:ext>
            </a:extLst>
          </p:cNvPr>
          <p:cNvSpPr txBox="1"/>
          <p:nvPr/>
        </p:nvSpPr>
        <p:spPr>
          <a:xfrm>
            <a:off x="255317" y="2443514"/>
            <a:ext cx="5076979" cy="738664"/>
          </a:xfrm>
          <a:prstGeom prst="rect">
            <a:avLst/>
          </a:prstGeom>
          <a:noFill/>
        </p:spPr>
        <p:txBody>
          <a:bodyPr wrap="square">
            <a:spAutoFit/>
          </a:bodyPr>
          <a:lstStyle/>
          <a:p>
            <a:r>
              <a:rPr lang="en-US" sz="1400" b="1" dirty="0">
                <a:solidFill>
                  <a:schemeClr val="accent6"/>
                </a:solidFill>
              </a:rPr>
              <a:t>Chronological Sorting:</a:t>
            </a:r>
            <a:r>
              <a:rPr lang="en-US" sz="1400" dirty="0">
                <a:solidFill>
                  <a:schemeClr val="accent6"/>
                </a:solidFill>
              </a:rPr>
              <a:t> All transactions were strictly ordered by timestamp to prevent "data leakage" (accidentally using future data to predict the past).</a:t>
            </a:r>
            <a:endParaRPr lang="en-ZA" sz="1400" dirty="0">
              <a:solidFill>
                <a:schemeClr val="accent6"/>
              </a:solidFill>
            </a:endParaRPr>
          </a:p>
        </p:txBody>
      </p:sp>
      <p:sp>
        <p:nvSpPr>
          <p:cNvPr id="32" name="TextBox 31">
            <a:extLst>
              <a:ext uri="{FF2B5EF4-FFF2-40B4-BE49-F238E27FC236}">
                <a16:creationId xmlns:a16="http://schemas.microsoft.com/office/drawing/2014/main" id="{79750428-FB75-8DEA-40F6-860C85840A73}"/>
              </a:ext>
            </a:extLst>
          </p:cNvPr>
          <p:cNvSpPr txBox="1"/>
          <p:nvPr/>
        </p:nvSpPr>
        <p:spPr>
          <a:xfrm>
            <a:off x="263734" y="3347979"/>
            <a:ext cx="5574465" cy="738664"/>
          </a:xfrm>
          <a:prstGeom prst="rect">
            <a:avLst/>
          </a:prstGeom>
          <a:noFill/>
        </p:spPr>
        <p:txBody>
          <a:bodyPr wrap="square">
            <a:spAutoFit/>
          </a:bodyPr>
          <a:lstStyle/>
          <a:p>
            <a:pPr>
              <a:buNone/>
            </a:pPr>
            <a:r>
              <a:rPr lang="en-US" sz="1400" b="1" dirty="0">
                <a:solidFill>
                  <a:schemeClr val="accent6"/>
                </a:solidFill>
              </a:rPr>
              <a:t>Cycle 0 (The Baseline):</a:t>
            </a:r>
            <a:endParaRPr lang="en-US" sz="1400" dirty="0">
              <a:solidFill>
                <a:schemeClr val="accent6"/>
              </a:solidFill>
            </a:endParaRPr>
          </a:p>
          <a:p>
            <a:pPr>
              <a:buFont typeface="Arial" panose="020B0604020202020204" pitchFamily="34" charset="0"/>
              <a:buChar char="•"/>
            </a:pPr>
            <a:r>
              <a:rPr lang="en-US" sz="1400" dirty="0">
                <a:solidFill>
                  <a:schemeClr val="accent6"/>
                </a:solidFill>
              </a:rPr>
              <a:t>Pipeline A (Cosmetic): First 2 months of transactions.</a:t>
            </a:r>
          </a:p>
          <a:p>
            <a:pPr>
              <a:buFont typeface="Arial" panose="020B0604020202020204" pitchFamily="34" charset="0"/>
              <a:buChar char="•"/>
            </a:pPr>
            <a:r>
              <a:rPr lang="en-US" sz="1400" dirty="0">
                <a:solidFill>
                  <a:schemeClr val="accent6"/>
                </a:solidFill>
              </a:rPr>
              <a:t>Pipeline B (UK Retail): First 3 months of transactions.</a:t>
            </a:r>
          </a:p>
        </p:txBody>
      </p:sp>
      <p:sp>
        <p:nvSpPr>
          <p:cNvPr id="34" name="TextBox 33">
            <a:extLst>
              <a:ext uri="{FF2B5EF4-FFF2-40B4-BE49-F238E27FC236}">
                <a16:creationId xmlns:a16="http://schemas.microsoft.com/office/drawing/2014/main" id="{4BB18261-98C3-A376-EF9A-746D2BEB3298}"/>
              </a:ext>
            </a:extLst>
          </p:cNvPr>
          <p:cNvSpPr txBox="1"/>
          <p:nvPr/>
        </p:nvSpPr>
        <p:spPr>
          <a:xfrm>
            <a:off x="255317" y="4277091"/>
            <a:ext cx="5472104" cy="738664"/>
          </a:xfrm>
          <a:prstGeom prst="rect">
            <a:avLst/>
          </a:prstGeom>
          <a:noFill/>
        </p:spPr>
        <p:txBody>
          <a:bodyPr wrap="square">
            <a:spAutoFit/>
          </a:bodyPr>
          <a:lstStyle/>
          <a:p>
            <a:r>
              <a:rPr lang="en-US" sz="1400" b="1" dirty="0">
                <a:solidFill>
                  <a:schemeClr val="accent6"/>
                </a:solidFill>
              </a:rPr>
              <a:t>Cycles 1–n (The Update Batches):</a:t>
            </a:r>
            <a:r>
              <a:rPr lang="en-US" sz="1400" dirty="0">
                <a:solidFill>
                  <a:schemeClr val="accent6"/>
                </a:solidFill>
              </a:rPr>
              <a:t> Every subsequent calendar month is packaged into a separate batch to trigger the MDFCM dynamic loop.</a:t>
            </a:r>
            <a:endParaRPr lang="en-ZA" sz="1400" dirty="0">
              <a:solidFill>
                <a:schemeClr val="accent6"/>
              </a:solidFill>
            </a:endParaRPr>
          </a:p>
        </p:txBody>
      </p:sp>
      <p:sp>
        <p:nvSpPr>
          <p:cNvPr id="46" name="TextBox 45">
            <a:extLst>
              <a:ext uri="{FF2B5EF4-FFF2-40B4-BE49-F238E27FC236}">
                <a16:creationId xmlns:a16="http://schemas.microsoft.com/office/drawing/2014/main" id="{22CF16F5-AB29-34EC-6573-89F7E0897A39}"/>
              </a:ext>
            </a:extLst>
          </p:cNvPr>
          <p:cNvSpPr txBox="1"/>
          <p:nvPr/>
        </p:nvSpPr>
        <p:spPr>
          <a:xfrm>
            <a:off x="6096000" y="1471494"/>
            <a:ext cx="5939217" cy="5047536"/>
          </a:xfrm>
          <a:prstGeom prst="rect">
            <a:avLst/>
          </a:prstGeom>
          <a:noFill/>
        </p:spPr>
        <p:txBody>
          <a:bodyPr wrap="square">
            <a:spAutoFit/>
          </a:bodyPr>
          <a:lstStyle/>
          <a:p>
            <a:r>
              <a:rPr lang="en-ZA" sz="1400" dirty="0">
                <a:solidFill>
                  <a:srgbClr val="FF0000"/>
                </a:solidFill>
                <a:highlight>
                  <a:srgbClr val="FFFFFF"/>
                </a:highlight>
                <a:latin typeface="Amasis MT Pro Medium" panose="02040604050005020304" pitchFamily="18" charset="0"/>
              </a:rPr>
              <a:t>FUNCTION</a:t>
            </a:r>
            <a:r>
              <a:rPr lang="en-ZA" sz="1400" dirty="0">
                <a:solidFill>
                  <a:srgbClr val="006600"/>
                </a:solidFill>
                <a:highlight>
                  <a:srgbClr val="FFFFFF"/>
                </a:highlight>
                <a:latin typeface="Amasis MT Pro Medium" panose="02040604050005020304" pitchFamily="18" charset="0"/>
              </a:rPr>
              <a:t> </a:t>
            </a:r>
            <a:r>
              <a:rPr lang="en-ZA" sz="1400" dirty="0" err="1">
                <a:solidFill>
                  <a:srgbClr val="FFC000"/>
                </a:solidFill>
                <a:highlight>
                  <a:srgbClr val="FFFFFF"/>
                </a:highlight>
                <a:latin typeface="Amasis MT Pro Medium" panose="02040604050005020304" pitchFamily="18" charset="0"/>
              </a:rPr>
              <a:t>SplitIntoDynamicCycles</a:t>
            </a:r>
            <a:r>
              <a:rPr lang="en-ZA" sz="1400" dirty="0">
                <a:solidFill>
                  <a:srgbClr val="006600"/>
                </a:solidFill>
                <a:highlight>
                  <a:srgbClr val="FFFFFF"/>
                </a:highlight>
                <a:latin typeface="Amasis MT Pro Medium" panose="02040604050005020304" pitchFamily="18" charset="0"/>
              </a:rPr>
              <a:t> (</a:t>
            </a:r>
            <a:r>
              <a:rPr lang="en-ZA" sz="1400" dirty="0" err="1">
                <a:solidFill>
                  <a:srgbClr val="7030A0"/>
                </a:solidFill>
                <a:highlight>
                  <a:srgbClr val="FFFFFF"/>
                </a:highlight>
                <a:latin typeface="Amasis MT Pro Medium" panose="02040604050005020304" pitchFamily="18" charset="0"/>
              </a:rPr>
              <a:t>CleanedData</a:t>
            </a:r>
            <a:r>
              <a:rPr lang="en-ZA" sz="1400" dirty="0">
                <a:solidFill>
                  <a:srgbClr val="006600"/>
                </a:solidFill>
                <a:highlight>
                  <a:srgbClr val="FFFFFF"/>
                </a:highlight>
                <a:latin typeface="Amasis MT Pro Medium" panose="02040604050005020304" pitchFamily="18" charset="0"/>
              </a:rPr>
              <a:t>, </a:t>
            </a:r>
            <a:r>
              <a:rPr lang="en-ZA" sz="1400" dirty="0" err="1">
                <a:solidFill>
                  <a:srgbClr val="7030A0"/>
                </a:solidFill>
                <a:highlight>
                  <a:srgbClr val="FFFFFF"/>
                </a:highlight>
                <a:latin typeface="Amasis MT Pro Medium" panose="02040604050005020304" pitchFamily="18" charset="0"/>
              </a:rPr>
              <a:t>BaselineMonthCount</a:t>
            </a:r>
            <a:r>
              <a:rPr lang="en-ZA" sz="1400" dirty="0">
                <a:solidFill>
                  <a:srgbClr val="006600"/>
                </a:solidFill>
                <a:highlight>
                  <a:srgbClr val="FFFFFF"/>
                </a:highlight>
                <a:latin typeface="Amasis MT Pro Medium" panose="02040604050005020304" pitchFamily="18" charset="0"/>
              </a:rPr>
              <a:t>):</a:t>
            </a:r>
          </a:p>
          <a:p>
            <a:endParaRPr lang="en-ZA" sz="1400" dirty="0">
              <a:solidFill>
                <a:srgbClr val="006600"/>
              </a:solidFill>
              <a:highlight>
                <a:srgbClr val="FFFFFF"/>
              </a:highlight>
              <a:latin typeface="Amasis MT Pro Medium" panose="02040604050005020304" pitchFamily="18" charset="0"/>
            </a:endParaRPr>
          </a:p>
          <a:p>
            <a:r>
              <a:rPr lang="en-ZA" sz="1400" dirty="0" err="1">
                <a:solidFill>
                  <a:srgbClr val="7030A0"/>
                </a:solidFill>
                <a:highlight>
                  <a:srgbClr val="FFFFFF"/>
                </a:highlight>
                <a:latin typeface="Amasis MT Pro Medium" panose="02040604050005020304" pitchFamily="18" charset="0"/>
              </a:rPr>
              <a:t>SystemBatches</a:t>
            </a:r>
            <a:r>
              <a:rPr lang="en-ZA" sz="1400" dirty="0">
                <a:solidFill>
                  <a:srgbClr val="006600"/>
                </a:solidFill>
                <a:highlight>
                  <a:srgbClr val="FFFFFF"/>
                </a:highlight>
                <a:latin typeface="Amasis MT Pro Medium" panose="02040604050005020304" pitchFamily="18" charset="0"/>
              </a:rPr>
              <a:t> = </a:t>
            </a:r>
            <a:r>
              <a:rPr lang="en-ZA" sz="1400" dirty="0">
                <a:solidFill>
                  <a:schemeClr val="accent6">
                    <a:lumMod val="75000"/>
                  </a:schemeClr>
                </a:solidFill>
                <a:highlight>
                  <a:srgbClr val="FFFFFF"/>
                </a:highlight>
                <a:latin typeface="Amasis MT Pro Medium" panose="02040604050005020304" pitchFamily="18" charset="0"/>
              </a:rPr>
              <a:t>Create</a:t>
            </a:r>
            <a:r>
              <a:rPr lang="en-ZA" sz="1400" dirty="0">
                <a:solidFill>
                  <a:srgbClr val="006600"/>
                </a:solidFill>
                <a:highlight>
                  <a:srgbClr val="FFFFFF"/>
                </a:highlight>
                <a:latin typeface="Amasis MT Pro Medium" panose="02040604050005020304" pitchFamily="18" charset="0"/>
              </a:rPr>
              <a:t> Empty Dictionary</a:t>
            </a:r>
          </a:p>
          <a:p>
            <a:endParaRPr lang="en-ZA" sz="1400" dirty="0">
              <a:solidFill>
                <a:srgbClr val="006600"/>
              </a:solidFill>
              <a:highlight>
                <a:srgbClr val="FFFFFF"/>
              </a:highlight>
              <a:latin typeface="Amasis MT Pro Medium" panose="02040604050005020304" pitchFamily="18" charset="0"/>
            </a:endParaRPr>
          </a:p>
          <a:p>
            <a:r>
              <a:rPr lang="en-US" sz="1400" dirty="0" err="1">
                <a:solidFill>
                  <a:srgbClr val="006600"/>
                </a:solidFill>
                <a:highlight>
                  <a:srgbClr val="FFFFFF"/>
                </a:highlight>
                <a:latin typeface="Amasis MT Pro Medium" panose="02040604050005020304" pitchFamily="18" charset="0"/>
              </a:rPr>
              <a:t>UniqueMonths</a:t>
            </a:r>
            <a:r>
              <a:rPr lang="en-US" sz="1400" dirty="0">
                <a:solidFill>
                  <a:srgbClr val="006600"/>
                </a:solidFill>
                <a:highlight>
                  <a:srgbClr val="FFFFFF"/>
                </a:highlight>
                <a:latin typeface="Amasis MT Pro Medium" panose="02040604050005020304" pitchFamily="18" charset="0"/>
              </a:rPr>
              <a:t> = Extract unique (Year, Month) combinations from </a:t>
            </a:r>
            <a:r>
              <a:rPr lang="en-US" sz="1400" dirty="0" err="1">
                <a:solidFill>
                  <a:srgbClr val="006600"/>
                </a:solidFill>
                <a:highlight>
                  <a:srgbClr val="FFFFFF"/>
                </a:highlight>
                <a:latin typeface="Amasis MT Pro Medium" panose="02040604050005020304" pitchFamily="18" charset="0"/>
              </a:rPr>
              <a:t>CleanedData</a:t>
            </a:r>
            <a:r>
              <a:rPr lang="en-US" sz="1400" dirty="0">
                <a:solidFill>
                  <a:srgbClr val="006600"/>
                </a:solidFill>
                <a:highlight>
                  <a:srgbClr val="FFFFFF"/>
                </a:highlight>
                <a:latin typeface="Amasis MT Pro Medium" panose="02040604050005020304" pitchFamily="18" charset="0"/>
              </a:rPr>
              <a:t> Sort </a:t>
            </a:r>
            <a:r>
              <a:rPr lang="en-US" sz="1400" dirty="0" err="1">
                <a:solidFill>
                  <a:srgbClr val="006600"/>
                </a:solidFill>
                <a:highlight>
                  <a:srgbClr val="FFFFFF"/>
                </a:highlight>
                <a:latin typeface="Amasis MT Pro Medium" panose="02040604050005020304" pitchFamily="18" charset="0"/>
              </a:rPr>
              <a:t>UniqueMonths</a:t>
            </a:r>
            <a:r>
              <a:rPr lang="en-US" sz="1400" dirty="0">
                <a:solidFill>
                  <a:srgbClr val="006600"/>
                </a:solidFill>
                <a:highlight>
                  <a:srgbClr val="FFFFFF"/>
                </a:highlight>
                <a:latin typeface="Amasis MT Pro Medium" panose="02040604050005020304" pitchFamily="18" charset="0"/>
              </a:rPr>
              <a:t> chronologically (Oldest to Newest)</a:t>
            </a:r>
          </a:p>
          <a:p>
            <a:endParaRPr lang="en-ZA" sz="1400" dirty="0">
              <a:solidFill>
                <a:srgbClr val="006600"/>
              </a:solidFill>
              <a:highlight>
                <a:srgbClr val="FFFFFF"/>
              </a:highlight>
              <a:latin typeface="Amasis MT Pro Medium" panose="02040604050005020304" pitchFamily="18" charset="0"/>
            </a:endParaRPr>
          </a:p>
          <a:p>
            <a:r>
              <a:rPr lang="en-US" sz="1400" dirty="0" err="1">
                <a:solidFill>
                  <a:srgbClr val="006600"/>
                </a:solidFill>
                <a:highlight>
                  <a:srgbClr val="FFFFFF"/>
                </a:highlight>
                <a:latin typeface="Amasis MT Pro Medium" panose="02040604050005020304" pitchFamily="18" charset="0"/>
              </a:rPr>
              <a:t>BaselineMonths</a:t>
            </a:r>
            <a:r>
              <a:rPr lang="en-US" sz="1400" dirty="0">
                <a:solidFill>
                  <a:srgbClr val="006600"/>
                </a:solidFill>
                <a:highlight>
                  <a:srgbClr val="FFFFFF"/>
                </a:highlight>
                <a:latin typeface="Amasis MT Pro Medium" panose="02040604050005020304" pitchFamily="18" charset="0"/>
              </a:rPr>
              <a:t> = </a:t>
            </a:r>
            <a:r>
              <a:rPr lang="en-US" sz="1400" dirty="0">
                <a:solidFill>
                  <a:schemeClr val="accent6">
                    <a:lumMod val="75000"/>
                  </a:schemeClr>
                </a:solidFill>
                <a:highlight>
                  <a:srgbClr val="FFFFFF"/>
                </a:highlight>
                <a:latin typeface="Amasis MT Pro Medium" panose="02040604050005020304" pitchFamily="18" charset="0"/>
              </a:rPr>
              <a:t>Extract</a:t>
            </a:r>
            <a:r>
              <a:rPr lang="en-US" sz="1400" dirty="0">
                <a:solidFill>
                  <a:srgbClr val="006600"/>
                </a:solidFill>
                <a:highlight>
                  <a:srgbClr val="FFFFFF"/>
                </a:highlight>
                <a:latin typeface="Amasis MT Pro Medium" panose="02040604050005020304" pitchFamily="18" charset="0"/>
              </a:rPr>
              <a:t> the first '</a:t>
            </a:r>
            <a:r>
              <a:rPr lang="en-US" sz="1400" dirty="0" err="1">
                <a:solidFill>
                  <a:srgbClr val="7030A0"/>
                </a:solidFill>
                <a:highlight>
                  <a:srgbClr val="FFFFFF"/>
                </a:highlight>
                <a:latin typeface="Amasis MT Pro Medium" panose="02040604050005020304" pitchFamily="18" charset="0"/>
              </a:rPr>
              <a:t>BaselineMonthCount</a:t>
            </a:r>
            <a:r>
              <a:rPr lang="en-US" sz="1400" dirty="0">
                <a:solidFill>
                  <a:srgbClr val="006600"/>
                </a:solidFill>
                <a:highlight>
                  <a:srgbClr val="FFFFFF"/>
                </a:highlight>
                <a:latin typeface="Amasis MT Pro Medium" panose="02040604050005020304" pitchFamily="18" charset="0"/>
              </a:rPr>
              <a:t>' from </a:t>
            </a:r>
            <a:r>
              <a:rPr lang="en-US" sz="1400" dirty="0" err="1">
                <a:solidFill>
                  <a:srgbClr val="006600"/>
                </a:solidFill>
                <a:highlight>
                  <a:srgbClr val="FFFFFF"/>
                </a:highlight>
                <a:latin typeface="Amasis MT Pro Medium" panose="02040604050005020304" pitchFamily="18" charset="0"/>
              </a:rPr>
              <a:t>UniqueMonths</a:t>
            </a:r>
            <a:r>
              <a:rPr lang="en-US" sz="1400" dirty="0">
                <a:solidFill>
                  <a:srgbClr val="006600"/>
                </a:solidFill>
                <a:highlight>
                  <a:srgbClr val="FFFFFF"/>
                </a:highlight>
                <a:latin typeface="Amasis MT Pro Medium" panose="02040604050005020304" pitchFamily="18" charset="0"/>
              </a:rPr>
              <a:t> </a:t>
            </a:r>
          </a:p>
          <a:p>
            <a:endParaRPr lang="en-US" sz="1400" dirty="0">
              <a:solidFill>
                <a:srgbClr val="006600"/>
              </a:solidFill>
              <a:highlight>
                <a:srgbClr val="FFFFFF"/>
              </a:highlight>
              <a:latin typeface="Amasis MT Pro Medium" panose="02040604050005020304" pitchFamily="18" charset="0"/>
            </a:endParaRPr>
          </a:p>
          <a:p>
            <a:r>
              <a:rPr lang="en-US" sz="1400" dirty="0">
                <a:solidFill>
                  <a:srgbClr val="006600"/>
                </a:solidFill>
                <a:highlight>
                  <a:srgbClr val="FFFFFF"/>
                </a:highlight>
                <a:latin typeface="Amasis MT Pro Medium" panose="02040604050005020304" pitchFamily="18" charset="0"/>
              </a:rPr>
              <a:t>Cycle_0_Data = </a:t>
            </a:r>
            <a:r>
              <a:rPr lang="en-US" sz="1400" dirty="0">
                <a:solidFill>
                  <a:schemeClr val="accent6">
                    <a:lumMod val="75000"/>
                  </a:schemeClr>
                </a:solidFill>
                <a:highlight>
                  <a:srgbClr val="FFFFFF"/>
                </a:highlight>
                <a:latin typeface="Amasis MT Pro Medium" panose="02040604050005020304" pitchFamily="18" charset="0"/>
              </a:rPr>
              <a:t>Filter</a:t>
            </a:r>
            <a:r>
              <a:rPr lang="en-US" sz="1400" dirty="0">
                <a:solidFill>
                  <a:srgbClr val="006600"/>
                </a:solidFill>
                <a:highlight>
                  <a:srgbClr val="FFFFFF"/>
                </a:highlight>
                <a:latin typeface="Amasis MT Pro Medium" panose="02040604050005020304" pitchFamily="18" charset="0"/>
              </a:rPr>
              <a:t> </a:t>
            </a:r>
            <a:r>
              <a:rPr lang="en-US" sz="1400" dirty="0" err="1">
                <a:solidFill>
                  <a:srgbClr val="7030A0"/>
                </a:solidFill>
                <a:highlight>
                  <a:srgbClr val="FFFFFF"/>
                </a:highlight>
                <a:latin typeface="Amasis MT Pro Medium" panose="02040604050005020304" pitchFamily="18" charset="0"/>
              </a:rPr>
              <a:t>CleanedData</a:t>
            </a:r>
            <a:r>
              <a:rPr lang="en-US" sz="1400" dirty="0">
                <a:solidFill>
                  <a:srgbClr val="006600"/>
                </a:solidFill>
                <a:highlight>
                  <a:srgbClr val="FFFFFF"/>
                </a:highlight>
                <a:latin typeface="Amasis MT Pro Medium" panose="02040604050005020304" pitchFamily="18" charset="0"/>
              </a:rPr>
              <a:t> </a:t>
            </a:r>
            <a:r>
              <a:rPr lang="en-US" sz="1400" dirty="0">
                <a:solidFill>
                  <a:srgbClr val="FFC000"/>
                </a:solidFill>
                <a:highlight>
                  <a:srgbClr val="FFFFFF"/>
                </a:highlight>
                <a:latin typeface="Amasis MT Pro Medium" panose="02040604050005020304" pitchFamily="18" charset="0"/>
              </a:rPr>
              <a:t>WHERE</a:t>
            </a:r>
            <a:r>
              <a:rPr lang="en-US" sz="1400" dirty="0">
                <a:solidFill>
                  <a:srgbClr val="006600"/>
                </a:solidFill>
                <a:highlight>
                  <a:srgbClr val="FFFFFF"/>
                </a:highlight>
                <a:latin typeface="Amasis MT Pro Medium" panose="02040604050005020304" pitchFamily="18" charset="0"/>
              </a:rPr>
              <a:t> </a:t>
            </a:r>
            <a:r>
              <a:rPr lang="en-US" sz="1400" dirty="0" err="1">
                <a:solidFill>
                  <a:srgbClr val="7030A0"/>
                </a:solidFill>
                <a:highlight>
                  <a:srgbClr val="FFFFFF"/>
                </a:highlight>
                <a:latin typeface="Amasis MT Pro Medium" panose="02040604050005020304" pitchFamily="18" charset="0"/>
              </a:rPr>
              <a:t>TransactionMonth</a:t>
            </a:r>
            <a:r>
              <a:rPr lang="en-US" sz="1400" dirty="0">
                <a:solidFill>
                  <a:srgbClr val="006600"/>
                </a:solidFill>
                <a:highlight>
                  <a:srgbClr val="FFFFFF"/>
                </a:highlight>
                <a:latin typeface="Amasis MT Pro Medium" panose="02040604050005020304" pitchFamily="18" charset="0"/>
              </a:rPr>
              <a:t> </a:t>
            </a:r>
            <a:r>
              <a:rPr lang="en-US" sz="1400" dirty="0">
                <a:solidFill>
                  <a:srgbClr val="FFC000"/>
                </a:solidFill>
                <a:highlight>
                  <a:srgbClr val="FFFFFF"/>
                </a:highlight>
                <a:latin typeface="Amasis MT Pro Medium" panose="02040604050005020304" pitchFamily="18" charset="0"/>
              </a:rPr>
              <a:t>IN</a:t>
            </a:r>
            <a:r>
              <a:rPr lang="en-US" sz="1400" dirty="0">
                <a:solidFill>
                  <a:srgbClr val="006600"/>
                </a:solidFill>
                <a:highlight>
                  <a:srgbClr val="FFFFFF"/>
                </a:highlight>
                <a:latin typeface="Amasis MT Pro Medium" panose="02040604050005020304" pitchFamily="18" charset="0"/>
              </a:rPr>
              <a:t> </a:t>
            </a:r>
            <a:r>
              <a:rPr lang="en-US" sz="1400" dirty="0" err="1">
                <a:solidFill>
                  <a:srgbClr val="006600"/>
                </a:solidFill>
                <a:highlight>
                  <a:srgbClr val="FFFFFF"/>
                </a:highlight>
                <a:latin typeface="Amasis MT Pro Medium" panose="02040604050005020304" pitchFamily="18" charset="0"/>
              </a:rPr>
              <a:t>BaselineMonths</a:t>
            </a:r>
            <a:endParaRPr lang="en-US" sz="1400" dirty="0">
              <a:solidFill>
                <a:srgbClr val="006600"/>
              </a:solidFill>
              <a:highlight>
                <a:srgbClr val="FFFFFF"/>
              </a:highlight>
              <a:latin typeface="Amasis MT Pro Medium" panose="02040604050005020304" pitchFamily="18" charset="0"/>
            </a:endParaRPr>
          </a:p>
          <a:p>
            <a:endParaRPr lang="en-US" sz="1400" dirty="0">
              <a:solidFill>
                <a:srgbClr val="006600"/>
              </a:solidFill>
              <a:highlight>
                <a:srgbClr val="FFFFFF"/>
              </a:highlight>
              <a:latin typeface="Amasis MT Pro Medium" panose="02040604050005020304" pitchFamily="18" charset="0"/>
            </a:endParaRPr>
          </a:p>
          <a:p>
            <a:r>
              <a:rPr lang="en-US" sz="1400" dirty="0" err="1">
                <a:solidFill>
                  <a:srgbClr val="006600"/>
                </a:solidFill>
                <a:highlight>
                  <a:srgbClr val="FFFFFF"/>
                </a:highlight>
                <a:latin typeface="Amasis MT Pro Medium" panose="02040604050005020304" pitchFamily="18" charset="0"/>
              </a:rPr>
              <a:t>SystemBatches</a:t>
            </a:r>
            <a:r>
              <a:rPr lang="en-US" sz="1400" dirty="0">
                <a:solidFill>
                  <a:srgbClr val="006600"/>
                </a:solidFill>
                <a:highlight>
                  <a:srgbClr val="FFFFFF"/>
                </a:highlight>
                <a:latin typeface="Amasis MT Pro Medium" panose="02040604050005020304" pitchFamily="18" charset="0"/>
              </a:rPr>
              <a:t>["Cycle_0"] = Cycle_0_Data</a:t>
            </a:r>
            <a:endParaRPr lang="en-ZA" sz="1400" dirty="0">
              <a:solidFill>
                <a:srgbClr val="006600"/>
              </a:solidFill>
              <a:highlight>
                <a:srgbClr val="FFFFFF"/>
              </a:highlight>
              <a:latin typeface="Amasis MT Pro Medium" panose="02040604050005020304" pitchFamily="18" charset="0"/>
            </a:endParaRPr>
          </a:p>
          <a:p>
            <a:endParaRPr lang="en-ZA" sz="1400" dirty="0">
              <a:solidFill>
                <a:srgbClr val="006600"/>
              </a:solidFill>
              <a:highlight>
                <a:srgbClr val="FFFFFF"/>
              </a:highlight>
              <a:latin typeface="Amasis MT Pro Medium" panose="02040604050005020304" pitchFamily="18" charset="0"/>
            </a:endParaRPr>
          </a:p>
          <a:p>
            <a:r>
              <a:rPr lang="en-US" sz="1400" dirty="0">
                <a:solidFill>
                  <a:srgbClr val="FFC000"/>
                </a:solidFill>
                <a:highlight>
                  <a:srgbClr val="FFFFFF"/>
                </a:highlight>
                <a:latin typeface="Amasis MT Pro Medium" panose="02040604050005020304" pitchFamily="18" charset="0"/>
              </a:rPr>
              <a:t>FOR</a:t>
            </a:r>
            <a:r>
              <a:rPr lang="en-US" sz="1400" dirty="0">
                <a:solidFill>
                  <a:srgbClr val="006600"/>
                </a:solidFill>
                <a:highlight>
                  <a:srgbClr val="FFFFFF"/>
                </a:highlight>
                <a:latin typeface="Amasis MT Pro Medium" panose="02040604050005020304" pitchFamily="18" charset="0"/>
              </a:rPr>
              <a:t> </a:t>
            </a:r>
            <a:r>
              <a:rPr lang="en-US" sz="1400" dirty="0">
                <a:solidFill>
                  <a:srgbClr val="FFC000"/>
                </a:solidFill>
                <a:highlight>
                  <a:srgbClr val="FFFFFF"/>
                </a:highlight>
                <a:latin typeface="Amasis MT Pro Medium" panose="02040604050005020304" pitchFamily="18" charset="0"/>
              </a:rPr>
              <a:t>EACH</a:t>
            </a:r>
            <a:r>
              <a:rPr lang="en-US" sz="1400" dirty="0">
                <a:solidFill>
                  <a:srgbClr val="006600"/>
                </a:solidFill>
                <a:highlight>
                  <a:srgbClr val="FFFFFF"/>
                </a:highlight>
                <a:latin typeface="Amasis MT Pro Medium" panose="02040604050005020304" pitchFamily="18" charset="0"/>
              </a:rPr>
              <a:t> Month </a:t>
            </a:r>
            <a:r>
              <a:rPr lang="en-US" sz="1400" dirty="0">
                <a:solidFill>
                  <a:srgbClr val="FFC000"/>
                </a:solidFill>
                <a:highlight>
                  <a:srgbClr val="FFFFFF"/>
                </a:highlight>
                <a:latin typeface="Amasis MT Pro Medium" panose="02040604050005020304" pitchFamily="18" charset="0"/>
              </a:rPr>
              <a:t>IN</a:t>
            </a:r>
            <a:r>
              <a:rPr lang="en-US" sz="1400" dirty="0">
                <a:solidFill>
                  <a:srgbClr val="006600"/>
                </a:solidFill>
                <a:highlight>
                  <a:srgbClr val="FFFFFF"/>
                </a:highlight>
                <a:latin typeface="Amasis MT Pro Medium" panose="02040604050005020304" pitchFamily="18" charset="0"/>
              </a:rPr>
              <a:t> </a:t>
            </a:r>
            <a:r>
              <a:rPr lang="en-US" sz="1400" dirty="0" err="1">
                <a:solidFill>
                  <a:srgbClr val="006600"/>
                </a:solidFill>
                <a:highlight>
                  <a:srgbClr val="FFFFFF"/>
                </a:highlight>
                <a:latin typeface="Amasis MT Pro Medium" panose="02040604050005020304" pitchFamily="18" charset="0"/>
              </a:rPr>
              <a:t>RemainingMonths</a:t>
            </a:r>
            <a:r>
              <a:rPr lang="en-US" sz="1400" dirty="0">
                <a:solidFill>
                  <a:srgbClr val="006600"/>
                </a:solidFill>
                <a:highlight>
                  <a:srgbClr val="FFFFFF"/>
                </a:highlight>
                <a:latin typeface="Amasis MT Pro Medium" panose="02040604050005020304" pitchFamily="18" charset="0"/>
              </a:rPr>
              <a:t>: </a:t>
            </a:r>
          </a:p>
          <a:p>
            <a:pPr lvl="1"/>
            <a:r>
              <a:rPr lang="en-US" sz="1400" dirty="0" err="1">
                <a:solidFill>
                  <a:srgbClr val="006600"/>
                </a:solidFill>
                <a:highlight>
                  <a:srgbClr val="FFFFFF"/>
                </a:highlight>
                <a:latin typeface="Amasis MT Pro Medium" panose="02040604050005020304" pitchFamily="18" charset="0"/>
              </a:rPr>
              <a:t>MonthlyBatch</a:t>
            </a:r>
            <a:r>
              <a:rPr lang="en-US" sz="1400" dirty="0">
                <a:solidFill>
                  <a:srgbClr val="006600"/>
                </a:solidFill>
                <a:highlight>
                  <a:srgbClr val="FFFFFF"/>
                </a:highlight>
                <a:latin typeface="Amasis MT Pro Medium" panose="02040604050005020304" pitchFamily="18" charset="0"/>
              </a:rPr>
              <a:t> = </a:t>
            </a:r>
            <a:r>
              <a:rPr lang="en-US" sz="1400" dirty="0">
                <a:solidFill>
                  <a:schemeClr val="accent6">
                    <a:lumMod val="75000"/>
                  </a:schemeClr>
                </a:solidFill>
                <a:highlight>
                  <a:srgbClr val="FFFFFF"/>
                </a:highlight>
                <a:latin typeface="Amasis MT Pro Medium" panose="02040604050005020304" pitchFamily="18" charset="0"/>
              </a:rPr>
              <a:t>Filter</a:t>
            </a:r>
            <a:r>
              <a:rPr lang="en-US" sz="1400" dirty="0">
                <a:solidFill>
                  <a:srgbClr val="006600"/>
                </a:solidFill>
                <a:highlight>
                  <a:srgbClr val="FFFFFF"/>
                </a:highlight>
                <a:latin typeface="Amasis MT Pro Medium" panose="02040604050005020304" pitchFamily="18" charset="0"/>
              </a:rPr>
              <a:t> </a:t>
            </a:r>
            <a:r>
              <a:rPr lang="en-US" sz="1400" dirty="0" err="1">
                <a:solidFill>
                  <a:srgbClr val="7030A0"/>
                </a:solidFill>
                <a:highlight>
                  <a:srgbClr val="FFFFFF"/>
                </a:highlight>
                <a:latin typeface="Amasis MT Pro Medium" panose="02040604050005020304" pitchFamily="18" charset="0"/>
              </a:rPr>
              <a:t>CleanedData</a:t>
            </a:r>
            <a:r>
              <a:rPr lang="en-US" sz="1400" dirty="0">
                <a:solidFill>
                  <a:srgbClr val="7030A0"/>
                </a:solidFill>
                <a:highlight>
                  <a:srgbClr val="FFFFFF"/>
                </a:highlight>
                <a:latin typeface="Amasis MT Pro Medium" panose="02040604050005020304" pitchFamily="18" charset="0"/>
              </a:rPr>
              <a:t> </a:t>
            </a:r>
            <a:r>
              <a:rPr lang="en-US" sz="1400" dirty="0">
                <a:solidFill>
                  <a:srgbClr val="006600"/>
                </a:solidFill>
                <a:highlight>
                  <a:srgbClr val="FFFFFF"/>
                </a:highlight>
                <a:latin typeface="Amasis MT Pro Medium" panose="02040604050005020304" pitchFamily="18" charset="0"/>
              </a:rPr>
              <a:t>WHERE </a:t>
            </a:r>
            <a:r>
              <a:rPr lang="en-US" sz="1400" dirty="0" err="1">
                <a:solidFill>
                  <a:srgbClr val="7030A0"/>
                </a:solidFill>
                <a:highlight>
                  <a:srgbClr val="FFFFFF"/>
                </a:highlight>
                <a:latin typeface="Amasis MT Pro Medium" panose="02040604050005020304" pitchFamily="18" charset="0"/>
              </a:rPr>
              <a:t>TransactionMonth</a:t>
            </a:r>
            <a:r>
              <a:rPr lang="en-US" sz="1400" dirty="0">
                <a:solidFill>
                  <a:srgbClr val="7030A0"/>
                </a:solidFill>
                <a:highlight>
                  <a:srgbClr val="FFFFFF"/>
                </a:highlight>
                <a:latin typeface="Amasis MT Pro Medium" panose="02040604050005020304" pitchFamily="18" charset="0"/>
              </a:rPr>
              <a:t> </a:t>
            </a:r>
            <a:r>
              <a:rPr lang="en-US" sz="1400" dirty="0">
                <a:solidFill>
                  <a:srgbClr val="006600"/>
                </a:solidFill>
                <a:highlight>
                  <a:srgbClr val="FFFFFF"/>
                </a:highlight>
                <a:latin typeface="Amasis MT Pro Medium" panose="02040604050005020304" pitchFamily="18" charset="0"/>
              </a:rPr>
              <a:t>EQUALS Month </a:t>
            </a:r>
          </a:p>
          <a:p>
            <a:pPr lvl="1"/>
            <a:endParaRPr lang="en-US" sz="1400" dirty="0">
              <a:solidFill>
                <a:srgbClr val="006600"/>
              </a:solidFill>
              <a:highlight>
                <a:srgbClr val="FFFFFF"/>
              </a:highlight>
              <a:latin typeface="Amasis MT Pro Medium" panose="02040604050005020304" pitchFamily="18" charset="0"/>
            </a:endParaRPr>
          </a:p>
          <a:p>
            <a:pPr lvl="1"/>
            <a:r>
              <a:rPr lang="en-US" sz="1400" dirty="0">
                <a:solidFill>
                  <a:srgbClr val="006600"/>
                </a:solidFill>
                <a:highlight>
                  <a:srgbClr val="FFFFFF"/>
                </a:highlight>
                <a:latin typeface="Amasis MT Pro Medium" panose="02040604050005020304" pitchFamily="18" charset="0"/>
              </a:rPr>
              <a:t> </a:t>
            </a:r>
            <a:r>
              <a:rPr lang="en-US" sz="1400" dirty="0" err="1">
                <a:solidFill>
                  <a:srgbClr val="006600"/>
                </a:solidFill>
                <a:highlight>
                  <a:srgbClr val="FFFFFF"/>
                </a:highlight>
                <a:latin typeface="Amasis MT Pro Medium" panose="02040604050005020304" pitchFamily="18" charset="0"/>
              </a:rPr>
              <a:t>SystemBatches</a:t>
            </a:r>
            <a:r>
              <a:rPr lang="en-US" sz="1400" dirty="0">
                <a:solidFill>
                  <a:srgbClr val="006600"/>
                </a:solidFill>
                <a:highlight>
                  <a:srgbClr val="FFFFFF"/>
                </a:highlight>
                <a:latin typeface="Amasis MT Pro Medium" panose="02040604050005020304" pitchFamily="18" charset="0"/>
              </a:rPr>
              <a:t>["Cycle_" + </a:t>
            </a:r>
            <a:r>
              <a:rPr lang="en-US" sz="1400" dirty="0" err="1">
                <a:solidFill>
                  <a:srgbClr val="006600"/>
                </a:solidFill>
                <a:highlight>
                  <a:srgbClr val="FFFFFF"/>
                </a:highlight>
                <a:latin typeface="Amasis MT Pro Medium" panose="02040604050005020304" pitchFamily="18" charset="0"/>
              </a:rPr>
              <a:t>CycleNumber</a:t>
            </a:r>
            <a:r>
              <a:rPr lang="en-US" sz="1400" dirty="0">
                <a:solidFill>
                  <a:srgbClr val="006600"/>
                </a:solidFill>
                <a:highlight>
                  <a:srgbClr val="FFFFFF"/>
                </a:highlight>
                <a:latin typeface="Amasis MT Pro Medium" panose="02040604050005020304" pitchFamily="18" charset="0"/>
              </a:rPr>
              <a:t>] = </a:t>
            </a:r>
            <a:r>
              <a:rPr lang="en-US" sz="1400" dirty="0" err="1">
                <a:solidFill>
                  <a:srgbClr val="006600"/>
                </a:solidFill>
                <a:highlight>
                  <a:srgbClr val="FFFFFF"/>
                </a:highlight>
                <a:latin typeface="Amasis MT Pro Medium" panose="02040604050005020304" pitchFamily="18" charset="0"/>
              </a:rPr>
              <a:t>MonthlyBatch</a:t>
            </a:r>
            <a:r>
              <a:rPr lang="en-US" sz="1400" dirty="0">
                <a:solidFill>
                  <a:srgbClr val="006600"/>
                </a:solidFill>
                <a:highlight>
                  <a:srgbClr val="FFFFFF"/>
                </a:highlight>
                <a:latin typeface="Amasis MT Pro Medium" panose="02040604050005020304" pitchFamily="18" charset="0"/>
              </a:rPr>
              <a:t> </a:t>
            </a:r>
          </a:p>
          <a:p>
            <a:pPr lvl="1"/>
            <a:r>
              <a:rPr lang="en-US" sz="1400" dirty="0" err="1">
                <a:solidFill>
                  <a:srgbClr val="006600"/>
                </a:solidFill>
                <a:highlight>
                  <a:srgbClr val="FFFFFF"/>
                </a:highlight>
                <a:latin typeface="Amasis MT Pro Medium" panose="02040604050005020304" pitchFamily="18" charset="0"/>
              </a:rPr>
              <a:t>CycleNumber</a:t>
            </a:r>
            <a:r>
              <a:rPr lang="en-US" sz="1400" dirty="0">
                <a:solidFill>
                  <a:srgbClr val="006600"/>
                </a:solidFill>
                <a:highlight>
                  <a:srgbClr val="FFFFFF"/>
                </a:highlight>
                <a:latin typeface="Amasis MT Pro Medium" panose="02040604050005020304" pitchFamily="18" charset="0"/>
              </a:rPr>
              <a:t> ++</a:t>
            </a:r>
            <a:endParaRPr lang="en-ZA" sz="1400" dirty="0">
              <a:solidFill>
                <a:srgbClr val="006600"/>
              </a:solidFill>
              <a:highlight>
                <a:srgbClr val="FFFFFF"/>
              </a:highlight>
              <a:latin typeface="Amasis MT Pro Medium" panose="02040604050005020304" pitchFamily="18" charset="0"/>
            </a:endParaRPr>
          </a:p>
          <a:p>
            <a:endParaRPr lang="en-ZA" sz="1400" dirty="0">
              <a:solidFill>
                <a:srgbClr val="006600"/>
              </a:solidFill>
              <a:highlight>
                <a:srgbClr val="FFF5F5"/>
              </a:highlight>
            </a:endParaRPr>
          </a:p>
        </p:txBody>
      </p:sp>
      <p:cxnSp>
        <p:nvCxnSpPr>
          <p:cNvPr id="49" name="Straight Connector 48">
            <a:extLst>
              <a:ext uri="{FF2B5EF4-FFF2-40B4-BE49-F238E27FC236}">
                <a16:creationId xmlns:a16="http://schemas.microsoft.com/office/drawing/2014/main" id="{294622E5-0FA1-BC53-52E1-6538A56DC137}"/>
              </a:ext>
            </a:extLst>
          </p:cNvPr>
          <p:cNvCxnSpPr/>
          <p:nvPr/>
        </p:nvCxnSpPr>
        <p:spPr>
          <a:xfrm>
            <a:off x="5891289" y="1313911"/>
            <a:ext cx="0" cy="5287850"/>
          </a:xfrm>
          <a:prstGeom prst="line">
            <a:avLst/>
          </a:prstGeom>
          <a:ln w="762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CE59EE4-AF51-EDCF-CC2B-21F69DCE38A4}"/>
              </a:ext>
            </a:extLst>
          </p:cNvPr>
          <p:cNvSpPr txBox="1"/>
          <p:nvPr/>
        </p:nvSpPr>
        <p:spPr>
          <a:xfrm>
            <a:off x="255317" y="5206203"/>
            <a:ext cx="5529792" cy="116955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accent6"/>
                </a:solidFill>
                <a:effectLst/>
              </a:rPr>
              <a:t>System Dictionary:</a:t>
            </a:r>
            <a:r>
              <a:rPr kumimoji="0" lang="en-US" altLang="en-US" sz="1400" b="0" i="0" u="none" strike="noStrike" cap="none" normalizeH="0" baseline="0" dirty="0">
                <a:ln>
                  <a:noFill/>
                </a:ln>
                <a:solidFill>
                  <a:schemeClr val="accent6"/>
                </a:solidFill>
                <a:effectLst/>
              </a:rPr>
              <a:t> Transactions are stored in a dictionary structure (</a:t>
            </a:r>
            <a:r>
              <a:rPr lang="en-US" altLang="en-US" sz="1400" dirty="0">
                <a:solidFill>
                  <a:schemeClr val="accent6"/>
                </a:solidFill>
              </a:rPr>
              <a:t>c</a:t>
            </a:r>
            <a:r>
              <a:rPr kumimoji="0" lang="en-US" altLang="en-US" sz="1400" b="0" i="0" u="none" strike="noStrike" cap="none" normalizeH="0" baseline="0" dirty="0">
                <a:ln>
                  <a:noFill/>
                </a:ln>
                <a:solidFill>
                  <a:schemeClr val="accent6"/>
                </a:solidFill>
                <a:effectLst/>
              </a:rPr>
              <a:t>ycles), allowing the system loop to "call" data one month at a time.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solidFill>
                <a:schemeClr val="accent6"/>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accent6"/>
                </a:solidFill>
                <a:effectLst/>
              </a:rPr>
              <a:t>Integrity Check:</a:t>
            </a:r>
            <a:r>
              <a:rPr kumimoji="0" lang="en-US" altLang="en-US" sz="1400" b="0" i="0" u="none" strike="noStrike" cap="none" normalizeH="0" baseline="0" dirty="0">
                <a:ln>
                  <a:noFill/>
                </a:ln>
                <a:solidFill>
                  <a:schemeClr val="accent6"/>
                </a:solidFill>
                <a:effectLst/>
              </a:rPr>
              <a:t> Verified that cycle end-dates and start-dates are contiguous with zero overlap.</a:t>
            </a:r>
          </a:p>
        </p:txBody>
      </p:sp>
    </p:spTree>
    <p:extLst>
      <p:ext uri="{BB962C8B-B14F-4D97-AF65-F5344CB8AC3E}">
        <p14:creationId xmlns:p14="http://schemas.microsoft.com/office/powerpoint/2010/main" val="1584108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C3BE709-DDE0-E7E5-CF10-C9F1C34EE5B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36C7FA1-DF2E-25F7-3B61-5E23BEB64522}"/>
              </a:ext>
            </a:extLst>
          </p:cNvPr>
          <p:cNvSpPr>
            <a:spLocks noGrp="1"/>
          </p:cNvSpPr>
          <p:nvPr>
            <p:ph type="title"/>
          </p:nvPr>
        </p:nvSpPr>
        <p:spPr>
          <a:xfrm>
            <a:off x="4333430" y="201612"/>
            <a:ext cx="3525140" cy="471490"/>
          </a:xfrm>
        </p:spPr>
        <p:txBody>
          <a:bodyPr/>
          <a:lstStyle/>
          <a:p>
            <a:pPr algn="l"/>
            <a:r>
              <a:rPr lang="en-US" sz="3200" dirty="0"/>
              <a:t>Time Slicing</a:t>
            </a:r>
            <a:endParaRPr lang="en-ZA" sz="3200" dirty="0"/>
          </a:p>
        </p:txBody>
      </p:sp>
      <p:pic>
        <p:nvPicPr>
          <p:cNvPr id="36" name="Picture 35">
            <a:extLst>
              <a:ext uri="{FF2B5EF4-FFF2-40B4-BE49-F238E27FC236}">
                <a16:creationId xmlns:a16="http://schemas.microsoft.com/office/drawing/2014/main" id="{B351903A-408F-E0E9-D806-728ED1227FA9}"/>
              </a:ext>
            </a:extLst>
          </p:cNvPr>
          <p:cNvPicPr>
            <a:picLocks noChangeAspect="1"/>
          </p:cNvPicPr>
          <p:nvPr/>
        </p:nvPicPr>
        <p:blipFill>
          <a:blip r:embed="rId3"/>
          <a:stretch>
            <a:fillRect/>
          </a:stretch>
        </p:blipFill>
        <p:spPr>
          <a:xfrm>
            <a:off x="628891" y="1691149"/>
            <a:ext cx="4861370" cy="4677117"/>
          </a:xfrm>
          <a:prstGeom prst="rect">
            <a:avLst/>
          </a:prstGeom>
        </p:spPr>
      </p:pic>
      <p:pic>
        <p:nvPicPr>
          <p:cNvPr id="10" name="Picture 9">
            <a:extLst>
              <a:ext uri="{FF2B5EF4-FFF2-40B4-BE49-F238E27FC236}">
                <a16:creationId xmlns:a16="http://schemas.microsoft.com/office/drawing/2014/main" id="{9906230C-E5D3-7EB5-2019-60E9807DFE28}"/>
              </a:ext>
            </a:extLst>
          </p:cNvPr>
          <p:cNvPicPr>
            <a:picLocks noChangeAspect="1"/>
          </p:cNvPicPr>
          <p:nvPr/>
        </p:nvPicPr>
        <p:blipFill>
          <a:blip r:embed="rId4"/>
          <a:srcRect t="2057"/>
          <a:stretch>
            <a:fillRect/>
          </a:stretch>
        </p:blipFill>
        <p:spPr>
          <a:xfrm>
            <a:off x="6393087" y="1790221"/>
            <a:ext cx="5170022" cy="4578046"/>
          </a:xfrm>
          <a:prstGeom prst="rect">
            <a:avLst/>
          </a:prstGeom>
        </p:spPr>
      </p:pic>
      <p:sp>
        <p:nvSpPr>
          <p:cNvPr id="15" name="TextBox 14">
            <a:extLst>
              <a:ext uri="{FF2B5EF4-FFF2-40B4-BE49-F238E27FC236}">
                <a16:creationId xmlns:a16="http://schemas.microsoft.com/office/drawing/2014/main" id="{C413BD30-77BD-F83D-9CB9-9B6C5BA1F1F5}"/>
              </a:ext>
            </a:extLst>
          </p:cNvPr>
          <p:cNvSpPr txBox="1"/>
          <p:nvPr/>
        </p:nvSpPr>
        <p:spPr>
          <a:xfrm>
            <a:off x="1105382" y="1098341"/>
            <a:ext cx="3715474" cy="400110"/>
          </a:xfrm>
          <a:prstGeom prst="rect">
            <a:avLst/>
          </a:prstGeom>
          <a:noFill/>
        </p:spPr>
        <p:txBody>
          <a:bodyPr wrap="square">
            <a:spAutoFit/>
          </a:bodyPr>
          <a:lstStyle/>
          <a:p>
            <a:r>
              <a:rPr lang="en-US" sz="2000" b="1" u="sng" dirty="0">
                <a:solidFill>
                  <a:schemeClr val="accent6"/>
                </a:solidFill>
              </a:rPr>
              <a:t>Pipeline A (Cosmetic Retailer)</a:t>
            </a:r>
          </a:p>
        </p:txBody>
      </p:sp>
      <p:sp>
        <p:nvSpPr>
          <p:cNvPr id="16" name="TextBox 15">
            <a:extLst>
              <a:ext uri="{FF2B5EF4-FFF2-40B4-BE49-F238E27FC236}">
                <a16:creationId xmlns:a16="http://schemas.microsoft.com/office/drawing/2014/main" id="{A41051DA-6145-F6C5-BE34-A73FEA2D1510}"/>
              </a:ext>
            </a:extLst>
          </p:cNvPr>
          <p:cNvSpPr txBox="1"/>
          <p:nvPr/>
        </p:nvSpPr>
        <p:spPr>
          <a:xfrm>
            <a:off x="7371146" y="1098341"/>
            <a:ext cx="3715474" cy="400110"/>
          </a:xfrm>
          <a:prstGeom prst="rect">
            <a:avLst/>
          </a:prstGeom>
          <a:noFill/>
        </p:spPr>
        <p:txBody>
          <a:bodyPr wrap="square">
            <a:spAutoFit/>
          </a:bodyPr>
          <a:lstStyle/>
          <a:p>
            <a:r>
              <a:rPr lang="en-US" sz="2000" b="1" u="sng" dirty="0">
                <a:solidFill>
                  <a:schemeClr val="accent6"/>
                </a:solidFill>
              </a:rPr>
              <a:t>Pipeline B (UK Retailer)</a:t>
            </a:r>
          </a:p>
        </p:txBody>
      </p:sp>
      <p:cxnSp>
        <p:nvCxnSpPr>
          <p:cNvPr id="17" name="Straight Connector 16">
            <a:extLst>
              <a:ext uri="{FF2B5EF4-FFF2-40B4-BE49-F238E27FC236}">
                <a16:creationId xmlns:a16="http://schemas.microsoft.com/office/drawing/2014/main" id="{0C24311B-1DCB-CAE9-287B-8E62699AE524}"/>
              </a:ext>
            </a:extLst>
          </p:cNvPr>
          <p:cNvCxnSpPr>
            <a:cxnSpLocks/>
          </p:cNvCxnSpPr>
          <p:nvPr/>
        </p:nvCxnSpPr>
        <p:spPr>
          <a:xfrm>
            <a:off x="5960115" y="1098341"/>
            <a:ext cx="0" cy="5346104"/>
          </a:xfrm>
          <a:prstGeom prst="line">
            <a:avLst/>
          </a:prstGeom>
          <a:ln w="762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3457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FC98067-F133-1293-DB5B-C6BCB05DFAE3}"/>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2E71094-8E96-93FE-9E27-75EBF1DDC358}"/>
              </a:ext>
            </a:extLst>
          </p:cNvPr>
          <p:cNvSpPr>
            <a:spLocks noGrp="1"/>
          </p:cNvSpPr>
          <p:nvPr>
            <p:ph type="title"/>
          </p:nvPr>
        </p:nvSpPr>
        <p:spPr>
          <a:xfrm>
            <a:off x="3171464" y="213349"/>
            <a:ext cx="5822066" cy="471490"/>
          </a:xfrm>
        </p:spPr>
        <p:txBody>
          <a:bodyPr/>
          <a:lstStyle/>
          <a:p>
            <a:pPr algn="l"/>
            <a:r>
              <a:rPr lang="en-US" sz="3200" dirty="0"/>
              <a:t>Feature engineering</a:t>
            </a:r>
            <a:endParaRPr lang="en-ZA" sz="3200" dirty="0"/>
          </a:p>
        </p:txBody>
      </p:sp>
      <p:sp>
        <p:nvSpPr>
          <p:cNvPr id="12" name="Rectangle 1">
            <a:extLst>
              <a:ext uri="{FF2B5EF4-FFF2-40B4-BE49-F238E27FC236}">
                <a16:creationId xmlns:a16="http://schemas.microsoft.com/office/drawing/2014/main" id="{E3BFE802-5352-3187-A84C-FC3E417894E9}"/>
              </a:ext>
            </a:extLst>
          </p:cNvPr>
          <p:cNvSpPr>
            <a:spLocks noChangeArrowheads="1"/>
          </p:cNvSpPr>
          <p:nvPr/>
        </p:nvSpPr>
        <p:spPr bwMode="auto">
          <a:xfrm>
            <a:off x="347240" y="845435"/>
            <a:ext cx="5463625"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solidFill>
                  <a:schemeClr val="accent6"/>
                </a:solidFill>
              </a:rPr>
              <a:t>Recency Isolation (The "Risk Anchor")</a:t>
            </a:r>
          </a:p>
          <a:p>
            <a:endParaRPr lang="en-US" sz="1400" dirty="0">
              <a:solidFill>
                <a:schemeClr val="accent6"/>
              </a:solidFill>
            </a:endParaRPr>
          </a:p>
          <a:p>
            <a:r>
              <a:rPr lang="en-US" sz="1400" dirty="0">
                <a:solidFill>
                  <a:schemeClr val="accent6"/>
                </a:solidFill>
              </a:rPr>
              <a:t>Recency is isolated into strict </a:t>
            </a:r>
            <a:r>
              <a:rPr lang="en-US" sz="1400" b="1" dirty="0">
                <a:solidFill>
                  <a:schemeClr val="accent6"/>
                </a:solidFill>
              </a:rPr>
              <a:t>30-day "At-Risk" buckets</a:t>
            </a:r>
            <a:r>
              <a:rPr lang="en-US" sz="1400" dirty="0">
                <a:solidFill>
                  <a:schemeClr val="accent6"/>
                </a:solidFill>
              </a:rPr>
              <a:t>.</a:t>
            </a:r>
          </a:p>
          <a:p>
            <a:endParaRPr lang="en-US" sz="1400" dirty="0">
              <a:solidFill>
                <a:schemeClr val="accent6"/>
              </a:solidFill>
            </a:endParaRPr>
          </a:p>
          <a:p>
            <a:r>
              <a:rPr lang="en-US" sz="1400" dirty="0">
                <a:solidFill>
                  <a:schemeClr val="accent6"/>
                </a:solidFill>
              </a:rPr>
              <a:t>High Monetary value (Total Spend) should not be allowed to mask a customer who has been inactive for months.</a:t>
            </a:r>
          </a:p>
        </p:txBody>
      </p:sp>
      <p:pic>
        <p:nvPicPr>
          <p:cNvPr id="3" name="Picture 2">
            <a:extLst>
              <a:ext uri="{FF2B5EF4-FFF2-40B4-BE49-F238E27FC236}">
                <a16:creationId xmlns:a16="http://schemas.microsoft.com/office/drawing/2014/main" id="{E56FB5D4-555B-CA0F-9F9D-3EE6C12677A3}"/>
              </a:ext>
            </a:extLst>
          </p:cNvPr>
          <p:cNvPicPr>
            <a:picLocks noChangeAspect="1"/>
          </p:cNvPicPr>
          <p:nvPr/>
        </p:nvPicPr>
        <p:blipFill>
          <a:blip r:embed="rId3"/>
          <a:stretch>
            <a:fillRect/>
          </a:stretch>
        </p:blipFill>
        <p:spPr>
          <a:xfrm>
            <a:off x="6441310" y="942633"/>
            <a:ext cx="5235617" cy="1446550"/>
          </a:xfrm>
          <a:prstGeom prst="rect">
            <a:avLst/>
          </a:prstGeom>
        </p:spPr>
      </p:pic>
      <p:pic>
        <p:nvPicPr>
          <p:cNvPr id="6" name="Picture 5">
            <a:extLst>
              <a:ext uri="{FF2B5EF4-FFF2-40B4-BE49-F238E27FC236}">
                <a16:creationId xmlns:a16="http://schemas.microsoft.com/office/drawing/2014/main" id="{516AB04F-D773-17F8-CAE3-80CE23BEFC4A}"/>
              </a:ext>
            </a:extLst>
          </p:cNvPr>
          <p:cNvPicPr>
            <a:picLocks noChangeAspect="1"/>
          </p:cNvPicPr>
          <p:nvPr/>
        </p:nvPicPr>
        <p:blipFill>
          <a:blip r:embed="rId4"/>
          <a:stretch>
            <a:fillRect/>
          </a:stretch>
        </p:blipFill>
        <p:spPr>
          <a:xfrm>
            <a:off x="6441311" y="3126099"/>
            <a:ext cx="5265798" cy="1806682"/>
          </a:xfrm>
          <a:prstGeom prst="rect">
            <a:avLst/>
          </a:prstGeom>
        </p:spPr>
      </p:pic>
      <p:sp>
        <p:nvSpPr>
          <p:cNvPr id="9" name="TextBox 8">
            <a:extLst>
              <a:ext uri="{FF2B5EF4-FFF2-40B4-BE49-F238E27FC236}">
                <a16:creationId xmlns:a16="http://schemas.microsoft.com/office/drawing/2014/main" id="{7949ABF3-E6D9-6FA4-F859-109E3CA373E5}"/>
              </a:ext>
            </a:extLst>
          </p:cNvPr>
          <p:cNvSpPr txBox="1"/>
          <p:nvPr/>
        </p:nvSpPr>
        <p:spPr>
          <a:xfrm>
            <a:off x="268582" y="2624144"/>
            <a:ext cx="6094070" cy="369332"/>
          </a:xfrm>
          <a:prstGeom prst="rect">
            <a:avLst/>
          </a:prstGeom>
          <a:noFill/>
        </p:spPr>
        <p:txBody>
          <a:bodyPr wrap="square">
            <a:spAutoFit/>
          </a:bodyPr>
          <a:lstStyle/>
          <a:p>
            <a:r>
              <a:rPr lang="en-ZA" b="1" dirty="0">
                <a:solidFill>
                  <a:schemeClr val="accent6"/>
                </a:solidFill>
              </a:rPr>
              <a:t>The Base RFM Calculation</a:t>
            </a:r>
          </a:p>
        </p:txBody>
      </p:sp>
      <p:sp>
        <p:nvSpPr>
          <p:cNvPr id="29" name="TextBox 28">
            <a:extLst>
              <a:ext uri="{FF2B5EF4-FFF2-40B4-BE49-F238E27FC236}">
                <a16:creationId xmlns:a16="http://schemas.microsoft.com/office/drawing/2014/main" id="{B211DA88-E0EC-0BE6-2E3B-9F554D0C9867}"/>
              </a:ext>
            </a:extLst>
          </p:cNvPr>
          <p:cNvSpPr txBox="1"/>
          <p:nvPr/>
        </p:nvSpPr>
        <p:spPr>
          <a:xfrm>
            <a:off x="268582" y="2963420"/>
            <a:ext cx="6094070" cy="2308324"/>
          </a:xfrm>
          <a:prstGeom prst="rect">
            <a:avLst/>
          </a:prstGeom>
          <a:noFill/>
        </p:spPr>
        <p:txBody>
          <a:bodyPr wrap="square">
            <a:spAutoFit/>
          </a:bodyPr>
          <a:lstStyle/>
          <a:p>
            <a:r>
              <a:rPr lang="en-US" sz="1400" dirty="0">
                <a:solidFill>
                  <a:schemeClr val="accent6"/>
                </a:solidFill>
              </a:rPr>
              <a:t>Transitions the dataset from raw, row-by-row transactions into unified, customer-level profiles for the specific cycle.</a:t>
            </a:r>
          </a:p>
          <a:p>
            <a:endParaRPr lang="en-US" sz="1400" dirty="0">
              <a:solidFill>
                <a:schemeClr val="accent6"/>
              </a:solidFill>
            </a:endParaRPr>
          </a:p>
          <a:p>
            <a:r>
              <a:rPr lang="en-US" sz="1400" b="1" dirty="0">
                <a:solidFill>
                  <a:schemeClr val="accent6"/>
                </a:solidFill>
              </a:rPr>
              <a:t>Recency Calculation:</a:t>
            </a:r>
          </a:p>
          <a:p>
            <a:pPr marL="285750" indent="-285750">
              <a:buFont typeface="Arial" panose="020B0604020202020204" pitchFamily="34" charset="0"/>
              <a:buChar char="•"/>
            </a:pPr>
            <a:r>
              <a:rPr lang="en-US" sz="1400" dirty="0">
                <a:solidFill>
                  <a:schemeClr val="accent6"/>
                </a:solidFill>
              </a:rPr>
              <a:t>(lambda x) Calculates the exact number of days since the customer’s last purchase.</a:t>
            </a:r>
          </a:p>
          <a:p>
            <a:pPr marL="285750" indent="-285750">
              <a:buFont typeface="Arial" panose="020B0604020202020204" pitchFamily="34" charset="0"/>
              <a:buChar char="•"/>
            </a:pPr>
            <a:r>
              <a:rPr lang="en-US" sz="1400" dirty="0">
                <a:solidFill>
                  <a:schemeClr val="accent6"/>
                </a:solidFill>
              </a:rPr>
              <a:t>Uses the dynamic snapshot date (the end of that specific time cycle) rather than a static end-of-year date, ensuring Recency is perfectly accurate for the continuous dynamic loop</a:t>
            </a:r>
            <a:endParaRPr lang="en-ZA" sz="1400" dirty="0">
              <a:solidFill>
                <a:schemeClr val="accent6"/>
              </a:solidFill>
            </a:endParaRPr>
          </a:p>
          <a:p>
            <a:endParaRPr lang="en-ZA" dirty="0">
              <a:solidFill>
                <a:schemeClr val="accent6"/>
              </a:solidFill>
            </a:endParaRPr>
          </a:p>
        </p:txBody>
      </p:sp>
      <p:sp>
        <p:nvSpPr>
          <p:cNvPr id="7" name="TextBox 6">
            <a:extLst>
              <a:ext uri="{FF2B5EF4-FFF2-40B4-BE49-F238E27FC236}">
                <a16:creationId xmlns:a16="http://schemas.microsoft.com/office/drawing/2014/main" id="{3CCEE5FF-2149-8A05-91B3-F0DF6659D602}"/>
              </a:ext>
            </a:extLst>
          </p:cNvPr>
          <p:cNvSpPr txBox="1"/>
          <p:nvPr/>
        </p:nvSpPr>
        <p:spPr>
          <a:xfrm>
            <a:off x="268582" y="5119407"/>
            <a:ext cx="6269771" cy="1661993"/>
          </a:xfrm>
          <a:prstGeom prst="rect">
            <a:avLst/>
          </a:prstGeom>
          <a:noFill/>
        </p:spPr>
        <p:txBody>
          <a:bodyPr wrap="square">
            <a:spAutoFit/>
          </a:bodyPr>
          <a:lstStyle/>
          <a:p>
            <a:r>
              <a:rPr lang="en-ZA" b="1" dirty="0">
                <a:solidFill>
                  <a:schemeClr val="accent6"/>
                </a:solidFill>
              </a:rPr>
              <a:t>The Cascaded RFM creation</a:t>
            </a:r>
          </a:p>
          <a:p>
            <a:pPr>
              <a:buNone/>
            </a:pPr>
            <a:endParaRPr lang="en-US" sz="1400" b="1" dirty="0"/>
          </a:p>
          <a:p>
            <a:pPr>
              <a:buNone/>
            </a:pPr>
            <a:r>
              <a:rPr lang="en-US" sz="1400" b="1" dirty="0">
                <a:solidFill>
                  <a:schemeClr val="accent6"/>
                </a:solidFill>
              </a:rPr>
              <a:t>Decomposed Structural Pairing:</a:t>
            </a:r>
            <a:endParaRPr lang="en-US" sz="1400" dirty="0">
              <a:solidFill>
                <a:schemeClr val="accent6"/>
              </a:solidFill>
            </a:endParaRPr>
          </a:p>
          <a:p>
            <a:r>
              <a:rPr lang="en-US" sz="1400" dirty="0">
                <a:solidFill>
                  <a:schemeClr val="accent6"/>
                </a:solidFill>
              </a:rPr>
              <a:t>Creates interaction features to capture complex behavioral interactions:</a:t>
            </a:r>
          </a:p>
          <a:p>
            <a:pPr marL="742950" lvl="1" indent="-285750">
              <a:buFont typeface="Arial" panose="020B0604020202020204" pitchFamily="34" charset="0"/>
              <a:buChar char="•"/>
            </a:pPr>
            <a:r>
              <a:rPr lang="en-US" sz="1400" b="1" dirty="0">
                <a:solidFill>
                  <a:schemeClr val="accent6"/>
                </a:solidFill>
              </a:rPr>
              <a:t>R-F Pair:</a:t>
            </a:r>
            <a:r>
              <a:rPr lang="en-US" sz="1400" dirty="0">
                <a:solidFill>
                  <a:schemeClr val="accent6"/>
                </a:solidFill>
              </a:rPr>
              <a:t> Links loyalty to visit timing.</a:t>
            </a:r>
          </a:p>
          <a:p>
            <a:pPr marL="742950" lvl="1" indent="-285750">
              <a:buFont typeface="Arial" panose="020B0604020202020204" pitchFamily="34" charset="0"/>
              <a:buChar char="•"/>
            </a:pPr>
            <a:r>
              <a:rPr lang="en-US" sz="1400" b="1" dirty="0">
                <a:solidFill>
                  <a:schemeClr val="accent6"/>
                </a:solidFill>
              </a:rPr>
              <a:t>R-M Pair:</a:t>
            </a:r>
            <a:r>
              <a:rPr lang="en-US" sz="1400" dirty="0">
                <a:solidFill>
                  <a:schemeClr val="accent6"/>
                </a:solidFill>
              </a:rPr>
              <a:t> Links profitability to recency.</a:t>
            </a:r>
          </a:p>
          <a:p>
            <a:pPr marL="742950" lvl="1" indent="-285750">
              <a:buFont typeface="Arial" panose="020B0604020202020204" pitchFamily="34" charset="0"/>
              <a:buChar char="•"/>
            </a:pPr>
            <a:r>
              <a:rPr lang="en-US" sz="1400" b="1" dirty="0">
                <a:solidFill>
                  <a:schemeClr val="accent6"/>
                </a:solidFill>
              </a:rPr>
              <a:t>F-M Pair:</a:t>
            </a:r>
            <a:r>
              <a:rPr lang="en-US" sz="1400" dirty="0">
                <a:solidFill>
                  <a:schemeClr val="accent6"/>
                </a:solidFill>
              </a:rPr>
              <a:t> Calculates total purchase power per visit.</a:t>
            </a:r>
            <a:endParaRPr lang="en-ZA" sz="1400" b="1" dirty="0">
              <a:solidFill>
                <a:schemeClr val="accent6"/>
              </a:solidFill>
            </a:endParaRPr>
          </a:p>
        </p:txBody>
      </p:sp>
      <p:pic>
        <p:nvPicPr>
          <p:cNvPr id="20" name="Picture 19">
            <a:extLst>
              <a:ext uri="{FF2B5EF4-FFF2-40B4-BE49-F238E27FC236}">
                <a16:creationId xmlns:a16="http://schemas.microsoft.com/office/drawing/2014/main" id="{F771CA28-6285-7135-FD2E-4E1EF25B0C92}"/>
              </a:ext>
            </a:extLst>
          </p:cNvPr>
          <p:cNvPicPr>
            <a:picLocks noChangeAspect="1"/>
          </p:cNvPicPr>
          <p:nvPr/>
        </p:nvPicPr>
        <p:blipFill>
          <a:blip r:embed="rId5"/>
          <a:stretch>
            <a:fillRect/>
          </a:stretch>
        </p:blipFill>
        <p:spPr>
          <a:xfrm>
            <a:off x="6335909" y="5317395"/>
            <a:ext cx="2657621" cy="704603"/>
          </a:xfrm>
          <a:prstGeom prst="rect">
            <a:avLst/>
          </a:prstGeom>
        </p:spPr>
      </p:pic>
      <p:pic>
        <p:nvPicPr>
          <p:cNvPr id="22" name="Picture 21">
            <a:extLst>
              <a:ext uri="{FF2B5EF4-FFF2-40B4-BE49-F238E27FC236}">
                <a16:creationId xmlns:a16="http://schemas.microsoft.com/office/drawing/2014/main" id="{07AC7497-D278-BE1C-EA2D-F15BB568DB29}"/>
              </a:ext>
            </a:extLst>
          </p:cNvPr>
          <p:cNvPicPr>
            <a:picLocks noChangeAspect="1"/>
          </p:cNvPicPr>
          <p:nvPr/>
        </p:nvPicPr>
        <p:blipFill>
          <a:blip r:embed="rId6"/>
          <a:stretch>
            <a:fillRect/>
          </a:stretch>
        </p:blipFill>
        <p:spPr>
          <a:xfrm>
            <a:off x="6413794" y="6207031"/>
            <a:ext cx="4671465" cy="389335"/>
          </a:xfrm>
          <a:prstGeom prst="rect">
            <a:avLst/>
          </a:prstGeom>
        </p:spPr>
      </p:pic>
    </p:spTree>
    <p:extLst>
      <p:ext uri="{BB962C8B-B14F-4D97-AF65-F5344CB8AC3E}">
        <p14:creationId xmlns:p14="http://schemas.microsoft.com/office/powerpoint/2010/main" val="11774365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EFA4F7-DE6B-4ECB-99A2-36F7562FA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30D92-50B8-AF77-A1FB-A0447AE52DAA}"/>
              </a:ext>
            </a:extLst>
          </p:cNvPr>
          <p:cNvSpPr>
            <a:spLocks noGrp="1"/>
          </p:cNvSpPr>
          <p:nvPr>
            <p:ph type="title"/>
          </p:nvPr>
        </p:nvSpPr>
        <p:spPr>
          <a:xfrm>
            <a:off x="4394732" y="360087"/>
            <a:ext cx="3418015" cy="471490"/>
          </a:xfrm>
        </p:spPr>
        <p:txBody>
          <a:bodyPr/>
          <a:lstStyle/>
          <a:p>
            <a:pPr lvl="0" algn="l" defTabSz="457200">
              <a:spcBef>
                <a:spcPts val="0"/>
              </a:spcBef>
              <a:spcAft>
                <a:spcPts val="600"/>
              </a:spcAft>
              <a:defRPr/>
            </a:pPr>
            <a:r>
              <a:rPr lang="en-US" sz="3200" cap="none" dirty="0">
                <a:solidFill>
                  <a:srgbClr val="1F2C8F"/>
                </a:solidFill>
              </a:rPr>
              <a:t>Preprocessing</a:t>
            </a:r>
            <a:endParaRPr lang="en-US" sz="2800" dirty="0">
              <a:latin typeface="Sabon Next LT"/>
            </a:endParaRPr>
          </a:p>
        </p:txBody>
      </p:sp>
      <p:sp>
        <p:nvSpPr>
          <p:cNvPr id="7" name="TextBox 6">
            <a:extLst>
              <a:ext uri="{FF2B5EF4-FFF2-40B4-BE49-F238E27FC236}">
                <a16:creationId xmlns:a16="http://schemas.microsoft.com/office/drawing/2014/main" id="{459A0793-2CCD-5431-2FAA-1C0659A6F3ED}"/>
              </a:ext>
            </a:extLst>
          </p:cNvPr>
          <p:cNvSpPr txBox="1"/>
          <p:nvPr/>
        </p:nvSpPr>
        <p:spPr>
          <a:xfrm>
            <a:off x="339907" y="1163675"/>
            <a:ext cx="4994244" cy="521681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US" sz="2000" b="1" i="0" u="none" strike="noStrike" kern="1200" cap="none" spc="0" normalizeH="0" baseline="0" noProof="0" dirty="0">
                <a:ln>
                  <a:noFill/>
                </a:ln>
                <a:solidFill>
                  <a:srgbClr val="1F2C8F"/>
                </a:solidFill>
                <a:effectLst/>
                <a:uLnTx/>
                <a:uFillTx/>
                <a:latin typeface="Arial Black"/>
                <a:ea typeface="+mn-ea"/>
                <a:cs typeface="+mn-cs"/>
              </a:rPr>
              <a:t>Preprocessing</a:t>
            </a:r>
            <a:endParaRPr lang="en-US" dirty="0">
              <a:solidFill>
                <a:schemeClr val="accent6"/>
              </a:solidFill>
              <a:latin typeface="Sabon Next LT"/>
            </a:endParaRPr>
          </a:p>
          <a:p>
            <a:pPr>
              <a:spcAft>
                <a:spcPts val="1200"/>
              </a:spcAft>
            </a:pPr>
            <a:r>
              <a:rPr lang="en-US" b="1" dirty="0">
                <a:solidFill>
                  <a:schemeClr val="accent6"/>
                </a:solidFill>
                <a:latin typeface="Sabon Next LT"/>
              </a:rPr>
              <a:t>Normalization</a:t>
            </a:r>
            <a:r>
              <a:rPr lang="en-US" dirty="0">
                <a:solidFill>
                  <a:schemeClr val="accent6"/>
                </a:solidFill>
                <a:latin typeface="Sabon Next LT"/>
              </a:rPr>
              <a:t> (The Log Transformation)</a:t>
            </a:r>
          </a:p>
          <a:p>
            <a:pPr marL="742950" lvl="1" indent="-285750">
              <a:spcAft>
                <a:spcPts val="1200"/>
              </a:spcAft>
              <a:buFont typeface="Arial" panose="020B0604020202020204" pitchFamily="34" charset="0"/>
              <a:buChar char="•"/>
            </a:pPr>
            <a:r>
              <a:rPr lang="en-US" sz="1600" dirty="0">
                <a:solidFill>
                  <a:schemeClr val="accent6"/>
                </a:solidFill>
                <a:latin typeface="Sabon Next LT"/>
              </a:rPr>
              <a:t>We use Log Transformation to handle extreme outliers in customer spending</a:t>
            </a:r>
          </a:p>
          <a:p>
            <a:pPr marL="742950" lvl="1" indent="-285750">
              <a:spcAft>
                <a:spcPts val="1200"/>
              </a:spcAft>
              <a:buFont typeface="Arial" panose="020B0604020202020204" pitchFamily="34" charset="0"/>
              <a:buChar char="•"/>
            </a:pPr>
            <a:r>
              <a:rPr lang="en-US" sz="1600" dirty="0">
                <a:solidFill>
                  <a:schemeClr val="accent6"/>
                </a:solidFill>
                <a:latin typeface="Sabon Next LT"/>
              </a:rPr>
              <a:t>Without normalization, the An outlier "pulls" the mean so far to the right that the algorithm can't see the patterns in average customers. </a:t>
            </a:r>
          </a:p>
          <a:p>
            <a:pPr marL="742950" lvl="1" indent="-285750">
              <a:spcAft>
                <a:spcPts val="1200"/>
              </a:spcAft>
              <a:buFont typeface="Arial" panose="020B0604020202020204" pitchFamily="34" charset="0"/>
              <a:buChar char="•"/>
            </a:pPr>
            <a:r>
              <a:rPr lang="en-US" sz="1600" dirty="0">
                <a:solidFill>
                  <a:schemeClr val="accent6"/>
                </a:solidFill>
                <a:latin typeface="Sabon Next LT"/>
              </a:rPr>
              <a:t>The Formula is log(1 + x) to compute the Log Transformation </a:t>
            </a:r>
          </a:p>
          <a:p>
            <a:pPr marL="742950" lvl="1" indent="-285750">
              <a:spcAft>
                <a:spcPts val="1200"/>
              </a:spcAft>
              <a:buFont typeface="Arial" panose="020B0604020202020204" pitchFamily="34" charset="0"/>
              <a:buChar char="•"/>
            </a:pPr>
            <a:r>
              <a:rPr lang="en-US" sz="1600" dirty="0">
                <a:solidFill>
                  <a:schemeClr val="accent6"/>
                </a:solidFill>
                <a:latin typeface="Sabon Next LT"/>
              </a:rPr>
              <a:t>Before Transformation: The data is unreadable.  99 % of the population is trapped in a single bar because the x-axis is forced to stretch to a high value.</a:t>
            </a:r>
          </a:p>
          <a:p>
            <a:pPr marL="742950" lvl="1" indent="-285750">
              <a:spcAft>
                <a:spcPts val="1200"/>
              </a:spcAft>
              <a:buFont typeface="Arial" panose="020B0604020202020204" pitchFamily="34" charset="0"/>
              <a:buChar char="•"/>
            </a:pPr>
            <a:r>
              <a:rPr lang="en-US" sz="1600" dirty="0">
                <a:solidFill>
                  <a:schemeClr val="accent6"/>
                </a:solidFill>
                <a:latin typeface="Sabon Next LT"/>
              </a:rPr>
              <a:t>After Transformation: The "hidden" patterns are revealed. We can now see that the most common (modal) log-spend is around 4.5 (which is roughly R90 in real money).</a:t>
            </a:r>
          </a:p>
        </p:txBody>
      </p:sp>
      <p:pic>
        <p:nvPicPr>
          <p:cNvPr id="5" name="Picture 4">
            <a:extLst>
              <a:ext uri="{FF2B5EF4-FFF2-40B4-BE49-F238E27FC236}">
                <a16:creationId xmlns:a16="http://schemas.microsoft.com/office/drawing/2014/main" id="{4CC1F893-1F64-EE0D-E72A-4F3FEFB2029B}"/>
              </a:ext>
            </a:extLst>
          </p:cNvPr>
          <p:cNvPicPr>
            <a:picLocks noChangeAspect="1"/>
          </p:cNvPicPr>
          <p:nvPr/>
        </p:nvPicPr>
        <p:blipFill>
          <a:blip r:embed="rId3"/>
          <a:stretch>
            <a:fillRect/>
          </a:stretch>
        </p:blipFill>
        <p:spPr>
          <a:xfrm>
            <a:off x="5735799" y="1574875"/>
            <a:ext cx="5926724" cy="2190129"/>
          </a:xfrm>
          <a:prstGeom prst="rect">
            <a:avLst/>
          </a:prstGeom>
        </p:spPr>
      </p:pic>
      <p:pic>
        <p:nvPicPr>
          <p:cNvPr id="8" name="Picture 7">
            <a:extLst>
              <a:ext uri="{FF2B5EF4-FFF2-40B4-BE49-F238E27FC236}">
                <a16:creationId xmlns:a16="http://schemas.microsoft.com/office/drawing/2014/main" id="{B139CF2C-4DAA-1D66-E340-8EC9FBFFD339}"/>
              </a:ext>
            </a:extLst>
          </p:cNvPr>
          <p:cNvPicPr>
            <a:picLocks noChangeAspect="1"/>
          </p:cNvPicPr>
          <p:nvPr/>
        </p:nvPicPr>
        <p:blipFill>
          <a:blip r:embed="rId4"/>
          <a:stretch>
            <a:fillRect/>
          </a:stretch>
        </p:blipFill>
        <p:spPr>
          <a:xfrm>
            <a:off x="5803896" y="4606815"/>
            <a:ext cx="5926723" cy="2175020"/>
          </a:xfrm>
          <a:prstGeom prst="rect">
            <a:avLst/>
          </a:prstGeom>
        </p:spPr>
      </p:pic>
      <p:sp>
        <p:nvSpPr>
          <p:cNvPr id="14" name="TextBox 13">
            <a:extLst>
              <a:ext uri="{FF2B5EF4-FFF2-40B4-BE49-F238E27FC236}">
                <a16:creationId xmlns:a16="http://schemas.microsoft.com/office/drawing/2014/main" id="{7BA0CB31-29EB-57B8-75B4-8F277C21C8F6}"/>
              </a:ext>
            </a:extLst>
          </p:cNvPr>
          <p:cNvSpPr txBox="1"/>
          <p:nvPr/>
        </p:nvSpPr>
        <p:spPr>
          <a:xfrm>
            <a:off x="7582678" y="1163675"/>
            <a:ext cx="3137418" cy="338554"/>
          </a:xfrm>
          <a:prstGeom prst="rect">
            <a:avLst/>
          </a:prstGeom>
          <a:noFill/>
        </p:spPr>
        <p:txBody>
          <a:bodyPr wrap="square">
            <a:spAutoFit/>
          </a:bodyPr>
          <a:lstStyle/>
          <a:p>
            <a:r>
              <a:rPr lang="en-US" sz="1600" b="1" u="sng" dirty="0">
                <a:solidFill>
                  <a:schemeClr val="accent6"/>
                </a:solidFill>
              </a:rPr>
              <a:t>Dataset  A (Cosmetic Retailer)</a:t>
            </a:r>
          </a:p>
        </p:txBody>
      </p:sp>
      <p:sp>
        <p:nvSpPr>
          <p:cNvPr id="16" name="TextBox 15">
            <a:extLst>
              <a:ext uri="{FF2B5EF4-FFF2-40B4-BE49-F238E27FC236}">
                <a16:creationId xmlns:a16="http://schemas.microsoft.com/office/drawing/2014/main" id="{CDD28C22-6191-3A7D-5BFC-2A9C74B27E3E}"/>
              </a:ext>
            </a:extLst>
          </p:cNvPr>
          <p:cNvSpPr txBox="1"/>
          <p:nvPr/>
        </p:nvSpPr>
        <p:spPr>
          <a:xfrm>
            <a:off x="7812747" y="4169748"/>
            <a:ext cx="3613279" cy="338554"/>
          </a:xfrm>
          <a:prstGeom prst="rect">
            <a:avLst/>
          </a:prstGeom>
          <a:noFill/>
        </p:spPr>
        <p:txBody>
          <a:bodyPr wrap="square">
            <a:spAutoFit/>
          </a:bodyPr>
          <a:lstStyle/>
          <a:p>
            <a:r>
              <a:rPr lang="en-US" sz="1600" b="1" u="sng" dirty="0">
                <a:solidFill>
                  <a:schemeClr val="accent6"/>
                </a:solidFill>
              </a:rPr>
              <a:t>Dataset  B (UK Retailer)</a:t>
            </a:r>
          </a:p>
        </p:txBody>
      </p:sp>
    </p:spTree>
    <p:extLst>
      <p:ext uri="{BB962C8B-B14F-4D97-AF65-F5344CB8AC3E}">
        <p14:creationId xmlns:p14="http://schemas.microsoft.com/office/powerpoint/2010/main" val="1529948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11FDA9-7215-4B01-259B-C50BA19ADE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DE6714-632A-A806-18FB-7EA24FCB4CF0}"/>
              </a:ext>
            </a:extLst>
          </p:cNvPr>
          <p:cNvSpPr>
            <a:spLocks noGrp="1"/>
          </p:cNvSpPr>
          <p:nvPr>
            <p:ph type="title"/>
          </p:nvPr>
        </p:nvSpPr>
        <p:spPr>
          <a:xfrm>
            <a:off x="4220585" y="156337"/>
            <a:ext cx="3646220" cy="471490"/>
          </a:xfrm>
        </p:spPr>
        <p:txBody>
          <a:bodyPr/>
          <a:lstStyle/>
          <a:p>
            <a:pPr algn="l"/>
            <a:r>
              <a:rPr lang="en-US" sz="3200" cap="none" dirty="0"/>
              <a:t>Preprocessing</a:t>
            </a:r>
            <a:endParaRPr lang="en-ZA" sz="3200" dirty="0"/>
          </a:p>
        </p:txBody>
      </p:sp>
      <p:sp>
        <p:nvSpPr>
          <p:cNvPr id="7" name="TextBox 6">
            <a:extLst>
              <a:ext uri="{FF2B5EF4-FFF2-40B4-BE49-F238E27FC236}">
                <a16:creationId xmlns:a16="http://schemas.microsoft.com/office/drawing/2014/main" id="{6418F598-22AD-4C7D-4994-ED8E4802A9EE}"/>
              </a:ext>
            </a:extLst>
          </p:cNvPr>
          <p:cNvSpPr txBox="1"/>
          <p:nvPr/>
        </p:nvSpPr>
        <p:spPr>
          <a:xfrm>
            <a:off x="445502" y="903570"/>
            <a:ext cx="4929671" cy="338554"/>
          </a:xfrm>
          <a:prstGeom prst="rect">
            <a:avLst/>
          </a:prstGeom>
          <a:noFill/>
        </p:spPr>
        <p:txBody>
          <a:bodyPr wrap="square">
            <a:spAutoFit/>
          </a:bodyPr>
          <a:lstStyle/>
          <a:p>
            <a:pPr>
              <a:spcAft>
                <a:spcPts val="1200"/>
              </a:spcAft>
            </a:pPr>
            <a:r>
              <a:rPr lang="en-US" sz="1600" b="1" dirty="0">
                <a:solidFill>
                  <a:schemeClr val="accent6"/>
                </a:solidFill>
                <a:latin typeface="Sabon Next LT"/>
              </a:rPr>
              <a:t>Normalization</a:t>
            </a:r>
            <a:r>
              <a:rPr lang="en-US" sz="1600" dirty="0">
                <a:solidFill>
                  <a:schemeClr val="accent6"/>
                </a:solidFill>
                <a:latin typeface="Sabon Next LT"/>
              </a:rPr>
              <a:t> (The Log Transformation)</a:t>
            </a:r>
          </a:p>
        </p:txBody>
      </p:sp>
      <p:pic>
        <p:nvPicPr>
          <p:cNvPr id="15" name="Picture 14">
            <a:extLst>
              <a:ext uri="{FF2B5EF4-FFF2-40B4-BE49-F238E27FC236}">
                <a16:creationId xmlns:a16="http://schemas.microsoft.com/office/drawing/2014/main" id="{610FBAA3-834B-4AEE-9063-3F168824B994}"/>
              </a:ext>
            </a:extLst>
          </p:cNvPr>
          <p:cNvPicPr>
            <a:picLocks noChangeAspect="1"/>
          </p:cNvPicPr>
          <p:nvPr/>
        </p:nvPicPr>
        <p:blipFill>
          <a:blip r:embed="rId3"/>
          <a:stretch>
            <a:fillRect/>
          </a:stretch>
        </p:blipFill>
        <p:spPr>
          <a:xfrm>
            <a:off x="5647561" y="1008685"/>
            <a:ext cx="6228065" cy="5505062"/>
          </a:xfrm>
          <a:prstGeom prst="rect">
            <a:avLst/>
          </a:prstGeom>
        </p:spPr>
      </p:pic>
      <p:pic>
        <p:nvPicPr>
          <p:cNvPr id="9" name="Picture 8">
            <a:extLst>
              <a:ext uri="{FF2B5EF4-FFF2-40B4-BE49-F238E27FC236}">
                <a16:creationId xmlns:a16="http://schemas.microsoft.com/office/drawing/2014/main" id="{7798A8C8-0FB8-B710-5C26-780B3E3C2107}"/>
              </a:ext>
            </a:extLst>
          </p:cNvPr>
          <p:cNvPicPr>
            <a:picLocks noChangeAspect="1"/>
          </p:cNvPicPr>
          <p:nvPr/>
        </p:nvPicPr>
        <p:blipFill>
          <a:blip r:embed="rId4"/>
          <a:stretch>
            <a:fillRect/>
          </a:stretch>
        </p:blipFill>
        <p:spPr>
          <a:xfrm>
            <a:off x="445502" y="3429000"/>
            <a:ext cx="3227760" cy="3050924"/>
          </a:xfrm>
          <a:prstGeom prst="rect">
            <a:avLst/>
          </a:prstGeom>
        </p:spPr>
      </p:pic>
      <p:pic>
        <p:nvPicPr>
          <p:cNvPr id="4" name="Picture 3">
            <a:extLst>
              <a:ext uri="{FF2B5EF4-FFF2-40B4-BE49-F238E27FC236}">
                <a16:creationId xmlns:a16="http://schemas.microsoft.com/office/drawing/2014/main" id="{27E5335D-D3B5-6795-35F6-54F7D215CE0E}"/>
              </a:ext>
            </a:extLst>
          </p:cNvPr>
          <p:cNvPicPr>
            <a:picLocks noChangeAspect="1"/>
          </p:cNvPicPr>
          <p:nvPr/>
        </p:nvPicPr>
        <p:blipFill>
          <a:blip r:embed="rId5"/>
          <a:stretch>
            <a:fillRect/>
          </a:stretch>
        </p:blipFill>
        <p:spPr>
          <a:xfrm>
            <a:off x="3642542" y="3429000"/>
            <a:ext cx="614511" cy="3050924"/>
          </a:xfrm>
          <a:prstGeom prst="rect">
            <a:avLst/>
          </a:prstGeom>
        </p:spPr>
      </p:pic>
      <p:pic>
        <p:nvPicPr>
          <p:cNvPr id="6" name="Picture 5">
            <a:extLst>
              <a:ext uri="{FF2B5EF4-FFF2-40B4-BE49-F238E27FC236}">
                <a16:creationId xmlns:a16="http://schemas.microsoft.com/office/drawing/2014/main" id="{B9394638-C880-B045-78DF-0ED33C6CE1A9}"/>
              </a:ext>
            </a:extLst>
          </p:cNvPr>
          <p:cNvPicPr>
            <a:picLocks noChangeAspect="1"/>
          </p:cNvPicPr>
          <p:nvPr/>
        </p:nvPicPr>
        <p:blipFill>
          <a:blip r:embed="rId6"/>
          <a:stretch>
            <a:fillRect/>
          </a:stretch>
        </p:blipFill>
        <p:spPr>
          <a:xfrm>
            <a:off x="4257054" y="3429001"/>
            <a:ext cx="806716" cy="3050924"/>
          </a:xfrm>
          <a:prstGeom prst="rect">
            <a:avLst/>
          </a:prstGeom>
        </p:spPr>
      </p:pic>
      <p:pic>
        <p:nvPicPr>
          <p:cNvPr id="12" name="Picture 11">
            <a:extLst>
              <a:ext uri="{FF2B5EF4-FFF2-40B4-BE49-F238E27FC236}">
                <a16:creationId xmlns:a16="http://schemas.microsoft.com/office/drawing/2014/main" id="{3C54A046-BCE6-5901-CEBC-2CC70BA53203}"/>
              </a:ext>
            </a:extLst>
          </p:cNvPr>
          <p:cNvPicPr>
            <a:picLocks noChangeAspect="1"/>
          </p:cNvPicPr>
          <p:nvPr/>
        </p:nvPicPr>
        <p:blipFill>
          <a:blip r:embed="rId7"/>
          <a:stretch>
            <a:fillRect/>
          </a:stretch>
        </p:blipFill>
        <p:spPr>
          <a:xfrm>
            <a:off x="529477" y="1322121"/>
            <a:ext cx="4534293" cy="1667422"/>
          </a:xfrm>
          <a:prstGeom prst="rect">
            <a:avLst/>
          </a:prstGeom>
        </p:spPr>
      </p:pic>
      <p:sp>
        <p:nvSpPr>
          <p:cNvPr id="5" name="TextBox 4">
            <a:extLst>
              <a:ext uri="{FF2B5EF4-FFF2-40B4-BE49-F238E27FC236}">
                <a16:creationId xmlns:a16="http://schemas.microsoft.com/office/drawing/2014/main" id="{C2783FD0-B994-9A93-4112-06FF0AD6F6AD}"/>
              </a:ext>
            </a:extLst>
          </p:cNvPr>
          <p:cNvSpPr txBox="1"/>
          <p:nvPr/>
        </p:nvSpPr>
        <p:spPr>
          <a:xfrm>
            <a:off x="316374" y="3090445"/>
            <a:ext cx="5339478" cy="338554"/>
          </a:xfrm>
          <a:prstGeom prst="rect">
            <a:avLst/>
          </a:prstGeom>
          <a:noFill/>
        </p:spPr>
        <p:txBody>
          <a:bodyPr wrap="square">
            <a:spAutoFit/>
          </a:bodyPr>
          <a:lstStyle/>
          <a:p>
            <a:pPr>
              <a:spcAft>
                <a:spcPts val="1200"/>
              </a:spcAft>
            </a:pPr>
            <a:r>
              <a:rPr lang="en-US" sz="1600" b="1" dirty="0">
                <a:solidFill>
                  <a:schemeClr val="accent6"/>
                </a:solidFill>
                <a:latin typeface="Sabon Next LT"/>
              </a:rPr>
              <a:t>Before and after log Transformation  (value comparison)</a:t>
            </a:r>
            <a:endParaRPr lang="en-US" sz="1600" dirty="0">
              <a:solidFill>
                <a:schemeClr val="accent6"/>
              </a:solidFill>
              <a:latin typeface="Sabon Next LT"/>
            </a:endParaRPr>
          </a:p>
        </p:txBody>
      </p:sp>
    </p:spTree>
    <p:extLst>
      <p:ext uri="{BB962C8B-B14F-4D97-AF65-F5344CB8AC3E}">
        <p14:creationId xmlns:p14="http://schemas.microsoft.com/office/powerpoint/2010/main" val="41694137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54FDBE-4F7B-E728-0C12-8C5114354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2399E0-49C2-97AB-32EB-13E196DFCA22}"/>
              </a:ext>
            </a:extLst>
          </p:cNvPr>
          <p:cNvSpPr>
            <a:spLocks noGrp="1"/>
          </p:cNvSpPr>
          <p:nvPr>
            <p:ph type="title"/>
          </p:nvPr>
        </p:nvSpPr>
        <p:spPr>
          <a:xfrm>
            <a:off x="3904309" y="245509"/>
            <a:ext cx="3768109" cy="471490"/>
          </a:xfrm>
        </p:spPr>
        <p:txBody>
          <a:bodyPr/>
          <a:lstStyle/>
          <a:p>
            <a:pPr lvl="0" algn="l" defTabSz="457200">
              <a:spcBef>
                <a:spcPts val="0"/>
              </a:spcBef>
              <a:spcAft>
                <a:spcPts val="600"/>
              </a:spcAft>
              <a:defRPr/>
            </a:pPr>
            <a:r>
              <a:rPr lang="en-US" sz="3200" cap="none" dirty="0">
                <a:solidFill>
                  <a:srgbClr val="1F2C8F"/>
                </a:solidFill>
              </a:rPr>
              <a:t>Preprocessing</a:t>
            </a:r>
            <a:endParaRPr lang="en-US" sz="2800" dirty="0">
              <a:latin typeface="Sabon Next LT"/>
            </a:endParaRPr>
          </a:p>
        </p:txBody>
      </p:sp>
      <p:sp>
        <p:nvSpPr>
          <p:cNvPr id="7" name="TextBox 6">
            <a:extLst>
              <a:ext uri="{FF2B5EF4-FFF2-40B4-BE49-F238E27FC236}">
                <a16:creationId xmlns:a16="http://schemas.microsoft.com/office/drawing/2014/main" id="{0914A015-09C5-8B90-D78F-638E0211D58B}"/>
              </a:ext>
            </a:extLst>
          </p:cNvPr>
          <p:cNvSpPr txBox="1"/>
          <p:nvPr/>
        </p:nvSpPr>
        <p:spPr>
          <a:xfrm>
            <a:off x="302782" y="898019"/>
            <a:ext cx="6240254" cy="3631763"/>
          </a:xfrm>
          <a:prstGeom prst="rect">
            <a:avLst/>
          </a:prstGeom>
          <a:noFill/>
        </p:spPr>
        <p:txBody>
          <a:bodyPr wrap="square">
            <a:spAutoFit/>
          </a:bodyPr>
          <a:lstStyle/>
          <a:p>
            <a:pPr>
              <a:spcAft>
                <a:spcPts val="1200"/>
              </a:spcAft>
            </a:pPr>
            <a:r>
              <a:rPr lang="en-US" sz="2000" b="1" dirty="0">
                <a:solidFill>
                  <a:schemeClr val="accent6"/>
                </a:solidFill>
                <a:latin typeface="Sabon Next LT"/>
              </a:rPr>
              <a:t>Standardization</a:t>
            </a:r>
            <a:r>
              <a:rPr lang="en-US" sz="1600" dirty="0">
                <a:solidFill>
                  <a:schemeClr val="accent6"/>
                </a:solidFill>
                <a:latin typeface="Sabon Next LT"/>
              </a:rPr>
              <a:t> </a:t>
            </a:r>
          </a:p>
          <a:p>
            <a:pPr>
              <a:spcAft>
                <a:spcPts val="1200"/>
              </a:spcAft>
            </a:pPr>
            <a:r>
              <a:rPr lang="en-US" sz="1600" dirty="0">
                <a:solidFill>
                  <a:schemeClr val="accent6"/>
                </a:solidFill>
                <a:latin typeface="Sabon Next LT"/>
              </a:rPr>
              <a:t>We use Standardization to ensure that large monetary values do not accidentally overpower smaller metrics like visit frequency in the models.</a:t>
            </a:r>
          </a:p>
          <a:p>
            <a:pPr>
              <a:spcAft>
                <a:spcPts val="1200"/>
              </a:spcAft>
            </a:pPr>
            <a:r>
              <a:rPr lang="en-US" sz="1600" dirty="0">
                <a:solidFill>
                  <a:schemeClr val="accent6"/>
                </a:solidFill>
                <a:latin typeface="Sabon Next LT"/>
              </a:rPr>
              <a:t>Standardization via Min Max Scaling: Algorithms like K-Means and MDFCM rely on Euclidean Distance.  </a:t>
            </a:r>
          </a:p>
          <a:p>
            <a:pPr>
              <a:spcAft>
                <a:spcPts val="1200"/>
              </a:spcAft>
            </a:pPr>
            <a:r>
              <a:rPr lang="en-US" sz="1600" dirty="0">
                <a:solidFill>
                  <a:schemeClr val="accent6"/>
                </a:solidFill>
                <a:latin typeface="Sabon Next LT"/>
              </a:rPr>
              <a:t>Raw scales are incompatible (e.g., Recency in days vs. Monetary in Rands/Pounds).</a:t>
            </a:r>
          </a:p>
          <a:p>
            <a:pPr>
              <a:spcAft>
                <a:spcPts val="1200"/>
              </a:spcAft>
            </a:pPr>
            <a:r>
              <a:rPr lang="en-US" sz="1600" dirty="0">
                <a:solidFill>
                  <a:schemeClr val="accent6"/>
                </a:solidFill>
                <a:latin typeface="Sabon Next LT"/>
              </a:rPr>
              <a:t>Forced all features into a shared range of [0, 1].</a:t>
            </a:r>
          </a:p>
          <a:p>
            <a:pPr>
              <a:spcAft>
                <a:spcPts val="1200"/>
              </a:spcAft>
            </a:pPr>
            <a:r>
              <a:rPr lang="en-US" sz="1600" dirty="0">
                <a:solidFill>
                  <a:schemeClr val="accent6"/>
                </a:solidFill>
                <a:latin typeface="Sabon Next LT"/>
              </a:rPr>
              <a:t>Benefit: Ensures that "Spend" does not mathematically overpower "Visit Frequency" simply because the numbers are larger.</a:t>
            </a:r>
          </a:p>
        </p:txBody>
      </p:sp>
      <p:pic>
        <p:nvPicPr>
          <p:cNvPr id="16" name="Picture 15">
            <a:extLst>
              <a:ext uri="{FF2B5EF4-FFF2-40B4-BE49-F238E27FC236}">
                <a16:creationId xmlns:a16="http://schemas.microsoft.com/office/drawing/2014/main" id="{4F491B0F-5E13-5141-784F-A1FB7E0C0D78}"/>
              </a:ext>
            </a:extLst>
          </p:cNvPr>
          <p:cNvPicPr>
            <a:picLocks noChangeAspect="1"/>
          </p:cNvPicPr>
          <p:nvPr/>
        </p:nvPicPr>
        <p:blipFill>
          <a:blip r:embed="rId3"/>
          <a:stretch>
            <a:fillRect/>
          </a:stretch>
        </p:blipFill>
        <p:spPr>
          <a:xfrm>
            <a:off x="486436" y="4665399"/>
            <a:ext cx="4355469" cy="1726163"/>
          </a:xfrm>
          <a:prstGeom prst="rect">
            <a:avLst/>
          </a:prstGeom>
        </p:spPr>
      </p:pic>
      <p:pic>
        <p:nvPicPr>
          <p:cNvPr id="8" name="Picture 7">
            <a:extLst>
              <a:ext uri="{FF2B5EF4-FFF2-40B4-BE49-F238E27FC236}">
                <a16:creationId xmlns:a16="http://schemas.microsoft.com/office/drawing/2014/main" id="{A2142690-7E32-398A-85A5-E84CE0AE2717}"/>
              </a:ext>
            </a:extLst>
          </p:cNvPr>
          <p:cNvPicPr>
            <a:picLocks noChangeAspect="1"/>
          </p:cNvPicPr>
          <p:nvPr/>
        </p:nvPicPr>
        <p:blipFill>
          <a:blip r:embed="rId4"/>
          <a:stretch>
            <a:fillRect/>
          </a:stretch>
        </p:blipFill>
        <p:spPr>
          <a:xfrm>
            <a:off x="7239767" y="990344"/>
            <a:ext cx="3922149" cy="4094611"/>
          </a:xfrm>
          <a:prstGeom prst="rect">
            <a:avLst/>
          </a:prstGeom>
        </p:spPr>
      </p:pic>
      <p:pic>
        <p:nvPicPr>
          <p:cNvPr id="15" name="Picture 14">
            <a:extLst>
              <a:ext uri="{FF2B5EF4-FFF2-40B4-BE49-F238E27FC236}">
                <a16:creationId xmlns:a16="http://schemas.microsoft.com/office/drawing/2014/main" id="{14FFA67C-8C6B-E4B1-387A-5EC8E26635F6}"/>
              </a:ext>
            </a:extLst>
          </p:cNvPr>
          <p:cNvPicPr>
            <a:picLocks noChangeAspect="1"/>
          </p:cNvPicPr>
          <p:nvPr/>
        </p:nvPicPr>
        <p:blipFill>
          <a:blip r:embed="rId5"/>
          <a:stretch>
            <a:fillRect/>
          </a:stretch>
        </p:blipFill>
        <p:spPr>
          <a:xfrm>
            <a:off x="5788364" y="5253781"/>
            <a:ext cx="4112873" cy="1211685"/>
          </a:xfrm>
          <a:prstGeom prst="rect">
            <a:avLst/>
          </a:prstGeom>
        </p:spPr>
      </p:pic>
      <p:pic>
        <p:nvPicPr>
          <p:cNvPr id="18" name="Picture 17">
            <a:extLst>
              <a:ext uri="{FF2B5EF4-FFF2-40B4-BE49-F238E27FC236}">
                <a16:creationId xmlns:a16="http://schemas.microsoft.com/office/drawing/2014/main" id="{D5B1A6BD-39DC-FF19-8DA1-984991E15E69}"/>
              </a:ext>
            </a:extLst>
          </p:cNvPr>
          <p:cNvPicPr>
            <a:picLocks noChangeAspect="1"/>
          </p:cNvPicPr>
          <p:nvPr/>
        </p:nvPicPr>
        <p:blipFill>
          <a:blip r:embed="rId6"/>
          <a:stretch>
            <a:fillRect/>
          </a:stretch>
        </p:blipFill>
        <p:spPr>
          <a:xfrm>
            <a:off x="9901237" y="5253780"/>
            <a:ext cx="1932576" cy="1211685"/>
          </a:xfrm>
          <a:prstGeom prst="rect">
            <a:avLst/>
          </a:prstGeom>
        </p:spPr>
      </p:pic>
      <p:sp>
        <p:nvSpPr>
          <p:cNvPr id="19" name="Arrow: Right 18">
            <a:extLst>
              <a:ext uri="{FF2B5EF4-FFF2-40B4-BE49-F238E27FC236}">
                <a16:creationId xmlns:a16="http://schemas.microsoft.com/office/drawing/2014/main" id="{D847A09C-8688-D26B-33AB-03D8564B3A4F}"/>
              </a:ext>
            </a:extLst>
          </p:cNvPr>
          <p:cNvSpPr/>
          <p:nvPr/>
        </p:nvSpPr>
        <p:spPr>
          <a:xfrm>
            <a:off x="5124542" y="5551904"/>
            <a:ext cx="381185" cy="3077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1001801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522DE04-CC79-3198-F1EB-A633F9800A76}"/>
            </a:ext>
          </a:extLst>
        </p:cNvPr>
        <p:cNvGrpSpPr/>
        <p:nvPr/>
      </p:nvGrpSpPr>
      <p:grpSpPr>
        <a:xfrm>
          <a:off x="0" y="0"/>
          <a:ext cx="0" cy="0"/>
          <a:chOff x="0" y="0"/>
          <a:chExt cx="0" cy="0"/>
        </a:xfrm>
      </p:grpSpPr>
      <p:sp>
        <p:nvSpPr>
          <p:cNvPr id="35" name="TextBox 34">
            <a:extLst>
              <a:ext uri="{FF2B5EF4-FFF2-40B4-BE49-F238E27FC236}">
                <a16:creationId xmlns:a16="http://schemas.microsoft.com/office/drawing/2014/main" id="{700E8D07-4CCC-C099-DD62-AE9E383C8316}"/>
              </a:ext>
            </a:extLst>
          </p:cNvPr>
          <p:cNvSpPr txBox="1"/>
          <p:nvPr/>
        </p:nvSpPr>
        <p:spPr>
          <a:xfrm>
            <a:off x="3806498" y="2667677"/>
            <a:ext cx="7783825" cy="101566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60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Model Development</a:t>
            </a:r>
          </a:p>
        </p:txBody>
      </p:sp>
      <p:grpSp>
        <p:nvGrpSpPr>
          <p:cNvPr id="2" name="Group 1">
            <a:extLst>
              <a:ext uri="{FF2B5EF4-FFF2-40B4-BE49-F238E27FC236}">
                <a16:creationId xmlns:a16="http://schemas.microsoft.com/office/drawing/2014/main" id="{3E59E859-D827-75CC-890C-DADB45BF2B07}"/>
              </a:ext>
            </a:extLst>
          </p:cNvPr>
          <p:cNvGrpSpPr/>
          <p:nvPr/>
        </p:nvGrpSpPr>
        <p:grpSpPr>
          <a:xfrm>
            <a:off x="509372" y="0"/>
            <a:ext cx="2763599" cy="6858000"/>
            <a:chOff x="9889346" y="0"/>
            <a:chExt cx="2626568" cy="6858000"/>
          </a:xfrm>
        </p:grpSpPr>
        <p:grpSp>
          <p:nvGrpSpPr>
            <p:cNvPr id="7" name="Group 6">
              <a:extLst>
                <a:ext uri="{FF2B5EF4-FFF2-40B4-BE49-F238E27FC236}">
                  <a16:creationId xmlns:a16="http://schemas.microsoft.com/office/drawing/2014/main" id="{932B0474-0855-46AC-2693-EA181EA272C2}"/>
                </a:ext>
              </a:extLst>
            </p:cNvPr>
            <p:cNvGrpSpPr/>
            <p:nvPr/>
          </p:nvGrpSpPr>
          <p:grpSpPr>
            <a:xfrm>
              <a:off x="9889346" y="0"/>
              <a:ext cx="2353179" cy="6858000"/>
              <a:chOff x="10058401" y="0"/>
              <a:chExt cx="2133600" cy="6858000"/>
            </a:xfrm>
          </p:grpSpPr>
          <p:sp>
            <p:nvSpPr>
              <p:cNvPr id="27" name="Rectangle 26">
                <a:extLst>
                  <a:ext uri="{FF2B5EF4-FFF2-40B4-BE49-F238E27FC236}">
                    <a16:creationId xmlns:a16="http://schemas.microsoft.com/office/drawing/2014/main" id="{01ADF394-765E-1A72-7503-36E81792BD70}"/>
                  </a:ext>
                </a:extLst>
              </p:cNvPr>
              <p:cNvSpPr/>
              <p:nvPr/>
            </p:nvSpPr>
            <p:spPr>
              <a:xfrm>
                <a:off x="10058401" y="0"/>
                <a:ext cx="2133600" cy="6858000"/>
              </a:xfrm>
              <a:prstGeom prst="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34" name="TextBox 33">
                <a:extLst>
                  <a:ext uri="{FF2B5EF4-FFF2-40B4-BE49-F238E27FC236}">
                    <a16:creationId xmlns:a16="http://schemas.microsoft.com/office/drawing/2014/main" id="{7D878F35-AE88-6741-FF80-34E2B7DC8A53}"/>
                  </a:ext>
                </a:extLst>
              </p:cNvPr>
              <p:cNvSpPr txBox="1"/>
              <p:nvPr/>
            </p:nvSpPr>
            <p:spPr>
              <a:xfrm>
                <a:off x="10264857" y="721238"/>
                <a:ext cx="1878888" cy="224676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800" b="1" i="0" u="none" strike="noStrike" kern="1200" cap="none" spc="0" normalizeH="0" baseline="0" noProof="0" dirty="0">
                    <a:ln>
                      <a:noFill/>
                    </a:ln>
                    <a:solidFill>
                      <a:schemeClr val="accent1">
                        <a:lumMod val="60000"/>
                        <a:lumOff val="40000"/>
                      </a:schemeClr>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Final Segments &amp;</a:t>
                </a:r>
              </a:p>
              <a:p>
                <a:pPr marL="0" marR="0" lvl="0" indent="0" algn="l" defTabSz="457200" rtl="0" eaLnBrk="1" fontAlgn="auto" latinLnBrk="0" hangingPunct="1">
                  <a:lnSpc>
                    <a:spcPct val="100000"/>
                  </a:lnSpc>
                  <a:spcBef>
                    <a:spcPts val="0"/>
                  </a:spcBef>
                  <a:spcAft>
                    <a:spcPts val="0"/>
                  </a:spcAft>
                  <a:buClrTx/>
                  <a:buSzTx/>
                  <a:buFontTx/>
                  <a:buNone/>
                  <a:tabLst/>
                  <a:defRPr/>
                </a:pPr>
                <a:r>
                  <a:rPr lang="en-ZA" sz="2800" b="1" dirty="0">
                    <a:solidFill>
                      <a:schemeClr val="accent1">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Dashboard Interface</a:t>
                </a:r>
                <a:endParaRPr kumimoji="0" lang="en-ZA" sz="2800" b="1" i="0" u="none" strike="noStrike" kern="1200" cap="none" spc="0" normalizeH="0" baseline="0" noProof="0" dirty="0">
                  <a:ln>
                    <a:noFill/>
                  </a:ln>
                  <a:solidFill>
                    <a:schemeClr val="accent1">
                      <a:lumMod val="60000"/>
                      <a:lumOff val="40000"/>
                    </a:schemeClr>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grpSp>
        <p:sp>
          <p:nvSpPr>
            <p:cNvPr id="15" name="Isosceles Triangle 14">
              <a:extLst>
                <a:ext uri="{FF2B5EF4-FFF2-40B4-BE49-F238E27FC236}">
                  <a16:creationId xmlns:a16="http://schemas.microsoft.com/office/drawing/2014/main" id="{3A8AF05B-B2D4-7389-C429-3FE561E2BAA9}"/>
                </a:ext>
              </a:extLst>
            </p:cNvPr>
            <p:cNvSpPr/>
            <p:nvPr/>
          </p:nvSpPr>
          <p:spPr>
            <a:xfrm rot="5400000">
              <a:off x="11921828" y="1005000"/>
              <a:ext cx="877847" cy="310324"/>
            </a:xfrm>
            <a:prstGeom prst="triangle">
              <a:avLst>
                <a:gd name="adj" fmla="val 56149"/>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36" name="Group 35">
            <a:extLst>
              <a:ext uri="{FF2B5EF4-FFF2-40B4-BE49-F238E27FC236}">
                <a16:creationId xmlns:a16="http://schemas.microsoft.com/office/drawing/2014/main" id="{C3043878-C9C3-8828-D38F-5823419A0ACF}"/>
              </a:ext>
            </a:extLst>
          </p:cNvPr>
          <p:cNvGrpSpPr/>
          <p:nvPr/>
        </p:nvGrpSpPr>
        <p:grpSpPr>
          <a:xfrm>
            <a:off x="291935" y="0"/>
            <a:ext cx="2755897" cy="6858000"/>
            <a:chOff x="7347776" y="23394"/>
            <a:chExt cx="2733162" cy="6858000"/>
          </a:xfrm>
        </p:grpSpPr>
        <p:grpSp>
          <p:nvGrpSpPr>
            <p:cNvPr id="38" name="Group 37">
              <a:extLst>
                <a:ext uri="{FF2B5EF4-FFF2-40B4-BE49-F238E27FC236}">
                  <a16:creationId xmlns:a16="http://schemas.microsoft.com/office/drawing/2014/main" id="{0E594FD2-7CDE-7F3F-3C63-0F48D66F1DD6}"/>
                </a:ext>
              </a:extLst>
            </p:cNvPr>
            <p:cNvGrpSpPr/>
            <p:nvPr/>
          </p:nvGrpSpPr>
          <p:grpSpPr>
            <a:xfrm>
              <a:off x="7347776" y="23394"/>
              <a:ext cx="2733162" cy="6858000"/>
              <a:chOff x="7562034" y="23394"/>
              <a:chExt cx="2733162" cy="6858000"/>
            </a:xfrm>
          </p:grpSpPr>
          <p:grpSp>
            <p:nvGrpSpPr>
              <p:cNvPr id="40" name="Group 39">
                <a:extLst>
                  <a:ext uri="{FF2B5EF4-FFF2-40B4-BE49-F238E27FC236}">
                    <a16:creationId xmlns:a16="http://schemas.microsoft.com/office/drawing/2014/main" id="{C81D103A-95C9-6C01-3F3F-05F61C0F0BD1}"/>
                  </a:ext>
                </a:extLst>
              </p:cNvPr>
              <p:cNvGrpSpPr/>
              <p:nvPr/>
            </p:nvGrpSpPr>
            <p:grpSpPr>
              <a:xfrm>
                <a:off x="7562034" y="23394"/>
                <a:ext cx="2733162" cy="6858000"/>
                <a:chOff x="7562034" y="23394"/>
                <a:chExt cx="2733162" cy="6858000"/>
              </a:xfrm>
            </p:grpSpPr>
            <p:sp>
              <p:nvSpPr>
                <p:cNvPr id="45" name="Rectangle 44">
                  <a:extLst>
                    <a:ext uri="{FF2B5EF4-FFF2-40B4-BE49-F238E27FC236}">
                      <a16:creationId xmlns:a16="http://schemas.microsoft.com/office/drawing/2014/main" id="{5B6E6498-5DD0-243F-FC4C-1F085E3B92B8}"/>
                    </a:ext>
                  </a:extLst>
                </p:cNvPr>
                <p:cNvSpPr/>
                <p:nvPr/>
              </p:nvSpPr>
              <p:spPr>
                <a:xfrm>
                  <a:off x="7562034" y="23394"/>
                  <a:ext cx="2528047" cy="6858000"/>
                </a:xfrm>
                <a:prstGeom prst="rect">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50" name="Isosceles Triangle 49">
                  <a:extLst>
                    <a:ext uri="{FF2B5EF4-FFF2-40B4-BE49-F238E27FC236}">
                      <a16:creationId xmlns:a16="http://schemas.microsoft.com/office/drawing/2014/main" id="{256F9864-CE2C-8929-3AA0-4BC3550D219F}"/>
                    </a:ext>
                  </a:extLst>
                </p:cNvPr>
                <p:cNvSpPr/>
                <p:nvPr/>
              </p:nvSpPr>
              <p:spPr>
                <a:xfrm rot="5400000">
                  <a:off x="9855586" y="1122489"/>
                  <a:ext cx="650961" cy="228259"/>
                </a:xfrm>
                <a:prstGeom prst="triangle">
                  <a:avLst>
                    <a:gd name="adj" fmla="val 45349"/>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1" name="TextBox 40">
                <a:extLst>
                  <a:ext uri="{FF2B5EF4-FFF2-40B4-BE49-F238E27FC236}">
                    <a16:creationId xmlns:a16="http://schemas.microsoft.com/office/drawing/2014/main" id="{AA3BCAB8-0E92-98B0-73A1-8047618C79BE}"/>
                  </a:ext>
                </a:extLst>
              </p:cNvPr>
              <p:cNvSpPr txBox="1"/>
              <p:nvPr/>
            </p:nvSpPr>
            <p:spPr>
              <a:xfrm>
                <a:off x="7810326" y="787732"/>
                <a:ext cx="1986399" cy="101566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Dynamic Loop</a:t>
                </a:r>
                <a:endParaRPr kumimoji="0" lang="en-ZA" sz="3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44" name="TextBox 43">
                <a:extLst>
                  <a:ext uri="{FF2B5EF4-FFF2-40B4-BE49-F238E27FC236}">
                    <a16:creationId xmlns:a16="http://schemas.microsoft.com/office/drawing/2014/main" id="{5977009E-F4A5-9277-E8F1-A58416946C7B}"/>
                  </a:ext>
                </a:extLst>
              </p:cNvPr>
              <p:cNvSpPr txBox="1"/>
              <p:nvPr/>
            </p:nvSpPr>
            <p:spPr>
              <a:xfrm>
                <a:off x="7684994" y="2770094"/>
                <a:ext cx="2225489" cy="4616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ZA"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grpSp>
        <p:pic>
          <p:nvPicPr>
            <p:cNvPr id="39" name="Graphic 38" descr="Repeat with solid fill">
              <a:extLst>
                <a:ext uri="{FF2B5EF4-FFF2-40B4-BE49-F238E27FC236}">
                  <a16:creationId xmlns:a16="http://schemas.microsoft.com/office/drawing/2014/main" id="{783E737C-EB14-E480-19F2-23755ADA69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47750" y="5620831"/>
              <a:ext cx="914400" cy="914400"/>
            </a:xfrm>
            <a:prstGeom prst="rect">
              <a:avLst/>
            </a:prstGeom>
          </p:spPr>
        </p:pic>
      </p:grpSp>
      <p:grpSp>
        <p:nvGrpSpPr>
          <p:cNvPr id="52" name="Group 51">
            <a:extLst>
              <a:ext uri="{FF2B5EF4-FFF2-40B4-BE49-F238E27FC236}">
                <a16:creationId xmlns:a16="http://schemas.microsoft.com/office/drawing/2014/main" id="{D31A2C58-CC71-A00D-7EC4-57055D501260}"/>
              </a:ext>
            </a:extLst>
          </p:cNvPr>
          <p:cNvGrpSpPr/>
          <p:nvPr/>
        </p:nvGrpSpPr>
        <p:grpSpPr>
          <a:xfrm>
            <a:off x="221183" y="6491"/>
            <a:ext cx="2631102" cy="6858000"/>
            <a:chOff x="5210824" y="80215"/>
            <a:chExt cx="2515408" cy="6858000"/>
          </a:xfrm>
        </p:grpSpPr>
        <p:sp>
          <p:nvSpPr>
            <p:cNvPr id="59" name="Isosceles Triangle 58">
              <a:extLst>
                <a:ext uri="{FF2B5EF4-FFF2-40B4-BE49-F238E27FC236}">
                  <a16:creationId xmlns:a16="http://schemas.microsoft.com/office/drawing/2014/main" id="{3CDECFBB-F38F-0466-E162-9DC6C75BFC47}"/>
                </a:ext>
              </a:extLst>
            </p:cNvPr>
            <p:cNvSpPr/>
            <p:nvPr/>
          </p:nvSpPr>
          <p:spPr>
            <a:xfrm rot="5400000">
              <a:off x="7336950" y="1150407"/>
              <a:ext cx="578224" cy="200341"/>
            </a:xfrm>
            <a:prstGeom prst="triangle">
              <a:avLst/>
            </a:prstGeom>
            <a:solidFill>
              <a:schemeClr val="bg2">
                <a:lumMod val="50000"/>
                <a:lumOff val="50000"/>
              </a:schemeClr>
            </a:solidFill>
            <a:ln>
              <a:solidFill>
                <a:schemeClr val="bg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0" name="Rectangle 59">
              <a:extLst>
                <a:ext uri="{FF2B5EF4-FFF2-40B4-BE49-F238E27FC236}">
                  <a16:creationId xmlns:a16="http://schemas.microsoft.com/office/drawing/2014/main" id="{62836D5E-6E2F-CC9F-F8A0-86FD10233249}"/>
                </a:ext>
              </a:extLst>
            </p:cNvPr>
            <p:cNvSpPr/>
            <p:nvPr/>
          </p:nvSpPr>
          <p:spPr>
            <a:xfrm>
              <a:off x="5210824" y="80215"/>
              <a:ext cx="2326341" cy="6858000"/>
            </a:xfrm>
            <a:prstGeom prst="rect">
              <a:avLst/>
            </a:prstGeom>
            <a:solidFill>
              <a:schemeClr val="bg2">
                <a:lumMod val="50000"/>
                <a:lumOff val="50000"/>
              </a:schemeClr>
            </a:solidFill>
            <a:ln>
              <a:solidFill>
                <a:schemeClr val="bg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grpSp>
        <p:nvGrpSpPr>
          <p:cNvPr id="64" name="Group 63">
            <a:extLst>
              <a:ext uri="{FF2B5EF4-FFF2-40B4-BE49-F238E27FC236}">
                <a16:creationId xmlns:a16="http://schemas.microsoft.com/office/drawing/2014/main" id="{0FE91100-3DD1-3AC2-17A0-94CAF07AAAB8}"/>
              </a:ext>
            </a:extLst>
          </p:cNvPr>
          <p:cNvGrpSpPr/>
          <p:nvPr/>
        </p:nvGrpSpPr>
        <p:grpSpPr>
          <a:xfrm>
            <a:off x="0" y="-6491"/>
            <a:ext cx="2659919" cy="6858000"/>
            <a:chOff x="2349034" y="-16179"/>
            <a:chExt cx="2722682" cy="6858000"/>
          </a:xfrm>
        </p:grpSpPr>
        <p:sp>
          <p:nvSpPr>
            <p:cNvPr id="66" name="Rectangle 65">
              <a:extLst>
                <a:ext uri="{FF2B5EF4-FFF2-40B4-BE49-F238E27FC236}">
                  <a16:creationId xmlns:a16="http://schemas.microsoft.com/office/drawing/2014/main" id="{0D5774C8-4628-A7D1-2A3F-EBE82F5F081D}"/>
                </a:ext>
              </a:extLst>
            </p:cNvPr>
            <p:cNvSpPr/>
            <p:nvPr/>
          </p:nvSpPr>
          <p:spPr>
            <a:xfrm>
              <a:off x="2349034" y="-16179"/>
              <a:ext cx="2528047" cy="6858000"/>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7" name="Isosceles Triangle 66">
              <a:extLst>
                <a:ext uri="{FF2B5EF4-FFF2-40B4-BE49-F238E27FC236}">
                  <a16:creationId xmlns:a16="http://schemas.microsoft.com/office/drawing/2014/main" id="{5AA1954E-6934-902D-1A10-B8D6F852717A}"/>
                </a:ext>
              </a:extLst>
            </p:cNvPr>
            <p:cNvSpPr/>
            <p:nvPr/>
          </p:nvSpPr>
          <p:spPr>
            <a:xfrm rot="5400000">
              <a:off x="4673384" y="1078282"/>
              <a:ext cx="591671" cy="204993"/>
            </a:xfrm>
            <a:prstGeom prst="triangle">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72" name="Group 71">
            <a:extLst>
              <a:ext uri="{FF2B5EF4-FFF2-40B4-BE49-F238E27FC236}">
                <a16:creationId xmlns:a16="http://schemas.microsoft.com/office/drawing/2014/main" id="{3D07BF07-A872-922C-8297-2941259CF926}"/>
              </a:ext>
            </a:extLst>
          </p:cNvPr>
          <p:cNvGrpSpPr/>
          <p:nvPr/>
        </p:nvGrpSpPr>
        <p:grpSpPr>
          <a:xfrm>
            <a:off x="-78822" y="-18604"/>
            <a:ext cx="2521337" cy="6876604"/>
            <a:chOff x="-37769" y="-20661"/>
            <a:chExt cx="2901857" cy="6858000"/>
          </a:xfrm>
        </p:grpSpPr>
        <p:sp>
          <p:nvSpPr>
            <p:cNvPr id="73" name="Rectangle 72">
              <a:extLst>
                <a:ext uri="{FF2B5EF4-FFF2-40B4-BE49-F238E27FC236}">
                  <a16:creationId xmlns:a16="http://schemas.microsoft.com/office/drawing/2014/main" id="{5EE1CDC8-AC41-1F85-D0C8-DA8B3D0E0428}"/>
                </a:ext>
              </a:extLst>
            </p:cNvPr>
            <p:cNvSpPr/>
            <p:nvPr/>
          </p:nvSpPr>
          <p:spPr>
            <a:xfrm>
              <a:off x="-37769" y="-20661"/>
              <a:ext cx="2675965" cy="68580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4" name="Isosceles Triangle 73">
              <a:extLst>
                <a:ext uri="{FF2B5EF4-FFF2-40B4-BE49-F238E27FC236}">
                  <a16:creationId xmlns:a16="http://schemas.microsoft.com/office/drawing/2014/main" id="{7843A1B1-8848-DBEE-C1D4-8D524BB1E925}"/>
                </a:ext>
              </a:extLst>
            </p:cNvPr>
            <p:cNvSpPr/>
            <p:nvPr/>
          </p:nvSpPr>
          <p:spPr>
            <a:xfrm rot="5400000">
              <a:off x="2433782" y="1086557"/>
              <a:ext cx="645459" cy="215153"/>
            </a:xfrm>
            <a:prstGeom prst="triangle">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75" name="TextBox 74">
            <a:extLst>
              <a:ext uri="{FF2B5EF4-FFF2-40B4-BE49-F238E27FC236}">
                <a16:creationId xmlns:a16="http://schemas.microsoft.com/office/drawing/2014/main" id="{AA08D1B9-A406-DCA7-A5FA-0333E9466546}"/>
              </a:ext>
            </a:extLst>
          </p:cNvPr>
          <p:cNvSpPr txBox="1"/>
          <p:nvPr/>
        </p:nvSpPr>
        <p:spPr>
          <a:xfrm>
            <a:off x="116953" y="333043"/>
            <a:ext cx="1993972"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Database Creation</a:t>
            </a:r>
          </a:p>
        </p:txBody>
      </p:sp>
      <p:sp>
        <p:nvSpPr>
          <p:cNvPr id="79" name="TextBox 78">
            <a:extLst>
              <a:ext uri="{FF2B5EF4-FFF2-40B4-BE49-F238E27FC236}">
                <a16:creationId xmlns:a16="http://schemas.microsoft.com/office/drawing/2014/main" id="{36C7E26C-C42B-A32F-23AF-848535DAEB2B}"/>
              </a:ext>
            </a:extLst>
          </p:cNvPr>
          <p:cNvSpPr txBox="1"/>
          <p:nvPr/>
        </p:nvSpPr>
        <p:spPr>
          <a:xfrm>
            <a:off x="99710" y="1411677"/>
            <a:ext cx="1875637" cy="830997"/>
          </a:xfrm>
          <a:prstGeom prst="rect">
            <a:avLst/>
          </a:prstGeom>
          <a:noFill/>
        </p:spPr>
        <p:txBody>
          <a:bodyPr wrap="square">
            <a:spAutoFit/>
          </a:bodyPr>
          <a:lstStyle/>
          <a:p>
            <a:r>
              <a:rPr kumimoji="0" lang="en-ZA" sz="2400" b="1"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Data Synthesis</a:t>
            </a:r>
            <a:endParaRPr lang="en-ZA" sz="2400" dirty="0"/>
          </a:p>
        </p:txBody>
      </p:sp>
      <p:sp>
        <p:nvSpPr>
          <p:cNvPr id="80" name="TextBox 79">
            <a:extLst>
              <a:ext uri="{FF2B5EF4-FFF2-40B4-BE49-F238E27FC236}">
                <a16:creationId xmlns:a16="http://schemas.microsoft.com/office/drawing/2014/main" id="{66CCEF4D-6C48-850D-46EF-155436B02758}"/>
              </a:ext>
            </a:extLst>
          </p:cNvPr>
          <p:cNvSpPr txBox="1"/>
          <p:nvPr/>
        </p:nvSpPr>
        <p:spPr>
          <a:xfrm>
            <a:off x="126147" y="2556873"/>
            <a:ext cx="2019163"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Initial Baseline </a:t>
            </a:r>
          </a:p>
        </p:txBody>
      </p:sp>
      <p:sp>
        <p:nvSpPr>
          <p:cNvPr id="81" name="TextBox 80">
            <a:extLst>
              <a:ext uri="{FF2B5EF4-FFF2-40B4-BE49-F238E27FC236}">
                <a16:creationId xmlns:a16="http://schemas.microsoft.com/office/drawing/2014/main" id="{F9882CD4-9469-E9A7-FF2E-C8F9B83461FF}"/>
              </a:ext>
            </a:extLst>
          </p:cNvPr>
          <p:cNvSpPr txBox="1"/>
          <p:nvPr/>
        </p:nvSpPr>
        <p:spPr>
          <a:xfrm>
            <a:off x="126147" y="3635507"/>
            <a:ext cx="1898556"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Dynamic Loop</a:t>
            </a:r>
            <a:endParaRPr kumimoji="0" lang="en-ZA" sz="2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82" name="TextBox 81">
            <a:extLst>
              <a:ext uri="{FF2B5EF4-FFF2-40B4-BE49-F238E27FC236}">
                <a16:creationId xmlns:a16="http://schemas.microsoft.com/office/drawing/2014/main" id="{DDE492E9-0586-FDD8-F1E4-EE1BC50A9A0B}"/>
              </a:ext>
            </a:extLst>
          </p:cNvPr>
          <p:cNvSpPr txBox="1"/>
          <p:nvPr/>
        </p:nvSpPr>
        <p:spPr>
          <a:xfrm>
            <a:off x="58031" y="5047740"/>
            <a:ext cx="2087279"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chemeClr val="accent1">
                    <a:lumMod val="60000"/>
                    <a:lumOff val="40000"/>
                  </a:schemeClr>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Final Segments &amp;</a:t>
            </a:r>
          </a:p>
          <a:p>
            <a:pPr marL="0" marR="0" lvl="0" indent="0" algn="l" defTabSz="457200" rtl="0" eaLnBrk="1" fontAlgn="auto" latinLnBrk="0" hangingPunct="1">
              <a:lnSpc>
                <a:spcPct val="100000"/>
              </a:lnSpc>
              <a:spcBef>
                <a:spcPts val="0"/>
              </a:spcBef>
              <a:spcAft>
                <a:spcPts val="0"/>
              </a:spcAft>
              <a:buClrTx/>
              <a:buSzTx/>
              <a:buFontTx/>
              <a:buNone/>
              <a:tabLst/>
              <a:defRPr/>
            </a:pPr>
            <a:r>
              <a:rPr lang="en-ZA" sz="2400" b="1" dirty="0">
                <a:solidFill>
                  <a:schemeClr val="accent1">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Dashboard Interface</a:t>
            </a:r>
            <a:endParaRPr kumimoji="0" lang="en-ZA" sz="2400" b="1" i="0" u="none" strike="noStrike" kern="1200" cap="none" spc="0" normalizeH="0" baseline="0" noProof="0" dirty="0">
              <a:ln>
                <a:noFill/>
              </a:ln>
              <a:solidFill>
                <a:schemeClr val="accent1">
                  <a:lumMod val="60000"/>
                  <a:lumOff val="40000"/>
                </a:schemeClr>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28852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lumMod val="90000"/>
            <a:lumOff val="10000"/>
          </a:schemeClr>
        </a:solidFill>
        <a:effectLst/>
      </p:bgPr>
    </p:bg>
    <p:spTree>
      <p:nvGrpSpPr>
        <p:cNvPr id="1" name="">
          <a:extLst>
            <a:ext uri="{FF2B5EF4-FFF2-40B4-BE49-F238E27FC236}">
              <a16:creationId xmlns:a16="http://schemas.microsoft.com/office/drawing/2014/main" id="{9587007C-FD0A-5D13-1865-77632B67B5F3}"/>
            </a:ext>
          </a:extLst>
        </p:cNvPr>
        <p:cNvGrpSpPr/>
        <p:nvPr/>
      </p:nvGrpSpPr>
      <p:grpSpPr>
        <a:xfrm>
          <a:off x="0" y="0"/>
          <a:ext cx="0" cy="0"/>
          <a:chOff x="0" y="0"/>
          <a:chExt cx="0" cy="0"/>
        </a:xfrm>
      </p:grpSpPr>
      <p:grpSp>
        <p:nvGrpSpPr>
          <p:cNvPr id="33" name="Group 32">
            <a:extLst>
              <a:ext uri="{FF2B5EF4-FFF2-40B4-BE49-F238E27FC236}">
                <a16:creationId xmlns:a16="http://schemas.microsoft.com/office/drawing/2014/main" id="{111A0AB9-6F40-20D4-4769-ED3C51B6B018}"/>
              </a:ext>
            </a:extLst>
          </p:cNvPr>
          <p:cNvGrpSpPr/>
          <p:nvPr/>
        </p:nvGrpSpPr>
        <p:grpSpPr>
          <a:xfrm>
            <a:off x="9729102" y="0"/>
            <a:ext cx="2774426" cy="6858000"/>
            <a:chOff x="9889346" y="0"/>
            <a:chExt cx="2614181" cy="6858000"/>
          </a:xfrm>
        </p:grpSpPr>
        <p:grpSp>
          <p:nvGrpSpPr>
            <p:cNvPr id="55" name="Group 54">
              <a:extLst>
                <a:ext uri="{FF2B5EF4-FFF2-40B4-BE49-F238E27FC236}">
                  <a16:creationId xmlns:a16="http://schemas.microsoft.com/office/drawing/2014/main" id="{2227912D-560F-87BA-855A-FF2F00D568F3}"/>
                </a:ext>
              </a:extLst>
            </p:cNvPr>
            <p:cNvGrpSpPr/>
            <p:nvPr/>
          </p:nvGrpSpPr>
          <p:grpSpPr>
            <a:xfrm>
              <a:off x="9889346" y="0"/>
              <a:ext cx="2353179" cy="6858000"/>
              <a:chOff x="10058401" y="0"/>
              <a:chExt cx="2133600" cy="6858000"/>
            </a:xfrm>
          </p:grpSpPr>
          <p:sp>
            <p:nvSpPr>
              <p:cNvPr id="13" name="Rectangle 12">
                <a:extLst>
                  <a:ext uri="{FF2B5EF4-FFF2-40B4-BE49-F238E27FC236}">
                    <a16:creationId xmlns:a16="http://schemas.microsoft.com/office/drawing/2014/main" id="{6F08578E-94E3-2318-0F78-CE761F3C218B}"/>
                  </a:ext>
                </a:extLst>
              </p:cNvPr>
              <p:cNvSpPr/>
              <p:nvPr/>
            </p:nvSpPr>
            <p:spPr>
              <a:xfrm>
                <a:off x="10058401" y="0"/>
                <a:ext cx="2133600" cy="6858000"/>
              </a:xfrm>
              <a:prstGeom prst="rect">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8" name="TextBox 47">
                <a:extLst>
                  <a:ext uri="{FF2B5EF4-FFF2-40B4-BE49-F238E27FC236}">
                    <a16:creationId xmlns:a16="http://schemas.microsoft.com/office/drawing/2014/main" id="{83F312B7-EE39-5217-166D-F3FDEDDA02BB}"/>
                  </a:ext>
                </a:extLst>
              </p:cNvPr>
              <p:cNvSpPr txBox="1"/>
              <p:nvPr/>
            </p:nvSpPr>
            <p:spPr>
              <a:xfrm>
                <a:off x="10302462" y="814520"/>
                <a:ext cx="1878888"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2400" b="1" i="0" u="none" strike="noStrike" kern="1200" cap="none" spc="0" normalizeH="0" baseline="0" noProof="0" dirty="0">
                    <a:ln>
                      <a:noFill/>
                    </a:ln>
                    <a:solidFill>
                      <a:schemeClr val="accent1">
                        <a:lumMod val="60000"/>
                        <a:lumOff val="40000"/>
                      </a:schemeClr>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Final Segments &amp;</a:t>
                </a:r>
              </a:p>
              <a:p>
                <a:pPr marL="0" marR="0" lvl="0" indent="0" algn="l" defTabSz="457200" rtl="0" eaLnBrk="1" fontAlgn="auto" latinLnBrk="0" hangingPunct="1">
                  <a:lnSpc>
                    <a:spcPct val="100000"/>
                  </a:lnSpc>
                  <a:spcBef>
                    <a:spcPts val="0"/>
                  </a:spcBef>
                  <a:spcAft>
                    <a:spcPts val="0"/>
                  </a:spcAft>
                  <a:buClrTx/>
                  <a:buSzTx/>
                  <a:buFontTx/>
                  <a:buNone/>
                  <a:tabLst/>
                  <a:defRPr/>
                </a:pPr>
                <a:r>
                  <a:rPr lang="en-ZA" sz="2400" b="1" dirty="0">
                    <a:solidFill>
                      <a:schemeClr val="accent1">
                        <a:lumMod val="60000"/>
                        <a:lumOff val="40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Dashboard Interface</a:t>
                </a:r>
                <a:endParaRPr kumimoji="0" lang="en-ZA" sz="2400" b="1" i="0" u="none" strike="noStrike" kern="1200" cap="none" spc="0" normalizeH="0" baseline="0" noProof="0" dirty="0">
                  <a:ln>
                    <a:noFill/>
                  </a:ln>
                  <a:solidFill>
                    <a:schemeClr val="accent1">
                      <a:lumMod val="60000"/>
                      <a:lumOff val="40000"/>
                    </a:schemeClr>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grpSp>
        <p:sp>
          <p:nvSpPr>
            <p:cNvPr id="32" name="Isosceles Triangle 31">
              <a:extLst>
                <a:ext uri="{FF2B5EF4-FFF2-40B4-BE49-F238E27FC236}">
                  <a16:creationId xmlns:a16="http://schemas.microsoft.com/office/drawing/2014/main" id="{26B1A24D-7471-72AE-8C84-911D5FE5AE1B}"/>
                </a:ext>
              </a:extLst>
            </p:cNvPr>
            <p:cNvSpPr/>
            <p:nvPr/>
          </p:nvSpPr>
          <p:spPr>
            <a:xfrm rot="5400000">
              <a:off x="11961234" y="1156448"/>
              <a:ext cx="806357" cy="278229"/>
            </a:xfrm>
            <a:prstGeom prst="triangle">
              <a:avLst/>
            </a:prstGeom>
            <a:solidFill>
              <a:schemeClr val="accent4">
                <a:lumMod val="5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pSp>
      <p:grpSp>
        <p:nvGrpSpPr>
          <p:cNvPr id="29" name="Group 28">
            <a:extLst>
              <a:ext uri="{FF2B5EF4-FFF2-40B4-BE49-F238E27FC236}">
                <a16:creationId xmlns:a16="http://schemas.microsoft.com/office/drawing/2014/main" id="{43D8D3BF-40A0-BF8F-CB34-55221EFE9B54}"/>
              </a:ext>
            </a:extLst>
          </p:cNvPr>
          <p:cNvGrpSpPr/>
          <p:nvPr/>
        </p:nvGrpSpPr>
        <p:grpSpPr>
          <a:xfrm>
            <a:off x="7383678" y="-9525"/>
            <a:ext cx="2603606" cy="6858000"/>
            <a:chOff x="7347776" y="23394"/>
            <a:chExt cx="2724070" cy="6858000"/>
          </a:xfrm>
        </p:grpSpPr>
        <p:grpSp>
          <p:nvGrpSpPr>
            <p:cNvPr id="56" name="Group 55">
              <a:extLst>
                <a:ext uri="{FF2B5EF4-FFF2-40B4-BE49-F238E27FC236}">
                  <a16:creationId xmlns:a16="http://schemas.microsoft.com/office/drawing/2014/main" id="{74E0E0B3-355E-1AFF-B0AA-97A9D8A84354}"/>
                </a:ext>
              </a:extLst>
            </p:cNvPr>
            <p:cNvGrpSpPr/>
            <p:nvPr/>
          </p:nvGrpSpPr>
          <p:grpSpPr>
            <a:xfrm>
              <a:off x="7347776" y="23394"/>
              <a:ext cx="2724070" cy="6858000"/>
              <a:chOff x="7562034" y="23394"/>
              <a:chExt cx="2724070" cy="6858000"/>
            </a:xfrm>
          </p:grpSpPr>
          <p:grpSp>
            <p:nvGrpSpPr>
              <p:cNvPr id="22" name="Group 21">
                <a:extLst>
                  <a:ext uri="{FF2B5EF4-FFF2-40B4-BE49-F238E27FC236}">
                    <a16:creationId xmlns:a16="http://schemas.microsoft.com/office/drawing/2014/main" id="{F87BE019-6E0C-B8D4-AAC9-23E5890D847B}"/>
                  </a:ext>
                </a:extLst>
              </p:cNvPr>
              <p:cNvGrpSpPr/>
              <p:nvPr/>
            </p:nvGrpSpPr>
            <p:grpSpPr>
              <a:xfrm>
                <a:off x="7562034" y="23394"/>
                <a:ext cx="2724070" cy="6858000"/>
                <a:chOff x="7562034" y="23394"/>
                <a:chExt cx="2724070" cy="6858000"/>
              </a:xfrm>
            </p:grpSpPr>
            <p:sp>
              <p:nvSpPr>
                <p:cNvPr id="12" name="Rectangle 11">
                  <a:extLst>
                    <a:ext uri="{FF2B5EF4-FFF2-40B4-BE49-F238E27FC236}">
                      <a16:creationId xmlns:a16="http://schemas.microsoft.com/office/drawing/2014/main" id="{51260340-A025-C49D-DDAC-2D012291722F}"/>
                    </a:ext>
                  </a:extLst>
                </p:cNvPr>
                <p:cNvSpPr/>
                <p:nvPr/>
              </p:nvSpPr>
              <p:spPr>
                <a:xfrm>
                  <a:off x="7562034" y="23394"/>
                  <a:ext cx="2528047" cy="6858000"/>
                </a:xfrm>
                <a:prstGeom prst="rect">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8" name="Isosceles Triangle 17">
                  <a:extLst>
                    <a:ext uri="{FF2B5EF4-FFF2-40B4-BE49-F238E27FC236}">
                      <a16:creationId xmlns:a16="http://schemas.microsoft.com/office/drawing/2014/main" id="{D521D569-CCCC-2BBA-0A02-AAD2DF12DA87}"/>
                    </a:ext>
                  </a:extLst>
                </p:cNvPr>
                <p:cNvSpPr/>
                <p:nvPr/>
              </p:nvSpPr>
              <p:spPr>
                <a:xfrm rot="5400000">
                  <a:off x="9867238" y="1143233"/>
                  <a:ext cx="618565" cy="219167"/>
                </a:xfrm>
                <a:prstGeom prst="triangle">
                  <a:avLst>
                    <a:gd name="adj" fmla="val 45349"/>
                  </a:avLst>
                </a:prstGeom>
                <a:solidFill>
                  <a:schemeClr val="accent4">
                    <a:lumMod val="75000"/>
                  </a:schemeClr>
                </a:solid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46" name="TextBox 45">
                <a:extLst>
                  <a:ext uri="{FF2B5EF4-FFF2-40B4-BE49-F238E27FC236}">
                    <a16:creationId xmlns:a16="http://schemas.microsoft.com/office/drawing/2014/main" id="{A0AADEDF-6AEE-875A-81D5-9AAE8E0B6812}"/>
                  </a:ext>
                </a:extLst>
              </p:cNvPr>
              <p:cNvSpPr txBox="1"/>
              <p:nvPr/>
            </p:nvSpPr>
            <p:spPr>
              <a:xfrm>
                <a:off x="7810326" y="787732"/>
                <a:ext cx="1986399" cy="101566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Dynamic Loop</a:t>
                </a:r>
                <a:endParaRPr kumimoji="0" lang="en-ZA" sz="3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endParaRPr>
              </a:p>
            </p:txBody>
          </p:sp>
          <p:sp>
            <p:nvSpPr>
              <p:cNvPr id="47" name="TextBox 46">
                <a:extLst>
                  <a:ext uri="{FF2B5EF4-FFF2-40B4-BE49-F238E27FC236}">
                    <a16:creationId xmlns:a16="http://schemas.microsoft.com/office/drawing/2014/main" id="{35A74397-4E66-C38E-3A9B-0D2F5FB583F0}"/>
                  </a:ext>
                </a:extLst>
              </p:cNvPr>
              <p:cNvSpPr txBox="1"/>
              <p:nvPr/>
            </p:nvSpPr>
            <p:spPr>
              <a:xfrm>
                <a:off x="7684994" y="2770094"/>
                <a:ext cx="2225489" cy="461665"/>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ZA"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grpSp>
        <p:pic>
          <p:nvPicPr>
            <p:cNvPr id="6" name="Graphic 5" descr="Repeat with solid fill">
              <a:extLst>
                <a:ext uri="{FF2B5EF4-FFF2-40B4-BE49-F238E27FC236}">
                  <a16:creationId xmlns:a16="http://schemas.microsoft.com/office/drawing/2014/main" id="{A9ACCC6C-95AE-485B-ADE0-8ECAA41807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47750" y="5620831"/>
              <a:ext cx="914400" cy="914400"/>
            </a:xfrm>
            <a:prstGeom prst="rect">
              <a:avLst/>
            </a:prstGeom>
          </p:spPr>
        </p:pic>
      </p:grpSp>
      <p:grpSp>
        <p:nvGrpSpPr>
          <p:cNvPr id="23" name="Group 22">
            <a:extLst>
              <a:ext uri="{FF2B5EF4-FFF2-40B4-BE49-F238E27FC236}">
                <a16:creationId xmlns:a16="http://schemas.microsoft.com/office/drawing/2014/main" id="{957D3894-C7F0-18D4-B9BC-8E33F4FE52A2}"/>
              </a:ext>
            </a:extLst>
          </p:cNvPr>
          <p:cNvGrpSpPr/>
          <p:nvPr/>
        </p:nvGrpSpPr>
        <p:grpSpPr>
          <a:xfrm>
            <a:off x="4952731" y="0"/>
            <a:ext cx="2631102" cy="6858000"/>
            <a:chOff x="5001027" y="75733"/>
            <a:chExt cx="2515408" cy="6858000"/>
          </a:xfrm>
        </p:grpSpPr>
        <p:grpSp>
          <p:nvGrpSpPr>
            <p:cNvPr id="21" name="Group 20">
              <a:extLst>
                <a:ext uri="{FF2B5EF4-FFF2-40B4-BE49-F238E27FC236}">
                  <a16:creationId xmlns:a16="http://schemas.microsoft.com/office/drawing/2014/main" id="{D948294B-9C18-978A-5A46-A258D55AB68E}"/>
                </a:ext>
              </a:extLst>
            </p:cNvPr>
            <p:cNvGrpSpPr/>
            <p:nvPr/>
          </p:nvGrpSpPr>
          <p:grpSpPr>
            <a:xfrm>
              <a:off x="5001027" y="75733"/>
              <a:ext cx="2515408" cy="6858000"/>
              <a:chOff x="5210824" y="80215"/>
              <a:chExt cx="2515408" cy="6858000"/>
            </a:xfrm>
          </p:grpSpPr>
          <p:sp>
            <p:nvSpPr>
              <p:cNvPr id="17" name="Isosceles Triangle 16">
                <a:extLst>
                  <a:ext uri="{FF2B5EF4-FFF2-40B4-BE49-F238E27FC236}">
                    <a16:creationId xmlns:a16="http://schemas.microsoft.com/office/drawing/2014/main" id="{34325C06-913F-006C-E303-238EF8862C49}"/>
                  </a:ext>
                </a:extLst>
              </p:cNvPr>
              <p:cNvSpPr/>
              <p:nvPr/>
            </p:nvSpPr>
            <p:spPr>
              <a:xfrm rot="5400000">
                <a:off x="7336950" y="1150407"/>
                <a:ext cx="578224" cy="200341"/>
              </a:xfrm>
              <a:prstGeom prst="triangle">
                <a:avLst/>
              </a:prstGeom>
              <a:solidFill>
                <a:schemeClr val="bg2">
                  <a:lumMod val="50000"/>
                  <a:lumOff val="50000"/>
                </a:schemeClr>
              </a:solidFill>
              <a:ln>
                <a:solidFill>
                  <a:schemeClr val="bg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1C9ADF8B-B607-89E6-306E-D8D4408A633A}"/>
                  </a:ext>
                </a:extLst>
              </p:cNvPr>
              <p:cNvSpPr/>
              <p:nvPr/>
            </p:nvSpPr>
            <p:spPr>
              <a:xfrm>
                <a:off x="5210824" y="80215"/>
                <a:ext cx="2326341" cy="6858000"/>
              </a:xfrm>
              <a:prstGeom prst="rect">
                <a:avLst/>
              </a:prstGeom>
              <a:solidFill>
                <a:schemeClr val="bg2">
                  <a:lumMod val="50000"/>
                  <a:lumOff val="50000"/>
                </a:schemeClr>
              </a:solidFill>
              <a:ln>
                <a:solidFill>
                  <a:schemeClr val="bg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pic>
          <p:nvPicPr>
            <p:cNvPr id="3" name="Graphic 2" descr="Pie chart with solid fill">
              <a:extLst>
                <a:ext uri="{FF2B5EF4-FFF2-40B4-BE49-F238E27FC236}">
                  <a16:creationId xmlns:a16="http://schemas.microsoft.com/office/drawing/2014/main" id="{3D956B78-B8C1-2F27-C77F-4112D3C583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2998" y="5625353"/>
              <a:ext cx="914400" cy="914400"/>
            </a:xfrm>
            <a:prstGeom prst="rect">
              <a:avLst/>
            </a:prstGeom>
          </p:spPr>
        </p:pic>
      </p:grpSp>
      <p:grpSp>
        <p:nvGrpSpPr>
          <p:cNvPr id="9" name="Group 8">
            <a:extLst>
              <a:ext uri="{FF2B5EF4-FFF2-40B4-BE49-F238E27FC236}">
                <a16:creationId xmlns:a16="http://schemas.microsoft.com/office/drawing/2014/main" id="{AFEB8B7B-4780-A304-6BB3-01E910CF22C4}"/>
              </a:ext>
            </a:extLst>
          </p:cNvPr>
          <p:cNvGrpSpPr/>
          <p:nvPr/>
        </p:nvGrpSpPr>
        <p:grpSpPr>
          <a:xfrm>
            <a:off x="2383651" y="-2299"/>
            <a:ext cx="2778257" cy="6858000"/>
            <a:chOff x="2231297" y="-16179"/>
            <a:chExt cx="2722682" cy="6858000"/>
          </a:xfrm>
        </p:grpSpPr>
        <p:grpSp>
          <p:nvGrpSpPr>
            <p:cNvPr id="58" name="Group 57">
              <a:extLst>
                <a:ext uri="{FF2B5EF4-FFF2-40B4-BE49-F238E27FC236}">
                  <a16:creationId xmlns:a16="http://schemas.microsoft.com/office/drawing/2014/main" id="{FD3ACD3E-8B44-3302-F06A-DF95C5F84890}"/>
                </a:ext>
              </a:extLst>
            </p:cNvPr>
            <p:cNvGrpSpPr/>
            <p:nvPr/>
          </p:nvGrpSpPr>
          <p:grpSpPr>
            <a:xfrm>
              <a:off x="2231297" y="-16179"/>
              <a:ext cx="2722682" cy="6858000"/>
              <a:chOff x="2349034" y="-16179"/>
              <a:chExt cx="2722682" cy="6858000"/>
            </a:xfrm>
          </p:grpSpPr>
          <p:grpSp>
            <p:nvGrpSpPr>
              <p:cNvPr id="20" name="Group 19">
                <a:extLst>
                  <a:ext uri="{FF2B5EF4-FFF2-40B4-BE49-F238E27FC236}">
                    <a16:creationId xmlns:a16="http://schemas.microsoft.com/office/drawing/2014/main" id="{FC5F728D-A0AD-C651-EE83-4D7C0421424C}"/>
                  </a:ext>
                </a:extLst>
              </p:cNvPr>
              <p:cNvGrpSpPr/>
              <p:nvPr/>
            </p:nvGrpSpPr>
            <p:grpSpPr>
              <a:xfrm>
                <a:off x="2349034" y="-16179"/>
                <a:ext cx="2722682" cy="6858000"/>
                <a:chOff x="2349034" y="-16179"/>
                <a:chExt cx="2722682" cy="6858000"/>
              </a:xfrm>
            </p:grpSpPr>
            <p:sp>
              <p:nvSpPr>
                <p:cNvPr id="10" name="Rectangle 9">
                  <a:extLst>
                    <a:ext uri="{FF2B5EF4-FFF2-40B4-BE49-F238E27FC236}">
                      <a16:creationId xmlns:a16="http://schemas.microsoft.com/office/drawing/2014/main" id="{7045E472-3283-E9B5-EA76-87386FC01D2B}"/>
                    </a:ext>
                  </a:extLst>
                </p:cNvPr>
                <p:cNvSpPr/>
                <p:nvPr/>
              </p:nvSpPr>
              <p:spPr>
                <a:xfrm>
                  <a:off x="2349034" y="-16179"/>
                  <a:ext cx="2528047" cy="6858000"/>
                </a:xfrm>
                <a:prstGeom prst="rect">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6" name="Isosceles Triangle 15">
                  <a:extLst>
                    <a:ext uri="{FF2B5EF4-FFF2-40B4-BE49-F238E27FC236}">
                      <a16:creationId xmlns:a16="http://schemas.microsoft.com/office/drawing/2014/main" id="{644265D5-3DB7-C688-F722-7FCA226A8F49}"/>
                    </a:ext>
                  </a:extLst>
                </p:cNvPr>
                <p:cNvSpPr/>
                <p:nvPr/>
              </p:nvSpPr>
              <p:spPr>
                <a:xfrm rot="5400000">
                  <a:off x="4673384" y="1078282"/>
                  <a:ext cx="591671" cy="204993"/>
                </a:xfrm>
                <a:prstGeom prst="triangle">
                  <a:avLst/>
                </a:prstGeom>
                <a:solidFill>
                  <a:schemeClr val="accent3">
                    <a:lumMod val="60000"/>
                    <a:lumOff val="40000"/>
                  </a:schemeClr>
                </a:solid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7" name="TextBox 36">
                <a:extLst>
                  <a:ext uri="{FF2B5EF4-FFF2-40B4-BE49-F238E27FC236}">
                    <a16:creationId xmlns:a16="http://schemas.microsoft.com/office/drawing/2014/main" id="{12FA01DA-2812-7857-DF96-D11E02F49727}"/>
                  </a:ext>
                </a:extLst>
              </p:cNvPr>
              <p:cNvSpPr txBox="1"/>
              <p:nvPr/>
            </p:nvSpPr>
            <p:spPr>
              <a:xfrm>
                <a:off x="2650560" y="2528205"/>
                <a:ext cx="1956547" cy="2739211"/>
              </a:xfrm>
              <a:prstGeom prst="rect">
                <a:avLst/>
              </a:prstGeom>
              <a:noFill/>
            </p:spPr>
            <p:txBody>
              <a:bodyPr wrap="square" rtlCol="0">
                <a:spAutoFit/>
              </a:bodyPr>
              <a:lstStyle/>
              <a:p>
                <a:pPr marR="0" lvl="0" algn="l" defTabSz="457200" rtl="0" eaLnBrk="1" fontAlgn="auto" latinLnBrk="0" hangingPunct="1">
                  <a:lnSpc>
                    <a:spcPct val="100000"/>
                  </a:lnSpc>
                  <a:spcBef>
                    <a:spcPts val="0"/>
                  </a:spcBef>
                  <a:spcAft>
                    <a:spcPts val="0"/>
                  </a:spcAft>
                  <a:buClrTx/>
                  <a:buSzTx/>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Data Synthesis</a:t>
                </a:r>
              </a:p>
              <a:p>
                <a:pPr marR="0" lvl="0" algn="l" defTabSz="457200" rtl="0" eaLnBrk="1" fontAlgn="auto" latinLnBrk="0" hangingPunct="1">
                  <a:lnSpc>
                    <a:spcPct val="100000"/>
                  </a:lnSpc>
                  <a:spcBef>
                    <a:spcPts val="0"/>
                  </a:spcBef>
                  <a:spcAft>
                    <a:spcPts val="0"/>
                  </a:spcAft>
                  <a:buClrTx/>
                  <a:buSzTx/>
                  <a:tabLst/>
                  <a:defRPr/>
                </a:pPr>
                <a:r>
                  <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Generating</a:t>
                </a:r>
              </a:p>
              <a:p>
                <a:pPr marR="0" lvl="0" algn="l" defTabSz="457200" rtl="0" eaLnBrk="1" fontAlgn="auto" latinLnBrk="0" hangingPunct="1">
                  <a:lnSpc>
                    <a:spcPct val="100000"/>
                  </a:lnSpc>
                  <a:spcBef>
                    <a:spcPts val="0"/>
                  </a:spcBef>
                  <a:spcAft>
                    <a:spcPts val="0"/>
                  </a:spcAft>
                  <a:buClrTx/>
                  <a:buSzTx/>
                  <a:tabLst/>
                  <a:defRPr/>
                </a:pPr>
                <a:endParaRPr lang="en-US" sz="1600" dirty="0">
                  <a:solidFill>
                    <a:prstClr val="white"/>
                  </a:solidFill>
                  <a:latin typeface="Arial" panose="020B0604020202020204" pitchFamily="34" charset="0"/>
                  <a:cs typeface="Arial" panose="020B0604020202020204" pitchFamily="34" charset="0"/>
                </a:endParaRPr>
              </a:p>
              <a:p>
                <a:pPr marR="0" lvl="0" algn="l" defTabSz="457200" rtl="0" eaLnBrk="1" fontAlgn="auto" latinLnBrk="0" hangingPunct="1">
                  <a:lnSpc>
                    <a:spcPct val="100000"/>
                  </a:lnSpc>
                  <a:spcBef>
                    <a:spcPts val="0"/>
                  </a:spcBef>
                  <a:spcAft>
                    <a:spcPts val="0"/>
                  </a:spcAft>
                  <a:buClrTx/>
                  <a:buSzTx/>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Geographic and Demographic variables</a:t>
                </a:r>
              </a:p>
              <a:p>
                <a:pPr marR="0" lvl="0" algn="l" defTabSz="457200" rtl="0" eaLnBrk="1" fontAlgn="auto" latinLnBrk="0" hangingPunct="1">
                  <a:lnSpc>
                    <a:spcPct val="100000"/>
                  </a:lnSpc>
                  <a:spcBef>
                    <a:spcPts val="0"/>
                  </a:spcBef>
                  <a:spcAft>
                    <a:spcPts val="0"/>
                  </a:spcAft>
                  <a:buClrTx/>
                  <a:buSzTx/>
                  <a:tabLst/>
                  <a:defRPr/>
                </a:pPr>
                <a:endPar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R="0" lvl="0" algn="l" defTabSz="457200" rtl="0" eaLnBrk="1" fontAlgn="auto" latinLnBrk="0" hangingPunct="1">
                  <a:lnSpc>
                    <a:spcPct val="100000"/>
                  </a:lnSpc>
                  <a:spcBef>
                    <a:spcPts val="0"/>
                  </a:spcBef>
                  <a:spcAft>
                    <a:spcPts val="0"/>
                  </a:spcAft>
                  <a:buClrTx/>
                  <a:buSzTx/>
                  <a:tabLst/>
                  <a:defRPr/>
                </a:pPr>
                <a:r>
                  <a:rPr kumimoji="0" lang="en-US" sz="12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Synthesized data integration with customer Profile</a:t>
                </a:r>
              </a:p>
              <a:p>
                <a:pPr marR="0" lvl="0" algn="l" defTabSz="457200" rtl="0" eaLnBrk="1" fontAlgn="auto" latinLnBrk="0" hangingPunct="1">
                  <a:lnSpc>
                    <a:spcPct val="100000"/>
                  </a:lnSpc>
                  <a:spcBef>
                    <a:spcPts val="0"/>
                  </a:spcBef>
                  <a:spcAft>
                    <a:spcPts val="0"/>
                  </a:spcAft>
                  <a:buClrTx/>
                  <a:buSzTx/>
                  <a:tabLst/>
                  <a:defRPr/>
                </a:pPr>
                <a:endPar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R="0" lvl="0" algn="l" defTabSz="457200" rtl="0" eaLnBrk="1" fontAlgn="auto" latinLnBrk="0" hangingPunct="1">
                  <a:lnSpc>
                    <a:spcPct val="100000"/>
                  </a:lnSpc>
                  <a:spcBef>
                    <a:spcPts val="0"/>
                  </a:spcBef>
                  <a:spcAft>
                    <a:spcPts val="0"/>
                  </a:spcAft>
                  <a:buClrTx/>
                  <a:buSzTx/>
                  <a:tabLst/>
                  <a:defRPr/>
                </a:pPr>
                <a:endParaRPr kumimoji="0" lang="en-US"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R="0" lvl="0" algn="l" defTabSz="457200" rtl="0" eaLnBrk="1" fontAlgn="auto" latinLnBrk="0" hangingPunct="1">
                  <a:lnSpc>
                    <a:spcPct val="100000"/>
                  </a:lnSpc>
                  <a:spcBef>
                    <a:spcPts val="0"/>
                  </a:spcBef>
                  <a:spcAft>
                    <a:spcPts val="0"/>
                  </a:spcAft>
                  <a:buClrTx/>
                  <a:buSzTx/>
                  <a:tabLst/>
                  <a:defRPr/>
                </a:pPr>
                <a:endParaRPr kumimoji="0" lang="en-ZA" sz="16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grpSp>
        <p:pic>
          <p:nvPicPr>
            <p:cNvPr id="24" name="Graphic 23" descr="Priorities with solid fill">
              <a:extLst>
                <a:ext uri="{FF2B5EF4-FFF2-40B4-BE49-F238E27FC236}">
                  <a16:creationId xmlns:a16="http://schemas.microsoft.com/office/drawing/2014/main" id="{D177796E-49D1-5019-9A1B-071268EDED0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15903" y="5541849"/>
              <a:ext cx="914400" cy="914400"/>
            </a:xfrm>
            <a:prstGeom prst="rect">
              <a:avLst/>
            </a:prstGeom>
          </p:spPr>
        </p:pic>
      </p:grpSp>
      <p:grpSp>
        <p:nvGrpSpPr>
          <p:cNvPr id="19" name="Group 18">
            <a:extLst>
              <a:ext uri="{FF2B5EF4-FFF2-40B4-BE49-F238E27FC236}">
                <a16:creationId xmlns:a16="http://schemas.microsoft.com/office/drawing/2014/main" id="{4C14F8C7-1938-EBB3-3843-6629F0A782B3}"/>
              </a:ext>
            </a:extLst>
          </p:cNvPr>
          <p:cNvGrpSpPr/>
          <p:nvPr/>
        </p:nvGrpSpPr>
        <p:grpSpPr>
          <a:xfrm>
            <a:off x="-136692" y="-11697"/>
            <a:ext cx="2737295" cy="6858000"/>
            <a:chOff x="-37769" y="-20661"/>
            <a:chExt cx="2901857" cy="6858000"/>
          </a:xfrm>
        </p:grpSpPr>
        <p:sp>
          <p:nvSpPr>
            <p:cNvPr id="4" name="Rectangle 3">
              <a:extLst>
                <a:ext uri="{FF2B5EF4-FFF2-40B4-BE49-F238E27FC236}">
                  <a16:creationId xmlns:a16="http://schemas.microsoft.com/office/drawing/2014/main" id="{BF759C1D-8BF9-0019-0703-008F907280BF}"/>
                </a:ext>
              </a:extLst>
            </p:cNvPr>
            <p:cNvSpPr/>
            <p:nvPr/>
          </p:nvSpPr>
          <p:spPr>
            <a:xfrm>
              <a:off x="-37769" y="-20661"/>
              <a:ext cx="2675965" cy="6858000"/>
            </a:xfrm>
            <a:prstGeom prst="rect">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4" name="Isosceles Triangle 13">
              <a:extLst>
                <a:ext uri="{FF2B5EF4-FFF2-40B4-BE49-F238E27FC236}">
                  <a16:creationId xmlns:a16="http://schemas.microsoft.com/office/drawing/2014/main" id="{94F67BDE-2D28-CFFF-2326-A3DFCCB3117F}"/>
                </a:ext>
              </a:extLst>
            </p:cNvPr>
            <p:cNvSpPr/>
            <p:nvPr/>
          </p:nvSpPr>
          <p:spPr>
            <a:xfrm rot="5400000">
              <a:off x="2433782" y="1086557"/>
              <a:ext cx="645459" cy="215153"/>
            </a:xfrm>
            <a:prstGeom prst="triangle">
              <a:avLst/>
            </a:prstGeom>
            <a:solidFill>
              <a:schemeClr val="accent4">
                <a:lumMod val="40000"/>
                <a:lumOff val="60000"/>
              </a:schemeClr>
            </a:solidFill>
            <a:ln>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ZA"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25" name="TextBox 24">
            <a:extLst>
              <a:ext uri="{FF2B5EF4-FFF2-40B4-BE49-F238E27FC236}">
                <a16:creationId xmlns:a16="http://schemas.microsoft.com/office/drawing/2014/main" id="{6553BEF6-7CD9-587A-38B7-C5BEB6F82648}"/>
              </a:ext>
            </a:extLst>
          </p:cNvPr>
          <p:cNvSpPr txBox="1"/>
          <p:nvPr/>
        </p:nvSpPr>
        <p:spPr>
          <a:xfrm>
            <a:off x="5199056" y="724035"/>
            <a:ext cx="2019163" cy="10772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Initial Baseline </a:t>
            </a:r>
          </a:p>
        </p:txBody>
      </p:sp>
      <p:sp>
        <p:nvSpPr>
          <p:cNvPr id="30" name="TextBox 29">
            <a:extLst>
              <a:ext uri="{FF2B5EF4-FFF2-40B4-BE49-F238E27FC236}">
                <a16:creationId xmlns:a16="http://schemas.microsoft.com/office/drawing/2014/main" id="{FCDFEA4E-3FAE-9C97-F9BA-DAD18387E62E}"/>
              </a:ext>
            </a:extLst>
          </p:cNvPr>
          <p:cNvSpPr txBox="1"/>
          <p:nvPr/>
        </p:nvSpPr>
        <p:spPr>
          <a:xfrm>
            <a:off x="116685" y="3147479"/>
            <a:ext cx="2160591"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pic>
        <p:nvPicPr>
          <p:cNvPr id="28" name="Graphic 27" descr="Presentation with pie chart with solid fill">
            <a:extLst>
              <a:ext uri="{FF2B5EF4-FFF2-40B4-BE49-F238E27FC236}">
                <a16:creationId xmlns:a16="http://schemas.microsoft.com/office/drawing/2014/main" id="{2275C07B-0DFD-92FD-02BB-18D94857B16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600335" y="5572073"/>
            <a:ext cx="862545" cy="914400"/>
          </a:xfrm>
          <a:prstGeom prst="rect">
            <a:avLst/>
          </a:prstGeom>
        </p:spPr>
      </p:pic>
      <p:sp>
        <p:nvSpPr>
          <p:cNvPr id="35" name="Rectangle 6">
            <a:extLst>
              <a:ext uri="{FF2B5EF4-FFF2-40B4-BE49-F238E27FC236}">
                <a16:creationId xmlns:a16="http://schemas.microsoft.com/office/drawing/2014/main" id="{10428B64-B985-2845-4E81-CB3272563DD9}"/>
              </a:ext>
            </a:extLst>
          </p:cNvPr>
          <p:cNvSpPr>
            <a:spLocks noChangeArrowheads="1"/>
          </p:cNvSpPr>
          <p:nvPr/>
        </p:nvSpPr>
        <p:spPr bwMode="auto">
          <a:xfrm>
            <a:off x="81382" y="2484686"/>
            <a:ext cx="2431525"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Aft>
                <a:spcPts val="1200"/>
              </a:spcAft>
            </a:pPr>
            <a:r>
              <a:rPr lang="en-US" altLang="en-US" sz="1600" dirty="0">
                <a:solidFill>
                  <a:schemeClr val="accent3">
                    <a:lumMod val="50000"/>
                  </a:schemeClr>
                </a:solidFill>
                <a:latin typeface="Arial" panose="020B0604020202020204" pitchFamily="34" charset="0"/>
              </a:rPr>
              <a:t>Creation of Database Tables</a:t>
            </a:r>
          </a:p>
          <a:p>
            <a:pPr defTabSz="914400" eaLnBrk="0" fontAlgn="base" hangingPunct="0">
              <a:spcAft>
                <a:spcPts val="1200"/>
              </a:spcAft>
            </a:pPr>
            <a:r>
              <a:rPr lang="en-US" altLang="en-US" sz="1200" dirty="0">
                <a:solidFill>
                  <a:schemeClr val="accent3">
                    <a:lumMod val="50000"/>
                  </a:schemeClr>
                </a:solidFill>
                <a:latin typeface="Arial" panose="020B0604020202020204" pitchFamily="34" charset="0"/>
              </a:rPr>
              <a:t>Customer table</a:t>
            </a:r>
          </a:p>
          <a:p>
            <a:pPr defTabSz="914400" eaLnBrk="0" fontAlgn="base" hangingPunct="0">
              <a:spcAft>
                <a:spcPts val="1200"/>
              </a:spcAft>
            </a:pPr>
            <a:r>
              <a:rPr lang="en-US" altLang="en-US" sz="1200" dirty="0">
                <a:solidFill>
                  <a:schemeClr val="accent3">
                    <a:lumMod val="50000"/>
                  </a:schemeClr>
                </a:solidFill>
                <a:latin typeface="Arial" panose="020B0604020202020204" pitchFamily="34" charset="0"/>
              </a:rPr>
              <a:t>Data preprocessing results table</a:t>
            </a:r>
          </a:p>
          <a:p>
            <a:pPr defTabSz="914400" eaLnBrk="0" fontAlgn="base" hangingPunct="0">
              <a:spcAft>
                <a:spcPts val="1200"/>
              </a:spcAft>
            </a:pPr>
            <a:r>
              <a:rPr lang="en-US" altLang="en-US" sz="1200" dirty="0">
                <a:solidFill>
                  <a:schemeClr val="accent3">
                    <a:lumMod val="50000"/>
                  </a:schemeClr>
                </a:solidFill>
                <a:latin typeface="Arial" panose="020B0604020202020204" pitchFamily="34" charset="0"/>
              </a:rPr>
              <a:t>Time cycle 0 segmentation results table</a:t>
            </a:r>
          </a:p>
          <a:p>
            <a:pPr defTabSz="914400" eaLnBrk="0" fontAlgn="base" hangingPunct="0">
              <a:spcAft>
                <a:spcPts val="1200"/>
              </a:spcAft>
            </a:pPr>
            <a:r>
              <a:rPr lang="en-US" altLang="en-US" sz="1200" dirty="0">
                <a:solidFill>
                  <a:schemeClr val="accent3">
                    <a:lumMod val="50000"/>
                  </a:schemeClr>
                </a:solidFill>
                <a:latin typeface="Arial" panose="020B0604020202020204" pitchFamily="34" charset="0"/>
              </a:rPr>
              <a:t>Dynamic loop results table</a:t>
            </a:r>
            <a:r>
              <a:rPr lang="en-US" altLang="en-US" sz="1100" dirty="0">
                <a:solidFill>
                  <a:schemeClr val="accent3">
                    <a:lumMod val="50000"/>
                  </a:schemeClr>
                </a:solidFill>
                <a:latin typeface="Arial" panose="020B0604020202020204" pitchFamily="34" charset="0"/>
              </a:rPr>
              <a:t>  </a:t>
            </a:r>
            <a:endParaRPr kumimoji="0" lang="en-US" altLang="en-US" sz="1100" b="0" i="0" u="none" strike="noStrike" cap="none" normalizeH="0" baseline="0" dirty="0">
              <a:ln>
                <a:noFill/>
              </a:ln>
              <a:solidFill>
                <a:schemeClr val="accent3">
                  <a:lumMod val="50000"/>
                </a:schemeClr>
              </a:solidFill>
              <a:effectLst/>
              <a:latin typeface="Arial" panose="020B0604020202020204" pitchFamily="34" charset="0"/>
            </a:endParaRPr>
          </a:p>
        </p:txBody>
      </p:sp>
      <p:sp>
        <p:nvSpPr>
          <p:cNvPr id="36" name="Rectangle 7">
            <a:extLst>
              <a:ext uri="{FF2B5EF4-FFF2-40B4-BE49-F238E27FC236}">
                <a16:creationId xmlns:a16="http://schemas.microsoft.com/office/drawing/2014/main" id="{CEE3375C-FE16-F28B-EF34-CC7A77EAD049}"/>
              </a:ext>
            </a:extLst>
          </p:cNvPr>
          <p:cNvSpPr>
            <a:spLocks noChangeArrowheads="1"/>
          </p:cNvSpPr>
          <p:nvPr/>
        </p:nvSpPr>
        <p:spPr bwMode="auto">
          <a:xfrm>
            <a:off x="5018772" y="2153960"/>
            <a:ext cx="231449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200"/>
              </a:spcAft>
              <a:buClrTx/>
              <a:buSzTx/>
              <a:tabLst/>
            </a:pPr>
            <a:r>
              <a:rPr lang="en-US" altLang="en-US" sz="1400" dirty="0">
                <a:solidFill>
                  <a:schemeClr val="bg1">
                    <a:lumMod val="95000"/>
                    <a:lumOff val="5000"/>
                  </a:schemeClr>
                </a:solidFill>
                <a:latin typeface="Arial" panose="020B0604020202020204" pitchFamily="34" charset="0"/>
              </a:rPr>
              <a:t>K determination with Elbow Method </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400" b="0" i="0" u="none" strike="noStrike" cap="none" normalizeH="0" baseline="0" dirty="0" err="1">
                <a:ln>
                  <a:noFill/>
                </a:ln>
                <a:solidFill>
                  <a:schemeClr val="bg1">
                    <a:lumMod val="95000"/>
                    <a:lumOff val="5000"/>
                  </a:schemeClr>
                </a:solidFill>
                <a:effectLst/>
                <a:latin typeface="Arial" panose="020B0604020202020204" pitchFamily="34" charset="0"/>
              </a:rPr>
              <a:t>Kmeans</a:t>
            </a:r>
            <a:r>
              <a:rPr kumimoji="0" lang="en-US" altLang="en-US" sz="1400" b="0" i="0" u="none" strike="noStrike" cap="none" normalizeH="0" baseline="0" dirty="0">
                <a:ln>
                  <a:noFill/>
                </a:ln>
                <a:solidFill>
                  <a:schemeClr val="bg1">
                    <a:lumMod val="95000"/>
                    <a:lumOff val="5000"/>
                  </a:schemeClr>
                </a:solidFill>
                <a:effectLst/>
                <a:latin typeface="Arial" panose="020B0604020202020204" pitchFamily="34" charset="0"/>
              </a:rPr>
              <a:t> on time cycle 0</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400" b="0" i="0" u="none" strike="noStrike" cap="none" normalizeH="0" baseline="0" dirty="0">
                <a:ln>
                  <a:noFill/>
                </a:ln>
                <a:solidFill>
                  <a:schemeClr val="bg1">
                    <a:lumMod val="95000"/>
                    <a:lumOff val="5000"/>
                  </a:schemeClr>
                </a:solidFill>
                <a:effectLst/>
                <a:latin typeface="Arial" panose="020B0604020202020204" pitchFamily="34" charset="0"/>
              </a:rPr>
              <a:t>Evaluation measures on  </a:t>
            </a:r>
            <a:r>
              <a:rPr kumimoji="0" lang="en-US" altLang="en-US" sz="1400" b="0" i="0" u="none" strike="noStrike" cap="none" normalizeH="0" baseline="0" dirty="0" err="1">
                <a:ln>
                  <a:noFill/>
                </a:ln>
                <a:solidFill>
                  <a:schemeClr val="bg1">
                    <a:lumMod val="95000"/>
                    <a:lumOff val="5000"/>
                  </a:schemeClr>
                </a:solidFill>
                <a:effectLst/>
                <a:latin typeface="Arial" panose="020B0604020202020204" pitchFamily="34" charset="0"/>
              </a:rPr>
              <a:t>Kmeans</a:t>
            </a:r>
            <a:r>
              <a:rPr kumimoji="0" lang="en-US" altLang="en-US" sz="1400" b="0" i="0" u="none" strike="noStrike" cap="none" normalizeH="0" baseline="0" dirty="0">
                <a:ln>
                  <a:noFill/>
                </a:ln>
                <a:solidFill>
                  <a:schemeClr val="bg1">
                    <a:lumMod val="95000"/>
                    <a:lumOff val="5000"/>
                  </a:schemeClr>
                </a:solidFill>
                <a:effectLst/>
                <a:latin typeface="Arial" panose="020B0604020202020204" pitchFamily="34" charset="0"/>
              </a:rPr>
              <a:t> implementation</a:t>
            </a:r>
          </a:p>
          <a:p>
            <a:pPr marL="0" marR="0" lvl="0" indent="0" algn="l" defTabSz="914400" rtl="0" eaLnBrk="0" fontAlgn="base" latinLnBrk="0" hangingPunct="0">
              <a:lnSpc>
                <a:spcPct val="100000"/>
              </a:lnSpc>
              <a:spcBef>
                <a:spcPct val="0"/>
              </a:spcBef>
              <a:spcAft>
                <a:spcPts val="1200"/>
              </a:spcAft>
              <a:buClrTx/>
              <a:buSzTx/>
              <a:tabLst/>
            </a:pPr>
            <a:r>
              <a:rPr lang="en-US" altLang="en-US" sz="1400" dirty="0">
                <a:solidFill>
                  <a:schemeClr val="bg1">
                    <a:lumMod val="95000"/>
                    <a:lumOff val="5000"/>
                  </a:schemeClr>
                </a:solidFill>
                <a:latin typeface="Arial" panose="020B0604020202020204" pitchFamily="34" charset="0"/>
              </a:rPr>
              <a:t>Cross profiling Geo and </a:t>
            </a:r>
            <a:r>
              <a:rPr lang="en-US" altLang="en-US" sz="1400" dirty="0" err="1">
                <a:solidFill>
                  <a:schemeClr val="bg1">
                    <a:lumMod val="95000"/>
                    <a:lumOff val="5000"/>
                  </a:schemeClr>
                </a:solidFill>
                <a:latin typeface="Arial" panose="020B0604020202020204" pitchFamily="34" charset="0"/>
              </a:rPr>
              <a:t>Pyschographic</a:t>
            </a:r>
            <a:r>
              <a:rPr lang="en-US" altLang="en-US" sz="1400" dirty="0">
                <a:solidFill>
                  <a:schemeClr val="bg1">
                    <a:lumMod val="95000"/>
                    <a:lumOff val="5000"/>
                  </a:schemeClr>
                </a:solidFill>
                <a:latin typeface="Arial" panose="020B0604020202020204" pitchFamily="34" charset="0"/>
              </a:rPr>
              <a:t> variables on cycle 0</a:t>
            </a:r>
          </a:p>
          <a:p>
            <a:pPr marL="0" marR="0" lvl="0" indent="0" algn="l" defTabSz="914400" rtl="0" eaLnBrk="0" fontAlgn="base" latinLnBrk="0" hangingPunct="0">
              <a:lnSpc>
                <a:spcPct val="100000"/>
              </a:lnSpc>
              <a:spcBef>
                <a:spcPct val="0"/>
              </a:spcBef>
              <a:spcAft>
                <a:spcPts val="1200"/>
              </a:spcAft>
              <a:buClrTx/>
              <a:buSzTx/>
              <a:tabLst/>
            </a:pPr>
            <a:r>
              <a:rPr lang="en-US" altLang="en-US" sz="1400" dirty="0">
                <a:solidFill>
                  <a:schemeClr val="bg1">
                    <a:lumMod val="95000"/>
                    <a:lumOff val="5000"/>
                  </a:schemeClr>
                </a:solidFill>
                <a:latin typeface="Arial" panose="020B0604020202020204" pitchFamily="34" charset="0"/>
              </a:rPr>
              <a:t>Results to Database Baseline Table </a:t>
            </a:r>
            <a:r>
              <a:rPr kumimoji="0" lang="en-US" altLang="en-US" sz="1400" b="0" i="0" u="none" strike="noStrike" cap="none" normalizeH="0" baseline="0" dirty="0">
                <a:ln>
                  <a:noFill/>
                </a:ln>
                <a:solidFill>
                  <a:schemeClr val="bg1">
                    <a:lumMod val="95000"/>
                    <a:lumOff val="5000"/>
                  </a:schemeClr>
                </a:solidFill>
                <a:effectLst/>
                <a:latin typeface="Arial" panose="020B0604020202020204" pitchFamily="34" charset="0"/>
              </a:rPr>
              <a:t> </a:t>
            </a:r>
          </a:p>
        </p:txBody>
      </p:sp>
      <p:sp>
        <p:nvSpPr>
          <p:cNvPr id="39" name="Rectangle 9">
            <a:extLst>
              <a:ext uri="{FF2B5EF4-FFF2-40B4-BE49-F238E27FC236}">
                <a16:creationId xmlns:a16="http://schemas.microsoft.com/office/drawing/2014/main" id="{D221662B-32F4-BC8A-B743-9B70677ADA92}"/>
              </a:ext>
            </a:extLst>
          </p:cNvPr>
          <p:cNvSpPr>
            <a:spLocks noChangeArrowheads="1"/>
          </p:cNvSpPr>
          <p:nvPr/>
        </p:nvSpPr>
        <p:spPr bwMode="auto">
          <a:xfrm>
            <a:off x="7467113" y="2062209"/>
            <a:ext cx="2312894"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20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Iterate monthly cycles</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MDFCM on time cycle 1-n</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Track customer migration</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Segment Resolution</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Evaluation measures on  MDFCM implementation</a:t>
            </a:r>
          </a:p>
          <a:p>
            <a:pPr marL="0" marR="0" lvl="0" indent="0" algn="l" defTabSz="914400" rtl="0" eaLnBrk="0" fontAlgn="base" latinLnBrk="0" hangingPunct="0">
              <a:lnSpc>
                <a:spcPct val="100000"/>
              </a:lnSpc>
              <a:spcBef>
                <a:spcPct val="0"/>
              </a:spcBef>
              <a:spcAft>
                <a:spcPts val="120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Cross profiling Geo and </a:t>
            </a:r>
            <a:r>
              <a:rPr kumimoji="0" lang="en-US" altLang="en-US" sz="1400" b="0" i="0" u="none" strike="noStrike" cap="none" normalizeH="0" baseline="0" dirty="0" err="1">
                <a:ln>
                  <a:noFill/>
                </a:ln>
                <a:solidFill>
                  <a:schemeClr val="tx1"/>
                </a:solidFill>
                <a:effectLst/>
                <a:latin typeface="Arial" panose="020B0604020202020204" pitchFamily="34" charset="0"/>
              </a:rPr>
              <a:t>Pyschographic</a:t>
            </a:r>
            <a:r>
              <a:rPr kumimoji="0" lang="en-US" altLang="en-US" sz="1400" b="0" i="0" u="none" strike="noStrike" cap="none" normalizeH="0" baseline="0" dirty="0">
                <a:ln>
                  <a:noFill/>
                </a:ln>
                <a:solidFill>
                  <a:schemeClr val="tx1"/>
                </a:solidFill>
                <a:effectLst/>
                <a:latin typeface="Arial" panose="020B0604020202020204" pitchFamily="34" charset="0"/>
              </a:rPr>
              <a:t> variables on cycle 1-n</a:t>
            </a:r>
          </a:p>
        </p:txBody>
      </p:sp>
      <p:sp>
        <p:nvSpPr>
          <p:cNvPr id="41" name="Rectangle 11">
            <a:extLst>
              <a:ext uri="{FF2B5EF4-FFF2-40B4-BE49-F238E27FC236}">
                <a16:creationId xmlns:a16="http://schemas.microsoft.com/office/drawing/2014/main" id="{FB2F0155-FBDB-C0D5-CB1C-FD2E0CC6286E}"/>
              </a:ext>
            </a:extLst>
          </p:cNvPr>
          <p:cNvSpPr>
            <a:spLocks noChangeArrowheads="1"/>
          </p:cNvSpPr>
          <p:nvPr/>
        </p:nvSpPr>
        <p:spPr bwMode="auto">
          <a:xfrm>
            <a:off x="9994313" y="3035566"/>
            <a:ext cx="2175730"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ts val="1200"/>
              </a:spcAft>
            </a:pPr>
            <a:r>
              <a:rPr kumimoji="0" lang="en-US" altLang="en-US" sz="1400" b="0" i="0" u="none" strike="noStrike" cap="none" normalizeH="0" baseline="0" dirty="0">
                <a:ln>
                  <a:noFill/>
                </a:ln>
                <a:solidFill>
                  <a:schemeClr val="tx1"/>
                </a:solidFill>
                <a:effectLst/>
                <a:latin typeface="Arial" panose="020B0604020202020204" pitchFamily="34" charset="0"/>
              </a:rPr>
              <a:t>Final Segment Resolution</a:t>
            </a:r>
          </a:p>
          <a:p>
            <a:pPr lvl="0" defTabSz="914400" eaLnBrk="0" fontAlgn="base" hangingPunct="0">
              <a:spcBef>
                <a:spcPct val="0"/>
              </a:spcBef>
              <a:spcAft>
                <a:spcPts val="1200"/>
              </a:spcAft>
            </a:pPr>
            <a:r>
              <a:rPr lang="en-ZA" sz="1400" dirty="0">
                <a:latin typeface="Arial" panose="020B0604020202020204" pitchFamily="34" charset="0"/>
                <a:cs typeface="Arial" panose="020B0604020202020204" pitchFamily="34" charset="0"/>
              </a:rPr>
              <a:t>Dashboard Integration &amp; Data Fetching</a:t>
            </a:r>
          </a:p>
          <a:p>
            <a:pPr lvl="0" defTabSz="914400" eaLnBrk="0" fontAlgn="base" hangingPunct="0">
              <a:spcBef>
                <a:spcPct val="0"/>
              </a:spcBef>
              <a:spcAft>
                <a:spcPts val="1200"/>
              </a:spcAft>
            </a:pPr>
            <a:r>
              <a:rPr kumimoji="0" lang="en-US" altLang="en-US" sz="1400" b="0" i="0" u="none" strike="noStrike" cap="none" normalizeH="0" baseline="0" dirty="0">
                <a:ln>
                  <a:noFill/>
                </a:ln>
                <a:solidFill>
                  <a:schemeClr val="tx1"/>
                </a:solidFill>
                <a:effectLst/>
                <a:latin typeface="Arial" panose="020B0604020202020204" pitchFamily="34" charset="0"/>
              </a:rPr>
              <a:t>Customer visualization</a:t>
            </a:r>
          </a:p>
          <a:p>
            <a:pPr lvl="0" defTabSz="914400" eaLnBrk="0" fontAlgn="base" hangingPunct="0">
              <a:spcBef>
                <a:spcPct val="0"/>
              </a:spcBef>
              <a:spcAft>
                <a:spcPts val="1200"/>
              </a:spcAf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15D25627-FD44-88F6-C430-1703092A0167}"/>
              </a:ext>
            </a:extLst>
          </p:cNvPr>
          <p:cNvSpPr txBox="1"/>
          <p:nvPr/>
        </p:nvSpPr>
        <p:spPr>
          <a:xfrm>
            <a:off x="108999" y="951885"/>
            <a:ext cx="2158814" cy="10772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ZA" sz="3200" b="1"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Database Creation</a:t>
            </a:r>
          </a:p>
        </p:txBody>
      </p:sp>
      <p:sp>
        <p:nvSpPr>
          <p:cNvPr id="15" name="TextBox 14">
            <a:extLst>
              <a:ext uri="{FF2B5EF4-FFF2-40B4-BE49-F238E27FC236}">
                <a16:creationId xmlns:a16="http://schemas.microsoft.com/office/drawing/2014/main" id="{6C6097B2-CF58-D60E-FE54-E82A5A4D1041}"/>
              </a:ext>
            </a:extLst>
          </p:cNvPr>
          <p:cNvSpPr txBox="1"/>
          <p:nvPr/>
        </p:nvSpPr>
        <p:spPr>
          <a:xfrm>
            <a:off x="2653910" y="914357"/>
            <a:ext cx="2164618" cy="1077218"/>
          </a:xfrm>
          <a:prstGeom prst="rect">
            <a:avLst/>
          </a:prstGeom>
          <a:noFill/>
        </p:spPr>
        <p:txBody>
          <a:bodyPr wrap="square">
            <a:spAutoFit/>
          </a:bodyPr>
          <a:lstStyle/>
          <a:p>
            <a:r>
              <a:rPr kumimoji="0" lang="en-ZA" sz="3200" b="1" i="0" u="none" strike="noStrike" kern="1200" cap="none" spc="0" normalizeH="0" baseline="0" noProof="0" dirty="0">
                <a:ln>
                  <a:noFill/>
                </a:ln>
                <a:solidFill>
                  <a:srgbClr val="00B05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Data Synthesis</a:t>
            </a:r>
            <a:endParaRPr lang="en-ZA" sz="3200" dirty="0"/>
          </a:p>
        </p:txBody>
      </p:sp>
      <p:pic>
        <p:nvPicPr>
          <p:cNvPr id="40" name="Graphic 39" descr="Database with solid fill">
            <a:extLst>
              <a:ext uri="{FF2B5EF4-FFF2-40B4-BE49-F238E27FC236}">
                <a16:creationId xmlns:a16="http://schemas.microsoft.com/office/drawing/2014/main" id="{99E51EB7-0998-17B0-A726-666F5CD8A7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3516" y="5549620"/>
            <a:ext cx="914400" cy="914400"/>
          </a:xfrm>
          <a:prstGeom prst="rect">
            <a:avLst/>
          </a:prstGeom>
        </p:spPr>
      </p:pic>
    </p:spTree>
    <p:extLst>
      <p:ext uri="{BB962C8B-B14F-4D97-AF65-F5344CB8AC3E}">
        <p14:creationId xmlns:p14="http://schemas.microsoft.com/office/powerpoint/2010/main" val="543062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067BD-DA5C-7341-6466-46C7D893AA11}"/>
              </a:ext>
            </a:extLst>
          </p:cNvPr>
          <p:cNvSpPr>
            <a:spLocks noGrp="1"/>
          </p:cNvSpPr>
          <p:nvPr>
            <p:ph type="title"/>
          </p:nvPr>
        </p:nvSpPr>
        <p:spPr>
          <a:xfrm>
            <a:off x="1979819" y="84691"/>
            <a:ext cx="8949437" cy="530614"/>
          </a:xfrm>
        </p:spPr>
        <p:txBody>
          <a:bodyPr>
            <a:normAutofit fontScale="90000"/>
          </a:bodyPr>
          <a:lstStyle/>
          <a:p>
            <a:r>
              <a:rPr lang="en-ZA" sz="3200" dirty="0">
                <a:solidFill>
                  <a:srgbClr val="202C8F"/>
                </a:solidFill>
                <a:latin typeface="Arial Black" panose="020B0A04020102020204" pitchFamily="34" charset="0"/>
              </a:rPr>
              <a:t>Database Creation - </a:t>
            </a:r>
            <a:r>
              <a:rPr lang="en-US" sz="3200" b="1" dirty="0">
                <a:solidFill>
                  <a:srgbClr val="202C8F"/>
                </a:solidFill>
                <a:latin typeface="+mn-lt"/>
              </a:rPr>
              <a:t>Relational</a:t>
            </a:r>
            <a:r>
              <a:rPr lang="en-US" sz="3200" b="1" dirty="0">
                <a:solidFill>
                  <a:srgbClr val="202C8F"/>
                </a:solidFill>
              </a:rPr>
              <a:t> Database Tables</a:t>
            </a:r>
            <a:endParaRPr lang="en-ZA" sz="3200" b="1" dirty="0">
              <a:solidFill>
                <a:srgbClr val="202C8F"/>
              </a:solidFill>
              <a:latin typeface="Arial Black" panose="020B0A04020102020204" pitchFamily="34" charset="0"/>
            </a:endParaRPr>
          </a:p>
        </p:txBody>
      </p:sp>
      <p:sp>
        <p:nvSpPr>
          <p:cNvPr id="40" name="TextBox 39">
            <a:extLst>
              <a:ext uri="{FF2B5EF4-FFF2-40B4-BE49-F238E27FC236}">
                <a16:creationId xmlns:a16="http://schemas.microsoft.com/office/drawing/2014/main" id="{733E22DD-4FB7-422F-897E-CBB874B7CC94}"/>
              </a:ext>
            </a:extLst>
          </p:cNvPr>
          <p:cNvSpPr txBox="1"/>
          <p:nvPr/>
        </p:nvSpPr>
        <p:spPr>
          <a:xfrm>
            <a:off x="167269" y="798541"/>
            <a:ext cx="6885214" cy="400110"/>
          </a:xfrm>
          <a:prstGeom prst="rect">
            <a:avLst/>
          </a:prstGeom>
          <a:noFill/>
        </p:spPr>
        <p:txBody>
          <a:bodyPr wrap="square">
            <a:spAutoFit/>
          </a:bodyPr>
          <a:lstStyle/>
          <a:p>
            <a:r>
              <a:rPr lang="en-US" sz="2000" b="1" dirty="0">
                <a:solidFill>
                  <a:srgbClr val="202C8F"/>
                </a:solidFill>
              </a:rPr>
              <a:t>SQLite relational database Tables</a:t>
            </a:r>
            <a:endParaRPr lang="en-ZA" sz="2000" b="1" dirty="0">
              <a:solidFill>
                <a:srgbClr val="202C8F"/>
              </a:solidFill>
            </a:endParaRPr>
          </a:p>
        </p:txBody>
      </p:sp>
      <p:pic>
        <p:nvPicPr>
          <p:cNvPr id="47" name="Picture 46">
            <a:extLst>
              <a:ext uri="{FF2B5EF4-FFF2-40B4-BE49-F238E27FC236}">
                <a16:creationId xmlns:a16="http://schemas.microsoft.com/office/drawing/2014/main" id="{FD61FD30-0276-5233-8F7B-FE48CA85ECC3}"/>
              </a:ext>
            </a:extLst>
          </p:cNvPr>
          <p:cNvPicPr>
            <a:picLocks noChangeAspect="1"/>
          </p:cNvPicPr>
          <p:nvPr/>
        </p:nvPicPr>
        <p:blipFill>
          <a:blip r:embed="rId3"/>
          <a:srcRect l="2219" t="13377" r="2145" b="2998"/>
          <a:stretch>
            <a:fillRect/>
          </a:stretch>
        </p:blipFill>
        <p:spPr>
          <a:xfrm>
            <a:off x="308516" y="2007282"/>
            <a:ext cx="11574967" cy="4616605"/>
          </a:xfrm>
          <a:prstGeom prst="rect">
            <a:avLst/>
          </a:prstGeom>
        </p:spPr>
      </p:pic>
      <p:sp>
        <p:nvSpPr>
          <p:cNvPr id="49" name="TextBox 48">
            <a:extLst>
              <a:ext uri="{FF2B5EF4-FFF2-40B4-BE49-F238E27FC236}">
                <a16:creationId xmlns:a16="http://schemas.microsoft.com/office/drawing/2014/main" id="{EBB6E321-5B92-D648-6DB1-4A63726D8918}"/>
              </a:ext>
            </a:extLst>
          </p:cNvPr>
          <p:cNvSpPr txBox="1"/>
          <p:nvPr/>
        </p:nvSpPr>
        <p:spPr>
          <a:xfrm>
            <a:off x="167269" y="1153983"/>
            <a:ext cx="11418848" cy="830997"/>
          </a:xfrm>
          <a:prstGeom prst="rect">
            <a:avLst/>
          </a:prstGeom>
          <a:noFill/>
        </p:spPr>
        <p:txBody>
          <a:bodyPr wrap="square">
            <a:spAutoFit/>
          </a:bodyPr>
          <a:lstStyle/>
          <a:p>
            <a:r>
              <a:rPr lang="en-US" sz="1600" i="1" dirty="0">
                <a:solidFill>
                  <a:srgbClr val="202C8F"/>
                </a:solidFill>
              </a:rPr>
              <a:t>SQLite library is used to create the relational database  because it allows the system to store customer states, historical RFM scores, time-cycle batches, and segmentation outputs without requiring a separate database server</a:t>
            </a:r>
          </a:p>
          <a:p>
            <a:endParaRPr lang="en-ZA" sz="1600" i="1" dirty="0"/>
          </a:p>
        </p:txBody>
      </p:sp>
    </p:spTree>
    <p:extLst>
      <p:ext uri="{BB962C8B-B14F-4D97-AF65-F5344CB8AC3E}">
        <p14:creationId xmlns:p14="http://schemas.microsoft.com/office/powerpoint/2010/main" val="752566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002B231-6594-544C-B3FD-5E98412AE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A6ABA-0C6F-A9FF-F2BB-5A7473A3A792}"/>
              </a:ext>
            </a:extLst>
          </p:cNvPr>
          <p:cNvSpPr>
            <a:spLocks noGrp="1"/>
          </p:cNvSpPr>
          <p:nvPr>
            <p:ph type="title"/>
          </p:nvPr>
        </p:nvSpPr>
        <p:spPr>
          <a:xfrm>
            <a:off x="1979819" y="171259"/>
            <a:ext cx="9188924" cy="674739"/>
          </a:xfrm>
        </p:spPr>
        <p:txBody>
          <a:bodyPr>
            <a:normAutofit fontScale="90000"/>
          </a:bodyPr>
          <a:lstStyle/>
          <a:p>
            <a:r>
              <a:rPr lang="en-ZA" sz="3200" dirty="0">
                <a:solidFill>
                  <a:srgbClr val="202C8F"/>
                </a:solidFill>
                <a:latin typeface="Arial Black" panose="020B0A04020102020204" pitchFamily="34" charset="0"/>
              </a:rPr>
              <a:t>Database Creation - </a:t>
            </a:r>
            <a:r>
              <a:rPr lang="en-US" sz="3200" b="1" dirty="0">
                <a:solidFill>
                  <a:srgbClr val="202C8F"/>
                </a:solidFill>
              </a:rPr>
              <a:t>Customer Dynamic Snapshot </a:t>
            </a:r>
            <a:endParaRPr lang="en-ZA" sz="3200" dirty="0">
              <a:solidFill>
                <a:srgbClr val="202C8F"/>
              </a:solidFill>
              <a:latin typeface="Arial Black" panose="020B0A04020102020204" pitchFamily="34" charset="0"/>
            </a:endParaRP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8B9B231-D7F4-A5A9-3AAD-EF17D154DF4A}"/>
                  </a:ext>
                </a:extLst>
              </p:cNvPr>
              <p:cNvSpPr txBox="1"/>
              <p:nvPr/>
            </p:nvSpPr>
            <p:spPr>
              <a:xfrm>
                <a:off x="4119554" y="998808"/>
                <a:ext cx="5867726" cy="477888"/>
              </a:xfrm>
              <a:prstGeom prst="rect">
                <a:avLst/>
              </a:prstGeom>
              <a:noFill/>
            </p:spPr>
            <p:txBody>
              <a:bodyPr wrap="square">
                <a:spAutoFit/>
              </a:bodyPr>
              <a:lstStyle/>
              <a:p>
                <a14:m>
                  <m:oMath xmlns:m="http://schemas.openxmlformats.org/officeDocument/2006/math">
                    <m:sSub>
                      <m:sSubPr>
                        <m:ctrlPr>
                          <a:rPr lang="fr-FR" sz="2400" i="1" smtClean="0">
                            <a:solidFill>
                              <a:srgbClr val="202C8F"/>
                            </a:solidFill>
                            <a:latin typeface="Cambria Math" panose="02040503050406030204" pitchFamily="18" charset="0"/>
                          </a:rPr>
                        </m:ctrlPr>
                      </m:sSubPr>
                      <m:e>
                        <m:r>
                          <a:rPr lang="en-ZA" sz="2400" b="0" i="1" smtClean="0">
                            <a:solidFill>
                              <a:srgbClr val="202C8F"/>
                            </a:solidFill>
                            <a:latin typeface="Cambria Math" panose="02040503050406030204" pitchFamily="18" charset="0"/>
                          </a:rPr>
                          <m:t>𝑆</m:t>
                        </m:r>
                      </m:e>
                      <m:sub>
                        <m:r>
                          <a:rPr lang="en-ZA" sz="2400" b="0" i="1" smtClean="0">
                            <a:solidFill>
                              <a:srgbClr val="202C8F"/>
                            </a:solidFill>
                            <a:latin typeface="Cambria Math" panose="02040503050406030204" pitchFamily="18" charset="0"/>
                          </a:rPr>
                          <m:t>𝑖</m:t>
                        </m:r>
                        <m:r>
                          <a:rPr lang="en-ZA" sz="2400" b="0" i="1" smtClean="0">
                            <a:solidFill>
                              <a:srgbClr val="202C8F"/>
                            </a:solidFill>
                            <a:latin typeface="Cambria Math" panose="02040503050406030204" pitchFamily="18" charset="0"/>
                          </a:rPr>
                          <m:t>,</m:t>
                        </m:r>
                        <m:r>
                          <a:rPr lang="en-ZA" sz="2400" b="0" i="1" smtClean="0">
                            <a:solidFill>
                              <a:srgbClr val="202C8F"/>
                            </a:solidFill>
                            <a:latin typeface="Cambria Math" panose="02040503050406030204" pitchFamily="18" charset="0"/>
                          </a:rPr>
                          <m:t>𝑡</m:t>
                        </m:r>
                      </m:sub>
                    </m:sSub>
                  </m:oMath>
                </a14:m>
                <a:r>
                  <a:rPr lang="fr-FR" sz="2400" dirty="0">
                    <a:solidFill>
                      <a:srgbClr val="202C8F"/>
                    </a:solidFill>
                  </a:rPr>
                  <a:t>​={</a:t>
                </a:r>
                <a14:m>
                  <m:oMath xmlns:m="http://schemas.openxmlformats.org/officeDocument/2006/math">
                    <m:sSub>
                      <m:sSubPr>
                        <m:ctrlPr>
                          <a:rPr lang="fr-FR" sz="2400" i="1">
                            <a:solidFill>
                              <a:srgbClr val="202C8F"/>
                            </a:solidFill>
                            <a:latin typeface="Cambria Math" panose="02040503050406030204" pitchFamily="18" charset="0"/>
                          </a:rPr>
                        </m:ctrlPr>
                      </m:sSubPr>
                      <m:e>
                        <m:r>
                          <a:rPr lang="en-ZA" sz="2400" b="0" i="1" smtClean="0">
                            <a:solidFill>
                              <a:srgbClr val="202C8F"/>
                            </a:solidFill>
                            <a:latin typeface="Cambria Math" panose="02040503050406030204" pitchFamily="18" charset="0"/>
                          </a:rPr>
                          <m:t>𝑅</m:t>
                        </m:r>
                      </m:e>
                      <m:sub>
                        <m:r>
                          <a:rPr lang="en-ZA" sz="2400" b="0" i="1" smtClean="0">
                            <a:solidFill>
                              <a:srgbClr val="202C8F"/>
                            </a:solidFill>
                            <a:latin typeface="Cambria Math" panose="02040503050406030204" pitchFamily="18" charset="0"/>
                          </a:rPr>
                          <m:t>𝑖</m:t>
                        </m:r>
                        <m:r>
                          <a:rPr lang="en-ZA" sz="2400" b="0" i="1" smtClean="0">
                            <a:solidFill>
                              <a:srgbClr val="202C8F"/>
                            </a:solidFill>
                            <a:latin typeface="Cambria Math" panose="02040503050406030204" pitchFamily="18" charset="0"/>
                          </a:rPr>
                          <m:t>,</m:t>
                        </m:r>
                        <m:r>
                          <a:rPr lang="en-ZA" sz="2400" b="0" i="1" smtClean="0">
                            <a:solidFill>
                              <a:srgbClr val="202C8F"/>
                            </a:solidFill>
                            <a:latin typeface="Cambria Math" panose="02040503050406030204" pitchFamily="18" charset="0"/>
                          </a:rPr>
                          <m:t>𝑡</m:t>
                        </m:r>
                      </m:sub>
                    </m:sSub>
                  </m:oMath>
                </a14:m>
                <a:r>
                  <a:rPr lang="fr-FR" sz="2400" dirty="0">
                    <a:solidFill>
                      <a:srgbClr val="202C8F"/>
                    </a:solidFill>
                  </a:rPr>
                  <a:t> </a:t>
                </a:r>
                <a14:m>
                  <m:oMath xmlns:m="http://schemas.openxmlformats.org/officeDocument/2006/math">
                    <m:sSub>
                      <m:sSubPr>
                        <m:ctrlPr>
                          <a:rPr lang="fr-FR" sz="2400" i="1">
                            <a:solidFill>
                              <a:srgbClr val="202C8F"/>
                            </a:solidFill>
                            <a:latin typeface="Cambria Math" panose="02040503050406030204" pitchFamily="18" charset="0"/>
                          </a:rPr>
                        </m:ctrlPr>
                      </m:sSubPr>
                      <m:e>
                        <m:r>
                          <a:rPr lang="en-ZA" sz="2400" b="0" i="1" smtClean="0">
                            <a:solidFill>
                              <a:srgbClr val="202C8F"/>
                            </a:solidFill>
                            <a:latin typeface="Cambria Math" panose="02040503050406030204" pitchFamily="18" charset="0"/>
                          </a:rPr>
                          <m:t>𝐹</m:t>
                        </m:r>
                      </m:e>
                      <m:sub>
                        <m:r>
                          <a:rPr lang="en-ZA" sz="2400" b="0" i="1" smtClean="0">
                            <a:solidFill>
                              <a:srgbClr val="202C8F"/>
                            </a:solidFill>
                            <a:latin typeface="Cambria Math" panose="02040503050406030204" pitchFamily="18" charset="0"/>
                          </a:rPr>
                          <m:t>𝑖</m:t>
                        </m:r>
                        <m:r>
                          <a:rPr lang="en-ZA" sz="2400" b="0" i="1" smtClean="0">
                            <a:solidFill>
                              <a:srgbClr val="202C8F"/>
                            </a:solidFill>
                            <a:latin typeface="Cambria Math" panose="02040503050406030204" pitchFamily="18" charset="0"/>
                          </a:rPr>
                          <m:t>,</m:t>
                        </m:r>
                        <m:r>
                          <a:rPr lang="en-ZA" sz="2400" b="0" i="1" smtClean="0">
                            <a:solidFill>
                              <a:srgbClr val="202C8F"/>
                            </a:solidFill>
                            <a:latin typeface="Cambria Math" panose="02040503050406030204" pitchFamily="18" charset="0"/>
                          </a:rPr>
                          <m:t>𝑡</m:t>
                        </m:r>
                      </m:sub>
                    </m:sSub>
                    <m:sSub>
                      <m:sSubPr>
                        <m:ctrlPr>
                          <a:rPr lang="fr-FR" sz="2400" i="1">
                            <a:solidFill>
                              <a:srgbClr val="202C8F"/>
                            </a:solidFill>
                            <a:latin typeface="Cambria Math" panose="02040503050406030204" pitchFamily="18" charset="0"/>
                          </a:rPr>
                        </m:ctrlPr>
                      </m:sSubPr>
                      <m:e>
                        <m:r>
                          <a:rPr lang="en-ZA" sz="2400" b="0" i="1" smtClean="0">
                            <a:solidFill>
                              <a:srgbClr val="202C8F"/>
                            </a:solidFill>
                            <a:latin typeface="Cambria Math" panose="02040503050406030204" pitchFamily="18" charset="0"/>
                          </a:rPr>
                          <m:t>𝑀</m:t>
                        </m:r>
                      </m:e>
                      <m:sub>
                        <m:r>
                          <a:rPr lang="en-ZA" sz="2400" b="0" i="1" smtClean="0">
                            <a:solidFill>
                              <a:srgbClr val="202C8F"/>
                            </a:solidFill>
                            <a:latin typeface="Cambria Math" panose="02040503050406030204" pitchFamily="18" charset="0"/>
                          </a:rPr>
                          <m:t>𝑖</m:t>
                        </m:r>
                        <m:r>
                          <a:rPr lang="en-ZA" sz="2400" b="0" i="1" smtClean="0">
                            <a:solidFill>
                              <a:srgbClr val="202C8F"/>
                            </a:solidFill>
                            <a:latin typeface="Cambria Math" panose="02040503050406030204" pitchFamily="18" charset="0"/>
                          </a:rPr>
                          <m:t>,</m:t>
                        </m:r>
                        <m:r>
                          <a:rPr lang="en-ZA" sz="2400" b="0" i="1" smtClean="0">
                            <a:solidFill>
                              <a:srgbClr val="202C8F"/>
                            </a:solidFill>
                            <a:latin typeface="Cambria Math" panose="02040503050406030204" pitchFamily="18" charset="0"/>
                          </a:rPr>
                          <m:t>𝑡</m:t>
                        </m:r>
                      </m:sub>
                    </m:sSub>
                    <m:sSub>
                      <m:sSubPr>
                        <m:ctrlPr>
                          <a:rPr lang="fr-FR" sz="2400" i="1">
                            <a:solidFill>
                              <a:srgbClr val="202C8F"/>
                            </a:solidFill>
                            <a:latin typeface="Cambria Math" panose="02040503050406030204" pitchFamily="18" charset="0"/>
                          </a:rPr>
                        </m:ctrlPr>
                      </m:sSubPr>
                      <m:e>
                        <m:r>
                          <a:rPr lang="en-ZA" sz="2400" b="0" i="1" smtClean="0">
                            <a:solidFill>
                              <a:srgbClr val="202C8F"/>
                            </a:solidFill>
                            <a:latin typeface="Cambria Math" panose="02040503050406030204" pitchFamily="18" charset="0"/>
                          </a:rPr>
                          <m:t>𝐶</m:t>
                        </m:r>
                      </m:e>
                      <m:sub>
                        <m:r>
                          <a:rPr lang="en-ZA" sz="2400" b="0" i="1" smtClean="0">
                            <a:solidFill>
                              <a:srgbClr val="202C8F"/>
                            </a:solidFill>
                            <a:latin typeface="Cambria Math" panose="02040503050406030204" pitchFamily="18" charset="0"/>
                          </a:rPr>
                          <m:t>𝑖</m:t>
                        </m:r>
                        <m:r>
                          <a:rPr lang="en-ZA" sz="2400" b="0" i="1" smtClean="0">
                            <a:solidFill>
                              <a:srgbClr val="202C8F"/>
                            </a:solidFill>
                            <a:latin typeface="Cambria Math" panose="02040503050406030204" pitchFamily="18" charset="0"/>
                          </a:rPr>
                          <m:t>,</m:t>
                        </m:r>
                        <m:r>
                          <a:rPr lang="en-ZA" sz="2400" b="0" i="1" smtClean="0">
                            <a:solidFill>
                              <a:srgbClr val="202C8F"/>
                            </a:solidFill>
                            <a:latin typeface="Cambria Math" panose="02040503050406030204" pitchFamily="18" charset="0"/>
                          </a:rPr>
                          <m:t>𝑡</m:t>
                        </m:r>
                      </m:sub>
                    </m:sSub>
                    <m:r>
                      <a:rPr lang="en-ZA" sz="2400" b="0" i="1" smtClean="0">
                        <a:solidFill>
                          <a:srgbClr val="202C8F"/>
                        </a:solidFill>
                        <a:latin typeface="Cambria Math" panose="02040503050406030204" pitchFamily="18" charset="0"/>
                      </a:rPr>
                      <m:t>𝑆</m:t>
                    </m:r>
                    <m:sSub>
                      <m:sSubPr>
                        <m:ctrlPr>
                          <a:rPr lang="fr-FR" sz="2400" i="1">
                            <a:solidFill>
                              <a:srgbClr val="202C8F"/>
                            </a:solidFill>
                            <a:latin typeface="Cambria Math" panose="02040503050406030204" pitchFamily="18" charset="0"/>
                          </a:rPr>
                        </m:ctrlPr>
                      </m:sSubPr>
                      <m:e>
                        <m:r>
                          <a:rPr lang="en-ZA" sz="2400" b="0" i="1" smtClean="0">
                            <a:solidFill>
                              <a:srgbClr val="202C8F"/>
                            </a:solidFill>
                            <a:latin typeface="Cambria Math" panose="02040503050406030204" pitchFamily="18" charset="0"/>
                          </a:rPr>
                          <m:t>𝑒</m:t>
                        </m:r>
                      </m:e>
                      <m:sub>
                        <m:r>
                          <a:rPr lang="en-ZA" sz="2400" b="0" i="1" smtClean="0">
                            <a:solidFill>
                              <a:srgbClr val="202C8F"/>
                            </a:solidFill>
                            <a:latin typeface="Cambria Math" panose="02040503050406030204" pitchFamily="18" charset="0"/>
                          </a:rPr>
                          <m:t>𝑖</m:t>
                        </m:r>
                        <m:r>
                          <a:rPr lang="en-ZA" sz="2400" b="0" i="1" smtClean="0">
                            <a:solidFill>
                              <a:srgbClr val="202C8F"/>
                            </a:solidFill>
                            <a:latin typeface="Cambria Math" panose="02040503050406030204" pitchFamily="18" charset="0"/>
                          </a:rPr>
                          <m:t>,</m:t>
                        </m:r>
                        <m:r>
                          <a:rPr lang="en-ZA" sz="2400" b="0" i="1" smtClean="0">
                            <a:solidFill>
                              <a:srgbClr val="202C8F"/>
                            </a:solidFill>
                            <a:latin typeface="Cambria Math" panose="02040503050406030204" pitchFamily="18" charset="0"/>
                          </a:rPr>
                          <m:t>𝑡</m:t>
                        </m:r>
                      </m:sub>
                    </m:sSub>
                    <m:sSub>
                      <m:sSubPr>
                        <m:ctrlPr>
                          <a:rPr lang="fr-FR" sz="2400" i="1">
                            <a:solidFill>
                              <a:srgbClr val="202C8F"/>
                            </a:solidFill>
                            <a:latin typeface="Cambria Math" panose="02040503050406030204" pitchFamily="18" charset="0"/>
                          </a:rPr>
                        </m:ctrlPr>
                      </m:sSubPr>
                      <m:e>
                        <m:sSub>
                          <m:sSubPr>
                            <m:ctrlPr>
                              <a:rPr lang="en-ZA" sz="2400" b="0" i="1" smtClean="0">
                                <a:solidFill>
                                  <a:srgbClr val="202C8F"/>
                                </a:solidFill>
                                <a:latin typeface="Cambria Math" panose="02040503050406030204" pitchFamily="18" charset="0"/>
                              </a:rPr>
                            </m:ctrlPr>
                          </m:sSubPr>
                          <m:e>
                            <m:r>
                              <a:rPr lang="en-ZA" sz="2400" b="0" i="1" smtClean="0">
                                <a:solidFill>
                                  <a:srgbClr val="202C8F"/>
                                </a:solidFill>
                                <a:latin typeface="Cambria Math" panose="02040503050406030204" pitchFamily="18" charset="0"/>
                              </a:rPr>
                              <m:t>𝐷</m:t>
                            </m:r>
                          </m:e>
                          <m:sub>
                            <m:r>
                              <a:rPr lang="en-ZA" sz="2400" b="0" i="1" smtClean="0">
                                <a:solidFill>
                                  <a:srgbClr val="202C8F"/>
                                </a:solidFill>
                                <a:latin typeface="Cambria Math" panose="02040503050406030204" pitchFamily="18" charset="0"/>
                              </a:rPr>
                              <m:t>𝑖</m:t>
                            </m:r>
                            <m:r>
                              <a:rPr lang="en-ZA" sz="2400" b="0" i="1" smtClean="0">
                                <a:solidFill>
                                  <a:srgbClr val="202C8F"/>
                                </a:solidFill>
                                <a:latin typeface="Cambria Math" panose="02040503050406030204" pitchFamily="18" charset="0"/>
                              </a:rPr>
                              <m:t>,</m:t>
                            </m:r>
                            <m:r>
                              <a:rPr lang="en-ZA" sz="2400" b="0" i="1" smtClean="0">
                                <a:solidFill>
                                  <a:srgbClr val="202C8F"/>
                                </a:solidFill>
                                <a:latin typeface="Cambria Math" panose="02040503050406030204" pitchFamily="18" charset="0"/>
                              </a:rPr>
                              <m:t>𝑡</m:t>
                            </m:r>
                          </m:sub>
                        </m:sSub>
                        <m:r>
                          <a:rPr lang="en-ZA" sz="2400" b="0" i="1" smtClean="0">
                            <a:solidFill>
                              <a:srgbClr val="202C8F"/>
                            </a:solidFill>
                            <a:latin typeface="Cambria Math" panose="02040503050406030204" pitchFamily="18" charset="0"/>
                          </a:rPr>
                          <m:t>𝐺</m:t>
                        </m:r>
                      </m:e>
                      <m:sub>
                        <m:r>
                          <a:rPr lang="en-ZA" sz="2400" b="0" i="1" smtClean="0">
                            <a:solidFill>
                              <a:srgbClr val="202C8F"/>
                            </a:solidFill>
                            <a:latin typeface="Cambria Math" panose="02040503050406030204" pitchFamily="18" charset="0"/>
                          </a:rPr>
                          <m:t>𝑖</m:t>
                        </m:r>
                        <m:r>
                          <a:rPr lang="en-ZA" sz="2400" b="0" i="1" smtClean="0">
                            <a:solidFill>
                              <a:srgbClr val="202C8F"/>
                            </a:solidFill>
                            <a:latin typeface="Cambria Math" panose="02040503050406030204" pitchFamily="18" charset="0"/>
                          </a:rPr>
                          <m:t>,</m:t>
                        </m:r>
                        <m:r>
                          <a:rPr lang="en-ZA" sz="2400" b="0" i="1" smtClean="0">
                            <a:solidFill>
                              <a:srgbClr val="202C8F"/>
                            </a:solidFill>
                            <a:latin typeface="Cambria Math" panose="02040503050406030204" pitchFamily="18" charset="0"/>
                          </a:rPr>
                          <m:t>𝑡</m:t>
                        </m:r>
                      </m:sub>
                    </m:sSub>
                    <m:sSub>
                      <m:sSubPr>
                        <m:ctrlPr>
                          <a:rPr lang="fr-FR" sz="2400" i="1">
                            <a:solidFill>
                              <a:srgbClr val="202C8F"/>
                            </a:solidFill>
                            <a:latin typeface="Cambria Math" panose="02040503050406030204" pitchFamily="18" charset="0"/>
                          </a:rPr>
                        </m:ctrlPr>
                      </m:sSubPr>
                      <m:e>
                        <m:r>
                          <a:rPr lang="en-ZA" sz="2400" b="0" i="1" smtClean="0">
                            <a:solidFill>
                              <a:srgbClr val="202C8F"/>
                            </a:solidFill>
                            <a:latin typeface="Cambria Math" panose="02040503050406030204" pitchFamily="18" charset="0"/>
                          </a:rPr>
                          <m:t>𝑃</m:t>
                        </m:r>
                      </m:e>
                      <m:sub>
                        <m:r>
                          <a:rPr lang="en-ZA" sz="2400" b="0" i="1" smtClean="0">
                            <a:solidFill>
                              <a:srgbClr val="202C8F"/>
                            </a:solidFill>
                            <a:latin typeface="Cambria Math" panose="02040503050406030204" pitchFamily="18" charset="0"/>
                          </a:rPr>
                          <m:t>𝑖</m:t>
                        </m:r>
                        <m:r>
                          <a:rPr lang="en-ZA" sz="2400" b="0" i="1" smtClean="0">
                            <a:solidFill>
                              <a:srgbClr val="202C8F"/>
                            </a:solidFill>
                            <a:latin typeface="Cambria Math" panose="02040503050406030204" pitchFamily="18" charset="0"/>
                          </a:rPr>
                          <m:t>,</m:t>
                        </m:r>
                        <m:r>
                          <a:rPr lang="en-ZA" sz="2400" b="0" i="1" smtClean="0">
                            <a:solidFill>
                              <a:srgbClr val="202C8F"/>
                            </a:solidFill>
                            <a:latin typeface="Cambria Math" panose="02040503050406030204" pitchFamily="18" charset="0"/>
                          </a:rPr>
                          <m:t>𝑡</m:t>
                        </m:r>
                      </m:sub>
                    </m:sSub>
                  </m:oMath>
                </a14:m>
                <a:r>
                  <a:rPr lang="fr-FR" sz="2400" dirty="0">
                    <a:solidFill>
                      <a:srgbClr val="202C8F"/>
                    </a:solidFill>
                  </a:rPr>
                  <a:t>​}</a:t>
                </a:r>
                <a:endParaRPr lang="en-ZA" sz="2400" dirty="0">
                  <a:solidFill>
                    <a:srgbClr val="202C8F"/>
                  </a:solidFill>
                </a:endParaRPr>
              </a:p>
            </p:txBody>
          </p:sp>
        </mc:Choice>
        <mc:Fallback xmlns="">
          <p:sp>
            <p:nvSpPr>
              <p:cNvPr id="36" name="TextBox 35">
                <a:extLst>
                  <a:ext uri="{FF2B5EF4-FFF2-40B4-BE49-F238E27FC236}">
                    <a16:creationId xmlns:a16="http://schemas.microsoft.com/office/drawing/2014/main" id="{A8B9B231-D7F4-A5A9-3AAD-EF17D154DF4A}"/>
                  </a:ext>
                </a:extLst>
              </p:cNvPr>
              <p:cNvSpPr txBox="1">
                <a:spLocks noRot="1" noChangeAspect="1" noMove="1" noResize="1" noEditPoints="1" noAdjustHandles="1" noChangeArrowheads="1" noChangeShapeType="1" noTextEdit="1"/>
              </p:cNvSpPr>
              <p:nvPr/>
            </p:nvSpPr>
            <p:spPr>
              <a:xfrm>
                <a:off x="4119554" y="998808"/>
                <a:ext cx="5867726" cy="477888"/>
              </a:xfrm>
              <a:prstGeom prst="rect">
                <a:avLst/>
              </a:prstGeom>
              <a:blipFill>
                <a:blip r:embed="rId3"/>
                <a:stretch>
                  <a:fillRect l="-312" t="-10256" b="-28205"/>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graphicFrame>
            <p:nvGraphicFramePr>
              <p:cNvPr id="37" name="Table 36">
                <a:extLst>
                  <a:ext uri="{FF2B5EF4-FFF2-40B4-BE49-F238E27FC236}">
                    <a16:creationId xmlns:a16="http://schemas.microsoft.com/office/drawing/2014/main" id="{0845EBE8-8EBE-92B1-E5A5-1613BDF294F7}"/>
                  </a:ext>
                </a:extLst>
              </p:cNvPr>
              <p:cNvGraphicFramePr>
                <a:graphicFrameLocks noGrp="1"/>
              </p:cNvGraphicFramePr>
              <p:nvPr>
                <p:extLst>
                  <p:ext uri="{D42A27DB-BD31-4B8C-83A1-F6EECF244321}">
                    <p14:modId xmlns:p14="http://schemas.microsoft.com/office/powerpoint/2010/main" val="3999986456"/>
                  </p:ext>
                </p:extLst>
              </p:nvPr>
            </p:nvGraphicFramePr>
            <p:xfrm>
              <a:off x="224538" y="1598415"/>
              <a:ext cx="11793291" cy="3325938"/>
            </p:xfrm>
            <a:graphic>
              <a:graphicData uri="http://schemas.openxmlformats.org/drawingml/2006/table">
                <a:tbl>
                  <a:tblPr>
                    <a:tableStyleId>{775DCB02-9BB8-47FD-8907-85C794F793BA}</a:tableStyleId>
                  </a:tblPr>
                  <a:tblGrid>
                    <a:gridCol w="1162065">
                      <a:extLst>
                        <a:ext uri="{9D8B030D-6E8A-4147-A177-3AD203B41FA5}">
                          <a16:colId xmlns:a16="http://schemas.microsoft.com/office/drawing/2014/main" val="3671062048"/>
                        </a:ext>
                      </a:extLst>
                    </a:gridCol>
                    <a:gridCol w="5486130">
                      <a:extLst>
                        <a:ext uri="{9D8B030D-6E8A-4147-A177-3AD203B41FA5}">
                          <a16:colId xmlns:a16="http://schemas.microsoft.com/office/drawing/2014/main" val="1654339687"/>
                        </a:ext>
                      </a:extLst>
                    </a:gridCol>
                    <a:gridCol w="5145096">
                      <a:extLst>
                        <a:ext uri="{9D8B030D-6E8A-4147-A177-3AD203B41FA5}">
                          <a16:colId xmlns:a16="http://schemas.microsoft.com/office/drawing/2014/main" val="4170408481"/>
                        </a:ext>
                      </a:extLst>
                    </a:gridCol>
                  </a:tblGrid>
                  <a:tr h="406429">
                    <a:tc>
                      <a:txBody>
                        <a:bodyPr/>
                        <a:lstStyle/>
                        <a:p>
                          <a:pPr algn="ctr">
                            <a:buNone/>
                          </a:pPr>
                          <a:r>
                            <a:rPr lang="en-ZA" sz="1400" b="1" dirty="0">
                              <a:solidFill>
                                <a:srgbClr val="202C8F"/>
                              </a:solidFill>
                            </a:rPr>
                            <a:t>Symbol</a:t>
                          </a:r>
                        </a:p>
                      </a:txBody>
                      <a:tcPr anchor="ctr"/>
                    </a:tc>
                    <a:tc>
                      <a:txBody>
                        <a:bodyPr/>
                        <a:lstStyle/>
                        <a:p>
                          <a:pPr algn="ctr">
                            <a:buNone/>
                          </a:pPr>
                          <a:r>
                            <a:rPr lang="en-ZA" sz="1400" b="1" dirty="0">
                              <a:solidFill>
                                <a:srgbClr val="202C8F"/>
                              </a:solidFill>
                            </a:rPr>
                            <a:t>Meaning</a:t>
                          </a:r>
                        </a:p>
                      </a:txBody>
                      <a:tcPr anchor="ctr"/>
                    </a:tc>
                    <a:tc>
                      <a:txBody>
                        <a:bodyPr/>
                        <a:lstStyle/>
                        <a:p>
                          <a:pPr>
                            <a:buNone/>
                          </a:pPr>
                          <a:r>
                            <a:rPr lang="en-US" sz="1400" b="1" dirty="0">
                              <a:solidFill>
                                <a:srgbClr val="202C8F"/>
                              </a:solidFill>
                            </a:rPr>
                            <a:t>Where it will be stored</a:t>
                          </a:r>
                        </a:p>
                      </a:txBody>
                      <a:tcPr marL="87027" marR="87027" marT="43513" marB="43513" anchor="ctr"/>
                    </a:tc>
                    <a:extLst>
                      <a:ext uri="{0D108BD9-81ED-4DB2-BD59-A6C34878D82A}">
                        <a16:rowId xmlns:a16="http://schemas.microsoft.com/office/drawing/2014/main" val="3211611832"/>
                      </a:ext>
                    </a:extLst>
                  </a:tr>
                  <a:tr h="406429">
                    <a:tc>
                      <a:txBody>
                        <a:bodyPr/>
                        <a:lstStyle/>
                        <a:p>
                          <a:pPr algn="ctr">
                            <a:buNone/>
                          </a:pPr>
                          <a14:m>
                            <m:oMathPara xmlns:m="http://schemas.openxmlformats.org/officeDocument/2006/math">
                              <m:oMathParaPr>
                                <m:jc m:val="centerGroup"/>
                              </m:oMathParaPr>
                              <m:oMath xmlns:m="http://schemas.openxmlformats.org/officeDocument/2006/math">
                                <m:sSub>
                                  <m:sSubPr>
                                    <m:ctrlPr>
                                      <a:rPr lang="fr-FR" sz="1400" i="1" smtClean="0">
                                        <a:solidFill>
                                          <a:srgbClr val="202C8F"/>
                                        </a:solidFill>
                                        <a:latin typeface="Cambria Math" panose="02040503050406030204" pitchFamily="18" charset="0"/>
                                      </a:rPr>
                                    </m:ctrlPr>
                                  </m:sSubPr>
                                  <m:e>
                                    <m:r>
                                      <a:rPr lang="en-ZA" sz="1400" b="0" i="1" smtClean="0">
                                        <a:solidFill>
                                          <a:srgbClr val="202C8F"/>
                                        </a:solidFill>
                                        <a:latin typeface="Cambria Math" panose="02040503050406030204" pitchFamily="18" charset="0"/>
                                      </a:rPr>
                                      <m:t>𝑆</m:t>
                                    </m:r>
                                  </m:e>
                                  <m:sub>
                                    <m:r>
                                      <a:rPr lang="en-ZA" sz="1400" b="0" i="1" smtClean="0">
                                        <a:solidFill>
                                          <a:srgbClr val="202C8F"/>
                                        </a:solidFill>
                                        <a:latin typeface="Cambria Math" panose="02040503050406030204" pitchFamily="18" charset="0"/>
                                      </a:rPr>
                                      <m:t>𝑖</m:t>
                                    </m:r>
                                    <m:r>
                                      <a:rPr lang="en-ZA" sz="1400" b="0" i="1" smtClean="0">
                                        <a:solidFill>
                                          <a:srgbClr val="202C8F"/>
                                        </a:solidFill>
                                        <a:latin typeface="Cambria Math" panose="02040503050406030204" pitchFamily="18" charset="0"/>
                                      </a:rPr>
                                      <m:t>,</m:t>
                                    </m:r>
                                    <m:r>
                                      <a:rPr lang="en-ZA" sz="1400" b="0" i="1" smtClean="0">
                                        <a:solidFill>
                                          <a:srgbClr val="202C8F"/>
                                        </a:solidFill>
                                        <a:latin typeface="Cambria Math" panose="02040503050406030204" pitchFamily="18" charset="0"/>
                                      </a:rPr>
                                      <m:t>𝑡</m:t>
                                    </m:r>
                                  </m:sub>
                                </m:sSub>
                              </m:oMath>
                            </m:oMathPara>
                          </a14:m>
                          <a:endParaRPr lang="en-ZA" sz="1400" dirty="0">
                            <a:solidFill>
                              <a:srgbClr val="202C8F"/>
                            </a:solidFill>
                          </a:endParaRPr>
                        </a:p>
                      </a:txBody>
                      <a:tcPr anchor="ctr"/>
                    </a:tc>
                    <a:tc>
                      <a:txBody>
                        <a:bodyPr/>
                        <a:lstStyle/>
                        <a:p>
                          <a:pPr algn="ctr">
                            <a:buNone/>
                          </a:pPr>
                          <a:r>
                            <a:rPr lang="en-US" sz="1400" dirty="0">
                              <a:solidFill>
                                <a:srgbClr val="202C8F"/>
                              </a:solidFill>
                            </a:rPr>
                            <a:t>Stored customer snapshot for customer (</a:t>
                          </a:r>
                          <a:r>
                            <a:rPr lang="en-US" sz="1400" dirty="0" err="1">
                              <a:solidFill>
                                <a:srgbClr val="202C8F"/>
                              </a:solidFill>
                            </a:rPr>
                            <a:t>i</a:t>
                          </a:r>
                          <a:r>
                            <a:rPr lang="en-US" sz="1400" dirty="0">
                              <a:solidFill>
                                <a:srgbClr val="202C8F"/>
                              </a:solidFill>
                            </a:rPr>
                            <a:t>) at time cycle t (0&lt;=t&lt;=n)</a:t>
                          </a:r>
                        </a:p>
                      </a:txBody>
                      <a:tcPr anchor="ctr"/>
                    </a:tc>
                    <a:tc>
                      <a:txBody>
                        <a:bodyPr/>
                        <a:lstStyle/>
                        <a:p>
                          <a:pPr>
                            <a:buNone/>
                          </a:pPr>
                          <a:r>
                            <a:rPr lang="en-US" sz="1400" dirty="0">
                              <a:solidFill>
                                <a:srgbClr val="202C8F"/>
                              </a:solidFill>
                            </a:rPr>
                            <a:t>Preprocessing table, Dynamic loop table</a:t>
                          </a:r>
                        </a:p>
                      </a:txBody>
                      <a:tcPr marL="87027" marR="87027" marT="43513" marB="43513" anchor="ctr"/>
                    </a:tc>
                    <a:extLst>
                      <a:ext uri="{0D108BD9-81ED-4DB2-BD59-A6C34878D82A}">
                        <a16:rowId xmlns:a16="http://schemas.microsoft.com/office/drawing/2014/main" val="581316473"/>
                      </a:ext>
                    </a:extLst>
                  </a:tr>
                  <a:tr h="296234">
                    <a:tc>
                      <a:txBody>
                        <a:bodyPr/>
                        <a:lstStyle/>
                        <a:p>
                          <a:pPr algn="ctr">
                            <a:buNone/>
                          </a:pPr>
                          <a14:m>
                            <m:oMathPara xmlns:m="http://schemas.openxmlformats.org/officeDocument/2006/math">
                              <m:oMathParaPr>
                                <m:jc m:val="centerGroup"/>
                              </m:oMathParaPr>
                              <m:oMath xmlns:m="http://schemas.openxmlformats.org/officeDocument/2006/math">
                                <m:sSub>
                                  <m:sSubPr>
                                    <m:ctrlPr>
                                      <a:rPr lang="fr-FR" sz="1400" i="1" smtClean="0">
                                        <a:solidFill>
                                          <a:srgbClr val="202C8F"/>
                                        </a:solidFill>
                                        <a:latin typeface="Cambria Math" panose="02040503050406030204" pitchFamily="18" charset="0"/>
                                      </a:rPr>
                                    </m:ctrlPr>
                                  </m:sSubPr>
                                  <m:e>
                                    <m:r>
                                      <a:rPr lang="en-ZA" sz="1400" b="0" i="1" smtClean="0">
                                        <a:solidFill>
                                          <a:srgbClr val="202C8F"/>
                                        </a:solidFill>
                                        <a:latin typeface="Cambria Math" panose="02040503050406030204" pitchFamily="18" charset="0"/>
                                      </a:rPr>
                                      <m:t>𝑅</m:t>
                                    </m:r>
                                  </m:e>
                                  <m:sub>
                                    <m:r>
                                      <a:rPr lang="en-ZA" sz="1400" b="0" i="1" smtClean="0">
                                        <a:solidFill>
                                          <a:srgbClr val="202C8F"/>
                                        </a:solidFill>
                                        <a:latin typeface="Cambria Math" panose="02040503050406030204" pitchFamily="18" charset="0"/>
                                      </a:rPr>
                                      <m:t>𝑖</m:t>
                                    </m:r>
                                    <m:r>
                                      <a:rPr lang="en-ZA" sz="1400" b="0" i="1" smtClean="0">
                                        <a:solidFill>
                                          <a:srgbClr val="202C8F"/>
                                        </a:solidFill>
                                        <a:latin typeface="Cambria Math" panose="02040503050406030204" pitchFamily="18" charset="0"/>
                                      </a:rPr>
                                      <m:t>,</m:t>
                                    </m:r>
                                    <m:r>
                                      <a:rPr lang="en-ZA" sz="1400" b="0" i="1" smtClean="0">
                                        <a:solidFill>
                                          <a:srgbClr val="202C8F"/>
                                        </a:solidFill>
                                        <a:latin typeface="Cambria Math" panose="02040503050406030204" pitchFamily="18" charset="0"/>
                                      </a:rPr>
                                      <m:t>𝑡</m:t>
                                    </m:r>
                                  </m:sub>
                                </m:sSub>
                              </m:oMath>
                            </m:oMathPara>
                          </a14:m>
                          <a:endParaRPr lang="en-ZA" sz="1400" dirty="0">
                            <a:solidFill>
                              <a:srgbClr val="202C8F"/>
                            </a:solidFill>
                          </a:endParaRPr>
                        </a:p>
                      </a:txBody>
                      <a:tcPr anchor="ctr"/>
                    </a:tc>
                    <a:tc>
                      <a:txBody>
                        <a:bodyPr/>
                        <a:lstStyle/>
                        <a:p>
                          <a:pPr algn="ctr">
                            <a:buNone/>
                          </a:pPr>
                          <a:r>
                            <a:rPr lang="en-ZA" sz="1400" dirty="0">
                              <a:solidFill>
                                <a:srgbClr val="202C8F"/>
                              </a:solidFill>
                            </a:rPr>
                            <a:t>Recency score</a:t>
                          </a:r>
                        </a:p>
                      </a:txBody>
                      <a:tcPr anchor="ctr"/>
                    </a:tc>
                    <a:tc>
                      <a:txBody>
                        <a:bodyPr/>
                        <a:lstStyle/>
                        <a:p>
                          <a:pPr>
                            <a:buNone/>
                          </a:pPr>
                          <a:r>
                            <a:rPr lang="en-US" sz="1400" dirty="0">
                              <a:solidFill>
                                <a:srgbClr val="202C8F"/>
                              </a:solidFill>
                            </a:rPr>
                            <a:t>Preprocessing table, Dynamic loop table</a:t>
                          </a:r>
                        </a:p>
                      </a:txBody>
                      <a:tcPr marL="87027" marR="87027" marT="43513" marB="43513" anchor="ctr"/>
                    </a:tc>
                    <a:extLst>
                      <a:ext uri="{0D108BD9-81ED-4DB2-BD59-A6C34878D82A}">
                        <a16:rowId xmlns:a16="http://schemas.microsoft.com/office/drawing/2014/main" val="3102955437"/>
                      </a:ext>
                    </a:extLst>
                  </a:tr>
                  <a:tr h="296234">
                    <a:tc>
                      <a:txBody>
                        <a:bodyPr/>
                        <a:lstStyle/>
                        <a:p>
                          <a:pPr algn="ctr">
                            <a:buNone/>
                          </a:pPr>
                          <a14:m>
                            <m:oMathPara xmlns:m="http://schemas.openxmlformats.org/officeDocument/2006/math">
                              <m:oMathParaPr>
                                <m:jc m:val="centerGroup"/>
                              </m:oMathParaPr>
                              <m:oMath xmlns:m="http://schemas.openxmlformats.org/officeDocument/2006/math">
                                <m:sSub>
                                  <m:sSubPr>
                                    <m:ctrlPr>
                                      <a:rPr lang="fr-FR" sz="1400" i="1" smtClean="0">
                                        <a:solidFill>
                                          <a:srgbClr val="202C8F"/>
                                        </a:solidFill>
                                        <a:latin typeface="Cambria Math" panose="02040503050406030204" pitchFamily="18" charset="0"/>
                                      </a:rPr>
                                    </m:ctrlPr>
                                  </m:sSubPr>
                                  <m:e>
                                    <m:r>
                                      <a:rPr lang="en-ZA" sz="1400" b="0" i="1" smtClean="0">
                                        <a:solidFill>
                                          <a:srgbClr val="202C8F"/>
                                        </a:solidFill>
                                        <a:latin typeface="Cambria Math" panose="02040503050406030204" pitchFamily="18" charset="0"/>
                                      </a:rPr>
                                      <m:t>𝐹</m:t>
                                    </m:r>
                                  </m:e>
                                  <m:sub>
                                    <m:r>
                                      <a:rPr lang="en-ZA" sz="1400" b="0" i="1" smtClean="0">
                                        <a:solidFill>
                                          <a:srgbClr val="202C8F"/>
                                        </a:solidFill>
                                        <a:latin typeface="Cambria Math" panose="02040503050406030204" pitchFamily="18" charset="0"/>
                                      </a:rPr>
                                      <m:t>𝑖</m:t>
                                    </m:r>
                                    <m:r>
                                      <a:rPr lang="en-ZA" sz="1400" b="0" i="1" smtClean="0">
                                        <a:solidFill>
                                          <a:srgbClr val="202C8F"/>
                                        </a:solidFill>
                                        <a:latin typeface="Cambria Math" panose="02040503050406030204" pitchFamily="18" charset="0"/>
                                      </a:rPr>
                                      <m:t>,</m:t>
                                    </m:r>
                                    <m:r>
                                      <a:rPr lang="en-ZA" sz="1400" b="0" i="1" smtClean="0">
                                        <a:solidFill>
                                          <a:srgbClr val="202C8F"/>
                                        </a:solidFill>
                                        <a:latin typeface="Cambria Math" panose="02040503050406030204" pitchFamily="18" charset="0"/>
                                      </a:rPr>
                                      <m:t>𝑡</m:t>
                                    </m:r>
                                  </m:sub>
                                </m:sSub>
                              </m:oMath>
                            </m:oMathPara>
                          </a14:m>
                          <a:endParaRPr lang="en-ZA" sz="1400" dirty="0">
                            <a:solidFill>
                              <a:srgbClr val="202C8F"/>
                            </a:solidFill>
                          </a:endParaRPr>
                        </a:p>
                      </a:txBody>
                      <a:tcPr anchor="ctr"/>
                    </a:tc>
                    <a:tc>
                      <a:txBody>
                        <a:bodyPr/>
                        <a:lstStyle/>
                        <a:p>
                          <a:pPr algn="ctr">
                            <a:buNone/>
                          </a:pPr>
                          <a:r>
                            <a:rPr lang="en-ZA" sz="1400" dirty="0">
                              <a:solidFill>
                                <a:srgbClr val="202C8F"/>
                              </a:solidFill>
                            </a:rPr>
                            <a:t>Frequency score</a:t>
                          </a:r>
                        </a:p>
                      </a:txBody>
                      <a:tcPr anchor="ctr"/>
                    </a:tc>
                    <a:tc>
                      <a:txBody>
                        <a:bodyPr/>
                        <a:lstStyle/>
                        <a:p>
                          <a:pPr>
                            <a:buNone/>
                          </a:pPr>
                          <a:r>
                            <a:rPr lang="en-US" sz="1400" dirty="0">
                              <a:solidFill>
                                <a:srgbClr val="202C8F"/>
                              </a:solidFill>
                            </a:rPr>
                            <a:t>Preprocessing table, Dynamic loop table</a:t>
                          </a:r>
                        </a:p>
                      </a:txBody>
                      <a:tcPr marL="87027" marR="87027" marT="43513" marB="43513" anchor="ctr"/>
                    </a:tc>
                    <a:extLst>
                      <a:ext uri="{0D108BD9-81ED-4DB2-BD59-A6C34878D82A}">
                        <a16:rowId xmlns:a16="http://schemas.microsoft.com/office/drawing/2014/main" val="1623476248"/>
                      </a:ext>
                    </a:extLst>
                  </a:tr>
                  <a:tr h="296234">
                    <a:tc>
                      <a:txBody>
                        <a:bodyPr/>
                        <a:lstStyle/>
                        <a:p>
                          <a:pPr algn="ctr">
                            <a:buNone/>
                          </a:pPr>
                          <a14:m>
                            <m:oMathPara xmlns:m="http://schemas.openxmlformats.org/officeDocument/2006/math">
                              <m:oMathParaPr>
                                <m:jc m:val="centerGroup"/>
                              </m:oMathParaPr>
                              <m:oMath xmlns:m="http://schemas.openxmlformats.org/officeDocument/2006/math">
                                <m:sSub>
                                  <m:sSubPr>
                                    <m:ctrlPr>
                                      <a:rPr lang="fr-FR" sz="1400" i="1" smtClean="0">
                                        <a:solidFill>
                                          <a:srgbClr val="202C8F"/>
                                        </a:solidFill>
                                        <a:latin typeface="Cambria Math" panose="02040503050406030204" pitchFamily="18" charset="0"/>
                                      </a:rPr>
                                    </m:ctrlPr>
                                  </m:sSubPr>
                                  <m:e>
                                    <m:r>
                                      <a:rPr lang="en-ZA" sz="1400" b="0" i="1" smtClean="0">
                                        <a:solidFill>
                                          <a:srgbClr val="202C8F"/>
                                        </a:solidFill>
                                        <a:latin typeface="Cambria Math" panose="02040503050406030204" pitchFamily="18" charset="0"/>
                                      </a:rPr>
                                      <m:t>𝑀</m:t>
                                    </m:r>
                                  </m:e>
                                  <m:sub>
                                    <m:r>
                                      <a:rPr lang="en-ZA" sz="1400" b="0" i="1" smtClean="0">
                                        <a:solidFill>
                                          <a:srgbClr val="202C8F"/>
                                        </a:solidFill>
                                        <a:latin typeface="Cambria Math" panose="02040503050406030204" pitchFamily="18" charset="0"/>
                                      </a:rPr>
                                      <m:t>𝑖</m:t>
                                    </m:r>
                                    <m:r>
                                      <a:rPr lang="en-ZA" sz="1400" b="0" i="1" smtClean="0">
                                        <a:solidFill>
                                          <a:srgbClr val="202C8F"/>
                                        </a:solidFill>
                                        <a:latin typeface="Cambria Math" panose="02040503050406030204" pitchFamily="18" charset="0"/>
                                      </a:rPr>
                                      <m:t>,</m:t>
                                    </m:r>
                                    <m:r>
                                      <a:rPr lang="en-ZA" sz="1400" b="0" i="1" smtClean="0">
                                        <a:solidFill>
                                          <a:srgbClr val="202C8F"/>
                                        </a:solidFill>
                                        <a:latin typeface="Cambria Math" panose="02040503050406030204" pitchFamily="18" charset="0"/>
                                      </a:rPr>
                                      <m:t>𝑡</m:t>
                                    </m:r>
                                  </m:sub>
                                </m:sSub>
                              </m:oMath>
                            </m:oMathPara>
                          </a14:m>
                          <a:endParaRPr lang="en-ZA" sz="1400" dirty="0">
                            <a:solidFill>
                              <a:srgbClr val="202C8F"/>
                            </a:solidFill>
                          </a:endParaRPr>
                        </a:p>
                      </a:txBody>
                      <a:tcPr anchor="ctr"/>
                    </a:tc>
                    <a:tc>
                      <a:txBody>
                        <a:bodyPr/>
                        <a:lstStyle/>
                        <a:p>
                          <a:pPr algn="ctr">
                            <a:buNone/>
                          </a:pPr>
                          <a:r>
                            <a:rPr lang="en-ZA" sz="1400">
                              <a:solidFill>
                                <a:srgbClr val="202C8F"/>
                              </a:solidFill>
                            </a:rPr>
                            <a:t>Monetary score</a:t>
                          </a:r>
                        </a:p>
                      </a:txBody>
                      <a:tcPr anchor="ctr"/>
                    </a:tc>
                    <a:tc>
                      <a:txBody>
                        <a:bodyPr/>
                        <a:lstStyle/>
                        <a:p>
                          <a:pPr>
                            <a:buNone/>
                          </a:pPr>
                          <a:r>
                            <a:rPr lang="en-US" sz="1400" dirty="0">
                              <a:solidFill>
                                <a:srgbClr val="202C8F"/>
                              </a:solidFill>
                            </a:rPr>
                            <a:t>Cycle 0 table, Dynamic loop table</a:t>
                          </a:r>
                        </a:p>
                      </a:txBody>
                      <a:tcPr marL="87027" marR="87027" marT="43513" marB="43513" anchor="ctr"/>
                    </a:tc>
                    <a:extLst>
                      <a:ext uri="{0D108BD9-81ED-4DB2-BD59-A6C34878D82A}">
                        <a16:rowId xmlns:a16="http://schemas.microsoft.com/office/drawing/2014/main" val="441472923"/>
                      </a:ext>
                    </a:extLst>
                  </a:tr>
                  <a:tr h="296234">
                    <a:tc>
                      <a:txBody>
                        <a:bodyPr/>
                        <a:lstStyle/>
                        <a:p>
                          <a:pPr algn="ctr">
                            <a:buNone/>
                          </a:pPr>
                          <a14:m>
                            <m:oMathPara xmlns:m="http://schemas.openxmlformats.org/officeDocument/2006/math">
                              <m:oMathParaPr>
                                <m:jc m:val="centerGroup"/>
                              </m:oMathParaPr>
                              <m:oMath xmlns:m="http://schemas.openxmlformats.org/officeDocument/2006/math">
                                <m:sSub>
                                  <m:sSubPr>
                                    <m:ctrlPr>
                                      <a:rPr lang="fr-FR" sz="1400" i="1" smtClean="0">
                                        <a:solidFill>
                                          <a:srgbClr val="202C8F"/>
                                        </a:solidFill>
                                        <a:latin typeface="Cambria Math" panose="02040503050406030204" pitchFamily="18" charset="0"/>
                                      </a:rPr>
                                    </m:ctrlPr>
                                  </m:sSubPr>
                                  <m:e>
                                    <m:r>
                                      <a:rPr lang="en-ZA" sz="1400" b="0" i="1" smtClean="0">
                                        <a:solidFill>
                                          <a:srgbClr val="202C8F"/>
                                        </a:solidFill>
                                        <a:latin typeface="Cambria Math" panose="02040503050406030204" pitchFamily="18" charset="0"/>
                                      </a:rPr>
                                      <m:t>𝐶</m:t>
                                    </m:r>
                                  </m:e>
                                  <m:sub>
                                    <m:r>
                                      <a:rPr lang="en-ZA" sz="1400" b="0" i="1" smtClean="0">
                                        <a:solidFill>
                                          <a:srgbClr val="202C8F"/>
                                        </a:solidFill>
                                        <a:latin typeface="Cambria Math" panose="02040503050406030204" pitchFamily="18" charset="0"/>
                                      </a:rPr>
                                      <m:t>𝑖</m:t>
                                    </m:r>
                                    <m:r>
                                      <a:rPr lang="en-ZA" sz="1400" b="0" i="1" smtClean="0">
                                        <a:solidFill>
                                          <a:srgbClr val="202C8F"/>
                                        </a:solidFill>
                                        <a:latin typeface="Cambria Math" panose="02040503050406030204" pitchFamily="18" charset="0"/>
                                      </a:rPr>
                                      <m:t>,</m:t>
                                    </m:r>
                                    <m:r>
                                      <a:rPr lang="en-ZA" sz="1400" b="0" i="1" smtClean="0">
                                        <a:solidFill>
                                          <a:srgbClr val="202C8F"/>
                                        </a:solidFill>
                                        <a:latin typeface="Cambria Math" panose="02040503050406030204" pitchFamily="18" charset="0"/>
                                      </a:rPr>
                                      <m:t>𝑡</m:t>
                                    </m:r>
                                  </m:sub>
                                </m:sSub>
                              </m:oMath>
                            </m:oMathPara>
                          </a14:m>
                          <a:endParaRPr lang="en-ZA" sz="1400" dirty="0">
                            <a:solidFill>
                              <a:srgbClr val="202C8F"/>
                            </a:solidFill>
                          </a:endParaRPr>
                        </a:p>
                      </a:txBody>
                      <a:tcPr anchor="ctr"/>
                    </a:tc>
                    <a:tc>
                      <a:txBody>
                        <a:bodyPr/>
                        <a:lstStyle/>
                        <a:p>
                          <a:pPr algn="ctr">
                            <a:buNone/>
                          </a:pPr>
                          <a:r>
                            <a:rPr lang="en-ZA" sz="1400">
                              <a:solidFill>
                                <a:srgbClr val="202C8F"/>
                              </a:solidFill>
                            </a:rPr>
                            <a:t>Assigned cluster or segment</a:t>
                          </a:r>
                        </a:p>
                      </a:txBody>
                      <a:tcPr anchor="ctr"/>
                    </a:tc>
                    <a:tc>
                      <a:txBody>
                        <a:bodyPr/>
                        <a:lstStyle/>
                        <a:p>
                          <a:pPr>
                            <a:buNone/>
                          </a:pPr>
                          <a:r>
                            <a:rPr lang="en-ZA" sz="1400" dirty="0">
                              <a:solidFill>
                                <a:srgbClr val="202C8F"/>
                              </a:solidFill>
                            </a:rPr>
                            <a:t>Dynamic loop table</a:t>
                          </a:r>
                        </a:p>
                      </a:txBody>
                      <a:tcPr marL="87027" marR="87027" marT="43513" marB="43513" anchor="ctr"/>
                    </a:tc>
                    <a:extLst>
                      <a:ext uri="{0D108BD9-81ED-4DB2-BD59-A6C34878D82A}">
                        <a16:rowId xmlns:a16="http://schemas.microsoft.com/office/drawing/2014/main" val="938428460"/>
                      </a:ext>
                    </a:extLst>
                  </a:tr>
                  <a:tr h="296234">
                    <a:tc>
                      <a:txBody>
                        <a:bodyPr/>
                        <a:lstStyle/>
                        <a:p>
                          <a:pPr algn="ctr">
                            <a:buNone/>
                          </a:pPr>
                          <a14:m>
                            <m:oMathPara xmlns:m="http://schemas.openxmlformats.org/officeDocument/2006/math">
                              <m:oMathParaPr>
                                <m:jc m:val="centerGroup"/>
                              </m:oMathParaPr>
                              <m:oMath xmlns:m="http://schemas.openxmlformats.org/officeDocument/2006/math">
                                <m:r>
                                  <a:rPr lang="en-ZA" sz="1400" b="0" i="1" smtClean="0">
                                    <a:solidFill>
                                      <a:srgbClr val="202C8F"/>
                                    </a:solidFill>
                                    <a:latin typeface="Cambria Math" panose="02040503050406030204" pitchFamily="18" charset="0"/>
                                  </a:rPr>
                                  <m:t>𝑆</m:t>
                                </m:r>
                                <m:sSub>
                                  <m:sSubPr>
                                    <m:ctrlPr>
                                      <a:rPr lang="fr-FR" sz="1400" i="1">
                                        <a:solidFill>
                                          <a:srgbClr val="202C8F"/>
                                        </a:solidFill>
                                        <a:latin typeface="Cambria Math" panose="02040503050406030204" pitchFamily="18" charset="0"/>
                                      </a:rPr>
                                    </m:ctrlPr>
                                  </m:sSubPr>
                                  <m:e>
                                    <m:r>
                                      <a:rPr lang="en-ZA" sz="1400" b="0" i="1" smtClean="0">
                                        <a:solidFill>
                                          <a:srgbClr val="202C8F"/>
                                        </a:solidFill>
                                        <a:latin typeface="Cambria Math" panose="02040503050406030204" pitchFamily="18" charset="0"/>
                                      </a:rPr>
                                      <m:t>𝑒</m:t>
                                    </m:r>
                                  </m:e>
                                  <m:sub>
                                    <m:r>
                                      <a:rPr lang="en-ZA" sz="1400" b="0" i="1" smtClean="0">
                                        <a:solidFill>
                                          <a:srgbClr val="202C8F"/>
                                        </a:solidFill>
                                        <a:latin typeface="Cambria Math" panose="02040503050406030204" pitchFamily="18" charset="0"/>
                                      </a:rPr>
                                      <m:t>𝑖</m:t>
                                    </m:r>
                                    <m:r>
                                      <a:rPr lang="en-ZA" sz="1400" b="0" i="1" smtClean="0">
                                        <a:solidFill>
                                          <a:srgbClr val="202C8F"/>
                                        </a:solidFill>
                                        <a:latin typeface="Cambria Math" panose="02040503050406030204" pitchFamily="18" charset="0"/>
                                      </a:rPr>
                                      <m:t>,</m:t>
                                    </m:r>
                                    <m:r>
                                      <a:rPr lang="en-ZA" sz="1400" b="0" i="1" smtClean="0">
                                        <a:solidFill>
                                          <a:srgbClr val="202C8F"/>
                                        </a:solidFill>
                                        <a:latin typeface="Cambria Math" panose="02040503050406030204" pitchFamily="18" charset="0"/>
                                      </a:rPr>
                                      <m:t>𝑡</m:t>
                                    </m:r>
                                  </m:sub>
                                </m:sSub>
                              </m:oMath>
                            </m:oMathPara>
                          </a14:m>
                          <a:endParaRPr lang="en-ZA" sz="1400" dirty="0">
                            <a:solidFill>
                              <a:srgbClr val="202C8F"/>
                            </a:solidFill>
                          </a:endParaRPr>
                        </a:p>
                      </a:txBody>
                      <a:tcPr anchor="ctr"/>
                    </a:tc>
                    <a:tc>
                      <a:txBody>
                        <a:bodyPr/>
                        <a:lstStyle/>
                        <a:p>
                          <a:pPr algn="ctr">
                            <a:buNone/>
                          </a:pPr>
                          <a:r>
                            <a:rPr lang="en-ZA" sz="1400" dirty="0">
                              <a:solidFill>
                                <a:srgbClr val="202C8F"/>
                              </a:solidFill>
                            </a:rPr>
                            <a:t>Kmean/Fuzzy membership value ( if K means =1)</a:t>
                          </a:r>
                        </a:p>
                      </a:txBody>
                      <a:tcPr anchor="ctr"/>
                    </a:tc>
                    <a:tc>
                      <a:txBody>
                        <a:bodyPr/>
                        <a:lstStyle/>
                        <a:p>
                          <a:pPr>
                            <a:buNone/>
                          </a:pPr>
                          <a:r>
                            <a:rPr lang="en-US" sz="1400" dirty="0">
                              <a:solidFill>
                                <a:srgbClr val="202C8F"/>
                              </a:solidFill>
                            </a:rPr>
                            <a:t>Customer table, Dynamic loop table</a:t>
                          </a:r>
                        </a:p>
                      </a:txBody>
                      <a:tcPr marL="87027" marR="87027" marT="43513" marB="43513" anchor="ctr"/>
                    </a:tc>
                    <a:extLst>
                      <a:ext uri="{0D108BD9-81ED-4DB2-BD59-A6C34878D82A}">
                        <a16:rowId xmlns:a16="http://schemas.microsoft.com/office/drawing/2014/main" val="82834927"/>
                      </a:ext>
                    </a:extLst>
                  </a:tr>
                  <a:tr h="296234">
                    <a:tc>
                      <a:txBody>
                        <a:bodyPr/>
                        <a:lstStyle/>
                        <a:p>
                          <a:pPr algn="ctr">
                            <a:buNone/>
                          </a:pPr>
                          <a14:m>
                            <m:oMathPara xmlns:m="http://schemas.openxmlformats.org/officeDocument/2006/math">
                              <m:oMathParaPr>
                                <m:jc m:val="centerGroup"/>
                              </m:oMathParaPr>
                              <m:oMath xmlns:m="http://schemas.openxmlformats.org/officeDocument/2006/math">
                                <m:sSub>
                                  <m:sSubPr>
                                    <m:ctrlPr>
                                      <a:rPr lang="en-ZA" sz="1400" b="0" i="1" smtClean="0">
                                        <a:solidFill>
                                          <a:srgbClr val="202C8F"/>
                                        </a:solidFill>
                                        <a:latin typeface="Cambria Math" panose="02040503050406030204" pitchFamily="18" charset="0"/>
                                      </a:rPr>
                                    </m:ctrlPr>
                                  </m:sSubPr>
                                  <m:e>
                                    <m:r>
                                      <a:rPr lang="en-ZA" sz="1400" b="0" i="1" smtClean="0">
                                        <a:solidFill>
                                          <a:srgbClr val="202C8F"/>
                                        </a:solidFill>
                                        <a:latin typeface="Cambria Math" panose="02040503050406030204" pitchFamily="18" charset="0"/>
                                      </a:rPr>
                                      <m:t>𝐷</m:t>
                                    </m:r>
                                  </m:e>
                                  <m:sub>
                                    <m:r>
                                      <a:rPr lang="en-ZA" sz="1400" b="0" i="1" smtClean="0">
                                        <a:solidFill>
                                          <a:srgbClr val="202C8F"/>
                                        </a:solidFill>
                                        <a:latin typeface="Cambria Math" panose="02040503050406030204" pitchFamily="18" charset="0"/>
                                      </a:rPr>
                                      <m:t>𝑖</m:t>
                                    </m:r>
                                    <m:r>
                                      <a:rPr lang="en-ZA" sz="1400" b="0" i="1" smtClean="0">
                                        <a:solidFill>
                                          <a:srgbClr val="202C8F"/>
                                        </a:solidFill>
                                        <a:latin typeface="Cambria Math" panose="02040503050406030204" pitchFamily="18" charset="0"/>
                                      </a:rPr>
                                      <m:t>,</m:t>
                                    </m:r>
                                    <m:r>
                                      <a:rPr lang="en-ZA" sz="1400" b="0" i="1" smtClean="0">
                                        <a:solidFill>
                                          <a:srgbClr val="202C8F"/>
                                        </a:solidFill>
                                        <a:latin typeface="Cambria Math" panose="02040503050406030204" pitchFamily="18" charset="0"/>
                                      </a:rPr>
                                      <m:t>𝑡</m:t>
                                    </m:r>
                                  </m:sub>
                                </m:sSub>
                              </m:oMath>
                            </m:oMathPara>
                          </a14:m>
                          <a:endParaRPr lang="en-ZA" sz="1400" dirty="0">
                            <a:solidFill>
                              <a:srgbClr val="202C8F"/>
                            </a:solidFill>
                          </a:endParaRPr>
                        </a:p>
                      </a:txBody>
                      <a:tcPr anchor="ctr"/>
                    </a:tc>
                    <a:tc>
                      <a:txBody>
                        <a:bodyPr/>
                        <a:lstStyle/>
                        <a:p>
                          <a:pPr algn="ctr">
                            <a:buNone/>
                          </a:pPr>
                          <a:r>
                            <a:rPr lang="en-ZA" sz="1400" dirty="0">
                              <a:solidFill>
                                <a:srgbClr val="202C8F"/>
                              </a:solidFill>
                            </a:rPr>
                            <a:t>Demographic Profile</a:t>
                          </a:r>
                        </a:p>
                      </a:txBody>
                      <a:tcPr anchor="ctr"/>
                    </a:tc>
                    <a:tc>
                      <a:txBody>
                        <a:bodyPr/>
                        <a:lstStyle/>
                        <a:p>
                          <a:pPr>
                            <a:buNone/>
                          </a:pPr>
                          <a:r>
                            <a:rPr lang="en-US" sz="1400" dirty="0">
                              <a:solidFill>
                                <a:srgbClr val="202C8F"/>
                              </a:solidFill>
                            </a:rPr>
                            <a:t>Customer Table</a:t>
                          </a:r>
                        </a:p>
                      </a:txBody>
                      <a:tcPr marL="87027" marR="87027" marT="43513" marB="43513" anchor="ctr"/>
                    </a:tc>
                    <a:extLst>
                      <a:ext uri="{0D108BD9-81ED-4DB2-BD59-A6C34878D82A}">
                        <a16:rowId xmlns:a16="http://schemas.microsoft.com/office/drawing/2014/main" val="1710071354"/>
                      </a:ext>
                    </a:extLst>
                  </a:tr>
                  <a:tr h="296234">
                    <a:tc>
                      <a:txBody>
                        <a:bodyPr/>
                        <a:lstStyle/>
                        <a:p>
                          <a:pPr algn="ctr">
                            <a:buNone/>
                          </a:pPr>
                          <a14:m>
                            <m:oMathPara xmlns:m="http://schemas.openxmlformats.org/officeDocument/2006/math">
                              <m:oMathParaPr>
                                <m:jc m:val="centerGroup"/>
                              </m:oMathParaPr>
                              <m:oMath xmlns:m="http://schemas.openxmlformats.org/officeDocument/2006/math">
                                <m:sSub>
                                  <m:sSubPr>
                                    <m:ctrlPr>
                                      <a:rPr lang="fr-FR" sz="1400" i="1" smtClean="0">
                                        <a:solidFill>
                                          <a:srgbClr val="202C8F"/>
                                        </a:solidFill>
                                        <a:latin typeface="Cambria Math" panose="02040503050406030204" pitchFamily="18" charset="0"/>
                                      </a:rPr>
                                    </m:ctrlPr>
                                  </m:sSubPr>
                                  <m:e>
                                    <m:r>
                                      <a:rPr lang="en-ZA" sz="1400" b="0" i="1" smtClean="0">
                                        <a:solidFill>
                                          <a:srgbClr val="202C8F"/>
                                        </a:solidFill>
                                        <a:latin typeface="Cambria Math" panose="02040503050406030204" pitchFamily="18" charset="0"/>
                                      </a:rPr>
                                      <m:t>𝐺</m:t>
                                    </m:r>
                                  </m:e>
                                  <m:sub>
                                    <m:r>
                                      <a:rPr lang="en-ZA" sz="1400" b="0" i="1" smtClean="0">
                                        <a:solidFill>
                                          <a:srgbClr val="202C8F"/>
                                        </a:solidFill>
                                        <a:latin typeface="Cambria Math" panose="02040503050406030204" pitchFamily="18" charset="0"/>
                                      </a:rPr>
                                      <m:t>𝑖</m:t>
                                    </m:r>
                                    <m:r>
                                      <a:rPr lang="en-ZA" sz="1400" b="0" i="1" smtClean="0">
                                        <a:solidFill>
                                          <a:srgbClr val="202C8F"/>
                                        </a:solidFill>
                                        <a:latin typeface="Cambria Math" panose="02040503050406030204" pitchFamily="18" charset="0"/>
                                      </a:rPr>
                                      <m:t>,</m:t>
                                    </m:r>
                                    <m:r>
                                      <a:rPr lang="en-ZA" sz="1400" b="0" i="1" smtClean="0">
                                        <a:solidFill>
                                          <a:srgbClr val="202C8F"/>
                                        </a:solidFill>
                                        <a:latin typeface="Cambria Math" panose="02040503050406030204" pitchFamily="18" charset="0"/>
                                      </a:rPr>
                                      <m:t>𝑡</m:t>
                                    </m:r>
                                  </m:sub>
                                </m:sSub>
                              </m:oMath>
                            </m:oMathPara>
                          </a14:m>
                          <a:endParaRPr lang="en-ZA" sz="1400" dirty="0">
                            <a:solidFill>
                              <a:srgbClr val="202C8F"/>
                            </a:solidFill>
                          </a:endParaRPr>
                        </a:p>
                      </a:txBody>
                      <a:tcPr anchor="ctr"/>
                    </a:tc>
                    <a:tc>
                      <a:txBody>
                        <a:bodyPr/>
                        <a:lstStyle/>
                        <a:p>
                          <a:pPr algn="ctr">
                            <a:buNone/>
                          </a:pPr>
                          <a:r>
                            <a:rPr lang="en-ZA" sz="1400">
                              <a:solidFill>
                                <a:srgbClr val="202C8F"/>
                              </a:solidFill>
                            </a:rPr>
                            <a:t>Geographic profile</a:t>
                          </a:r>
                        </a:p>
                      </a:txBody>
                      <a:tcPr anchor="ctr"/>
                    </a:tc>
                    <a:tc>
                      <a:txBody>
                        <a:bodyPr/>
                        <a:lstStyle/>
                        <a:p>
                          <a:pPr>
                            <a:buNone/>
                          </a:pPr>
                          <a:r>
                            <a:rPr lang="en-US" sz="1400" dirty="0">
                              <a:solidFill>
                                <a:srgbClr val="202C8F"/>
                              </a:solidFill>
                            </a:rPr>
                            <a:t>Customer table, Dynamic loop table</a:t>
                          </a:r>
                        </a:p>
                      </a:txBody>
                      <a:tcPr marL="87027" marR="87027" marT="43513" marB="43513" anchor="ctr"/>
                    </a:tc>
                    <a:extLst>
                      <a:ext uri="{0D108BD9-81ED-4DB2-BD59-A6C34878D82A}">
                        <a16:rowId xmlns:a16="http://schemas.microsoft.com/office/drawing/2014/main" val="868845379"/>
                      </a:ext>
                    </a:extLst>
                  </a:tr>
                  <a:tr h="296234">
                    <a:tc>
                      <a:txBody>
                        <a:bodyPr/>
                        <a:lstStyle/>
                        <a:p>
                          <a:pPr algn="ctr">
                            <a:buNone/>
                          </a:pPr>
                          <a14:m>
                            <m:oMathPara xmlns:m="http://schemas.openxmlformats.org/officeDocument/2006/math">
                              <m:oMathParaPr>
                                <m:jc m:val="centerGroup"/>
                              </m:oMathParaPr>
                              <m:oMath xmlns:m="http://schemas.openxmlformats.org/officeDocument/2006/math">
                                <m:sSub>
                                  <m:sSubPr>
                                    <m:ctrlPr>
                                      <a:rPr lang="fr-FR" sz="1400" i="1" smtClean="0">
                                        <a:solidFill>
                                          <a:srgbClr val="202C8F"/>
                                        </a:solidFill>
                                        <a:latin typeface="Cambria Math" panose="02040503050406030204" pitchFamily="18" charset="0"/>
                                      </a:rPr>
                                    </m:ctrlPr>
                                  </m:sSubPr>
                                  <m:e>
                                    <m:r>
                                      <a:rPr lang="en-ZA" sz="1400" b="0" i="1" smtClean="0">
                                        <a:solidFill>
                                          <a:srgbClr val="202C8F"/>
                                        </a:solidFill>
                                        <a:latin typeface="Cambria Math" panose="02040503050406030204" pitchFamily="18" charset="0"/>
                                      </a:rPr>
                                      <m:t>𝑃</m:t>
                                    </m:r>
                                  </m:e>
                                  <m:sub>
                                    <m:r>
                                      <a:rPr lang="en-ZA" sz="1400" b="0" i="1" smtClean="0">
                                        <a:solidFill>
                                          <a:srgbClr val="202C8F"/>
                                        </a:solidFill>
                                        <a:latin typeface="Cambria Math" panose="02040503050406030204" pitchFamily="18" charset="0"/>
                                      </a:rPr>
                                      <m:t>𝑖</m:t>
                                    </m:r>
                                    <m:r>
                                      <a:rPr lang="en-ZA" sz="1400" b="0" i="1" smtClean="0">
                                        <a:solidFill>
                                          <a:srgbClr val="202C8F"/>
                                        </a:solidFill>
                                        <a:latin typeface="Cambria Math" panose="02040503050406030204" pitchFamily="18" charset="0"/>
                                      </a:rPr>
                                      <m:t>,</m:t>
                                    </m:r>
                                    <m:r>
                                      <a:rPr lang="en-ZA" sz="1400" b="0" i="1" smtClean="0">
                                        <a:solidFill>
                                          <a:srgbClr val="202C8F"/>
                                        </a:solidFill>
                                        <a:latin typeface="Cambria Math" panose="02040503050406030204" pitchFamily="18" charset="0"/>
                                      </a:rPr>
                                      <m:t>𝑡</m:t>
                                    </m:r>
                                  </m:sub>
                                </m:sSub>
                              </m:oMath>
                            </m:oMathPara>
                          </a14:m>
                          <a:endParaRPr lang="en-ZA" sz="1400" dirty="0">
                            <a:solidFill>
                              <a:srgbClr val="202C8F"/>
                            </a:solidFill>
                          </a:endParaRPr>
                        </a:p>
                      </a:txBody>
                      <a:tcPr anchor="ctr"/>
                    </a:tc>
                    <a:tc>
                      <a:txBody>
                        <a:bodyPr/>
                        <a:lstStyle/>
                        <a:p>
                          <a:pPr algn="ctr">
                            <a:buNone/>
                          </a:pPr>
                          <a:r>
                            <a:rPr lang="en-ZA" sz="1400" dirty="0">
                              <a:solidFill>
                                <a:srgbClr val="202C8F"/>
                              </a:solidFill>
                            </a:rPr>
                            <a:t>Psychographic/persona profile</a:t>
                          </a:r>
                        </a:p>
                      </a:txBody>
                      <a:tcPr anchor="ctr"/>
                    </a:tc>
                    <a:tc>
                      <a:txBody>
                        <a:bodyPr/>
                        <a:lstStyle/>
                        <a:p>
                          <a:pPr>
                            <a:buNone/>
                          </a:pPr>
                          <a:r>
                            <a:rPr lang="en-US" sz="1400" dirty="0">
                              <a:solidFill>
                                <a:srgbClr val="202C8F"/>
                              </a:solidFill>
                            </a:rPr>
                            <a:t>Where it will be stored</a:t>
                          </a:r>
                        </a:p>
                      </a:txBody>
                      <a:tcPr marL="87027" marR="87027" marT="43513" marB="43513" anchor="ctr"/>
                    </a:tc>
                    <a:extLst>
                      <a:ext uri="{0D108BD9-81ED-4DB2-BD59-A6C34878D82A}">
                        <a16:rowId xmlns:a16="http://schemas.microsoft.com/office/drawing/2014/main" val="1345940381"/>
                      </a:ext>
                    </a:extLst>
                  </a:tr>
                </a:tbl>
              </a:graphicData>
            </a:graphic>
          </p:graphicFrame>
        </mc:Choice>
        <mc:Fallback xmlns="">
          <p:graphicFrame>
            <p:nvGraphicFramePr>
              <p:cNvPr id="37" name="Table 36">
                <a:extLst>
                  <a:ext uri="{FF2B5EF4-FFF2-40B4-BE49-F238E27FC236}">
                    <a16:creationId xmlns:a16="http://schemas.microsoft.com/office/drawing/2014/main" id="{0845EBE8-8EBE-92B1-E5A5-1613BDF294F7}"/>
                  </a:ext>
                </a:extLst>
              </p:cNvPr>
              <p:cNvGraphicFramePr>
                <a:graphicFrameLocks noGrp="1"/>
              </p:cNvGraphicFramePr>
              <p:nvPr>
                <p:extLst>
                  <p:ext uri="{D42A27DB-BD31-4B8C-83A1-F6EECF244321}">
                    <p14:modId xmlns:p14="http://schemas.microsoft.com/office/powerpoint/2010/main" val="3999986456"/>
                  </p:ext>
                </p:extLst>
              </p:nvPr>
            </p:nvGraphicFramePr>
            <p:xfrm>
              <a:off x="224538" y="1598415"/>
              <a:ext cx="11793291" cy="3325938"/>
            </p:xfrm>
            <a:graphic>
              <a:graphicData uri="http://schemas.openxmlformats.org/drawingml/2006/table">
                <a:tbl>
                  <a:tblPr>
                    <a:tableStyleId>{775DCB02-9BB8-47FD-8907-85C794F793BA}</a:tableStyleId>
                  </a:tblPr>
                  <a:tblGrid>
                    <a:gridCol w="1162065">
                      <a:extLst>
                        <a:ext uri="{9D8B030D-6E8A-4147-A177-3AD203B41FA5}">
                          <a16:colId xmlns:a16="http://schemas.microsoft.com/office/drawing/2014/main" val="3671062048"/>
                        </a:ext>
                      </a:extLst>
                    </a:gridCol>
                    <a:gridCol w="5486130">
                      <a:extLst>
                        <a:ext uri="{9D8B030D-6E8A-4147-A177-3AD203B41FA5}">
                          <a16:colId xmlns:a16="http://schemas.microsoft.com/office/drawing/2014/main" val="1654339687"/>
                        </a:ext>
                      </a:extLst>
                    </a:gridCol>
                    <a:gridCol w="5145096">
                      <a:extLst>
                        <a:ext uri="{9D8B030D-6E8A-4147-A177-3AD203B41FA5}">
                          <a16:colId xmlns:a16="http://schemas.microsoft.com/office/drawing/2014/main" val="4170408481"/>
                        </a:ext>
                      </a:extLst>
                    </a:gridCol>
                  </a:tblGrid>
                  <a:tr h="406429">
                    <a:tc>
                      <a:txBody>
                        <a:bodyPr/>
                        <a:lstStyle/>
                        <a:p>
                          <a:pPr algn="ctr">
                            <a:buNone/>
                          </a:pPr>
                          <a:r>
                            <a:rPr lang="en-ZA" sz="1400" b="1" dirty="0">
                              <a:solidFill>
                                <a:srgbClr val="202C8F"/>
                              </a:solidFill>
                            </a:rPr>
                            <a:t>Symbol</a:t>
                          </a:r>
                        </a:p>
                      </a:txBody>
                      <a:tcPr anchor="ctr"/>
                    </a:tc>
                    <a:tc>
                      <a:txBody>
                        <a:bodyPr/>
                        <a:lstStyle/>
                        <a:p>
                          <a:pPr algn="ctr">
                            <a:buNone/>
                          </a:pPr>
                          <a:r>
                            <a:rPr lang="en-ZA" sz="1400" b="1" dirty="0">
                              <a:solidFill>
                                <a:srgbClr val="202C8F"/>
                              </a:solidFill>
                            </a:rPr>
                            <a:t>Meaning</a:t>
                          </a:r>
                        </a:p>
                      </a:txBody>
                      <a:tcPr anchor="ctr"/>
                    </a:tc>
                    <a:tc>
                      <a:txBody>
                        <a:bodyPr/>
                        <a:lstStyle/>
                        <a:p>
                          <a:pPr>
                            <a:buNone/>
                          </a:pPr>
                          <a:r>
                            <a:rPr lang="en-US" sz="1400" b="1" dirty="0">
                              <a:solidFill>
                                <a:srgbClr val="202C8F"/>
                              </a:solidFill>
                            </a:rPr>
                            <a:t>Where it will be stored</a:t>
                          </a:r>
                        </a:p>
                      </a:txBody>
                      <a:tcPr marL="87027" marR="87027" marT="43513" marB="43513" anchor="ctr"/>
                    </a:tc>
                    <a:extLst>
                      <a:ext uri="{0D108BD9-81ED-4DB2-BD59-A6C34878D82A}">
                        <a16:rowId xmlns:a16="http://schemas.microsoft.com/office/drawing/2014/main" val="3211611832"/>
                      </a:ext>
                    </a:extLst>
                  </a:tr>
                  <a:tr h="406429">
                    <a:tc>
                      <a:txBody>
                        <a:bodyPr/>
                        <a:lstStyle/>
                        <a:p>
                          <a:endParaRPr lang="en-US"/>
                        </a:p>
                      </a:txBody>
                      <a:tcPr anchor="ctr">
                        <a:blipFill>
                          <a:blip r:embed="rId4"/>
                          <a:stretch>
                            <a:fillRect l="-524" t="-103030" r="-914660" b="-640909"/>
                          </a:stretch>
                        </a:blipFill>
                      </a:tcPr>
                    </a:tc>
                    <a:tc>
                      <a:txBody>
                        <a:bodyPr/>
                        <a:lstStyle/>
                        <a:p>
                          <a:pPr algn="ctr">
                            <a:buNone/>
                          </a:pPr>
                          <a:r>
                            <a:rPr lang="en-US" sz="1400" dirty="0">
                              <a:solidFill>
                                <a:srgbClr val="202C8F"/>
                              </a:solidFill>
                            </a:rPr>
                            <a:t>Stored customer snapshot for customer (</a:t>
                          </a:r>
                          <a:r>
                            <a:rPr lang="en-US" sz="1400" dirty="0" err="1">
                              <a:solidFill>
                                <a:srgbClr val="202C8F"/>
                              </a:solidFill>
                            </a:rPr>
                            <a:t>i</a:t>
                          </a:r>
                          <a:r>
                            <a:rPr lang="en-US" sz="1400" dirty="0">
                              <a:solidFill>
                                <a:srgbClr val="202C8F"/>
                              </a:solidFill>
                            </a:rPr>
                            <a:t>) at time cycle t (0&lt;=t&lt;=n)</a:t>
                          </a:r>
                        </a:p>
                      </a:txBody>
                      <a:tcPr anchor="ctr"/>
                    </a:tc>
                    <a:tc>
                      <a:txBody>
                        <a:bodyPr/>
                        <a:lstStyle/>
                        <a:p>
                          <a:pPr>
                            <a:buNone/>
                          </a:pPr>
                          <a:r>
                            <a:rPr lang="en-US" sz="1400" dirty="0">
                              <a:solidFill>
                                <a:srgbClr val="202C8F"/>
                              </a:solidFill>
                            </a:rPr>
                            <a:t>Preprocessing table, Dynamic loop table</a:t>
                          </a:r>
                        </a:p>
                      </a:txBody>
                      <a:tcPr marL="87027" marR="87027" marT="43513" marB="43513" anchor="ctr"/>
                    </a:tc>
                    <a:extLst>
                      <a:ext uri="{0D108BD9-81ED-4DB2-BD59-A6C34878D82A}">
                        <a16:rowId xmlns:a16="http://schemas.microsoft.com/office/drawing/2014/main" val="581316473"/>
                      </a:ext>
                    </a:extLst>
                  </a:tr>
                  <a:tr h="314135">
                    <a:tc>
                      <a:txBody>
                        <a:bodyPr/>
                        <a:lstStyle/>
                        <a:p>
                          <a:endParaRPr lang="en-US"/>
                        </a:p>
                      </a:txBody>
                      <a:tcPr anchor="ctr">
                        <a:blipFill>
                          <a:blip r:embed="rId4"/>
                          <a:stretch>
                            <a:fillRect l="-524" t="-257692" r="-914660" b="-713462"/>
                          </a:stretch>
                        </a:blipFill>
                      </a:tcPr>
                    </a:tc>
                    <a:tc>
                      <a:txBody>
                        <a:bodyPr/>
                        <a:lstStyle/>
                        <a:p>
                          <a:pPr algn="ctr">
                            <a:buNone/>
                          </a:pPr>
                          <a:r>
                            <a:rPr lang="en-ZA" sz="1400" dirty="0">
                              <a:solidFill>
                                <a:srgbClr val="202C8F"/>
                              </a:solidFill>
                            </a:rPr>
                            <a:t>Recency score</a:t>
                          </a:r>
                        </a:p>
                      </a:txBody>
                      <a:tcPr anchor="ctr"/>
                    </a:tc>
                    <a:tc>
                      <a:txBody>
                        <a:bodyPr/>
                        <a:lstStyle/>
                        <a:p>
                          <a:pPr>
                            <a:buNone/>
                          </a:pPr>
                          <a:r>
                            <a:rPr lang="en-US" sz="1400" dirty="0">
                              <a:solidFill>
                                <a:srgbClr val="202C8F"/>
                              </a:solidFill>
                            </a:rPr>
                            <a:t>Preprocessing table, Dynamic loop table</a:t>
                          </a:r>
                        </a:p>
                      </a:txBody>
                      <a:tcPr marL="87027" marR="87027" marT="43513" marB="43513" anchor="ctr"/>
                    </a:tc>
                    <a:extLst>
                      <a:ext uri="{0D108BD9-81ED-4DB2-BD59-A6C34878D82A}">
                        <a16:rowId xmlns:a16="http://schemas.microsoft.com/office/drawing/2014/main" val="3102955437"/>
                      </a:ext>
                    </a:extLst>
                  </a:tr>
                  <a:tr h="314135">
                    <a:tc>
                      <a:txBody>
                        <a:bodyPr/>
                        <a:lstStyle/>
                        <a:p>
                          <a:endParaRPr lang="en-US"/>
                        </a:p>
                      </a:txBody>
                      <a:tcPr anchor="ctr">
                        <a:blipFill>
                          <a:blip r:embed="rId4"/>
                          <a:stretch>
                            <a:fillRect l="-524" t="-357692" r="-914660" b="-613462"/>
                          </a:stretch>
                        </a:blipFill>
                      </a:tcPr>
                    </a:tc>
                    <a:tc>
                      <a:txBody>
                        <a:bodyPr/>
                        <a:lstStyle/>
                        <a:p>
                          <a:pPr algn="ctr">
                            <a:buNone/>
                          </a:pPr>
                          <a:r>
                            <a:rPr lang="en-ZA" sz="1400" dirty="0">
                              <a:solidFill>
                                <a:srgbClr val="202C8F"/>
                              </a:solidFill>
                            </a:rPr>
                            <a:t>Frequency score</a:t>
                          </a:r>
                        </a:p>
                      </a:txBody>
                      <a:tcPr anchor="ctr"/>
                    </a:tc>
                    <a:tc>
                      <a:txBody>
                        <a:bodyPr/>
                        <a:lstStyle/>
                        <a:p>
                          <a:pPr>
                            <a:buNone/>
                          </a:pPr>
                          <a:r>
                            <a:rPr lang="en-US" sz="1400" dirty="0">
                              <a:solidFill>
                                <a:srgbClr val="202C8F"/>
                              </a:solidFill>
                            </a:rPr>
                            <a:t>Preprocessing table, Dynamic loop table</a:t>
                          </a:r>
                        </a:p>
                      </a:txBody>
                      <a:tcPr marL="87027" marR="87027" marT="43513" marB="43513" anchor="ctr"/>
                    </a:tc>
                    <a:extLst>
                      <a:ext uri="{0D108BD9-81ED-4DB2-BD59-A6C34878D82A}">
                        <a16:rowId xmlns:a16="http://schemas.microsoft.com/office/drawing/2014/main" val="1623476248"/>
                      </a:ext>
                    </a:extLst>
                  </a:tr>
                  <a:tr h="314135">
                    <a:tc>
                      <a:txBody>
                        <a:bodyPr/>
                        <a:lstStyle/>
                        <a:p>
                          <a:endParaRPr lang="en-US"/>
                        </a:p>
                      </a:txBody>
                      <a:tcPr anchor="ctr">
                        <a:blipFill>
                          <a:blip r:embed="rId4"/>
                          <a:stretch>
                            <a:fillRect l="-524" t="-466667" r="-914660" b="-525490"/>
                          </a:stretch>
                        </a:blipFill>
                      </a:tcPr>
                    </a:tc>
                    <a:tc>
                      <a:txBody>
                        <a:bodyPr/>
                        <a:lstStyle/>
                        <a:p>
                          <a:pPr algn="ctr">
                            <a:buNone/>
                          </a:pPr>
                          <a:r>
                            <a:rPr lang="en-ZA" sz="1400">
                              <a:solidFill>
                                <a:srgbClr val="202C8F"/>
                              </a:solidFill>
                            </a:rPr>
                            <a:t>Monetary score</a:t>
                          </a:r>
                        </a:p>
                      </a:txBody>
                      <a:tcPr anchor="ctr"/>
                    </a:tc>
                    <a:tc>
                      <a:txBody>
                        <a:bodyPr/>
                        <a:lstStyle/>
                        <a:p>
                          <a:pPr>
                            <a:buNone/>
                          </a:pPr>
                          <a:r>
                            <a:rPr lang="en-US" sz="1400" dirty="0">
                              <a:solidFill>
                                <a:srgbClr val="202C8F"/>
                              </a:solidFill>
                            </a:rPr>
                            <a:t>Cycle 0 table, Dynamic loop table</a:t>
                          </a:r>
                        </a:p>
                      </a:txBody>
                      <a:tcPr marL="87027" marR="87027" marT="43513" marB="43513" anchor="ctr"/>
                    </a:tc>
                    <a:extLst>
                      <a:ext uri="{0D108BD9-81ED-4DB2-BD59-A6C34878D82A}">
                        <a16:rowId xmlns:a16="http://schemas.microsoft.com/office/drawing/2014/main" val="441472923"/>
                      </a:ext>
                    </a:extLst>
                  </a:tr>
                  <a:tr h="314135">
                    <a:tc>
                      <a:txBody>
                        <a:bodyPr/>
                        <a:lstStyle/>
                        <a:p>
                          <a:endParaRPr lang="en-US"/>
                        </a:p>
                      </a:txBody>
                      <a:tcPr anchor="ctr">
                        <a:blipFill>
                          <a:blip r:embed="rId4"/>
                          <a:stretch>
                            <a:fillRect l="-524" t="-555769" r="-914660" b="-415385"/>
                          </a:stretch>
                        </a:blipFill>
                      </a:tcPr>
                    </a:tc>
                    <a:tc>
                      <a:txBody>
                        <a:bodyPr/>
                        <a:lstStyle/>
                        <a:p>
                          <a:pPr algn="ctr">
                            <a:buNone/>
                          </a:pPr>
                          <a:r>
                            <a:rPr lang="en-ZA" sz="1400">
                              <a:solidFill>
                                <a:srgbClr val="202C8F"/>
                              </a:solidFill>
                            </a:rPr>
                            <a:t>Assigned cluster or segment</a:t>
                          </a:r>
                        </a:p>
                      </a:txBody>
                      <a:tcPr anchor="ctr"/>
                    </a:tc>
                    <a:tc>
                      <a:txBody>
                        <a:bodyPr/>
                        <a:lstStyle/>
                        <a:p>
                          <a:pPr>
                            <a:buNone/>
                          </a:pPr>
                          <a:r>
                            <a:rPr lang="en-ZA" sz="1400" dirty="0">
                              <a:solidFill>
                                <a:srgbClr val="202C8F"/>
                              </a:solidFill>
                            </a:rPr>
                            <a:t>Dynamic loop table</a:t>
                          </a:r>
                        </a:p>
                      </a:txBody>
                      <a:tcPr marL="87027" marR="87027" marT="43513" marB="43513" anchor="ctr"/>
                    </a:tc>
                    <a:extLst>
                      <a:ext uri="{0D108BD9-81ED-4DB2-BD59-A6C34878D82A}">
                        <a16:rowId xmlns:a16="http://schemas.microsoft.com/office/drawing/2014/main" val="938428460"/>
                      </a:ext>
                    </a:extLst>
                  </a:tr>
                  <a:tr h="314135">
                    <a:tc>
                      <a:txBody>
                        <a:bodyPr/>
                        <a:lstStyle/>
                        <a:p>
                          <a:endParaRPr lang="en-US"/>
                        </a:p>
                      </a:txBody>
                      <a:tcPr anchor="ctr">
                        <a:blipFill>
                          <a:blip r:embed="rId4"/>
                          <a:stretch>
                            <a:fillRect l="-524" t="-668627" r="-914660" b="-323529"/>
                          </a:stretch>
                        </a:blipFill>
                      </a:tcPr>
                    </a:tc>
                    <a:tc>
                      <a:txBody>
                        <a:bodyPr/>
                        <a:lstStyle/>
                        <a:p>
                          <a:pPr algn="ctr">
                            <a:buNone/>
                          </a:pPr>
                          <a:r>
                            <a:rPr lang="en-ZA" sz="1400" dirty="0">
                              <a:solidFill>
                                <a:srgbClr val="202C8F"/>
                              </a:solidFill>
                            </a:rPr>
                            <a:t>Kmean/Fuzzy membership value ( if K means =1)</a:t>
                          </a:r>
                        </a:p>
                      </a:txBody>
                      <a:tcPr anchor="ctr"/>
                    </a:tc>
                    <a:tc>
                      <a:txBody>
                        <a:bodyPr/>
                        <a:lstStyle/>
                        <a:p>
                          <a:pPr>
                            <a:buNone/>
                          </a:pPr>
                          <a:r>
                            <a:rPr lang="en-US" sz="1400" dirty="0">
                              <a:solidFill>
                                <a:srgbClr val="202C8F"/>
                              </a:solidFill>
                            </a:rPr>
                            <a:t>Customer table, Dynamic loop table</a:t>
                          </a:r>
                        </a:p>
                      </a:txBody>
                      <a:tcPr marL="87027" marR="87027" marT="43513" marB="43513" anchor="ctr"/>
                    </a:tc>
                    <a:extLst>
                      <a:ext uri="{0D108BD9-81ED-4DB2-BD59-A6C34878D82A}">
                        <a16:rowId xmlns:a16="http://schemas.microsoft.com/office/drawing/2014/main" val="82834927"/>
                      </a:ext>
                    </a:extLst>
                  </a:tr>
                  <a:tr h="314135">
                    <a:tc>
                      <a:txBody>
                        <a:bodyPr/>
                        <a:lstStyle/>
                        <a:p>
                          <a:endParaRPr lang="en-US"/>
                        </a:p>
                      </a:txBody>
                      <a:tcPr anchor="ctr">
                        <a:blipFill>
                          <a:blip r:embed="rId4"/>
                          <a:stretch>
                            <a:fillRect l="-524" t="-753846" r="-914660" b="-217308"/>
                          </a:stretch>
                        </a:blipFill>
                      </a:tcPr>
                    </a:tc>
                    <a:tc>
                      <a:txBody>
                        <a:bodyPr/>
                        <a:lstStyle/>
                        <a:p>
                          <a:pPr algn="ctr">
                            <a:buNone/>
                          </a:pPr>
                          <a:r>
                            <a:rPr lang="en-ZA" sz="1400" dirty="0">
                              <a:solidFill>
                                <a:srgbClr val="202C8F"/>
                              </a:solidFill>
                            </a:rPr>
                            <a:t>Demographic Profile</a:t>
                          </a:r>
                        </a:p>
                      </a:txBody>
                      <a:tcPr anchor="ctr"/>
                    </a:tc>
                    <a:tc>
                      <a:txBody>
                        <a:bodyPr/>
                        <a:lstStyle/>
                        <a:p>
                          <a:pPr>
                            <a:buNone/>
                          </a:pPr>
                          <a:r>
                            <a:rPr lang="en-US" sz="1400" dirty="0">
                              <a:solidFill>
                                <a:srgbClr val="202C8F"/>
                              </a:solidFill>
                            </a:rPr>
                            <a:t>Customer Table</a:t>
                          </a:r>
                        </a:p>
                      </a:txBody>
                      <a:tcPr marL="87027" marR="87027" marT="43513" marB="43513" anchor="ctr"/>
                    </a:tc>
                    <a:extLst>
                      <a:ext uri="{0D108BD9-81ED-4DB2-BD59-A6C34878D82A}">
                        <a16:rowId xmlns:a16="http://schemas.microsoft.com/office/drawing/2014/main" val="1710071354"/>
                      </a:ext>
                    </a:extLst>
                  </a:tr>
                  <a:tr h="314135">
                    <a:tc>
                      <a:txBody>
                        <a:bodyPr/>
                        <a:lstStyle/>
                        <a:p>
                          <a:endParaRPr lang="en-US"/>
                        </a:p>
                      </a:txBody>
                      <a:tcPr anchor="ctr">
                        <a:blipFill>
                          <a:blip r:embed="rId4"/>
                          <a:stretch>
                            <a:fillRect l="-524" t="-870588" r="-914660" b="-121569"/>
                          </a:stretch>
                        </a:blipFill>
                      </a:tcPr>
                    </a:tc>
                    <a:tc>
                      <a:txBody>
                        <a:bodyPr/>
                        <a:lstStyle/>
                        <a:p>
                          <a:pPr algn="ctr">
                            <a:buNone/>
                          </a:pPr>
                          <a:r>
                            <a:rPr lang="en-ZA" sz="1400">
                              <a:solidFill>
                                <a:srgbClr val="202C8F"/>
                              </a:solidFill>
                            </a:rPr>
                            <a:t>Geographic profile</a:t>
                          </a:r>
                        </a:p>
                      </a:txBody>
                      <a:tcPr anchor="ctr"/>
                    </a:tc>
                    <a:tc>
                      <a:txBody>
                        <a:bodyPr/>
                        <a:lstStyle/>
                        <a:p>
                          <a:pPr>
                            <a:buNone/>
                          </a:pPr>
                          <a:r>
                            <a:rPr lang="en-US" sz="1400" dirty="0">
                              <a:solidFill>
                                <a:srgbClr val="202C8F"/>
                              </a:solidFill>
                            </a:rPr>
                            <a:t>Customer table, Dynamic loop table</a:t>
                          </a:r>
                        </a:p>
                      </a:txBody>
                      <a:tcPr marL="87027" marR="87027" marT="43513" marB="43513" anchor="ctr"/>
                    </a:tc>
                    <a:extLst>
                      <a:ext uri="{0D108BD9-81ED-4DB2-BD59-A6C34878D82A}">
                        <a16:rowId xmlns:a16="http://schemas.microsoft.com/office/drawing/2014/main" val="868845379"/>
                      </a:ext>
                    </a:extLst>
                  </a:tr>
                  <a:tr h="314135">
                    <a:tc>
                      <a:txBody>
                        <a:bodyPr/>
                        <a:lstStyle/>
                        <a:p>
                          <a:endParaRPr lang="en-US"/>
                        </a:p>
                      </a:txBody>
                      <a:tcPr anchor="ctr">
                        <a:blipFill>
                          <a:blip r:embed="rId4"/>
                          <a:stretch>
                            <a:fillRect l="-524" t="-951923" r="-914660" b="-19231"/>
                          </a:stretch>
                        </a:blipFill>
                      </a:tcPr>
                    </a:tc>
                    <a:tc>
                      <a:txBody>
                        <a:bodyPr/>
                        <a:lstStyle/>
                        <a:p>
                          <a:pPr algn="ctr">
                            <a:buNone/>
                          </a:pPr>
                          <a:r>
                            <a:rPr lang="en-ZA" sz="1400" dirty="0">
                              <a:solidFill>
                                <a:srgbClr val="202C8F"/>
                              </a:solidFill>
                            </a:rPr>
                            <a:t>Psychographic/persona profile</a:t>
                          </a:r>
                        </a:p>
                      </a:txBody>
                      <a:tcPr anchor="ctr"/>
                    </a:tc>
                    <a:tc>
                      <a:txBody>
                        <a:bodyPr/>
                        <a:lstStyle/>
                        <a:p>
                          <a:pPr>
                            <a:buNone/>
                          </a:pPr>
                          <a:r>
                            <a:rPr lang="en-US" sz="1400" dirty="0">
                              <a:solidFill>
                                <a:srgbClr val="202C8F"/>
                              </a:solidFill>
                            </a:rPr>
                            <a:t>Where it will be stored</a:t>
                          </a:r>
                        </a:p>
                      </a:txBody>
                      <a:tcPr marL="87027" marR="87027" marT="43513" marB="43513" anchor="ctr"/>
                    </a:tc>
                    <a:extLst>
                      <a:ext uri="{0D108BD9-81ED-4DB2-BD59-A6C34878D82A}">
                        <a16:rowId xmlns:a16="http://schemas.microsoft.com/office/drawing/2014/main" val="1345940381"/>
                      </a:ext>
                    </a:extLst>
                  </a:tr>
                </a:tbl>
              </a:graphicData>
            </a:graphic>
          </p:graphicFrame>
        </mc:Fallback>
      </mc:AlternateContent>
      <p:sp>
        <p:nvSpPr>
          <p:cNvPr id="12" name="TextBox 11">
            <a:extLst>
              <a:ext uri="{FF2B5EF4-FFF2-40B4-BE49-F238E27FC236}">
                <a16:creationId xmlns:a16="http://schemas.microsoft.com/office/drawing/2014/main" id="{6072B402-A9A7-B030-C0C2-5DB33548A6BE}"/>
              </a:ext>
            </a:extLst>
          </p:cNvPr>
          <p:cNvSpPr txBox="1"/>
          <p:nvPr/>
        </p:nvSpPr>
        <p:spPr>
          <a:xfrm>
            <a:off x="1161312" y="5303840"/>
            <a:ext cx="8396344" cy="369332"/>
          </a:xfrm>
          <a:prstGeom prst="rect">
            <a:avLst/>
          </a:prstGeom>
          <a:solidFill>
            <a:schemeClr val="bg2">
              <a:lumMod val="10000"/>
              <a:lumOff val="90000"/>
            </a:schemeClr>
          </a:solidFill>
        </p:spPr>
        <p:txBody>
          <a:bodyPr wrap="square">
            <a:spAutoFit/>
          </a:bodyPr>
          <a:lstStyle/>
          <a:p>
            <a:r>
              <a:rPr lang="en-ZA" dirty="0">
                <a:solidFill>
                  <a:srgbClr val="202C8F"/>
                </a:solidFill>
              </a:rPr>
              <a:t>S</a:t>
            </a:r>
            <a:r>
              <a:rPr lang="en-ZA" baseline="-25000" dirty="0">
                <a:solidFill>
                  <a:srgbClr val="202C8F"/>
                </a:solidFill>
              </a:rPr>
              <a:t>1001,0</a:t>
            </a:r>
            <a:r>
              <a:rPr lang="en-ZA" dirty="0">
                <a:solidFill>
                  <a:srgbClr val="202C8F"/>
                </a:solidFill>
              </a:rPr>
              <a:t>​  =  {12 , 8, 2500, 1, 1.00, </a:t>
            </a:r>
            <a:r>
              <a:rPr lang="en-ZA" dirty="0" err="1">
                <a:solidFill>
                  <a:srgbClr val="202C8F"/>
                </a:solidFill>
              </a:rPr>
              <a:t>Fezeka</a:t>
            </a:r>
            <a:r>
              <a:rPr lang="en-ZA" dirty="0">
                <a:solidFill>
                  <a:srgbClr val="202C8F"/>
                </a:solidFill>
              </a:rPr>
              <a:t>  Female  28, </a:t>
            </a:r>
            <a:r>
              <a:rPr lang="en-ZA" dirty="0" err="1">
                <a:solidFill>
                  <a:srgbClr val="202C8F"/>
                </a:solidFill>
              </a:rPr>
              <a:t>CapeTown</a:t>
            </a:r>
            <a:r>
              <a:rPr lang="en-ZA" dirty="0">
                <a:solidFill>
                  <a:srgbClr val="202C8F"/>
                </a:solidFill>
              </a:rPr>
              <a:t>, </a:t>
            </a:r>
            <a:r>
              <a:rPr lang="en-ZA" dirty="0" err="1">
                <a:solidFill>
                  <a:srgbClr val="202C8F"/>
                </a:solidFill>
              </a:rPr>
              <a:t>LoyalCareBuyer</a:t>
            </a:r>
            <a:r>
              <a:rPr lang="en-ZA" dirty="0">
                <a:solidFill>
                  <a:srgbClr val="202C8F"/>
                </a:solidFill>
              </a:rPr>
              <a:t>}</a:t>
            </a:r>
          </a:p>
        </p:txBody>
      </p:sp>
      <p:sp>
        <p:nvSpPr>
          <p:cNvPr id="14" name="TextBox 13">
            <a:extLst>
              <a:ext uri="{FF2B5EF4-FFF2-40B4-BE49-F238E27FC236}">
                <a16:creationId xmlns:a16="http://schemas.microsoft.com/office/drawing/2014/main" id="{4511CD29-A225-5B88-6B00-FEDFDF0233F4}"/>
              </a:ext>
            </a:extLst>
          </p:cNvPr>
          <p:cNvSpPr txBox="1"/>
          <p:nvPr/>
        </p:nvSpPr>
        <p:spPr>
          <a:xfrm>
            <a:off x="104795" y="4864696"/>
            <a:ext cx="9452861" cy="369332"/>
          </a:xfrm>
          <a:prstGeom prst="rect">
            <a:avLst/>
          </a:prstGeom>
          <a:noFill/>
        </p:spPr>
        <p:txBody>
          <a:bodyPr wrap="square">
            <a:spAutoFit/>
          </a:bodyPr>
          <a:lstStyle/>
          <a:p>
            <a:r>
              <a:rPr lang="en-US" b="1" dirty="0">
                <a:solidFill>
                  <a:srgbClr val="202C8F"/>
                </a:solidFill>
              </a:rPr>
              <a:t>Example of a </a:t>
            </a:r>
            <a:r>
              <a:rPr lang="en-US" sz="1800" b="1" dirty="0">
                <a:solidFill>
                  <a:srgbClr val="202C8F"/>
                </a:solidFill>
              </a:rPr>
              <a:t>Customer </a:t>
            </a:r>
            <a:r>
              <a:rPr lang="en-US" sz="1800" b="1" dirty="0">
                <a:solidFill>
                  <a:srgbClr val="006600"/>
                </a:solidFill>
              </a:rPr>
              <a:t>Dynamic Snapshot</a:t>
            </a:r>
            <a:r>
              <a:rPr lang="en-US" sz="1800" b="1" dirty="0">
                <a:solidFill>
                  <a:srgbClr val="202C8F"/>
                </a:solidFill>
              </a:rPr>
              <a:t>  -Customer 1001 is analyzed in </a:t>
            </a:r>
            <a:r>
              <a:rPr lang="en-US" sz="1800" b="1" dirty="0">
                <a:solidFill>
                  <a:srgbClr val="FFC000"/>
                </a:solidFill>
              </a:rPr>
              <a:t>Cycle 0</a:t>
            </a:r>
            <a:endParaRPr lang="en-ZA" sz="1800" b="1" dirty="0">
              <a:solidFill>
                <a:srgbClr val="FFC000"/>
              </a:solidFill>
            </a:endParaRPr>
          </a:p>
        </p:txBody>
      </p:sp>
      <p:sp>
        <p:nvSpPr>
          <p:cNvPr id="15" name="TextBox 14">
            <a:extLst>
              <a:ext uri="{FF2B5EF4-FFF2-40B4-BE49-F238E27FC236}">
                <a16:creationId xmlns:a16="http://schemas.microsoft.com/office/drawing/2014/main" id="{4654D129-A1BD-8375-EBBB-70D124193DF5}"/>
              </a:ext>
            </a:extLst>
          </p:cNvPr>
          <p:cNvSpPr txBox="1"/>
          <p:nvPr/>
        </p:nvSpPr>
        <p:spPr>
          <a:xfrm>
            <a:off x="104794" y="5884974"/>
            <a:ext cx="9452861" cy="369332"/>
          </a:xfrm>
          <a:prstGeom prst="rect">
            <a:avLst/>
          </a:prstGeom>
          <a:noFill/>
        </p:spPr>
        <p:txBody>
          <a:bodyPr wrap="square">
            <a:spAutoFit/>
          </a:bodyPr>
          <a:lstStyle/>
          <a:p>
            <a:r>
              <a:rPr lang="en-US" b="1" dirty="0">
                <a:solidFill>
                  <a:srgbClr val="202C8F"/>
                </a:solidFill>
              </a:rPr>
              <a:t> 		The same </a:t>
            </a:r>
            <a:r>
              <a:rPr lang="en-US" sz="1800" b="1" dirty="0">
                <a:solidFill>
                  <a:srgbClr val="202C8F"/>
                </a:solidFill>
              </a:rPr>
              <a:t>Customer </a:t>
            </a:r>
            <a:r>
              <a:rPr lang="en-US" sz="1800" b="1" dirty="0" err="1">
                <a:solidFill>
                  <a:srgbClr val="202C8F"/>
                </a:solidFill>
              </a:rPr>
              <a:t>Customer</a:t>
            </a:r>
            <a:r>
              <a:rPr lang="en-US" sz="1800" b="1" dirty="0">
                <a:solidFill>
                  <a:srgbClr val="202C8F"/>
                </a:solidFill>
              </a:rPr>
              <a:t> 1001 is analyzed in </a:t>
            </a:r>
            <a:r>
              <a:rPr lang="en-US" sz="1800" b="1" dirty="0">
                <a:solidFill>
                  <a:srgbClr val="FFC000"/>
                </a:solidFill>
              </a:rPr>
              <a:t>Cycle 1</a:t>
            </a:r>
            <a:endParaRPr lang="en-ZA" sz="1800" b="1" dirty="0">
              <a:solidFill>
                <a:srgbClr val="FFC000"/>
              </a:solidFill>
            </a:endParaRPr>
          </a:p>
        </p:txBody>
      </p:sp>
      <p:sp>
        <p:nvSpPr>
          <p:cNvPr id="17" name="TextBox 16">
            <a:extLst>
              <a:ext uri="{FF2B5EF4-FFF2-40B4-BE49-F238E27FC236}">
                <a16:creationId xmlns:a16="http://schemas.microsoft.com/office/drawing/2014/main" id="{6FAA1BFF-EE38-28A1-2E22-092F105874FE}"/>
              </a:ext>
            </a:extLst>
          </p:cNvPr>
          <p:cNvSpPr txBox="1"/>
          <p:nvPr/>
        </p:nvSpPr>
        <p:spPr>
          <a:xfrm>
            <a:off x="3073182" y="6324118"/>
            <a:ext cx="8396343" cy="369332"/>
          </a:xfrm>
          <a:prstGeom prst="rect">
            <a:avLst/>
          </a:prstGeom>
          <a:solidFill>
            <a:schemeClr val="bg2">
              <a:lumMod val="10000"/>
              <a:lumOff val="90000"/>
            </a:schemeClr>
          </a:solidFill>
        </p:spPr>
        <p:txBody>
          <a:bodyPr wrap="square">
            <a:spAutoFit/>
          </a:bodyPr>
          <a:lstStyle/>
          <a:p>
            <a:r>
              <a:rPr lang="en-ZA" dirty="0">
                <a:solidFill>
                  <a:srgbClr val="202C8F"/>
                </a:solidFill>
              </a:rPr>
              <a:t>S</a:t>
            </a:r>
            <a:r>
              <a:rPr lang="en-ZA" baseline="-25000" dirty="0">
                <a:solidFill>
                  <a:srgbClr val="202C8F"/>
                </a:solidFill>
              </a:rPr>
              <a:t>1001,1</a:t>
            </a:r>
            <a:r>
              <a:rPr lang="en-ZA" dirty="0">
                <a:solidFill>
                  <a:srgbClr val="202C8F"/>
                </a:solidFill>
              </a:rPr>
              <a:t>​  =  {45,2,450,3,0.72, </a:t>
            </a:r>
            <a:r>
              <a:rPr lang="en-ZA" dirty="0" err="1">
                <a:solidFill>
                  <a:srgbClr val="202C8F"/>
                </a:solidFill>
              </a:rPr>
              <a:t>Fezeka</a:t>
            </a:r>
            <a:r>
              <a:rPr lang="en-ZA" dirty="0">
                <a:solidFill>
                  <a:srgbClr val="202C8F"/>
                </a:solidFill>
              </a:rPr>
              <a:t>  Female  28, </a:t>
            </a:r>
            <a:r>
              <a:rPr lang="en-ZA" dirty="0" err="1">
                <a:solidFill>
                  <a:srgbClr val="202C8F"/>
                </a:solidFill>
              </a:rPr>
              <a:t>CapeTown,AtRiskBuyer</a:t>
            </a:r>
            <a:r>
              <a:rPr lang="en-ZA" dirty="0">
                <a:solidFill>
                  <a:srgbClr val="202C8F"/>
                </a:solidFill>
              </a:rPr>
              <a:t>}</a:t>
            </a:r>
          </a:p>
        </p:txBody>
      </p:sp>
      <p:sp>
        <p:nvSpPr>
          <p:cNvPr id="18" name="Arrow: Bent 17">
            <a:extLst>
              <a:ext uri="{FF2B5EF4-FFF2-40B4-BE49-F238E27FC236}">
                <a16:creationId xmlns:a16="http://schemas.microsoft.com/office/drawing/2014/main" id="{9A2E3E50-49D2-D6F9-0B5E-030A9F230AB0}"/>
              </a:ext>
            </a:extLst>
          </p:cNvPr>
          <p:cNvSpPr/>
          <p:nvPr/>
        </p:nvSpPr>
        <p:spPr>
          <a:xfrm flipV="1">
            <a:off x="674913" y="5261691"/>
            <a:ext cx="261257" cy="856080"/>
          </a:xfrm>
          <a:prstGeom prst="bentArrow">
            <a:avLst/>
          </a:prstGeom>
          <a:solidFill>
            <a:schemeClr val="bg2">
              <a:lumMod val="25000"/>
              <a:lumOff val="75000"/>
            </a:schemeClr>
          </a:solidFill>
          <a:ln>
            <a:solidFill>
              <a:schemeClr val="bg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bg2">
                  <a:lumMod val="25000"/>
                  <a:lumOff val="75000"/>
                </a:schemeClr>
              </a:solidFill>
            </a:endParaRPr>
          </a:p>
        </p:txBody>
      </p:sp>
    </p:spTree>
    <p:extLst>
      <p:ext uri="{BB962C8B-B14F-4D97-AF65-F5344CB8AC3E}">
        <p14:creationId xmlns:p14="http://schemas.microsoft.com/office/powerpoint/2010/main" val="404963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99E0159-36D7-29D6-F50D-321B089FA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786AB-90CB-8693-C241-5A39194E8BFB}"/>
              </a:ext>
            </a:extLst>
          </p:cNvPr>
          <p:cNvSpPr>
            <a:spLocks noGrp="1"/>
          </p:cNvSpPr>
          <p:nvPr>
            <p:ph type="title"/>
          </p:nvPr>
        </p:nvSpPr>
        <p:spPr>
          <a:xfrm>
            <a:off x="1979819" y="171259"/>
            <a:ext cx="7577836" cy="674739"/>
          </a:xfrm>
        </p:spPr>
        <p:txBody>
          <a:bodyPr>
            <a:normAutofit/>
          </a:bodyPr>
          <a:lstStyle/>
          <a:p>
            <a:r>
              <a:rPr lang="en-ZA" sz="3200" dirty="0">
                <a:solidFill>
                  <a:srgbClr val="202C8F"/>
                </a:solidFill>
                <a:latin typeface="Arial Black" panose="020B0A04020102020204" pitchFamily="34" charset="0"/>
              </a:rPr>
              <a:t>Database Creation – </a:t>
            </a:r>
            <a:r>
              <a:rPr lang="en-US" sz="3200" b="1" dirty="0">
                <a:solidFill>
                  <a:srgbClr val="202C8F"/>
                </a:solidFill>
              </a:rPr>
              <a:t>DB Algorithm</a:t>
            </a:r>
            <a:endParaRPr lang="en-ZA" sz="3200" dirty="0">
              <a:solidFill>
                <a:srgbClr val="202C8F"/>
              </a:solidFill>
              <a:latin typeface="Arial Black" panose="020B0A04020102020204" pitchFamily="34" charset="0"/>
            </a:endParaRPr>
          </a:p>
        </p:txBody>
      </p:sp>
      <p:sp>
        <p:nvSpPr>
          <p:cNvPr id="4" name="TextBox 3">
            <a:extLst>
              <a:ext uri="{FF2B5EF4-FFF2-40B4-BE49-F238E27FC236}">
                <a16:creationId xmlns:a16="http://schemas.microsoft.com/office/drawing/2014/main" id="{B5FB2C65-886F-AA28-63DF-EC4FEA87D0FC}"/>
              </a:ext>
            </a:extLst>
          </p:cNvPr>
          <p:cNvSpPr txBox="1"/>
          <p:nvPr/>
        </p:nvSpPr>
        <p:spPr>
          <a:xfrm>
            <a:off x="5905501" y="1233468"/>
            <a:ext cx="6199413" cy="5262979"/>
          </a:xfrm>
          <a:prstGeom prst="rect">
            <a:avLst/>
          </a:prstGeom>
          <a:noFill/>
        </p:spPr>
        <p:txBody>
          <a:bodyPr wrap="square">
            <a:spAutoFit/>
          </a:bodyPr>
          <a:lstStyle/>
          <a:p>
            <a:r>
              <a:rPr lang="en-ZA" sz="1600" i="1" dirty="0">
                <a:solidFill>
                  <a:schemeClr val="accent1"/>
                </a:solidFill>
              </a:rPr>
              <a:t>Step 1: Create </a:t>
            </a:r>
            <a:r>
              <a:rPr lang="en-ZA" sz="1600" i="1" dirty="0">
                <a:solidFill>
                  <a:srgbClr val="FFC000"/>
                </a:solidFill>
              </a:rPr>
              <a:t>Customer table</a:t>
            </a:r>
          </a:p>
          <a:p>
            <a:r>
              <a:rPr lang="en-ZA" sz="1600" i="1" dirty="0">
                <a:solidFill>
                  <a:schemeClr val="accent1"/>
                </a:solidFill>
              </a:rPr>
              <a:t>        </a:t>
            </a:r>
            <a:r>
              <a:rPr lang="en-ZA" sz="1600" i="1" dirty="0">
                <a:solidFill>
                  <a:schemeClr val="accent5"/>
                </a:solidFill>
              </a:rPr>
              <a:t>Store</a:t>
            </a:r>
            <a:r>
              <a:rPr lang="en-ZA" sz="1600" i="1" dirty="0">
                <a:solidFill>
                  <a:schemeClr val="accent1"/>
                </a:solidFill>
              </a:rPr>
              <a:t> unique </a:t>
            </a:r>
            <a:r>
              <a:rPr lang="en-ZA" sz="1600" i="1" dirty="0">
                <a:solidFill>
                  <a:srgbClr val="00B050"/>
                </a:solidFill>
              </a:rPr>
              <a:t>CustomerID</a:t>
            </a:r>
            <a:r>
              <a:rPr lang="en-ZA" sz="1600" i="1" dirty="0">
                <a:solidFill>
                  <a:schemeClr val="accent1"/>
                </a:solidFill>
              </a:rPr>
              <a:t> and profile variables.</a:t>
            </a:r>
          </a:p>
          <a:p>
            <a:endParaRPr lang="en-ZA" sz="1600" i="1" dirty="0">
              <a:solidFill>
                <a:schemeClr val="accent1"/>
              </a:solidFill>
            </a:endParaRPr>
          </a:p>
          <a:p>
            <a:r>
              <a:rPr lang="en-ZA" sz="1600" i="1" dirty="0">
                <a:solidFill>
                  <a:schemeClr val="accent1"/>
                </a:solidFill>
              </a:rPr>
              <a:t>Step 2: Create </a:t>
            </a:r>
            <a:r>
              <a:rPr lang="en-ZA" sz="1600" i="1" dirty="0" err="1">
                <a:solidFill>
                  <a:srgbClr val="FFC000"/>
                </a:solidFill>
              </a:rPr>
              <a:t>Data_Preprocessing_Results</a:t>
            </a:r>
            <a:r>
              <a:rPr lang="en-ZA" sz="1600" i="1" dirty="0">
                <a:solidFill>
                  <a:srgbClr val="FFC000"/>
                </a:solidFill>
              </a:rPr>
              <a:t> table</a:t>
            </a:r>
          </a:p>
          <a:p>
            <a:r>
              <a:rPr lang="en-ZA" sz="1600" i="1" dirty="0">
                <a:solidFill>
                  <a:schemeClr val="accent1"/>
                </a:solidFill>
              </a:rPr>
              <a:t>        </a:t>
            </a:r>
            <a:r>
              <a:rPr lang="en-ZA" sz="1600" i="1" dirty="0">
                <a:solidFill>
                  <a:schemeClr val="accent5"/>
                </a:solidFill>
              </a:rPr>
              <a:t>Store</a:t>
            </a:r>
            <a:r>
              <a:rPr lang="en-ZA" sz="1600" i="1" dirty="0">
                <a:solidFill>
                  <a:schemeClr val="accent1"/>
                </a:solidFill>
              </a:rPr>
              <a:t> </a:t>
            </a:r>
            <a:r>
              <a:rPr lang="en-ZA" sz="1600" i="1" dirty="0">
                <a:solidFill>
                  <a:schemeClr val="bg2">
                    <a:lumMod val="50000"/>
                    <a:lumOff val="50000"/>
                  </a:schemeClr>
                </a:solidFill>
              </a:rPr>
              <a:t>cleaned RFM</a:t>
            </a:r>
            <a:r>
              <a:rPr lang="en-ZA" sz="1600" i="1" dirty="0">
                <a:solidFill>
                  <a:schemeClr val="accent1"/>
                </a:solidFill>
              </a:rPr>
              <a:t>, </a:t>
            </a:r>
            <a:r>
              <a:rPr lang="en-ZA" sz="1600" i="1" dirty="0">
                <a:solidFill>
                  <a:schemeClr val="bg2">
                    <a:lumMod val="50000"/>
                    <a:lumOff val="50000"/>
                  </a:schemeClr>
                </a:solidFill>
              </a:rPr>
              <a:t>cascaded RFM</a:t>
            </a:r>
            <a:r>
              <a:rPr lang="en-ZA" sz="1600" i="1" dirty="0">
                <a:solidFill>
                  <a:schemeClr val="accent1"/>
                </a:solidFill>
              </a:rPr>
              <a:t>, scaled and transformed features.</a:t>
            </a:r>
          </a:p>
          <a:p>
            <a:endParaRPr lang="en-ZA" sz="1600" i="1" dirty="0">
              <a:solidFill>
                <a:schemeClr val="accent1"/>
              </a:solidFill>
            </a:endParaRPr>
          </a:p>
          <a:p>
            <a:r>
              <a:rPr lang="en-ZA" sz="1600" i="1" dirty="0">
                <a:solidFill>
                  <a:schemeClr val="accent1"/>
                </a:solidFill>
              </a:rPr>
              <a:t>Step 3: Create</a:t>
            </a:r>
            <a:r>
              <a:rPr lang="en-ZA" sz="1600" i="1" dirty="0">
                <a:solidFill>
                  <a:schemeClr val="accent5"/>
                </a:solidFill>
              </a:rPr>
              <a:t> </a:t>
            </a:r>
            <a:r>
              <a:rPr lang="en-ZA" sz="1600" i="1" dirty="0">
                <a:solidFill>
                  <a:srgbClr val="FFC000"/>
                </a:solidFill>
              </a:rPr>
              <a:t>Time_Cycle_0_Segmentation table</a:t>
            </a:r>
          </a:p>
          <a:p>
            <a:r>
              <a:rPr lang="en-ZA" sz="1600" i="1" dirty="0">
                <a:solidFill>
                  <a:schemeClr val="accent1"/>
                </a:solidFill>
              </a:rPr>
              <a:t>        </a:t>
            </a:r>
            <a:r>
              <a:rPr lang="en-ZA" sz="1600" i="1" dirty="0">
                <a:solidFill>
                  <a:schemeClr val="accent5"/>
                </a:solidFill>
              </a:rPr>
              <a:t>Store </a:t>
            </a:r>
            <a:r>
              <a:rPr lang="en-ZA" sz="1600" i="1" dirty="0">
                <a:solidFill>
                  <a:schemeClr val="bg2">
                    <a:lumMod val="50000"/>
                    <a:lumOff val="50000"/>
                  </a:schemeClr>
                </a:solidFill>
              </a:rPr>
              <a:t>K-means</a:t>
            </a:r>
            <a:r>
              <a:rPr lang="en-ZA" sz="1600" i="1" dirty="0">
                <a:solidFill>
                  <a:schemeClr val="accent1"/>
                </a:solidFill>
              </a:rPr>
              <a:t> </a:t>
            </a:r>
            <a:r>
              <a:rPr lang="en-ZA" sz="1600" i="1" dirty="0">
                <a:solidFill>
                  <a:srgbClr val="00B0F0"/>
                </a:solidFill>
              </a:rPr>
              <a:t>baseline labels, centroids and evaluation metrics</a:t>
            </a:r>
            <a:r>
              <a:rPr lang="en-ZA" sz="1600" i="1" dirty="0">
                <a:solidFill>
                  <a:schemeClr val="accent1"/>
                </a:solidFill>
              </a:rPr>
              <a:t>.</a:t>
            </a:r>
          </a:p>
          <a:p>
            <a:endParaRPr lang="en-ZA" sz="1600" i="1" dirty="0">
              <a:solidFill>
                <a:schemeClr val="accent1"/>
              </a:solidFill>
            </a:endParaRPr>
          </a:p>
          <a:p>
            <a:r>
              <a:rPr lang="en-ZA" sz="1600" i="1" dirty="0">
                <a:solidFill>
                  <a:schemeClr val="accent1"/>
                </a:solidFill>
              </a:rPr>
              <a:t>Step 4: Create </a:t>
            </a:r>
            <a:r>
              <a:rPr lang="en-ZA" sz="1600" i="1" dirty="0" err="1">
                <a:solidFill>
                  <a:srgbClr val="FFC000"/>
                </a:solidFill>
              </a:rPr>
              <a:t>Dynamic_Loop_Results</a:t>
            </a:r>
            <a:r>
              <a:rPr lang="en-ZA" sz="1600" i="1" dirty="0">
                <a:solidFill>
                  <a:srgbClr val="FFC000"/>
                </a:solidFill>
              </a:rPr>
              <a:t> table</a:t>
            </a:r>
          </a:p>
          <a:p>
            <a:r>
              <a:rPr lang="en-ZA" sz="1600" i="1" dirty="0">
                <a:solidFill>
                  <a:schemeClr val="accent1"/>
                </a:solidFill>
              </a:rPr>
              <a:t>        </a:t>
            </a:r>
            <a:r>
              <a:rPr lang="en-ZA" sz="1600" i="1" dirty="0">
                <a:solidFill>
                  <a:schemeClr val="accent5"/>
                </a:solidFill>
              </a:rPr>
              <a:t>For each</a:t>
            </a:r>
            <a:r>
              <a:rPr lang="en-ZA" sz="1600" i="1" dirty="0">
                <a:solidFill>
                  <a:schemeClr val="accent1"/>
                </a:solidFill>
              </a:rPr>
              <a:t> time cycle t = 1 </a:t>
            </a:r>
            <a:r>
              <a:rPr lang="en-ZA" sz="1600" i="1" dirty="0">
                <a:solidFill>
                  <a:schemeClr val="accent5"/>
                </a:solidFill>
              </a:rPr>
              <a:t>to</a:t>
            </a:r>
            <a:r>
              <a:rPr lang="en-ZA" sz="1600" i="1" dirty="0">
                <a:solidFill>
                  <a:schemeClr val="accent1"/>
                </a:solidFill>
              </a:rPr>
              <a:t> n:</a:t>
            </a:r>
          </a:p>
          <a:p>
            <a:r>
              <a:rPr lang="en-ZA" sz="1600" i="1" dirty="0">
                <a:solidFill>
                  <a:schemeClr val="accent1"/>
                </a:solidFill>
              </a:rPr>
              <a:t>            </a:t>
            </a:r>
            <a:r>
              <a:rPr lang="en-ZA" sz="1600" i="1" dirty="0">
                <a:solidFill>
                  <a:schemeClr val="accent5"/>
                </a:solidFill>
              </a:rPr>
              <a:t>Store</a:t>
            </a:r>
            <a:r>
              <a:rPr lang="en-ZA" sz="1600" i="1" dirty="0">
                <a:solidFill>
                  <a:schemeClr val="accent1"/>
                </a:solidFill>
              </a:rPr>
              <a:t> </a:t>
            </a:r>
            <a:r>
              <a:rPr lang="en-ZA" sz="1600" i="1" dirty="0">
                <a:solidFill>
                  <a:schemeClr val="bg2">
                    <a:lumMod val="50000"/>
                    <a:lumOff val="50000"/>
                  </a:schemeClr>
                </a:solidFill>
              </a:rPr>
              <a:t>MDFCM </a:t>
            </a:r>
            <a:r>
              <a:rPr lang="en-ZA" sz="1600" i="1" dirty="0">
                <a:solidFill>
                  <a:schemeClr val="accent1"/>
                </a:solidFill>
              </a:rPr>
              <a:t>updated clusters.</a:t>
            </a:r>
          </a:p>
          <a:p>
            <a:r>
              <a:rPr lang="en-ZA" sz="1600" i="1" dirty="0">
                <a:solidFill>
                  <a:schemeClr val="accent1"/>
                </a:solidFill>
              </a:rPr>
              <a:t>            </a:t>
            </a:r>
            <a:r>
              <a:rPr lang="en-ZA" sz="1600" i="1" dirty="0">
                <a:solidFill>
                  <a:schemeClr val="accent5"/>
                </a:solidFill>
              </a:rPr>
              <a:t>Store</a:t>
            </a:r>
            <a:r>
              <a:rPr lang="en-ZA" sz="1600" i="1" dirty="0">
                <a:solidFill>
                  <a:schemeClr val="accent1"/>
                </a:solidFill>
              </a:rPr>
              <a:t> </a:t>
            </a:r>
            <a:r>
              <a:rPr lang="en-ZA" sz="1600" i="1" dirty="0">
                <a:solidFill>
                  <a:schemeClr val="bg2">
                    <a:lumMod val="50000"/>
                    <a:lumOff val="50000"/>
                  </a:schemeClr>
                </a:solidFill>
              </a:rPr>
              <a:t>fuzzy membership</a:t>
            </a:r>
            <a:r>
              <a:rPr lang="en-ZA" sz="1600" i="1" dirty="0">
                <a:solidFill>
                  <a:schemeClr val="accent1"/>
                </a:solidFill>
              </a:rPr>
              <a:t> values.</a:t>
            </a:r>
          </a:p>
          <a:p>
            <a:r>
              <a:rPr lang="en-ZA" sz="1600" i="1" dirty="0">
                <a:solidFill>
                  <a:schemeClr val="accent1"/>
                </a:solidFill>
              </a:rPr>
              <a:t>            </a:t>
            </a:r>
            <a:r>
              <a:rPr lang="en-ZA" sz="1600" i="1" dirty="0">
                <a:solidFill>
                  <a:schemeClr val="accent5"/>
                </a:solidFill>
              </a:rPr>
              <a:t>Store</a:t>
            </a:r>
            <a:r>
              <a:rPr lang="en-ZA" sz="1600" i="1" dirty="0">
                <a:solidFill>
                  <a:schemeClr val="accent1"/>
                </a:solidFill>
              </a:rPr>
              <a:t> customer migration status.</a:t>
            </a:r>
          </a:p>
          <a:p>
            <a:r>
              <a:rPr lang="en-ZA" sz="1600" i="1" dirty="0">
                <a:solidFill>
                  <a:schemeClr val="accent1"/>
                </a:solidFill>
              </a:rPr>
              <a:t>            </a:t>
            </a:r>
            <a:r>
              <a:rPr lang="en-ZA" sz="1600" i="1" dirty="0">
                <a:solidFill>
                  <a:schemeClr val="accent5"/>
                </a:solidFill>
              </a:rPr>
              <a:t>Store</a:t>
            </a:r>
            <a:r>
              <a:rPr lang="en-ZA" sz="1600" i="1" dirty="0">
                <a:solidFill>
                  <a:schemeClr val="accent1"/>
                </a:solidFill>
              </a:rPr>
              <a:t> updated </a:t>
            </a:r>
            <a:r>
              <a:rPr lang="en-ZA" sz="1600" i="1" dirty="0">
                <a:solidFill>
                  <a:srgbClr val="00B0F0"/>
                </a:solidFill>
              </a:rPr>
              <a:t>centroids</a:t>
            </a:r>
            <a:r>
              <a:rPr lang="en-ZA" sz="1600" i="1" dirty="0">
                <a:solidFill>
                  <a:schemeClr val="accent1"/>
                </a:solidFill>
              </a:rPr>
              <a:t> and </a:t>
            </a:r>
            <a:r>
              <a:rPr lang="en-ZA" sz="1600" i="1" dirty="0">
                <a:solidFill>
                  <a:srgbClr val="00B0F0"/>
                </a:solidFill>
              </a:rPr>
              <a:t>validation scores</a:t>
            </a:r>
            <a:r>
              <a:rPr lang="en-ZA" sz="1600" i="1" dirty="0">
                <a:solidFill>
                  <a:schemeClr val="accent1"/>
                </a:solidFill>
              </a:rPr>
              <a:t>.</a:t>
            </a:r>
          </a:p>
          <a:p>
            <a:endParaRPr lang="en-ZA" sz="1600" i="1" dirty="0">
              <a:solidFill>
                <a:schemeClr val="accent1"/>
              </a:solidFill>
            </a:endParaRPr>
          </a:p>
          <a:p>
            <a:r>
              <a:rPr lang="en-ZA" sz="1600" i="1" dirty="0">
                <a:solidFill>
                  <a:schemeClr val="accent1"/>
                </a:solidFill>
              </a:rPr>
              <a:t>Step 5: </a:t>
            </a:r>
            <a:r>
              <a:rPr lang="en-ZA" sz="1600" i="1" dirty="0">
                <a:solidFill>
                  <a:schemeClr val="accent5"/>
                </a:solidFill>
              </a:rPr>
              <a:t>Link</a:t>
            </a:r>
            <a:r>
              <a:rPr lang="en-ZA" sz="1600" i="1" dirty="0">
                <a:solidFill>
                  <a:schemeClr val="accent1"/>
                </a:solidFill>
              </a:rPr>
              <a:t> all tables using </a:t>
            </a:r>
            <a:r>
              <a:rPr lang="en-ZA" sz="1600" i="1" dirty="0">
                <a:solidFill>
                  <a:srgbClr val="00B050"/>
                </a:solidFill>
              </a:rPr>
              <a:t>CustomerID</a:t>
            </a:r>
            <a:r>
              <a:rPr lang="en-ZA" sz="1600" i="1" dirty="0">
                <a:solidFill>
                  <a:schemeClr val="accent1"/>
                </a:solidFill>
              </a:rPr>
              <a:t> and </a:t>
            </a:r>
            <a:r>
              <a:rPr lang="en-ZA" sz="1600" i="1" dirty="0" err="1">
                <a:solidFill>
                  <a:srgbClr val="00B050"/>
                </a:solidFill>
              </a:rPr>
              <a:t>CycleID</a:t>
            </a:r>
            <a:r>
              <a:rPr lang="en-ZA" sz="1600" i="1" dirty="0">
                <a:solidFill>
                  <a:schemeClr val="accent1"/>
                </a:solidFill>
              </a:rPr>
              <a:t>.</a:t>
            </a:r>
          </a:p>
          <a:p>
            <a:endParaRPr lang="en-ZA" sz="1600" i="1" dirty="0">
              <a:solidFill>
                <a:schemeClr val="accent1"/>
              </a:solidFill>
            </a:endParaRPr>
          </a:p>
          <a:p>
            <a:r>
              <a:rPr lang="en-ZA" sz="1600" i="1" dirty="0">
                <a:solidFill>
                  <a:schemeClr val="accent5"/>
                </a:solidFill>
              </a:rPr>
              <a:t>Return:</a:t>
            </a:r>
          </a:p>
          <a:p>
            <a:r>
              <a:rPr lang="en-ZA" sz="1600" i="1" dirty="0">
                <a:solidFill>
                  <a:schemeClr val="accent1"/>
                </a:solidFill>
              </a:rPr>
              <a:t>    Database ready for model execution and dashboard retrieval.</a:t>
            </a:r>
          </a:p>
        </p:txBody>
      </p:sp>
      <p:sp>
        <p:nvSpPr>
          <p:cNvPr id="6" name="TextBox 5">
            <a:extLst>
              <a:ext uri="{FF2B5EF4-FFF2-40B4-BE49-F238E27FC236}">
                <a16:creationId xmlns:a16="http://schemas.microsoft.com/office/drawing/2014/main" id="{72A8CE11-8EFE-C030-9BC5-BCAA7A215B8C}"/>
              </a:ext>
            </a:extLst>
          </p:cNvPr>
          <p:cNvSpPr txBox="1"/>
          <p:nvPr/>
        </p:nvSpPr>
        <p:spPr>
          <a:xfrm>
            <a:off x="87086" y="4844549"/>
            <a:ext cx="5225143" cy="923330"/>
          </a:xfrm>
          <a:prstGeom prst="rect">
            <a:avLst/>
          </a:prstGeom>
          <a:solidFill>
            <a:schemeClr val="accent6">
              <a:lumMod val="20000"/>
              <a:lumOff val="80000"/>
            </a:schemeClr>
          </a:solidFill>
        </p:spPr>
        <p:txBody>
          <a:bodyPr wrap="square">
            <a:spAutoFit/>
          </a:bodyPr>
          <a:lstStyle/>
          <a:p>
            <a:r>
              <a:rPr lang="en-ZA" sz="1800" dirty="0">
                <a:solidFill>
                  <a:schemeClr val="accent1"/>
                </a:solidFill>
              </a:rPr>
              <a:t>Output:</a:t>
            </a:r>
          </a:p>
          <a:p>
            <a:r>
              <a:rPr lang="en-ZA" sz="1800" dirty="0">
                <a:solidFill>
                  <a:schemeClr val="accent1"/>
                </a:solidFill>
              </a:rPr>
              <a:t>    Relational database containing customer </a:t>
            </a:r>
            <a:r>
              <a:rPr lang="en-ZA" dirty="0">
                <a:solidFill>
                  <a:schemeClr val="accent1"/>
                </a:solidFill>
              </a:rPr>
              <a:t>states</a:t>
            </a:r>
            <a:r>
              <a:rPr lang="en-ZA" sz="1800" dirty="0">
                <a:solidFill>
                  <a:schemeClr val="accent1"/>
                </a:solidFill>
              </a:rPr>
              <a:t> </a:t>
            </a:r>
          </a:p>
          <a:p>
            <a:r>
              <a:rPr lang="en-ZA" sz="1800" dirty="0">
                <a:solidFill>
                  <a:schemeClr val="accent1"/>
                </a:solidFill>
              </a:rPr>
              <a:t>and segmentation history</a:t>
            </a:r>
          </a:p>
        </p:txBody>
      </p:sp>
      <p:sp>
        <p:nvSpPr>
          <p:cNvPr id="8" name="TextBox 7">
            <a:extLst>
              <a:ext uri="{FF2B5EF4-FFF2-40B4-BE49-F238E27FC236}">
                <a16:creationId xmlns:a16="http://schemas.microsoft.com/office/drawing/2014/main" id="{D0B48A80-881B-63AC-323F-FC93CD1AF552}"/>
              </a:ext>
            </a:extLst>
          </p:cNvPr>
          <p:cNvSpPr txBox="1"/>
          <p:nvPr/>
        </p:nvSpPr>
        <p:spPr>
          <a:xfrm>
            <a:off x="223850" y="1273675"/>
            <a:ext cx="3488179" cy="1200329"/>
          </a:xfrm>
          <a:prstGeom prst="rect">
            <a:avLst/>
          </a:prstGeom>
          <a:solidFill>
            <a:schemeClr val="bg2">
              <a:lumMod val="10000"/>
              <a:lumOff val="90000"/>
            </a:schemeClr>
          </a:solidFill>
        </p:spPr>
        <p:txBody>
          <a:bodyPr wrap="square">
            <a:spAutoFit/>
          </a:bodyPr>
          <a:lstStyle/>
          <a:p>
            <a:r>
              <a:rPr lang="en-ZA" sz="1800" dirty="0">
                <a:solidFill>
                  <a:schemeClr val="accent1"/>
                </a:solidFill>
              </a:rPr>
              <a:t>Input:</a:t>
            </a:r>
          </a:p>
          <a:p>
            <a:r>
              <a:rPr lang="en-ZA" sz="1800" dirty="0">
                <a:solidFill>
                  <a:schemeClr val="accent1"/>
                </a:solidFill>
              </a:rPr>
              <a:t>    Cleaned transaction dataset D</a:t>
            </a:r>
          </a:p>
          <a:p>
            <a:r>
              <a:rPr lang="en-ZA" sz="1800" dirty="0">
                <a:solidFill>
                  <a:schemeClr val="accent1"/>
                </a:solidFill>
              </a:rPr>
              <a:t>    Customer profile variables P</a:t>
            </a:r>
          </a:p>
          <a:p>
            <a:r>
              <a:rPr lang="en-ZA" sz="1800" dirty="0">
                <a:solidFill>
                  <a:schemeClr val="accent1"/>
                </a:solidFill>
              </a:rPr>
              <a:t>    Time cycles T = {0, 1, 2, ..., n}</a:t>
            </a:r>
          </a:p>
        </p:txBody>
      </p:sp>
      <p:cxnSp>
        <p:nvCxnSpPr>
          <p:cNvPr id="10" name="Straight Arrow Connector 9">
            <a:extLst>
              <a:ext uri="{FF2B5EF4-FFF2-40B4-BE49-F238E27FC236}">
                <a16:creationId xmlns:a16="http://schemas.microsoft.com/office/drawing/2014/main" id="{C5D198CE-FDCD-3EE1-195D-B16AF42A6F07}"/>
              </a:ext>
            </a:extLst>
          </p:cNvPr>
          <p:cNvCxnSpPr>
            <a:cxnSpLocks/>
          </p:cNvCxnSpPr>
          <p:nvPr/>
        </p:nvCxnSpPr>
        <p:spPr>
          <a:xfrm flipV="1">
            <a:off x="3592286" y="1807029"/>
            <a:ext cx="2895600" cy="239485"/>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7A55C64-2E31-D061-0113-E85457EB3F8B}"/>
              </a:ext>
            </a:extLst>
          </p:cNvPr>
          <p:cNvSpPr txBox="1"/>
          <p:nvPr/>
        </p:nvSpPr>
        <p:spPr>
          <a:xfrm rot="21303074">
            <a:off x="4305300" y="1614484"/>
            <a:ext cx="1469571" cy="369332"/>
          </a:xfrm>
          <a:prstGeom prst="rect">
            <a:avLst/>
          </a:prstGeom>
          <a:noFill/>
        </p:spPr>
        <p:txBody>
          <a:bodyPr wrap="square" rtlCol="0">
            <a:spAutoFit/>
          </a:bodyPr>
          <a:lstStyle/>
          <a:p>
            <a:r>
              <a:rPr lang="en-ZA" dirty="0">
                <a:solidFill>
                  <a:schemeClr val="bg1">
                    <a:lumMod val="50000"/>
                    <a:lumOff val="50000"/>
                  </a:schemeClr>
                </a:solidFill>
              </a:rPr>
              <a:t>Loading </a:t>
            </a:r>
          </a:p>
        </p:txBody>
      </p:sp>
      <p:cxnSp>
        <p:nvCxnSpPr>
          <p:cNvPr id="21" name="Straight Arrow Connector 20">
            <a:extLst>
              <a:ext uri="{FF2B5EF4-FFF2-40B4-BE49-F238E27FC236}">
                <a16:creationId xmlns:a16="http://schemas.microsoft.com/office/drawing/2014/main" id="{41932F6D-602F-A17E-98F4-5929C94F8051}"/>
              </a:ext>
            </a:extLst>
          </p:cNvPr>
          <p:cNvCxnSpPr>
            <a:cxnSpLocks/>
          </p:cNvCxnSpPr>
          <p:nvPr/>
        </p:nvCxnSpPr>
        <p:spPr>
          <a:xfrm flipH="1" flipV="1">
            <a:off x="3222171" y="5624532"/>
            <a:ext cx="2683330" cy="656525"/>
          </a:xfrm>
          <a:prstGeom prst="straightConnector1">
            <a:avLst/>
          </a:prstGeom>
          <a:ln>
            <a:solidFill>
              <a:schemeClr val="tx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C31FE3F3-9F85-2CAE-37F2-A2F66568B425}"/>
              </a:ext>
            </a:extLst>
          </p:cNvPr>
          <p:cNvSpPr txBox="1"/>
          <p:nvPr/>
        </p:nvSpPr>
        <p:spPr>
          <a:xfrm rot="910174">
            <a:off x="4044336" y="5939478"/>
            <a:ext cx="1360715" cy="369332"/>
          </a:xfrm>
          <a:prstGeom prst="rect">
            <a:avLst/>
          </a:prstGeom>
          <a:noFill/>
        </p:spPr>
        <p:txBody>
          <a:bodyPr wrap="square" rtlCol="0">
            <a:spAutoFit/>
          </a:bodyPr>
          <a:lstStyle/>
          <a:p>
            <a:r>
              <a:rPr lang="en-ZA" dirty="0">
                <a:solidFill>
                  <a:schemeClr val="bg1">
                    <a:lumMod val="50000"/>
                    <a:lumOff val="50000"/>
                  </a:schemeClr>
                </a:solidFill>
              </a:rPr>
              <a:t>Receiving</a:t>
            </a:r>
            <a:r>
              <a:rPr lang="en-ZA" dirty="0">
                <a:solidFill>
                  <a:schemeClr val="accent1"/>
                </a:solidFill>
              </a:rPr>
              <a:t> </a:t>
            </a:r>
          </a:p>
        </p:txBody>
      </p:sp>
    </p:spTree>
    <p:extLst>
      <p:ext uri="{BB962C8B-B14F-4D97-AF65-F5344CB8AC3E}">
        <p14:creationId xmlns:p14="http://schemas.microsoft.com/office/powerpoint/2010/main" val="40706374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F7B3929-3DF1-3E10-DB79-9EF8C7C823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9C9C7-3BAE-3F46-F2E3-F7A7A812A7FC}"/>
              </a:ext>
            </a:extLst>
          </p:cNvPr>
          <p:cNvSpPr>
            <a:spLocks noGrp="1"/>
          </p:cNvSpPr>
          <p:nvPr>
            <p:ph type="title"/>
          </p:nvPr>
        </p:nvSpPr>
        <p:spPr>
          <a:xfrm>
            <a:off x="3054220" y="147527"/>
            <a:ext cx="6786466" cy="530614"/>
          </a:xfrm>
        </p:spPr>
        <p:txBody>
          <a:bodyPr>
            <a:normAutofit fontScale="90000"/>
          </a:bodyPr>
          <a:lstStyle/>
          <a:p>
            <a:r>
              <a:rPr lang="en-ZA" sz="3200" dirty="0">
                <a:solidFill>
                  <a:srgbClr val="202C8F"/>
                </a:solidFill>
                <a:latin typeface="Arial Black" panose="020B0A04020102020204" pitchFamily="34" charset="0"/>
              </a:rPr>
              <a:t>Data Synthesis - </a:t>
            </a:r>
            <a:r>
              <a:rPr lang="en-ZA" sz="3200" b="1" dirty="0">
                <a:solidFill>
                  <a:srgbClr val="202C8F"/>
                </a:solidFill>
              </a:rPr>
              <a:t>Purpose</a:t>
            </a:r>
          </a:p>
        </p:txBody>
      </p:sp>
      <p:graphicFrame>
        <p:nvGraphicFramePr>
          <p:cNvPr id="3" name="Table 2">
            <a:extLst>
              <a:ext uri="{FF2B5EF4-FFF2-40B4-BE49-F238E27FC236}">
                <a16:creationId xmlns:a16="http://schemas.microsoft.com/office/drawing/2014/main" id="{D0FDF38A-566E-A381-0901-5CEFA9DE3365}"/>
              </a:ext>
            </a:extLst>
          </p:cNvPr>
          <p:cNvGraphicFramePr>
            <a:graphicFrameLocks noGrp="1"/>
          </p:cNvGraphicFramePr>
          <p:nvPr>
            <p:extLst>
              <p:ext uri="{D42A27DB-BD31-4B8C-83A1-F6EECF244321}">
                <p14:modId xmlns:p14="http://schemas.microsoft.com/office/powerpoint/2010/main" val="4041435541"/>
              </p:ext>
            </p:extLst>
          </p:nvPr>
        </p:nvGraphicFramePr>
        <p:xfrm>
          <a:off x="397330" y="3084188"/>
          <a:ext cx="10172699" cy="2311107"/>
        </p:xfrm>
        <a:graphic>
          <a:graphicData uri="http://schemas.openxmlformats.org/drawingml/2006/table">
            <a:tbl>
              <a:tblPr>
                <a:tableStyleId>{D7AC3CCA-C797-4891-BE02-D94E43425B78}</a:tableStyleId>
              </a:tblPr>
              <a:tblGrid>
                <a:gridCol w="2633442">
                  <a:extLst>
                    <a:ext uri="{9D8B030D-6E8A-4147-A177-3AD203B41FA5}">
                      <a16:colId xmlns:a16="http://schemas.microsoft.com/office/drawing/2014/main" val="4242503633"/>
                    </a:ext>
                  </a:extLst>
                </a:gridCol>
                <a:gridCol w="7539257">
                  <a:extLst>
                    <a:ext uri="{9D8B030D-6E8A-4147-A177-3AD203B41FA5}">
                      <a16:colId xmlns:a16="http://schemas.microsoft.com/office/drawing/2014/main" val="3631858922"/>
                    </a:ext>
                  </a:extLst>
                </a:gridCol>
              </a:tblGrid>
              <a:tr h="473019">
                <a:tc>
                  <a:txBody>
                    <a:bodyPr/>
                    <a:lstStyle/>
                    <a:p>
                      <a:pPr>
                        <a:buNone/>
                      </a:pPr>
                      <a:r>
                        <a:rPr lang="en-ZA" sz="2000" b="1" dirty="0">
                          <a:ln>
                            <a:solidFill>
                              <a:schemeClr val="bg2">
                                <a:lumMod val="75000"/>
                                <a:lumOff val="25000"/>
                              </a:schemeClr>
                            </a:solidFill>
                          </a:ln>
                          <a:solidFill>
                            <a:srgbClr val="202C8F"/>
                          </a:solidFill>
                        </a:rPr>
                        <a:t>Segmentation layer</a:t>
                      </a:r>
                    </a:p>
                  </a:txBody>
                  <a:tcPr anchor="ctr"/>
                </a:tc>
                <a:tc>
                  <a:txBody>
                    <a:bodyPr/>
                    <a:lstStyle/>
                    <a:p>
                      <a:pPr>
                        <a:buNone/>
                      </a:pPr>
                      <a:r>
                        <a:rPr lang="en-ZA" sz="2000" b="1" dirty="0">
                          <a:ln>
                            <a:solidFill>
                              <a:schemeClr val="bg2">
                                <a:lumMod val="75000"/>
                                <a:lumOff val="25000"/>
                              </a:schemeClr>
                            </a:solidFill>
                          </a:ln>
                          <a:solidFill>
                            <a:srgbClr val="202C8F"/>
                          </a:solidFill>
                        </a:rPr>
                        <a:t>Example variables</a:t>
                      </a:r>
                    </a:p>
                  </a:txBody>
                  <a:tcPr anchor="ctr"/>
                </a:tc>
                <a:extLst>
                  <a:ext uri="{0D108BD9-81ED-4DB2-BD59-A6C34878D82A}">
                    <a16:rowId xmlns:a16="http://schemas.microsoft.com/office/drawing/2014/main" val="3449979391"/>
                  </a:ext>
                </a:extLst>
              </a:tr>
              <a:tr h="557593">
                <a:tc>
                  <a:txBody>
                    <a:bodyPr/>
                    <a:lstStyle/>
                    <a:p>
                      <a:pPr>
                        <a:buNone/>
                      </a:pPr>
                      <a:r>
                        <a:rPr lang="en-ZA" sz="2000" dirty="0">
                          <a:ln>
                            <a:solidFill>
                              <a:schemeClr val="bg2">
                                <a:lumMod val="75000"/>
                                <a:lumOff val="25000"/>
                              </a:schemeClr>
                            </a:solidFill>
                          </a:ln>
                          <a:solidFill>
                            <a:srgbClr val="202C8F"/>
                          </a:solidFill>
                        </a:rPr>
                        <a:t>Demographic</a:t>
                      </a:r>
                    </a:p>
                  </a:txBody>
                  <a:tcPr anchor="ctr"/>
                </a:tc>
                <a:tc>
                  <a:txBody>
                    <a:bodyPr/>
                    <a:lstStyle/>
                    <a:p>
                      <a:pPr>
                        <a:buNone/>
                      </a:pPr>
                      <a:r>
                        <a:rPr lang="en-ZA" sz="2000" dirty="0">
                          <a:ln>
                            <a:solidFill>
                              <a:schemeClr val="bg2">
                                <a:lumMod val="75000"/>
                                <a:lumOff val="25000"/>
                              </a:schemeClr>
                            </a:solidFill>
                          </a:ln>
                          <a:solidFill>
                            <a:srgbClr val="202C8F"/>
                          </a:solidFill>
                        </a:rPr>
                        <a:t>Name and Surname, Age, gender, ID-derived profile and contact details</a:t>
                      </a:r>
                    </a:p>
                  </a:txBody>
                  <a:tcPr anchor="ctr"/>
                </a:tc>
                <a:extLst>
                  <a:ext uri="{0D108BD9-81ED-4DB2-BD59-A6C34878D82A}">
                    <a16:rowId xmlns:a16="http://schemas.microsoft.com/office/drawing/2014/main" val="3247156016"/>
                  </a:ext>
                </a:extLst>
              </a:tr>
              <a:tr h="664029">
                <a:tc>
                  <a:txBody>
                    <a:bodyPr/>
                    <a:lstStyle/>
                    <a:p>
                      <a:pPr>
                        <a:buNone/>
                      </a:pPr>
                      <a:r>
                        <a:rPr lang="en-ZA" sz="2000" dirty="0">
                          <a:ln>
                            <a:solidFill>
                              <a:schemeClr val="bg2">
                                <a:lumMod val="75000"/>
                                <a:lumOff val="25000"/>
                              </a:schemeClr>
                            </a:solidFill>
                          </a:ln>
                          <a:solidFill>
                            <a:srgbClr val="202C8F"/>
                          </a:solidFill>
                        </a:rPr>
                        <a:t>Geographic</a:t>
                      </a:r>
                    </a:p>
                  </a:txBody>
                  <a:tcPr anchor="ctr"/>
                </a:tc>
                <a:tc>
                  <a:txBody>
                    <a:bodyPr/>
                    <a:lstStyle/>
                    <a:p>
                      <a:pPr>
                        <a:buNone/>
                      </a:pPr>
                      <a:r>
                        <a:rPr lang="en-US" sz="2000" dirty="0">
                          <a:ln>
                            <a:solidFill>
                              <a:schemeClr val="bg2">
                                <a:lumMod val="75000"/>
                                <a:lumOff val="25000"/>
                              </a:schemeClr>
                            </a:solidFill>
                          </a:ln>
                          <a:solidFill>
                            <a:srgbClr val="202C8F"/>
                          </a:solidFill>
                        </a:rPr>
                        <a:t>Region, province, city, residential area and climate season</a:t>
                      </a:r>
                    </a:p>
                  </a:txBody>
                  <a:tcPr anchor="ctr"/>
                </a:tc>
                <a:extLst>
                  <a:ext uri="{0D108BD9-81ED-4DB2-BD59-A6C34878D82A}">
                    <a16:rowId xmlns:a16="http://schemas.microsoft.com/office/drawing/2014/main" val="667107561"/>
                  </a:ext>
                </a:extLst>
              </a:tr>
              <a:tr h="473019">
                <a:tc>
                  <a:txBody>
                    <a:bodyPr/>
                    <a:lstStyle/>
                    <a:p>
                      <a:pPr>
                        <a:buNone/>
                      </a:pPr>
                      <a:r>
                        <a:rPr lang="en-ZA" sz="2000" dirty="0">
                          <a:ln>
                            <a:solidFill>
                              <a:schemeClr val="bg2">
                                <a:lumMod val="75000"/>
                                <a:lumOff val="25000"/>
                              </a:schemeClr>
                            </a:solidFill>
                          </a:ln>
                          <a:solidFill>
                            <a:srgbClr val="202C8F"/>
                          </a:solidFill>
                        </a:rPr>
                        <a:t>Psychographic</a:t>
                      </a:r>
                    </a:p>
                  </a:txBody>
                  <a:tcPr anchor="ctr"/>
                </a:tc>
                <a:tc>
                  <a:txBody>
                    <a:bodyPr/>
                    <a:lstStyle/>
                    <a:p>
                      <a:pPr>
                        <a:buNone/>
                      </a:pPr>
                      <a:r>
                        <a:rPr lang="en-ZA" sz="2000" dirty="0">
                          <a:ln>
                            <a:solidFill>
                              <a:schemeClr val="bg2">
                                <a:lumMod val="75000"/>
                                <a:lumOff val="25000"/>
                              </a:schemeClr>
                            </a:solidFill>
                          </a:ln>
                          <a:solidFill>
                            <a:srgbClr val="202C8F"/>
                          </a:solidFill>
                        </a:rPr>
                        <a:t>Lifestyle/persona profile</a:t>
                      </a:r>
                    </a:p>
                  </a:txBody>
                  <a:tcPr anchor="ctr"/>
                </a:tc>
                <a:extLst>
                  <a:ext uri="{0D108BD9-81ED-4DB2-BD59-A6C34878D82A}">
                    <a16:rowId xmlns:a16="http://schemas.microsoft.com/office/drawing/2014/main" val="3605547343"/>
                  </a:ext>
                </a:extLst>
              </a:tr>
            </a:tbl>
          </a:graphicData>
        </a:graphic>
      </p:graphicFrame>
      <p:sp>
        <p:nvSpPr>
          <p:cNvPr id="13" name="TextBox 12">
            <a:extLst>
              <a:ext uri="{FF2B5EF4-FFF2-40B4-BE49-F238E27FC236}">
                <a16:creationId xmlns:a16="http://schemas.microsoft.com/office/drawing/2014/main" id="{B184F8F4-19C6-9F45-D536-09B866BAE644}"/>
              </a:ext>
            </a:extLst>
          </p:cNvPr>
          <p:cNvSpPr txBox="1"/>
          <p:nvPr/>
        </p:nvSpPr>
        <p:spPr>
          <a:xfrm>
            <a:off x="310244" y="5697239"/>
            <a:ext cx="11832770" cy="646331"/>
          </a:xfrm>
          <a:prstGeom prst="rect">
            <a:avLst/>
          </a:prstGeom>
          <a:noFill/>
        </p:spPr>
        <p:txBody>
          <a:bodyPr wrap="square">
            <a:spAutoFit/>
          </a:bodyPr>
          <a:lstStyle/>
          <a:p>
            <a:r>
              <a:rPr lang="en-US" dirty="0">
                <a:solidFill>
                  <a:srgbClr val="202C8F"/>
                </a:solidFill>
              </a:rPr>
              <a:t>The synthesized variables are linked to each unique customer ID and stored in the customer profile table for use in segment profiling and dashboard interpretation.</a:t>
            </a:r>
            <a:endParaRPr lang="en-ZA" dirty="0">
              <a:solidFill>
                <a:srgbClr val="202C8F"/>
              </a:solidFill>
            </a:endParaRPr>
          </a:p>
        </p:txBody>
      </p:sp>
      <p:sp>
        <p:nvSpPr>
          <p:cNvPr id="19" name="TextBox 18">
            <a:extLst>
              <a:ext uri="{FF2B5EF4-FFF2-40B4-BE49-F238E27FC236}">
                <a16:creationId xmlns:a16="http://schemas.microsoft.com/office/drawing/2014/main" id="{56D64DF4-C38E-AC4E-04B1-EF8C5CC1D9E1}"/>
              </a:ext>
            </a:extLst>
          </p:cNvPr>
          <p:cNvSpPr txBox="1"/>
          <p:nvPr/>
        </p:nvSpPr>
        <p:spPr>
          <a:xfrm>
            <a:off x="310244" y="2009346"/>
            <a:ext cx="11832770" cy="800219"/>
          </a:xfrm>
          <a:prstGeom prst="rect">
            <a:avLst/>
          </a:prstGeom>
          <a:noFill/>
        </p:spPr>
        <p:txBody>
          <a:bodyPr wrap="square">
            <a:spAutoFit/>
          </a:bodyPr>
          <a:lstStyle/>
          <a:p>
            <a:pPr>
              <a:spcAft>
                <a:spcPts val="1200"/>
              </a:spcAft>
              <a:buFont typeface="Arial" panose="020B0604020202020204" pitchFamily="34" charset="0"/>
              <a:buChar char="•"/>
            </a:pPr>
            <a:r>
              <a:rPr lang="en-US" b="1" dirty="0">
                <a:solidFill>
                  <a:srgbClr val="202C8F"/>
                </a:solidFill>
              </a:rPr>
              <a:t>To enrich customer understanding</a:t>
            </a:r>
          </a:p>
          <a:p>
            <a:pPr>
              <a:spcAft>
                <a:spcPts val="1200"/>
              </a:spcAft>
              <a:buFont typeface="Arial" panose="020B0604020202020204" pitchFamily="34" charset="0"/>
              <a:buChar char="•"/>
            </a:pPr>
            <a:r>
              <a:rPr lang="en-US" b="1" dirty="0">
                <a:solidFill>
                  <a:srgbClr val="202C8F"/>
                </a:solidFill>
              </a:rPr>
              <a:t>To improve decision-making and targeting</a:t>
            </a:r>
            <a:endParaRPr lang="en-US" dirty="0">
              <a:solidFill>
                <a:srgbClr val="202C8F"/>
              </a:solidFill>
            </a:endParaRPr>
          </a:p>
        </p:txBody>
      </p:sp>
      <p:sp>
        <p:nvSpPr>
          <p:cNvPr id="20" name="TextBox 19">
            <a:extLst>
              <a:ext uri="{FF2B5EF4-FFF2-40B4-BE49-F238E27FC236}">
                <a16:creationId xmlns:a16="http://schemas.microsoft.com/office/drawing/2014/main" id="{82392CC8-DF43-7F6B-FC04-FB44BC9AAA28}"/>
              </a:ext>
            </a:extLst>
          </p:cNvPr>
          <p:cNvSpPr txBox="1"/>
          <p:nvPr/>
        </p:nvSpPr>
        <p:spPr>
          <a:xfrm>
            <a:off x="310244" y="837595"/>
            <a:ext cx="8147956" cy="400110"/>
          </a:xfrm>
          <a:prstGeom prst="rect">
            <a:avLst/>
          </a:prstGeom>
          <a:noFill/>
        </p:spPr>
        <p:txBody>
          <a:bodyPr wrap="square" rtlCol="0">
            <a:spAutoFit/>
          </a:bodyPr>
          <a:lstStyle/>
          <a:p>
            <a:r>
              <a:rPr lang="en-ZA" sz="2000" b="1" dirty="0">
                <a:solidFill>
                  <a:srgbClr val="202C8F"/>
                </a:solidFill>
                <a:latin typeface="Arial" panose="020B0604020202020204" pitchFamily="34" charset="0"/>
                <a:cs typeface="Arial" panose="020B0604020202020204" pitchFamily="34" charset="0"/>
              </a:rPr>
              <a:t>Obtained Segmentation layer – </a:t>
            </a:r>
            <a:r>
              <a:rPr lang="en-ZA" sz="2000" b="1" dirty="0" err="1">
                <a:solidFill>
                  <a:srgbClr val="00B050"/>
                </a:solidFill>
                <a:latin typeface="Arial" panose="020B0604020202020204" pitchFamily="34" charset="0"/>
                <a:cs typeface="Arial" panose="020B0604020202020204" pitchFamily="34" charset="0"/>
              </a:rPr>
              <a:t>Behavioral</a:t>
            </a:r>
            <a:r>
              <a:rPr lang="en-ZA" sz="2000" b="1" dirty="0">
                <a:solidFill>
                  <a:srgbClr val="00B050"/>
                </a:solidFill>
                <a:latin typeface="Arial" panose="020B0604020202020204" pitchFamily="34" charset="0"/>
                <a:cs typeface="Arial" panose="020B0604020202020204" pitchFamily="34" charset="0"/>
              </a:rPr>
              <a:t> variables</a:t>
            </a:r>
          </a:p>
        </p:txBody>
      </p:sp>
      <p:sp>
        <p:nvSpPr>
          <p:cNvPr id="21" name="TextBox 20">
            <a:extLst>
              <a:ext uri="{FF2B5EF4-FFF2-40B4-BE49-F238E27FC236}">
                <a16:creationId xmlns:a16="http://schemas.microsoft.com/office/drawing/2014/main" id="{B2AEA8B7-4396-4FB4-EBC9-8203956B77AD}"/>
              </a:ext>
            </a:extLst>
          </p:cNvPr>
          <p:cNvSpPr txBox="1"/>
          <p:nvPr/>
        </p:nvSpPr>
        <p:spPr>
          <a:xfrm>
            <a:off x="310244" y="1603929"/>
            <a:ext cx="3058885" cy="369332"/>
          </a:xfrm>
          <a:prstGeom prst="rect">
            <a:avLst/>
          </a:prstGeom>
          <a:noFill/>
        </p:spPr>
        <p:txBody>
          <a:bodyPr wrap="square" rtlCol="0">
            <a:spAutoFit/>
          </a:bodyPr>
          <a:lstStyle/>
          <a:p>
            <a:r>
              <a:rPr lang="en-ZA" b="1" dirty="0">
                <a:solidFill>
                  <a:srgbClr val="FFC000"/>
                </a:solidFill>
              </a:rPr>
              <a:t>Why Data Synthesis?</a:t>
            </a:r>
          </a:p>
        </p:txBody>
      </p:sp>
    </p:spTree>
    <p:extLst>
      <p:ext uri="{BB962C8B-B14F-4D97-AF65-F5344CB8AC3E}">
        <p14:creationId xmlns:p14="http://schemas.microsoft.com/office/powerpoint/2010/main" val="2315786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220EFCE-AA5A-4FCD-BD7A-B88F8F924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B0731-3CD8-CC4B-BCCC-4F2F957CED62}"/>
              </a:ext>
            </a:extLst>
          </p:cNvPr>
          <p:cNvSpPr>
            <a:spLocks noGrp="1"/>
          </p:cNvSpPr>
          <p:nvPr>
            <p:ph type="title"/>
          </p:nvPr>
        </p:nvSpPr>
        <p:spPr>
          <a:xfrm>
            <a:off x="3054220" y="62721"/>
            <a:ext cx="6786466" cy="530614"/>
          </a:xfrm>
        </p:spPr>
        <p:txBody>
          <a:bodyPr>
            <a:normAutofit fontScale="90000"/>
          </a:bodyPr>
          <a:lstStyle/>
          <a:p>
            <a:r>
              <a:rPr lang="en-ZA" sz="3200" dirty="0">
                <a:solidFill>
                  <a:srgbClr val="202C8F"/>
                </a:solidFill>
                <a:latin typeface="Arial Black" panose="020B0A04020102020204" pitchFamily="34" charset="0"/>
              </a:rPr>
              <a:t>Data Synthesis - </a:t>
            </a:r>
            <a:r>
              <a:rPr lang="en-ZA" sz="3200" b="1" dirty="0">
                <a:solidFill>
                  <a:srgbClr val="202C8F"/>
                </a:solidFill>
              </a:rPr>
              <a:t>Generation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2F32718B-0F00-169A-536F-D92248FB8476}"/>
                  </a:ext>
                </a:extLst>
              </p:cNvPr>
              <p:cNvSpPr txBox="1"/>
              <p:nvPr/>
            </p:nvSpPr>
            <p:spPr>
              <a:xfrm>
                <a:off x="125600" y="840968"/>
                <a:ext cx="4962227"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ZA" sz="2000" i="1" dirty="0" smtClean="0">
                          <a:solidFill>
                            <a:schemeClr val="bg1"/>
                          </a:solidFill>
                          <a:latin typeface="Cambria Math" panose="02040503050406030204" pitchFamily="18" charset="0"/>
                        </a:rPr>
                        <m:t>𝐶𝑢𝑠𝑡𝑜𝑚𝑒𝑟𝐼𝐷</m:t>
                      </m:r>
                      <m:r>
                        <a:rPr lang="en-ZA" sz="2000" i="1" baseline="-25000" dirty="0" err="1">
                          <a:solidFill>
                            <a:schemeClr val="bg1"/>
                          </a:solidFill>
                          <a:latin typeface="Cambria Math" panose="02040503050406030204" pitchFamily="18" charset="0"/>
                        </a:rPr>
                        <m:t>𝑖</m:t>
                      </m:r>
                      <m:r>
                        <a:rPr lang="en-ZA" sz="2000" i="1" dirty="0">
                          <a:solidFill>
                            <a:schemeClr val="bg1"/>
                          </a:solidFill>
                          <a:latin typeface="Cambria Math" panose="02040503050406030204" pitchFamily="18" charset="0"/>
                        </a:rPr>
                        <m:t>​→</m:t>
                      </m:r>
                      <m:r>
                        <a:rPr lang="en-ZA" sz="2000" i="1" dirty="0">
                          <a:solidFill>
                            <a:schemeClr val="bg1"/>
                          </a:solidFill>
                          <a:latin typeface="Cambria Math" panose="02040503050406030204" pitchFamily="18" charset="0"/>
                        </a:rPr>
                        <m:t>𝑃𝑖</m:t>
                      </m:r>
                      <m:r>
                        <a:rPr lang="en-ZA" sz="2000" i="1" dirty="0">
                          <a:solidFill>
                            <a:schemeClr val="bg1"/>
                          </a:solidFill>
                          <a:latin typeface="Cambria Math" panose="02040503050406030204" pitchFamily="18" charset="0"/>
                        </a:rPr>
                        <m:t>​=</m:t>
                      </m:r>
                      <m:r>
                        <a:rPr lang="en-ZA" sz="2000" i="1" dirty="0">
                          <a:solidFill>
                            <a:schemeClr val="bg1"/>
                          </a:solidFill>
                          <a:latin typeface="Cambria Math" panose="02040503050406030204" pitchFamily="18" charset="0"/>
                        </a:rPr>
                        <m:t>𝐷𝑖</m:t>
                      </m:r>
                      <m:r>
                        <a:rPr lang="en-ZA" sz="2000" i="1" dirty="0">
                          <a:solidFill>
                            <a:schemeClr val="bg1"/>
                          </a:solidFill>
                          <a:latin typeface="Cambria Math" panose="02040503050406030204" pitchFamily="18" charset="0"/>
                        </a:rPr>
                        <m:t>​,</m:t>
                      </m:r>
                      <m:r>
                        <a:rPr lang="en-ZA" sz="2000" i="1" dirty="0">
                          <a:solidFill>
                            <a:schemeClr val="bg1"/>
                          </a:solidFill>
                          <a:latin typeface="Cambria Math" panose="02040503050406030204" pitchFamily="18" charset="0"/>
                        </a:rPr>
                        <m:t>𝐺𝑖</m:t>
                      </m:r>
                      <m:r>
                        <a:rPr lang="en-ZA" sz="2000" i="1" dirty="0">
                          <a:solidFill>
                            <a:schemeClr val="bg1"/>
                          </a:solidFill>
                          <a:latin typeface="Cambria Math" panose="02040503050406030204" pitchFamily="18" charset="0"/>
                        </a:rPr>
                        <m:t>​,</m:t>
                      </m:r>
                      <m:r>
                        <a:rPr lang="en-ZA" sz="2000" i="1" dirty="0" err="1">
                          <a:solidFill>
                            <a:schemeClr val="bg1"/>
                          </a:solidFill>
                          <a:latin typeface="Cambria Math" panose="02040503050406030204" pitchFamily="18" charset="0"/>
                        </a:rPr>
                        <m:t>𝑃𝑠𝑦</m:t>
                      </m:r>
                      <m:r>
                        <a:rPr lang="en-ZA" sz="2000" i="1" baseline="-25000" dirty="0" err="1">
                          <a:solidFill>
                            <a:schemeClr val="bg1"/>
                          </a:solidFill>
                          <a:latin typeface="Cambria Math" panose="02040503050406030204" pitchFamily="18" charset="0"/>
                        </a:rPr>
                        <m:t>𝑖</m:t>
                      </m:r>
                      <m:r>
                        <a:rPr lang="en-ZA" sz="2000" i="1" dirty="0">
                          <a:solidFill>
                            <a:schemeClr val="bg1"/>
                          </a:solidFill>
                          <a:latin typeface="Cambria Math" panose="02040503050406030204" pitchFamily="18" charset="0"/>
                        </a:rPr>
                        <m:t>​</m:t>
                      </m:r>
                    </m:oMath>
                  </m:oMathPara>
                </a14:m>
                <a:endParaRPr/>
              </a:p>
            </p:txBody>
          </p:sp>
        </mc:Choice>
        <mc:Fallback xmlns="">
          <p:sp>
            <p:nvSpPr>
              <p:cNvPr id="23" name="TextBox 22">
                <a:extLst>
                  <a:ext uri="{FF2B5EF4-FFF2-40B4-BE49-F238E27FC236}">
                    <a16:creationId xmlns:a16="http://schemas.microsoft.com/office/drawing/2014/main" id="{2F32718B-0F00-169A-536F-D92248FB8476}"/>
                  </a:ext>
                </a:extLst>
              </p:cNvPr>
              <p:cNvSpPr txBox="1">
                <a:spLocks noRot="1" noChangeAspect="1" noMove="1" noResize="1" noEditPoints="1" noAdjustHandles="1" noChangeArrowheads="1" noChangeShapeType="1" noTextEdit="1"/>
              </p:cNvSpPr>
              <p:nvPr/>
            </p:nvSpPr>
            <p:spPr>
              <a:xfrm>
                <a:off x="125600" y="840968"/>
                <a:ext cx="4962227" cy="400110"/>
              </a:xfrm>
              <a:prstGeom prst="rect">
                <a:avLst/>
              </a:prstGeom>
              <a:blipFill>
                <a:blip r:embed="rId3"/>
                <a:stretch>
                  <a:fillRect t="-9091" b="-25758"/>
                </a:stretch>
              </a:blipFill>
            </p:spPr>
            <p:txBody>
              <a:bodyPr/>
              <a:lstStyle/>
              <a:p>
                <a:r>
                  <a:rPr lang="en-ZA">
                    <a:noFill/>
                  </a:rPr>
                  <a:t> </a:t>
                </a:r>
              </a:p>
            </p:txBody>
          </p:sp>
        </mc:Fallback>
      </mc:AlternateContent>
      <p:graphicFrame>
        <p:nvGraphicFramePr>
          <p:cNvPr id="24" name="Table 23">
            <a:extLst>
              <a:ext uri="{FF2B5EF4-FFF2-40B4-BE49-F238E27FC236}">
                <a16:creationId xmlns:a16="http://schemas.microsoft.com/office/drawing/2014/main" id="{6D86F0A8-C1E3-D0FA-5E97-7747997BE37C}"/>
              </a:ext>
            </a:extLst>
          </p:cNvPr>
          <p:cNvGraphicFramePr>
            <a:graphicFrameLocks noGrp="1"/>
          </p:cNvGraphicFramePr>
          <p:nvPr>
            <p:extLst>
              <p:ext uri="{D42A27DB-BD31-4B8C-83A1-F6EECF244321}">
                <p14:modId xmlns:p14="http://schemas.microsoft.com/office/powerpoint/2010/main" val="3118162841"/>
              </p:ext>
            </p:extLst>
          </p:nvPr>
        </p:nvGraphicFramePr>
        <p:xfrm>
          <a:off x="125599" y="1466297"/>
          <a:ext cx="5579009" cy="2011680"/>
        </p:xfrm>
        <a:graphic>
          <a:graphicData uri="http://schemas.openxmlformats.org/drawingml/2006/table">
            <a:tbl>
              <a:tblPr>
                <a:tableStyleId>{D7AC3CCA-C797-4891-BE02-D94E43425B78}</a:tableStyleId>
              </a:tblPr>
              <a:tblGrid>
                <a:gridCol w="1553219">
                  <a:extLst>
                    <a:ext uri="{9D8B030D-6E8A-4147-A177-3AD203B41FA5}">
                      <a16:colId xmlns:a16="http://schemas.microsoft.com/office/drawing/2014/main" val="3361231567"/>
                    </a:ext>
                  </a:extLst>
                </a:gridCol>
                <a:gridCol w="4025790">
                  <a:extLst>
                    <a:ext uri="{9D8B030D-6E8A-4147-A177-3AD203B41FA5}">
                      <a16:colId xmlns:a16="http://schemas.microsoft.com/office/drawing/2014/main" val="429337158"/>
                    </a:ext>
                  </a:extLst>
                </a:gridCol>
              </a:tblGrid>
              <a:tr h="306418">
                <a:tc>
                  <a:txBody>
                    <a:bodyPr/>
                    <a:lstStyle/>
                    <a:p>
                      <a:pPr>
                        <a:buNone/>
                      </a:pPr>
                      <a:r>
                        <a:rPr lang="en-ZA" sz="1600" dirty="0">
                          <a:solidFill>
                            <a:schemeClr val="bg1"/>
                          </a:solidFill>
                        </a:rPr>
                        <a:t>Symbol</a:t>
                      </a:r>
                    </a:p>
                  </a:txBody>
                  <a:tcPr anchor="ctr"/>
                </a:tc>
                <a:tc>
                  <a:txBody>
                    <a:bodyPr/>
                    <a:lstStyle/>
                    <a:p>
                      <a:pPr>
                        <a:buNone/>
                      </a:pPr>
                      <a:r>
                        <a:rPr lang="en-ZA" sz="1600" dirty="0">
                          <a:solidFill>
                            <a:schemeClr val="bg1"/>
                          </a:solidFill>
                        </a:rPr>
                        <a:t>Meaning</a:t>
                      </a:r>
                    </a:p>
                  </a:txBody>
                  <a:tcPr anchor="ctr"/>
                </a:tc>
                <a:extLst>
                  <a:ext uri="{0D108BD9-81ED-4DB2-BD59-A6C34878D82A}">
                    <a16:rowId xmlns:a16="http://schemas.microsoft.com/office/drawing/2014/main" val="4078915514"/>
                  </a:ext>
                </a:extLst>
              </a:tr>
              <a:tr h="306418">
                <a:tc>
                  <a:txBody>
                    <a:bodyPr/>
                    <a:lstStyle/>
                    <a:p>
                      <a:pPr>
                        <a:buNone/>
                      </a:pPr>
                      <a:r>
                        <a:rPr lang="en-ZA" sz="1600" dirty="0" err="1">
                          <a:solidFill>
                            <a:schemeClr val="bg1"/>
                          </a:solidFill>
                        </a:rPr>
                        <a:t>CustomerID</a:t>
                      </a:r>
                      <a:r>
                        <a:rPr lang="en-ZA" sz="1600" baseline="-25000" dirty="0" err="1">
                          <a:solidFill>
                            <a:schemeClr val="bg1"/>
                          </a:solidFill>
                        </a:rPr>
                        <a:t>i</a:t>
                      </a:r>
                      <a:endParaRPr lang="en-ZA" sz="1600" dirty="0">
                        <a:solidFill>
                          <a:schemeClr val="bg1"/>
                        </a:solidFill>
                      </a:endParaRPr>
                    </a:p>
                  </a:txBody>
                  <a:tcPr anchor="ctr"/>
                </a:tc>
                <a:tc>
                  <a:txBody>
                    <a:bodyPr/>
                    <a:lstStyle/>
                    <a:p>
                      <a:pPr>
                        <a:buNone/>
                      </a:pPr>
                      <a:r>
                        <a:rPr lang="en-ZA" sz="1600" dirty="0">
                          <a:solidFill>
                            <a:schemeClr val="bg1"/>
                          </a:solidFill>
                        </a:rPr>
                        <a:t>Unique customer identifier</a:t>
                      </a:r>
                    </a:p>
                  </a:txBody>
                  <a:tcPr anchor="ctr"/>
                </a:tc>
                <a:extLst>
                  <a:ext uri="{0D108BD9-81ED-4DB2-BD59-A6C34878D82A}">
                    <a16:rowId xmlns:a16="http://schemas.microsoft.com/office/drawing/2014/main" val="2120610928"/>
                  </a:ext>
                </a:extLst>
              </a:tr>
              <a:tr h="306418">
                <a:tc>
                  <a:txBody>
                    <a:bodyPr/>
                    <a:lstStyle/>
                    <a:p>
                      <a:pPr>
                        <a:buNone/>
                      </a:pPr>
                      <a:r>
                        <a:rPr lang="en-ZA" sz="1600" dirty="0">
                          <a:solidFill>
                            <a:schemeClr val="bg1"/>
                          </a:solidFill>
                        </a:rPr>
                        <a:t>P</a:t>
                      </a:r>
                      <a:r>
                        <a:rPr lang="en-ZA" sz="1600" baseline="-25000" dirty="0">
                          <a:solidFill>
                            <a:schemeClr val="bg1"/>
                          </a:solidFill>
                        </a:rPr>
                        <a:t>i</a:t>
                      </a:r>
                      <a:endParaRPr lang="en-ZA" sz="1600" dirty="0">
                        <a:solidFill>
                          <a:schemeClr val="bg1"/>
                        </a:solidFill>
                      </a:endParaRPr>
                    </a:p>
                  </a:txBody>
                  <a:tcPr anchor="ctr"/>
                </a:tc>
                <a:tc>
                  <a:txBody>
                    <a:bodyPr/>
                    <a:lstStyle/>
                    <a:p>
                      <a:pPr>
                        <a:buNone/>
                      </a:pPr>
                      <a:r>
                        <a:rPr lang="en-ZA" sz="1600">
                          <a:solidFill>
                            <a:schemeClr val="bg1"/>
                          </a:solidFill>
                        </a:rPr>
                        <a:t>Synthesized customer profile</a:t>
                      </a:r>
                    </a:p>
                  </a:txBody>
                  <a:tcPr anchor="ctr"/>
                </a:tc>
                <a:extLst>
                  <a:ext uri="{0D108BD9-81ED-4DB2-BD59-A6C34878D82A}">
                    <a16:rowId xmlns:a16="http://schemas.microsoft.com/office/drawing/2014/main" val="1274068106"/>
                  </a:ext>
                </a:extLst>
              </a:tr>
              <a:tr h="306418">
                <a:tc>
                  <a:txBody>
                    <a:bodyPr/>
                    <a:lstStyle/>
                    <a:p>
                      <a:pPr>
                        <a:buNone/>
                      </a:pPr>
                      <a:r>
                        <a:rPr lang="en-ZA" sz="1600" dirty="0">
                          <a:solidFill>
                            <a:schemeClr val="bg1"/>
                          </a:solidFill>
                        </a:rPr>
                        <a:t>D</a:t>
                      </a:r>
                      <a:r>
                        <a:rPr lang="en-ZA" sz="1600" baseline="-25000" dirty="0">
                          <a:solidFill>
                            <a:schemeClr val="bg1"/>
                          </a:solidFill>
                        </a:rPr>
                        <a:t>i</a:t>
                      </a:r>
                      <a:endParaRPr lang="en-ZA" sz="1600" dirty="0">
                        <a:solidFill>
                          <a:schemeClr val="bg1"/>
                        </a:solidFill>
                      </a:endParaRPr>
                    </a:p>
                  </a:txBody>
                  <a:tcPr anchor="ctr"/>
                </a:tc>
                <a:tc>
                  <a:txBody>
                    <a:bodyPr/>
                    <a:lstStyle/>
                    <a:p>
                      <a:pPr>
                        <a:buNone/>
                      </a:pPr>
                      <a:r>
                        <a:rPr lang="en-ZA" sz="1600">
                          <a:solidFill>
                            <a:schemeClr val="bg1"/>
                          </a:solidFill>
                        </a:rPr>
                        <a:t>Demographic variables</a:t>
                      </a:r>
                    </a:p>
                  </a:txBody>
                  <a:tcPr anchor="ctr"/>
                </a:tc>
                <a:extLst>
                  <a:ext uri="{0D108BD9-81ED-4DB2-BD59-A6C34878D82A}">
                    <a16:rowId xmlns:a16="http://schemas.microsoft.com/office/drawing/2014/main" val="2210617644"/>
                  </a:ext>
                </a:extLst>
              </a:tr>
              <a:tr h="306418">
                <a:tc>
                  <a:txBody>
                    <a:bodyPr/>
                    <a:lstStyle/>
                    <a:p>
                      <a:pPr>
                        <a:buNone/>
                      </a:pPr>
                      <a:r>
                        <a:rPr lang="en-ZA" sz="1600" dirty="0">
                          <a:solidFill>
                            <a:schemeClr val="bg1"/>
                          </a:solidFill>
                        </a:rPr>
                        <a:t>G</a:t>
                      </a:r>
                      <a:r>
                        <a:rPr lang="en-ZA" sz="1600" baseline="-25000" dirty="0">
                          <a:solidFill>
                            <a:schemeClr val="bg1"/>
                          </a:solidFill>
                        </a:rPr>
                        <a:t>i</a:t>
                      </a:r>
                      <a:endParaRPr lang="en-ZA" sz="1600" dirty="0">
                        <a:solidFill>
                          <a:schemeClr val="bg1"/>
                        </a:solidFill>
                      </a:endParaRPr>
                    </a:p>
                  </a:txBody>
                  <a:tcPr anchor="ctr"/>
                </a:tc>
                <a:tc>
                  <a:txBody>
                    <a:bodyPr/>
                    <a:lstStyle/>
                    <a:p>
                      <a:pPr>
                        <a:buNone/>
                      </a:pPr>
                      <a:r>
                        <a:rPr lang="en-ZA" sz="1600" dirty="0">
                          <a:solidFill>
                            <a:schemeClr val="bg1"/>
                          </a:solidFill>
                        </a:rPr>
                        <a:t>Geographic variables</a:t>
                      </a:r>
                    </a:p>
                  </a:txBody>
                  <a:tcPr anchor="ctr"/>
                </a:tc>
                <a:extLst>
                  <a:ext uri="{0D108BD9-81ED-4DB2-BD59-A6C34878D82A}">
                    <a16:rowId xmlns:a16="http://schemas.microsoft.com/office/drawing/2014/main" val="2623249622"/>
                  </a:ext>
                </a:extLst>
              </a:tr>
              <a:tr h="306418">
                <a:tc>
                  <a:txBody>
                    <a:bodyPr/>
                    <a:lstStyle/>
                    <a:p>
                      <a:pPr>
                        <a:buNone/>
                      </a:pPr>
                      <a:r>
                        <a:rPr lang="en-ZA" sz="1600" dirty="0" err="1">
                          <a:solidFill>
                            <a:schemeClr val="bg1"/>
                          </a:solidFill>
                        </a:rPr>
                        <a:t>Psy</a:t>
                      </a:r>
                      <a:r>
                        <a:rPr lang="en-ZA" sz="1600" baseline="-25000" dirty="0" err="1">
                          <a:solidFill>
                            <a:schemeClr val="bg1"/>
                          </a:solidFill>
                        </a:rPr>
                        <a:t>i</a:t>
                      </a:r>
                      <a:endParaRPr lang="en-ZA" sz="1600" dirty="0">
                        <a:solidFill>
                          <a:schemeClr val="bg1"/>
                        </a:solidFill>
                      </a:endParaRPr>
                    </a:p>
                  </a:txBody>
                  <a:tcPr anchor="ctr"/>
                </a:tc>
                <a:tc>
                  <a:txBody>
                    <a:bodyPr/>
                    <a:lstStyle/>
                    <a:p>
                      <a:pPr>
                        <a:buNone/>
                      </a:pPr>
                      <a:r>
                        <a:rPr lang="en-ZA" sz="1600" dirty="0">
                          <a:solidFill>
                            <a:schemeClr val="bg1"/>
                          </a:solidFill>
                        </a:rPr>
                        <a:t>Psychographic/persona variables</a:t>
                      </a:r>
                    </a:p>
                  </a:txBody>
                  <a:tcPr anchor="ctr"/>
                </a:tc>
                <a:extLst>
                  <a:ext uri="{0D108BD9-81ED-4DB2-BD59-A6C34878D82A}">
                    <a16:rowId xmlns:a16="http://schemas.microsoft.com/office/drawing/2014/main" val="1536066434"/>
                  </a:ext>
                </a:extLst>
              </a:tr>
            </a:tbl>
          </a:graphicData>
        </a:graphic>
      </p:graphicFrame>
      <p:sp>
        <p:nvSpPr>
          <p:cNvPr id="26" name="TextBox 25">
            <a:extLst>
              <a:ext uri="{FF2B5EF4-FFF2-40B4-BE49-F238E27FC236}">
                <a16:creationId xmlns:a16="http://schemas.microsoft.com/office/drawing/2014/main" id="{FED4A47B-0C48-9362-B373-B02879B70923}"/>
              </a:ext>
            </a:extLst>
          </p:cNvPr>
          <p:cNvSpPr txBox="1"/>
          <p:nvPr/>
        </p:nvSpPr>
        <p:spPr>
          <a:xfrm>
            <a:off x="6487391" y="1041023"/>
            <a:ext cx="5579009" cy="5601533"/>
          </a:xfrm>
          <a:prstGeom prst="rect">
            <a:avLst/>
          </a:prstGeom>
          <a:solidFill>
            <a:schemeClr val="tx1">
              <a:lumMod val="95000"/>
            </a:schemeClr>
          </a:solidFill>
        </p:spPr>
        <p:txBody>
          <a:bodyPr wrap="square">
            <a:spAutoFit/>
          </a:bodyPr>
          <a:lstStyle/>
          <a:p>
            <a:r>
              <a:rPr lang="en-ZA" sz="1000" dirty="0">
                <a:solidFill>
                  <a:schemeClr val="bg2"/>
                </a:solidFill>
              </a:rPr>
              <a:t>Input:</a:t>
            </a:r>
          </a:p>
          <a:p>
            <a:r>
              <a:rPr lang="en-ZA" sz="1000" dirty="0">
                <a:solidFill>
                  <a:schemeClr val="bg2"/>
                </a:solidFill>
              </a:rPr>
              <a:t>    Cleaned transaction dataset D</a:t>
            </a:r>
          </a:p>
          <a:p>
            <a:r>
              <a:rPr lang="en-ZA" sz="1000" dirty="0">
                <a:solidFill>
                  <a:schemeClr val="bg2"/>
                </a:solidFill>
              </a:rPr>
              <a:t>    Unique customer IDs C = {c1, c2, ..., </a:t>
            </a:r>
            <a:r>
              <a:rPr lang="en-ZA" sz="1000" dirty="0" err="1">
                <a:solidFill>
                  <a:schemeClr val="bg2"/>
                </a:solidFill>
              </a:rPr>
              <a:t>cn</a:t>
            </a:r>
            <a:r>
              <a:rPr lang="en-ZA" sz="1000" dirty="0">
                <a:solidFill>
                  <a:schemeClr val="bg2"/>
                </a:solidFill>
              </a:rPr>
              <a:t>}</a:t>
            </a:r>
          </a:p>
          <a:p>
            <a:r>
              <a:rPr lang="en-ZA" sz="1000" dirty="0">
                <a:solidFill>
                  <a:schemeClr val="bg2"/>
                </a:solidFill>
              </a:rPr>
              <a:t>    Behavioural features B(</a:t>
            </a:r>
            <a:r>
              <a:rPr lang="en-ZA" sz="1000" dirty="0" err="1">
                <a:solidFill>
                  <a:schemeClr val="bg2"/>
                </a:solidFill>
              </a:rPr>
              <a:t>i,t</a:t>
            </a:r>
            <a:r>
              <a:rPr lang="en-ZA" sz="1000" dirty="0">
                <a:solidFill>
                  <a:schemeClr val="bg2"/>
                </a:solidFill>
              </a:rPr>
              <a:t>)</a:t>
            </a:r>
          </a:p>
          <a:p>
            <a:endParaRPr lang="en-ZA" sz="1000" dirty="0">
              <a:solidFill>
                <a:schemeClr val="bg2"/>
              </a:solidFill>
            </a:endParaRPr>
          </a:p>
          <a:p>
            <a:r>
              <a:rPr lang="en-ZA" sz="1000" dirty="0">
                <a:solidFill>
                  <a:schemeClr val="bg2"/>
                </a:solidFill>
              </a:rPr>
              <a:t>Output:</a:t>
            </a:r>
          </a:p>
          <a:p>
            <a:r>
              <a:rPr lang="en-ZA" sz="1000" dirty="0">
                <a:solidFill>
                  <a:schemeClr val="bg2"/>
                </a:solidFill>
              </a:rPr>
              <a:t>    Enriched customer profile dataset S(</a:t>
            </a:r>
            <a:r>
              <a:rPr lang="en-ZA" sz="1000" dirty="0" err="1">
                <a:solidFill>
                  <a:schemeClr val="bg2"/>
                </a:solidFill>
              </a:rPr>
              <a:t>i,t</a:t>
            </a:r>
            <a:r>
              <a:rPr lang="en-ZA" sz="1000" dirty="0">
                <a:solidFill>
                  <a:schemeClr val="bg2"/>
                </a:solidFill>
              </a:rPr>
              <a:t>)</a:t>
            </a:r>
          </a:p>
          <a:p>
            <a:endParaRPr lang="en-ZA" sz="1200" dirty="0">
              <a:solidFill>
                <a:schemeClr val="accent1"/>
              </a:solidFill>
            </a:endParaRPr>
          </a:p>
          <a:p>
            <a:r>
              <a:rPr lang="en-ZA" sz="1200" dirty="0">
                <a:solidFill>
                  <a:schemeClr val="accent1"/>
                </a:solidFill>
              </a:rPr>
              <a:t>Step 1: Extract </a:t>
            </a:r>
            <a:r>
              <a:rPr lang="en-ZA" sz="1200" dirty="0">
                <a:solidFill>
                  <a:srgbClr val="FFC000"/>
                </a:solidFill>
              </a:rPr>
              <a:t>unique CustomerID</a:t>
            </a:r>
            <a:r>
              <a:rPr lang="en-ZA" sz="1200" dirty="0">
                <a:solidFill>
                  <a:schemeClr val="accent1"/>
                </a:solidFill>
              </a:rPr>
              <a:t> values from D.</a:t>
            </a:r>
          </a:p>
          <a:p>
            <a:endParaRPr lang="en-ZA" sz="1200" dirty="0">
              <a:solidFill>
                <a:schemeClr val="accent1"/>
              </a:solidFill>
            </a:endParaRPr>
          </a:p>
          <a:p>
            <a:r>
              <a:rPr lang="en-ZA" sz="1200" dirty="0">
                <a:solidFill>
                  <a:schemeClr val="accent1"/>
                </a:solidFill>
              </a:rPr>
              <a:t>Step 2: For each </a:t>
            </a:r>
            <a:r>
              <a:rPr lang="en-ZA" sz="1200" dirty="0">
                <a:solidFill>
                  <a:srgbClr val="FFC000"/>
                </a:solidFill>
              </a:rPr>
              <a:t>CustomerID</a:t>
            </a:r>
            <a:r>
              <a:rPr lang="en-ZA" sz="1200" dirty="0">
                <a:solidFill>
                  <a:schemeClr val="accent1"/>
                </a:solidFill>
              </a:rPr>
              <a:t>:</a:t>
            </a:r>
          </a:p>
          <a:p>
            <a:r>
              <a:rPr lang="en-ZA" sz="1200" dirty="0">
                <a:solidFill>
                  <a:schemeClr val="accent1"/>
                </a:solidFill>
              </a:rPr>
              <a:t>            Generate </a:t>
            </a:r>
            <a:r>
              <a:rPr lang="en-ZA" sz="1200" dirty="0">
                <a:solidFill>
                  <a:schemeClr val="accent5"/>
                </a:solidFill>
              </a:rPr>
              <a:t>demographic variable</a:t>
            </a:r>
            <a:r>
              <a:rPr lang="en-ZA" sz="1200" dirty="0">
                <a:solidFill>
                  <a:schemeClr val="accent1"/>
                </a:solidFill>
              </a:rPr>
              <a:t>s:</a:t>
            </a:r>
          </a:p>
          <a:p>
            <a:r>
              <a:rPr lang="en-ZA" sz="1200" dirty="0">
                <a:solidFill>
                  <a:schemeClr val="accent1"/>
                </a:solidFill>
              </a:rPr>
              <a:t>                Age</a:t>
            </a:r>
          </a:p>
          <a:p>
            <a:r>
              <a:rPr lang="en-ZA" sz="1200" dirty="0">
                <a:solidFill>
                  <a:schemeClr val="accent1"/>
                </a:solidFill>
              </a:rPr>
              <a:t>                Gender</a:t>
            </a:r>
          </a:p>
          <a:p>
            <a:r>
              <a:rPr lang="en-ZA" sz="1200" dirty="0">
                <a:solidFill>
                  <a:schemeClr val="accent1"/>
                </a:solidFill>
              </a:rPr>
              <a:t>            Generate </a:t>
            </a:r>
            <a:r>
              <a:rPr lang="en-ZA" sz="1200" dirty="0">
                <a:solidFill>
                  <a:schemeClr val="accent5"/>
                </a:solidFill>
              </a:rPr>
              <a:t>geographic variables</a:t>
            </a:r>
            <a:r>
              <a:rPr lang="en-ZA" sz="1200" dirty="0">
                <a:solidFill>
                  <a:schemeClr val="accent1"/>
                </a:solidFill>
              </a:rPr>
              <a:t>:</a:t>
            </a:r>
          </a:p>
          <a:p>
            <a:r>
              <a:rPr lang="en-ZA" sz="1200" dirty="0">
                <a:solidFill>
                  <a:schemeClr val="accent1"/>
                </a:solidFill>
              </a:rPr>
              <a:t>                Region / Location</a:t>
            </a:r>
          </a:p>
          <a:p>
            <a:r>
              <a:rPr lang="en-ZA" sz="1200" dirty="0">
                <a:solidFill>
                  <a:schemeClr val="accent1"/>
                </a:solidFill>
              </a:rPr>
              <a:t>            Generate </a:t>
            </a:r>
            <a:r>
              <a:rPr lang="en-ZA" sz="1200" dirty="0">
                <a:solidFill>
                  <a:schemeClr val="accent5"/>
                </a:solidFill>
              </a:rPr>
              <a:t>psychographic variables</a:t>
            </a:r>
            <a:r>
              <a:rPr lang="en-ZA" sz="1200" dirty="0">
                <a:solidFill>
                  <a:schemeClr val="accent1"/>
                </a:solidFill>
              </a:rPr>
              <a:t>:</a:t>
            </a:r>
          </a:p>
          <a:p>
            <a:r>
              <a:rPr lang="en-ZA" sz="1200" dirty="0">
                <a:solidFill>
                  <a:schemeClr val="accent1"/>
                </a:solidFill>
              </a:rPr>
              <a:t>                </a:t>
            </a:r>
            <a:r>
              <a:rPr lang="en-ZA" sz="1200" dirty="0" err="1">
                <a:solidFill>
                  <a:schemeClr val="accent1"/>
                </a:solidFill>
              </a:rPr>
              <a:t>PersonaProfile</a:t>
            </a:r>
            <a:endParaRPr lang="en-ZA" sz="1200" dirty="0">
              <a:solidFill>
                <a:schemeClr val="accent1"/>
              </a:solidFill>
            </a:endParaRPr>
          </a:p>
          <a:p>
            <a:endParaRPr lang="en-ZA" sz="1200" dirty="0">
              <a:solidFill>
                <a:schemeClr val="accent1"/>
              </a:solidFill>
            </a:endParaRPr>
          </a:p>
          <a:p>
            <a:r>
              <a:rPr lang="en-ZA" sz="1200" dirty="0">
                <a:solidFill>
                  <a:schemeClr val="accent1"/>
                </a:solidFill>
              </a:rPr>
              <a:t>Step 3: Store synthesized variables in the Customer table.</a:t>
            </a:r>
          </a:p>
          <a:p>
            <a:endParaRPr lang="en-ZA" sz="1200" dirty="0">
              <a:solidFill>
                <a:schemeClr val="accent1"/>
              </a:solidFill>
            </a:endParaRPr>
          </a:p>
          <a:p>
            <a:r>
              <a:rPr lang="en-ZA" sz="1200" dirty="0">
                <a:solidFill>
                  <a:schemeClr val="accent1"/>
                </a:solidFill>
              </a:rPr>
              <a:t>Step 4: Merge synthesized profile variables with </a:t>
            </a:r>
            <a:r>
              <a:rPr lang="en-ZA" sz="1200" dirty="0">
                <a:solidFill>
                  <a:srgbClr val="00B0F0"/>
                </a:solidFill>
              </a:rPr>
              <a:t>RFM</a:t>
            </a:r>
            <a:r>
              <a:rPr lang="en-ZA" sz="1200" dirty="0">
                <a:solidFill>
                  <a:schemeClr val="accent1"/>
                </a:solidFill>
              </a:rPr>
              <a:t> and </a:t>
            </a:r>
            <a:r>
              <a:rPr lang="en-ZA" sz="1200" dirty="0">
                <a:solidFill>
                  <a:srgbClr val="0070C0"/>
                </a:solidFill>
              </a:rPr>
              <a:t>cascaded RFM features</a:t>
            </a:r>
            <a:r>
              <a:rPr lang="en-ZA" sz="1200" dirty="0">
                <a:solidFill>
                  <a:schemeClr val="accent1"/>
                </a:solidFill>
              </a:rPr>
              <a:t>.</a:t>
            </a:r>
          </a:p>
          <a:p>
            <a:endParaRPr lang="en-ZA" sz="1200" dirty="0">
              <a:solidFill>
                <a:schemeClr val="accent1"/>
              </a:solidFill>
            </a:endParaRPr>
          </a:p>
          <a:p>
            <a:r>
              <a:rPr lang="en-ZA" sz="1200" dirty="0">
                <a:solidFill>
                  <a:schemeClr val="accent1"/>
                </a:solidFill>
              </a:rPr>
              <a:t>Step 5: Construct enriched feature vector (snapshot):</a:t>
            </a:r>
          </a:p>
          <a:p>
            <a:r>
              <a:rPr lang="en-ZA" sz="1200" dirty="0">
                <a:solidFill>
                  <a:schemeClr val="accent1"/>
                </a:solidFill>
              </a:rPr>
              <a:t>            S(</a:t>
            </a:r>
            <a:r>
              <a:rPr lang="en-ZA" sz="1200" dirty="0" err="1">
                <a:solidFill>
                  <a:schemeClr val="accent1"/>
                </a:solidFill>
              </a:rPr>
              <a:t>i,t</a:t>
            </a:r>
            <a:r>
              <a:rPr lang="en-ZA" sz="1200" dirty="0">
                <a:solidFill>
                  <a:schemeClr val="accent1"/>
                </a:solidFill>
              </a:rPr>
              <a:t>) = B(</a:t>
            </a:r>
            <a:r>
              <a:rPr lang="en-ZA" sz="1200" dirty="0" err="1">
                <a:solidFill>
                  <a:schemeClr val="accent1"/>
                </a:solidFill>
              </a:rPr>
              <a:t>i,t</a:t>
            </a:r>
            <a:r>
              <a:rPr lang="en-ZA" sz="1200" dirty="0">
                <a:solidFill>
                  <a:schemeClr val="accent1"/>
                </a:solidFill>
              </a:rPr>
              <a:t>) ⊕ P(</a:t>
            </a:r>
            <a:r>
              <a:rPr lang="en-ZA" sz="1200" dirty="0" err="1">
                <a:solidFill>
                  <a:schemeClr val="accent1"/>
                </a:solidFill>
              </a:rPr>
              <a:t>i</a:t>
            </a:r>
            <a:r>
              <a:rPr lang="en-ZA" sz="1200" dirty="0">
                <a:solidFill>
                  <a:schemeClr val="accent1"/>
                </a:solidFill>
              </a:rPr>
              <a:t>)</a:t>
            </a:r>
          </a:p>
          <a:p>
            <a:endParaRPr lang="en-ZA" sz="1200" dirty="0">
              <a:solidFill>
                <a:schemeClr val="accent1"/>
              </a:solidFill>
            </a:endParaRPr>
          </a:p>
          <a:p>
            <a:r>
              <a:rPr lang="en-ZA" sz="1200" dirty="0">
                <a:solidFill>
                  <a:schemeClr val="accent1"/>
                </a:solidFill>
              </a:rPr>
              <a:t>Step 6: </a:t>
            </a:r>
            <a:r>
              <a:rPr lang="en-ZA" sz="1200" dirty="0">
                <a:solidFill>
                  <a:srgbClr val="7030A0"/>
                </a:solidFill>
              </a:rPr>
              <a:t>Save enriched customer records to the preprocessing results table</a:t>
            </a:r>
            <a:r>
              <a:rPr lang="en-ZA" sz="1200" dirty="0">
                <a:solidFill>
                  <a:schemeClr val="accent1"/>
                </a:solidFill>
              </a:rPr>
              <a:t>.</a:t>
            </a:r>
          </a:p>
          <a:p>
            <a:endParaRPr lang="en-ZA" sz="1200" dirty="0">
              <a:solidFill>
                <a:schemeClr val="accent1"/>
              </a:solidFill>
            </a:endParaRPr>
          </a:p>
          <a:p>
            <a:r>
              <a:rPr lang="en-ZA" sz="1200" dirty="0">
                <a:solidFill>
                  <a:schemeClr val="accent1"/>
                </a:solidFill>
              </a:rPr>
              <a:t>Return:</a:t>
            </a:r>
          </a:p>
          <a:p>
            <a:r>
              <a:rPr lang="en-ZA" sz="1200" dirty="0">
                <a:solidFill>
                  <a:schemeClr val="accent1"/>
                </a:solidFill>
              </a:rPr>
              <a:t>    Final feature set ready for </a:t>
            </a:r>
            <a:r>
              <a:rPr lang="en-ZA" sz="1200" dirty="0">
                <a:solidFill>
                  <a:schemeClr val="accent4"/>
                </a:solidFill>
              </a:rPr>
              <a:t>K-means</a:t>
            </a:r>
            <a:r>
              <a:rPr lang="en-ZA" sz="1200" dirty="0">
                <a:solidFill>
                  <a:schemeClr val="accent1"/>
                </a:solidFill>
              </a:rPr>
              <a:t> and </a:t>
            </a:r>
            <a:r>
              <a:rPr lang="en-ZA" sz="1200" dirty="0">
                <a:solidFill>
                  <a:schemeClr val="accent4"/>
                </a:solidFill>
              </a:rPr>
              <a:t>dynamic fuzzy clustering</a:t>
            </a:r>
            <a:r>
              <a:rPr lang="en-ZA" sz="1200" dirty="0">
                <a:solidFill>
                  <a:schemeClr val="accent1"/>
                </a:solidFill>
              </a:rPr>
              <a:t>.</a:t>
            </a:r>
          </a:p>
        </p:txBody>
      </p:sp>
      <p:sp>
        <p:nvSpPr>
          <p:cNvPr id="28" name="TextBox 27">
            <a:extLst>
              <a:ext uri="{FF2B5EF4-FFF2-40B4-BE49-F238E27FC236}">
                <a16:creationId xmlns:a16="http://schemas.microsoft.com/office/drawing/2014/main" id="{9FB8771F-025D-7F09-C8B2-4D1C83838554}"/>
              </a:ext>
            </a:extLst>
          </p:cNvPr>
          <p:cNvSpPr txBox="1"/>
          <p:nvPr/>
        </p:nvSpPr>
        <p:spPr>
          <a:xfrm>
            <a:off x="6367575" y="686554"/>
            <a:ext cx="1473200" cy="369332"/>
          </a:xfrm>
          <a:prstGeom prst="rect">
            <a:avLst/>
          </a:prstGeom>
          <a:noFill/>
        </p:spPr>
        <p:txBody>
          <a:bodyPr wrap="square">
            <a:spAutoFit/>
          </a:bodyPr>
          <a:lstStyle/>
          <a:p>
            <a:r>
              <a:rPr lang="en-ZA" sz="1800" b="1" dirty="0">
                <a:solidFill>
                  <a:srgbClr val="202C8F"/>
                </a:solidFill>
              </a:rPr>
              <a:t>Algorithm </a:t>
            </a:r>
            <a:endParaRPr lang="en-ZA"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20A9D22-BDA0-59C1-C292-38F306729201}"/>
                  </a:ext>
                </a:extLst>
              </p:cNvPr>
              <p:cNvSpPr txBox="1"/>
              <p:nvPr/>
            </p:nvSpPr>
            <p:spPr>
              <a:xfrm>
                <a:off x="2240809" y="5412869"/>
                <a:ext cx="1933171" cy="381515"/>
              </a:xfrm>
              <a:prstGeom prst="rect">
                <a:avLst/>
              </a:prstGeom>
              <a:noFill/>
            </p:spPr>
            <p:txBody>
              <a:bodyPr wrap="square">
                <a:spAutoFit/>
              </a:bodyPr>
              <a:lstStyle/>
              <a:p>
                <a14:m>
                  <m:oMath xmlns:m="http://schemas.openxmlformats.org/officeDocument/2006/math">
                    <m:sSub>
                      <m:sSubPr>
                        <m:ctrlPr>
                          <a:rPr lang="it-IT" i="1" smtClean="0">
                            <a:solidFill>
                              <a:schemeClr val="bg1"/>
                            </a:solidFill>
                            <a:latin typeface="Cambria Math" panose="02040503050406030204" pitchFamily="18" charset="0"/>
                          </a:rPr>
                        </m:ctrlPr>
                      </m:sSubPr>
                      <m:e>
                        <m:r>
                          <m:rPr>
                            <m:nor/>
                          </m:rPr>
                          <a:rPr lang="en-ZA" b="0" i="0" smtClean="0">
                            <a:solidFill>
                              <a:schemeClr val="bg1"/>
                            </a:solidFill>
                            <a:latin typeface="Cambria Math" panose="02040503050406030204" pitchFamily="18" charset="0"/>
                          </a:rPr>
                          <m:t>S</m:t>
                        </m:r>
                      </m:e>
                      <m:sub>
                        <m:r>
                          <a:rPr lang="en-ZA" i="1">
                            <a:solidFill>
                              <a:schemeClr val="bg1"/>
                            </a:solidFill>
                            <a:latin typeface="Cambria Math" panose="02040503050406030204" pitchFamily="18" charset="0"/>
                          </a:rPr>
                          <m:t>𝑖</m:t>
                        </m:r>
                        <m:r>
                          <a:rPr lang="en-ZA" b="0" i="1" smtClean="0">
                            <a:solidFill>
                              <a:schemeClr val="bg1"/>
                            </a:solidFill>
                            <a:latin typeface="Cambria Math" panose="02040503050406030204" pitchFamily="18" charset="0"/>
                          </a:rPr>
                          <m:t>,</m:t>
                        </m:r>
                        <m:r>
                          <a:rPr lang="en-ZA" b="0" i="1" smtClean="0">
                            <a:solidFill>
                              <a:schemeClr val="bg1"/>
                            </a:solidFill>
                            <a:latin typeface="Cambria Math" panose="02040503050406030204" pitchFamily="18" charset="0"/>
                          </a:rPr>
                          <m:t>𝑡</m:t>
                        </m:r>
                      </m:sub>
                    </m:sSub>
                    <m:r>
                      <a:rPr lang="en-ZA" i="1">
                        <a:solidFill>
                          <a:schemeClr val="bg1"/>
                        </a:solidFill>
                        <a:latin typeface="Cambria Math" panose="02040503050406030204" pitchFamily="18" charset="0"/>
                      </a:rPr>
                      <m:t> </m:t>
                    </m:r>
                  </m:oMath>
                </a14:m>
                <a:r>
                  <a:rPr lang="fr-FR" dirty="0">
                    <a:solidFill>
                      <a:schemeClr val="bg1"/>
                    </a:solidFill>
                  </a:rPr>
                  <a:t>=</a:t>
                </a:r>
                <a14:m>
                  <m:oMath xmlns:m="http://schemas.openxmlformats.org/officeDocument/2006/math">
                    <m:sSub>
                      <m:sSubPr>
                        <m:ctrlPr>
                          <a:rPr lang="fr-FR" i="1" dirty="0" smtClean="0">
                            <a:solidFill>
                              <a:schemeClr val="bg1"/>
                            </a:solidFill>
                            <a:latin typeface="Cambria Math" panose="02040503050406030204" pitchFamily="18" charset="0"/>
                          </a:rPr>
                        </m:ctrlPr>
                      </m:sSubPr>
                      <m:e>
                        <m:r>
                          <a:rPr lang="en-ZA" b="0" i="1" dirty="0" smtClean="0">
                            <a:solidFill>
                              <a:schemeClr val="bg1"/>
                            </a:solidFill>
                            <a:latin typeface="Cambria Math" panose="02040503050406030204" pitchFamily="18" charset="0"/>
                          </a:rPr>
                          <m:t>𝐵</m:t>
                        </m:r>
                      </m:e>
                      <m:sub>
                        <m:r>
                          <a:rPr lang="en-ZA" b="0" i="1" dirty="0" smtClean="0">
                            <a:solidFill>
                              <a:schemeClr val="bg1"/>
                            </a:solidFill>
                            <a:latin typeface="Cambria Math" panose="02040503050406030204" pitchFamily="18" charset="0"/>
                          </a:rPr>
                          <m:t>𝑖</m:t>
                        </m:r>
                        <m:r>
                          <a:rPr lang="en-ZA" b="0" i="1" dirty="0" smtClean="0">
                            <a:solidFill>
                              <a:schemeClr val="bg1"/>
                            </a:solidFill>
                            <a:latin typeface="Cambria Math" panose="02040503050406030204" pitchFamily="18" charset="0"/>
                          </a:rPr>
                          <m:t>,</m:t>
                        </m:r>
                        <m:r>
                          <a:rPr lang="en-ZA" b="0" i="1" dirty="0" smtClean="0">
                            <a:solidFill>
                              <a:schemeClr val="bg1"/>
                            </a:solidFill>
                            <a:latin typeface="Cambria Math" panose="02040503050406030204" pitchFamily="18" charset="0"/>
                          </a:rPr>
                          <m:t>𝑡</m:t>
                        </m:r>
                      </m:sub>
                    </m:sSub>
                    <m:r>
                      <a:rPr lang="en-ZA" b="0" i="0" dirty="0" smtClean="0">
                        <a:solidFill>
                          <a:schemeClr val="bg1"/>
                        </a:solidFill>
                        <a:latin typeface="Cambria Math" panose="02040503050406030204" pitchFamily="18" charset="0"/>
                      </a:rPr>
                      <m:t> </m:t>
                    </m:r>
                  </m:oMath>
                </a14:m>
                <a:r>
                  <a:rPr lang="fr-FR" dirty="0">
                    <a:solidFill>
                      <a:schemeClr val="bg1"/>
                    </a:solidFill>
                  </a:rPr>
                  <a:t>​⊕ </a:t>
                </a:r>
                <a14:m>
                  <m:oMath xmlns:m="http://schemas.openxmlformats.org/officeDocument/2006/math">
                    <m:sSub>
                      <m:sSubPr>
                        <m:ctrlPr>
                          <a:rPr lang="fr-FR" i="1" smtClean="0">
                            <a:solidFill>
                              <a:schemeClr val="bg1"/>
                            </a:solidFill>
                            <a:latin typeface="Cambria Math" panose="02040503050406030204" pitchFamily="18" charset="0"/>
                          </a:rPr>
                        </m:ctrlPr>
                      </m:sSubPr>
                      <m:e>
                        <m:r>
                          <a:rPr lang="en-ZA" b="0" i="1" smtClean="0">
                            <a:solidFill>
                              <a:schemeClr val="bg1"/>
                            </a:solidFill>
                            <a:latin typeface="Cambria Math" panose="02040503050406030204" pitchFamily="18" charset="0"/>
                          </a:rPr>
                          <m:t>𝑃</m:t>
                        </m:r>
                      </m:e>
                      <m:sub>
                        <m:r>
                          <a:rPr lang="en-ZA" b="0" i="1" smtClean="0">
                            <a:solidFill>
                              <a:schemeClr val="bg1"/>
                            </a:solidFill>
                            <a:latin typeface="Cambria Math" panose="02040503050406030204" pitchFamily="18" charset="0"/>
                          </a:rPr>
                          <m:t>𝑖</m:t>
                        </m:r>
                      </m:sub>
                    </m:sSub>
                  </m:oMath>
                </a14:m>
                <a:r>
                  <a:rPr lang="fr-FR" dirty="0">
                    <a:solidFill>
                      <a:schemeClr val="bg1"/>
                    </a:solidFill>
                  </a:rPr>
                  <a:t>​</a:t>
                </a:r>
                <a:endParaRPr lang="en-ZA" dirty="0">
                  <a:solidFill>
                    <a:schemeClr val="bg1"/>
                  </a:solidFill>
                </a:endParaRPr>
              </a:p>
            </p:txBody>
          </p:sp>
        </mc:Choice>
        <mc:Fallback xmlns="">
          <p:sp>
            <p:nvSpPr>
              <p:cNvPr id="30" name="TextBox 29">
                <a:extLst>
                  <a:ext uri="{FF2B5EF4-FFF2-40B4-BE49-F238E27FC236}">
                    <a16:creationId xmlns:a16="http://schemas.microsoft.com/office/drawing/2014/main" id="{F20A9D22-BDA0-59C1-C292-38F306729201}"/>
                  </a:ext>
                </a:extLst>
              </p:cNvPr>
              <p:cNvSpPr txBox="1">
                <a:spLocks noRot="1" noChangeAspect="1" noMove="1" noResize="1" noEditPoints="1" noAdjustHandles="1" noChangeArrowheads="1" noChangeShapeType="1" noTextEdit="1"/>
              </p:cNvSpPr>
              <p:nvPr/>
            </p:nvSpPr>
            <p:spPr>
              <a:xfrm>
                <a:off x="2240809" y="5412869"/>
                <a:ext cx="1933171" cy="381515"/>
              </a:xfrm>
              <a:prstGeom prst="rect">
                <a:avLst/>
              </a:prstGeom>
              <a:blipFill>
                <a:blip r:embed="rId4"/>
                <a:stretch>
                  <a:fillRect t="-11111" b="-23810"/>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31A85C2-C1FC-1E53-1EF3-EB385BE7D14A}"/>
                  </a:ext>
                </a:extLst>
              </p:cNvPr>
              <p:cNvSpPr txBox="1"/>
              <p:nvPr/>
            </p:nvSpPr>
            <p:spPr>
              <a:xfrm>
                <a:off x="1190850" y="3708609"/>
                <a:ext cx="3462225" cy="349326"/>
              </a:xfrm>
              <a:prstGeom prst="rect">
                <a:avLst/>
              </a:prstGeom>
              <a:noFill/>
            </p:spPr>
            <p:txBody>
              <a:bodyPr wrap="square">
                <a:spAutoFit/>
              </a:bodyPr>
              <a:lstStyle/>
              <a:p>
                <a14:m>
                  <m:oMath xmlns:m="http://schemas.openxmlformats.org/officeDocument/2006/math">
                    <m:sSub>
                      <m:sSubPr>
                        <m:ctrlPr>
                          <a:rPr lang="en-ZA" sz="1600" i="1" smtClean="0">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𝐵</m:t>
                        </m:r>
                      </m:e>
                      <m:sub>
                        <m:r>
                          <a:rPr lang="en-ZA" sz="1600" b="0" i="1" smtClean="0">
                            <a:solidFill>
                              <a:schemeClr val="bg1"/>
                            </a:solidFill>
                            <a:latin typeface="Cambria Math" panose="02040503050406030204" pitchFamily="18" charset="0"/>
                          </a:rPr>
                          <m:t>𝑖</m:t>
                        </m:r>
                        <m:r>
                          <a:rPr lang="en-ZA" sz="1600" b="0" i="1" smtClean="0">
                            <a:solidFill>
                              <a:schemeClr val="bg1"/>
                            </a:solidFill>
                            <a:latin typeface="Cambria Math" panose="02040503050406030204" pitchFamily="18" charset="0"/>
                          </a:rPr>
                          <m:t>,</m:t>
                        </m:r>
                        <m:r>
                          <a:rPr lang="en-ZA" sz="1600" b="0" i="1" smtClean="0">
                            <a:solidFill>
                              <a:schemeClr val="bg1"/>
                            </a:solidFill>
                            <a:latin typeface="Cambria Math" panose="02040503050406030204" pitchFamily="18" charset="0"/>
                          </a:rPr>
                          <m:t>𝑡</m:t>
                        </m:r>
                      </m:sub>
                    </m:sSub>
                  </m:oMath>
                </a14:m>
                <a:r>
                  <a:rPr lang="en-ZA" sz="1600" dirty="0">
                    <a:solidFill>
                      <a:schemeClr val="bg1"/>
                    </a:solidFill>
                  </a:rPr>
                  <a:t>​ = [</a:t>
                </a:r>
                <a14:m>
                  <m:oMath xmlns:m="http://schemas.openxmlformats.org/officeDocument/2006/math">
                    <m:sSub>
                      <m:sSubPr>
                        <m:ctrlPr>
                          <a:rPr lang="en-ZA" sz="1600" i="1" smtClean="0">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𝑅</m:t>
                        </m:r>
                      </m:e>
                      <m:sub>
                        <m:r>
                          <a:rPr lang="en-ZA" sz="1600" b="0" i="1" smtClean="0">
                            <a:solidFill>
                              <a:schemeClr val="bg1"/>
                            </a:solidFill>
                            <a:latin typeface="Cambria Math" panose="02040503050406030204" pitchFamily="18" charset="0"/>
                          </a:rPr>
                          <m:t>𝑖</m:t>
                        </m:r>
                        <m:r>
                          <a:rPr lang="en-ZA" sz="1600" b="0" i="1" smtClean="0">
                            <a:solidFill>
                              <a:schemeClr val="bg1"/>
                            </a:solidFill>
                            <a:latin typeface="Cambria Math" panose="02040503050406030204" pitchFamily="18" charset="0"/>
                          </a:rPr>
                          <m:t>,</m:t>
                        </m:r>
                        <m:r>
                          <a:rPr lang="en-ZA" sz="1600" b="0" i="1" smtClean="0">
                            <a:solidFill>
                              <a:schemeClr val="bg1"/>
                            </a:solidFill>
                            <a:latin typeface="Cambria Math" panose="02040503050406030204" pitchFamily="18" charset="0"/>
                          </a:rPr>
                          <m:t>𝑡</m:t>
                        </m:r>
                      </m:sub>
                    </m:sSub>
                  </m:oMath>
                </a14:m>
                <a:r>
                  <a:rPr lang="en-ZA" sz="1600" dirty="0">
                    <a:solidFill>
                      <a:schemeClr val="bg1"/>
                    </a:solidFill>
                  </a:rPr>
                  <a:t> </a:t>
                </a:r>
                <a14:m>
                  <m:oMath xmlns:m="http://schemas.openxmlformats.org/officeDocument/2006/math">
                    <m:sSub>
                      <m:sSubPr>
                        <m:ctrlPr>
                          <a:rPr lang="en-ZA"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𝐹</m:t>
                        </m:r>
                      </m:e>
                      <m:sub>
                        <m:r>
                          <a:rPr lang="en-ZA" sz="1600" i="1">
                            <a:solidFill>
                              <a:schemeClr val="bg1"/>
                            </a:solidFill>
                            <a:latin typeface="Cambria Math" panose="02040503050406030204" pitchFamily="18" charset="0"/>
                          </a:rPr>
                          <m:t>𝑖</m:t>
                        </m:r>
                        <m:r>
                          <a:rPr lang="en-ZA" sz="1600" i="1">
                            <a:solidFill>
                              <a:schemeClr val="bg1"/>
                            </a:solidFill>
                            <a:latin typeface="Cambria Math" panose="02040503050406030204" pitchFamily="18" charset="0"/>
                          </a:rPr>
                          <m:t>,</m:t>
                        </m:r>
                        <m:r>
                          <a:rPr lang="en-ZA" sz="1600" i="1">
                            <a:solidFill>
                              <a:schemeClr val="bg1"/>
                            </a:solidFill>
                            <a:latin typeface="Cambria Math" panose="02040503050406030204" pitchFamily="18" charset="0"/>
                          </a:rPr>
                          <m:t>𝑡</m:t>
                        </m:r>
                      </m:sub>
                    </m:sSub>
                    <m:sSub>
                      <m:sSubPr>
                        <m:ctrlPr>
                          <a:rPr lang="en-ZA"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𝑀</m:t>
                        </m:r>
                      </m:e>
                      <m:sub>
                        <m:r>
                          <a:rPr lang="en-ZA" sz="1600" i="1">
                            <a:solidFill>
                              <a:schemeClr val="bg1"/>
                            </a:solidFill>
                            <a:latin typeface="Cambria Math" panose="02040503050406030204" pitchFamily="18" charset="0"/>
                          </a:rPr>
                          <m:t>𝑖</m:t>
                        </m:r>
                        <m:r>
                          <a:rPr lang="en-ZA" sz="1600" i="1">
                            <a:solidFill>
                              <a:schemeClr val="bg1"/>
                            </a:solidFill>
                            <a:latin typeface="Cambria Math" panose="02040503050406030204" pitchFamily="18" charset="0"/>
                          </a:rPr>
                          <m:t>,</m:t>
                        </m:r>
                        <m:r>
                          <a:rPr lang="en-ZA" sz="1600" i="1">
                            <a:solidFill>
                              <a:schemeClr val="bg1"/>
                            </a:solidFill>
                            <a:latin typeface="Cambria Math" panose="02040503050406030204" pitchFamily="18" charset="0"/>
                          </a:rPr>
                          <m:t>𝑡</m:t>
                        </m:r>
                      </m:sub>
                    </m:sSub>
                    <m:sSub>
                      <m:sSubPr>
                        <m:ctrlPr>
                          <a:rPr lang="en-ZA"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𝑅𝐹</m:t>
                        </m:r>
                      </m:e>
                      <m:sub>
                        <m:r>
                          <a:rPr lang="en-ZA" sz="1600" i="1">
                            <a:solidFill>
                              <a:schemeClr val="bg1"/>
                            </a:solidFill>
                            <a:latin typeface="Cambria Math" panose="02040503050406030204" pitchFamily="18" charset="0"/>
                          </a:rPr>
                          <m:t>𝑖</m:t>
                        </m:r>
                        <m:r>
                          <a:rPr lang="en-ZA" sz="1600" i="1">
                            <a:solidFill>
                              <a:schemeClr val="bg1"/>
                            </a:solidFill>
                            <a:latin typeface="Cambria Math" panose="02040503050406030204" pitchFamily="18" charset="0"/>
                          </a:rPr>
                          <m:t>,</m:t>
                        </m:r>
                        <m:r>
                          <a:rPr lang="en-ZA" sz="1600" i="1">
                            <a:solidFill>
                              <a:schemeClr val="bg1"/>
                            </a:solidFill>
                            <a:latin typeface="Cambria Math" panose="02040503050406030204" pitchFamily="18" charset="0"/>
                          </a:rPr>
                          <m:t>𝑡</m:t>
                        </m:r>
                      </m:sub>
                    </m:sSub>
                    <m:sSub>
                      <m:sSubPr>
                        <m:ctrlPr>
                          <a:rPr lang="en-ZA"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𝑅𝑀</m:t>
                        </m:r>
                      </m:e>
                      <m:sub>
                        <m:r>
                          <a:rPr lang="en-ZA" sz="1600" i="1">
                            <a:solidFill>
                              <a:schemeClr val="bg1"/>
                            </a:solidFill>
                            <a:latin typeface="Cambria Math" panose="02040503050406030204" pitchFamily="18" charset="0"/>
                          </a:rPr>
                          <m:t>𝑖</m:t>
                        </m:r>
                        <m:r>
                          <a:rPr lang="en-ZA" sz="1600" i="1">
                            <a:solidFill>
                              <a:schemeClr val="bg1"/>
                            </a:solidFill>
                            <a:latin typeface="Cambria Math" panose="02040503050406030204" pitchFamily="18" charset="0"/>
                          </a:rPr>
                          <m:t>,</m:t>
                        </m:r>
                        <m:r>
                          <a:rPr lang="en-ZA" sz="1600" i="1">
                            <a:solidFill>
                              <a:schemeClr val="bg1"/>
                            </a:solidFill>
                            <a:latin typeface="Cambria Math" panose="02040503050406030204" pitchFamily="18" charset="0"/>
                          </a:rPr>
                          <m:t>𝑡</m:t>
                        </m:r>
                      </m:sub>
                    </m:sSub>
                    <m:sSub>
                      <m:sSubPr>
                        <m:ctrlPr>
                          <a:rPr lang="en-ZA"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𝐹𝑀</m:t>
                        </m:r>
                      </m:e>
                      <m:sub>
                        <m:r>
                          <a:rPr lang="en-ZA" sz="1600" i="1">
                            <a:solidFill>
                              <a:schemeClr val="bg1"/>
                            </a:solidFill>
                            <a:latin typeface="Cambria Math" panose="02040503050406030204" pitchFamily="18" charset="0"/>
                          </a:rPr>
                          <m:t>𝑖</m:t>
                        </m:r>
                        <m:r>
                          <a:rPr lang="en-ZA" sz="1600" i="1">
                            <a:solidFill>
                              <a:schemeClr val="bg1"/>
                            </a:solidFill>
                            <a:latin typeface="Cambria Math" panose="02040503050406030204" pitchFamily="18" charset="0"/>
                          </a:rPr>
                          <m:t>,</m:t>
                        </m:r>
                        <m:r>
                          <a:rPr lang="en-ZA" sz="1600" i="1">
                            <a:solidFill>
                              <a:schemeClr val="bg1"/>
                            </a:solidFill>
                            <a:latin typeface="Cambria Math" panose="02040503050406030204" pitchFamily="18" charset="0"/>
                          </a:rPr>
                          <m:t>𝑡</m:t>
                        </m:r>
                      </m:sub>
                    </m:sSub>
                  </m:oMath>
                </a14:m>
                <a:r>
                  <a:rPr lang="en-ZA" sz="1600" dirty="0">
                    <a:solidFill>
                      <a:schemeClr val="bg1"/>
                    </a:solidFill>
                  </a:rPr>
                  <a:t>​]</a:t>
                </a:r>
              </a:p>
            </p:txBody>
          </p:sp>
        </mc:Choice>
        <mc:Fallback xmlns="">
          <p:sp>
            <p:nvSpPr>
              <p:cNvPr id="32" name="TextBox 31">
                <a:extLst>
                  <a:ext uri="{FF2B5EF4-FFF2-40B4-BE49-F238E27FC236}">
                    <a16:creationId xmlns:a16="http://schemas.microsoft.com/office/drawing/2014/main" id="{831A85C2-C1FC-1E53-1EF3-EB385BE7D14A}"/>
                  </a:ext>
                </a:extLst>
              </p:cNvPr>
              <p:cNvSpPr txBox="1">
                <a:spLocks noRot="1" noChangeAspect="1" noMove="1" noResize="1" noEditPoints="1" noAdjustHandles="1" noChangeArrowheads="1" noChangeShapeType="1" noTextEdit="1"/>
              </p:cNvSpPr>
              <p:nvPr/>
            </p:nvSpPr>
            <p:spPr>
              <a:xfrm>
                <a:off x="1190850" y="3708609"/>
                <a:ext cx="3462225" cy="349326"/>
              </a:xfrm>
              <a:prstGeom prst="rect">
                <a:avLst/>
              </a:prstGeom>
              <a:blipFill>
                <a:blip r:embed="rId5"/>
                <a:stretch>
                  <a:fillRect t="-5172" b="-18966"/>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C9F0308-BD7A-860E-BE86-04E0D7E44C3D}"/>
                  </a:ext>
                </a:extLst>
              </p:cNvPr>
              <p:cNvSpPr txBox="1"/>
              <p:nvPr/>
            </p:nvSpPr>
            <p:spPr>
              <a:xfrm>
                <a:off x="681692" y="4357665"/>
                <a:ext cx="5871508" cy="338554"/>
              </a:xfrm>
              <a:prstGeom prst="rect">
                <a:avLst/>
              </a:prstGeom>
              <a:noFill/>
            </p:spPr>
            <p:txBody>
              <a:bodyPr wrap="square">
                <a:spAutoFit/>
              </a:bodyPr>
              <a:lstStyle/>
              <a:p>
                <a14:m>
                  <m:oMath xmlns:m="http://schemas.openxmlformats.org/officeDocument/2006/math">
                    <m:sSub>
                      <m:sSubPr>
                        <m:ctrlPr>
                          <a:rPr lang="it-IT" sz="1600" i="1" smtClean="0">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𝑃</m:t>
                        </m:r>
                      </m:e>
                      <m:sub>
                        <m:r>
                          <a:rPr lang="en-ZA" sz="1600" b="0" i="1" smtClean="0">
                            <a:solidFill>
                              <a:schemeClr val="bg1"/>
                            </a:solidFill>
                            <a:latin typeface="Cambria Math" panose="02040503050406030204" pitchFamily="18" charset="0"/>
                          </a:rPr>
                          <m:t>𝑖</m:t>
                        </m:r>
                      </m:sub>
                    </m:sSub>
                  </m:oMath>
                </a14:m>
                <a:r>
                  <a:rPr lang="it-IT" sz="1600" dirty="0">
                    <a:solidFill>
                      <a:schemeClr val="bg1"/>
                    </a:solidFill>
                  </a:rPr>
                  <a:t>​=[</a:t>
                </a:r>
                <a14:m>
                  <m:oMath xmlns:m="http://schemas.openxmlformats.org/officeDocument/2006/math">
                    <m:sSub>
                      <m:sSubPr>
                        <m:ctrlPr>
                          <a:rPr lang="it-IT" sz="1600" i="1" smtClean="0">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𝑁𝑎𝑚𝑒</m:t>
                        </m:r>
                      </m:e>
                      <m:sub>
                        <m:r>
                          <a:rPr lang="en-ZA" sz="1600" b="0" i="1" smtClean="0">
                            <a:solidFill>
                              <a:schemeClr val="bg1"/>
                            </a:solidFill>
                            <a:latin typeface="Cambria Math" panose="02040503050406030204" pitchFamily="18" charset="0"/>
                          </a:rPr>
                          <m:t>𝑖</m:t>
                        </m:r>
                      </m:sub>
                    </m:sSub>
                  </m:oMath>
                </a14:m>
                <a:r>
                  <a:rPr lang="it-IT" sz="1600" dirty="0">
                    <a:solidFill>
                      <a:schemeClr val="bg1"/>
                    </a:solidFill>
                  </a:rPr>
                  <a:t>​,</a:t>
                </a:r>
                <a14:m>
                  <m:oMath xmlns:m="http://schemas.openxmlformats.org/officeDocument/2006/math">
                    <m:sSub>
                      <m:sSubPr>
                        <m:ctrlPr>
                          <a:rPr lang="it-IT"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𝐶𝑜𝑛𝑡𝑎𝑐𝑡</m:t>
                        </m:r>
                      </m:e>
                      <m:sub>
                        <m:r>
                          <a:rPr lang="en-ZA" sz="1600" i="1">
                            <a:solidFill>
                              <a:schemeClr val="bg1"/>
                            </a:solidFill>
                            <a:latin typeface="Cambria Math" panose="02040503050406030204" pitchFamily="18" charset="0"/>
                          </a:rPr>
                          <m:t>𝑖</m:t>
                        </m:r>
                      </m:sub>
                    </m:sSub>
                    <m:r>
                      <a:rPr lang="en-ZA" sz="1600" b="0" i="1" smtClean="0">
                        <a:solidFill>
                          <a:schemeClr val="bg1"/>
                        </a:solidFill>
                        <a:latin typeface="Cambria Math" panose="02040503050406030204" pitchFamily="18" charset="0"/>
                      </a:rPr>
                      <m:t>,</m:t>
                    </m:r>
                    <m:sSub>
                      <m:sSubPr>
                        <m:ctrlPr>
                          <a:rPr lang="it-IT"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𝐴𝑔𝑒</m:t>
                        </m:r>
                      </m:e>
                      <m:sub>
                        <m:r>
                          <a:rPr lang="en-ZA" sz="1600" i="1">
                            <a:solidFill>
                              <a:schemeClr val="bg1"/>
                            </a:solidFill>
                            <a:latin typeface="Cambria Math" panose="02040503050406030204" pitchFamily="18" charset="0"/>
                          </a:rPr>
                          <m:t>𝑖</m:t>
                        </m:r>
                      </m:sub>
                    </m:sSub>
                    <m:r>
                      <a:rPr lang="en-ZA" sz="1600" b="0" i="1" smtClean="0">
                        <a:solidFill>
                          <a:schemeClr val="bg1"/>
                        </a:solidFill>
                        <a:latin typeface="Cambria Math" panose="02040503050406030204" pitchFamily="18" charset="0"/>
                      </a:rPr>
                      <m:t>,</m:t>
                    </m:r>
                    <m:sSub>
                      <m:sSubPr>
                        <m:ctrlPr>
                          <a:rPr lang="it-IT"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𝐺</m:t>
                        </m:r>
                        <m:r>
                          <a:rPr lang="en-ZA" sz="1600" i="1">
                            <a:solidFill>
                              <a:schemeClr val="bg1"/>
                            </a:solidFill>
                            <a:latin typeface="Cambria Math" panose="02040503050406030204" pitchFamily="18" charset="0"/>
                          </a:rPr>
                          <m:t>𝑒</m:t>
                        </m:r>
                        <m:r>
                          <a:rPr lang="en-ZA" sz="1600" b="0" i="1" smtClean="0">
                            <a:solidFill>
                              <a:schemeClr val="bg1"/>
                            </a:solidFill>
                            <a:latin typeface="Cambria Math" panose="02040503050406030204" pitchFamily="18" charset="0"/>
                          </a:rPr>
                          <m:t>𝑛𝑑𝑒𝑟</m:t>
                        </m:r>
                      </m:e>
                      <m:sub>
                        <m:r>
                          <a:rPr lang="en-ZA" sz="1600" i="1">
                            <a:solidFill>
                              <a:schemeClr val="bg1"/>
                            </a:solidFill>
                            <a:latin typeface="Cambria Math" panose="02040503050406030204" pitchFamily="18" charset="0"/>
                          </a:rPr>
                          <m:t>𝑖</m:t>
                        </m:r>
                      </m:sub>
                    </m:sSub>
                    <m:r>
                      <a:rPr lang="en-ZA" sz="1600" b="0" i="1" smtClean="0">
                        <a:solidFill>
                          <a:schemeClr val="bg1"/>
                        </a:solidFill>
                        <a:latin typeface="Cambria Math" panose="02040503050406030204" pitchFamily="18" charset="0"/>
                      </a:rPr>
                      <m:t>,</m:t>
                    </m:r>
                    <m:sSub>
                      <m:sSubPr>
                        <m:ctrlPr>
                          <a:rPr lang="it-IT"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𝑅𝑒𝑔𝑖𝑜𝑛</m:t>
                        </m:r>
                      </m:e>
                      <m:sub>
                        <m:r>
                          <a:rPr lang="en-ZA" sz="1600" i="1">
                            <a:solidFill>
                              <a:schemeClr val="bg1"/>
                            </a:solidFill>
                            <a:latin typeface="Cambria Math" panose="02040503050406030204" pitchFamily="18" charset="0"/>
                          </a:rPr>
                          <m:t>𝑖</m:t>
                        </m:r>
                      </m:sub>
                    </m:sSub>
                    <m:r>
                      <a:rPr lang="en-ZA" sz="1600" b="0" i="1" smtClean="0">
                        <a:solidFill>
                          <a:schemeClr val="bg1"/>
                        </a:solidFill>
                        <a:latin typeface="Cambria Math" panose="02040503050406030204" pitchFamily="18" charset="0"/>
                      </a:rPr>
                      <m:t>,</m:t>
                    </m:r>
                    <m:sSub>
                      <m:sSubPr>
                        <m:ctrlPr>
                          <a:rPr lang="it-IT"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𝐶𝑙𝑖𝑚𝑎𝑡𝑒</m:t>
                        </m:r>
                      </m:e>
                      <m:sub>
                        <m:r>
                          <a:rPr lang="en-ZA" sz="1600" i="1">
                            <a:solidFill>
                              <a:schemeClr val="bg1"/>
                            </a:solidFill>
                            <a:latin typeface="Cambria Math" panose="02040503050406030204" pitchFamily="18" charset="0"/>
                          </a:rPr>
                          <m:t>𝑖</m:t>
                        </m:r>
                      </m:sub>
                    </m:sSub>
                    <m:sSub>
                      <m:sSubPr>
                        <m:ctrlPr>
                          <a:rPr lang="it-IT" sz="1600" i="1">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𝑃𝑒𝑟𝑠𝑜𝑛𝑎</m:t>
                        </m:r>
                      </m:e>
                      <m:sub>
                        <m:r>
                          <a:rPr lang="en-ZA" sz="1600" i="1">
                            <a:solidFill>
                              <a:schemeClr val="bg1"/>
                            </a:solidFill>
                            <a:latin typeface="Cambria Math" panose="02040503050406030204" pitchFamily="18" charset="0"/>
                          </a:rPr>
                          <m:t>𝑖</m:t>
                        </m:r>
                      </m:sub>
                    </m:sSub>
                  </m:oMath>
                </a14:m>
                <a:r>
                  <a:rPr lang="it-IT" sz="1600" dirty="0">
                    <a:solidFill>
                      <a:schemeClr val="bg1"/>
                    </a:solidFill>
                  </a:rPr>
                  <a:t>]</a:t>
                </a:r>
                <a:endParaRPr lang="en-ZA" sz="1600" dirty="0">
                  <a:solidFill>
                    <a:schemeClr val="bg1"/>
                  </a:solidFill>
                </a:endParaRPr>
              </a:p>
            </p:txBody>
          </p:sp>
        </mc:Choice>
        <mc:Fallback xmlns="">
          <p:sp>
            <p:nvSpPr>
              <p:cNvPr id="34" name="TextBox 33">
                <a:extLst>
                  <a:ext uri="{FF2B5EF4-FFF2-40B4-BE49-F238E27FC236}">
                    <a16:creationId xmlns:a16="http://schemas.microsoft.com/office/drawing/2014/main" id="{8C9F0308-BD7A-860E-BE86-04E0D7E44C3D}"/>
                  </a:ext>
                </a:extLst>
              </p:cNvPr>
              <p:cNvSpPr txBox="1">
                <a:spLocks noRot="1" noChangeAspect="1" noMove="1" noResize="1" noEditPoints="1" noAdjustHandles="1" noChangeArrowheads="1" noChangeShapeType="1" noTextEdit="1"/>
              </p:cNvSpPr>
              <p:nvPr/>
            </p:nvSpPr>
            <p:spPr>
              <a:xfrm>
                <a:off x="681692" y="4357665"/>
                <a:ext cx="5871508" cy="338554"/>
              </a:xfrm>
              <a:prstGeom prst="rect">
                <a:avLst/>
              </a:prstGeom>
              <a:blipFill>
                <a:blip r:embed="rId6"/>
                <a:stretch>
                  <a:fillRect t="-7273" b="-23636"/>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996F40B-FF9C-6423-E78D-6AE8C8961CE7}"/>
                  </a:ext>
                </a:extLst>
              </p:cNvPr>
              <p:cNvSpPr txBox="1"/>
              <p:nvPr/>
            </p:nvSpPr>
            <p:spPr>
              <a:xfrm>
                <a:off x="66713" y="5831042"/>
                <a:ext cx="6300862" cy="627736"/>
              </a:xfrm>
              <a:prstGeom prst="rect">
                <a:avLst/>
              </a:prstGeom>
              <a:noFill/>
            </p:spPr>
            <p:txBody>
              <a:bodyPr wrap="square">
                <a:spAutoFit/>
              </a:bodyPr>
              <a:lstStyle/>
              <a:p>
                <a14:m>
                  <m:oMath xmlns:m="http://schemas.openxmlformats.org/officeDocument/2006/math">
                    <m:sSub>
                      <m:sSubPr>
                        <m:ctrlPr>
                          <a:rPr lang="en-US" i="1" smtClean="0">
                            <a:solidFill>
                              <a:schemeClr val="bg1"/>
                            </a:solidFill>
                            <a:latin typeface="Cambria Math" panose="02040503050406030204" pitchFamily="18" charset="0"/>
                          </a:rPr>
                        </m:ctrlPr>
                      </m:sSubPr>
                      <m:e>
                        <m:r>
                          <a:rPr lang="en-ZA" b="0" i="1" smtClean="0">
                            <a:solidFill>
                              <a:schemeClr val="bg1"/>
                            </a:solidFill>
                            <a:latin typeface="Cambria Math" panose="02040503050406030204" pitchFamily="18" charset="0"/>
                          </a:rPr>
                          <m:t>𝑆</m:t>
                        </m:r>
                      </m:e>
                      <m:sub>
                        <m:r>
                          <a:rPr lang="en-ZA" b="0" i="1" smtClean="0">
                            <a:solidFill>
                              <a:schemeClr val="bg1"/>
                            </a:solidFill>
                            <a:latin typeface="Cambria Math" panose="02040503050406030204" pitchFamily="18" charset="0"/>
                          </a:rPr>
                          <m:t>𝑖</m:t>
                        </m:r>
                        <m:r>
                          <a:rPr lang="en-ZA" b="0" i="1" smtClean="0">
                            <a:solidFill>
                              <a:schemeClr val="bg1"/>
                            </a:solidFill>
                            <a:latin typeface="Cambria Math" panose="02040503050406030204" pitchFamily="18" charset="0"/>
                          </a:rPr>
                          <m:t>,</m:t>
                        </m:r>
                        <m:r>
                          <a:rPr lang="en-ZA" b="0" i="1" smtClean="0">
                            <a:solidFill>
                              <a:schemeClr val="bg1"/>
                            </a:solidFill>
                            <a:latin typeface="Cambria Math" panose="02040503050406030204" pitchFamily="18" charset="0"/>
                          </a:rPr>
                          <m:t>𝑡</m:t>
                        </m:r>
                        <m:r>
                          <a:rPr lang="en-ZA" b="0" i="1" smtClean="0">
                            <a:solidFill>
                              <a:schemeClr val="bg1"/>
                            </a:solidFill>
                            <a:latin typeface="Cambria Math" panose="02040503050406030204" pitchFamily="18" charset="0"/>
                          </a:rPr>
                          <m:t>  </m:t>
                        </m:r>
                      </m:sub>
                    </m:sSub>
                  </m:oMath>
                </a14:m>
                <a:r>
                  <a:rPr lang="en-US" sz="1600" dirty="0">
                    <a:solidFill>
                      <a:schemeClr val="bg1"/>
                    </a:solidFill>
                  </a:rPr>
                  <a:t>-&gt;  The full stored record (Snapshot) of customer </a:t>
                </a:r>
                <a14:m>
                  <m:oMath xmlns:m="http://schemas.openxmlformats.org/officeDocument/2006/math">
                    <m:r>
                      <a:rPr lang="en-US" sz="1600" i="1">
                        <a:solidFill>
                          <a:schemeClr val="bg1"/>
                        </a:solidFill>
                        <a:latin typeface="Cambria Math" panose="02040503050406030204" pitchFamily="18" charset="0"/>
                      </a:rPr>
                      <m:t>𝑖</m:t>
                    </m:r>
                  </m:oMath>
                </a14:m>
                <a:r>
                  <a:rPr lang="en-US" sz="1600" dirty="0">
                    <a:solidFill>
                      <a:schemeClr val="bg1"/>
                    </a:solidFill>
                  </a:rPr>
                  <a:t> at time cycle </a:t>
                </a:r>
                <a14:m>
                  <m:oMath xmlns:m="http://schemas.openxmlformats.org/officeDocument/2006/math">
                    <m:r>
                      <a:rPr lang="en-US" sz="1600" i="1">
                        <a:solidFill>
                          <a:schemeClr val="bg1"/>
                        </a:solidFill>
                        <a:latin typeface="Cambria Math" panose="02040503050406030204" pitchFamily="18" charset="0"/>
                      </a:rPr>
                      <m:t>𝑡</m:t>
                    </m:r>
                  </m:oMath>
                </a14:m>
                <a:r>
                  <a:rPr lang="en-US" sz="1600" dirty="0">
                    <a:solidFill>
                      <a:schemeClr val="bg1"/>
                    </a:solidFill>
                  </a:rPr>
                  <a:t>, combining their buying </a:t>
                </a:r>
                <a:r>
                  <a:rPr lang="en-US" sz="1600" dirty="0" err="1">
                    <a:solidFill>
                      <a:schemeClr val="bg1"/>
                    </a:solidFill>
                  </a:rPr>
                  <a:t>behaviour</a:t>
                </a:r>
                <a:r>
                  <a:rPr lang="en-US" sz="1600" dirty="0">
                    <a:solidFill>
                      <a:schemeClr val="bg1"/>
                    </a:solidFill>
                  </a:rPr>
                  <a:t> and synthesized customer profile.</a:t>
                </a:r>
                <a:endParaRPr lang="en-ZA" sz="1600" dirty="0">
                  <a:solidFill>
                    <a:schemeClr val="bg1"/>
                  </a:solidFill>
                </a:endParaRPr>
              </a:p>
            </p:txBody>
          </p:sp>
        </mc:Choice>
        <mc:Fallback xmlns="">
          <p:sp>
            <p:nvSpPr>
              <p:cNvPr id="36" name="TextBox 35">
                <a:extLst>
                  <a:ext uri="{FF2B5EF4-FFF2-40B4-BE49-F238E27FC236}">
                    <a16:creationId xmlns:a16="http://schemas.microsoft.com/office/drawing/2014/main" id="{5996F40B-FF9C-6423-E78D-6AE8C8961CE7}"/>
                  </a:ext>
                </a:extLst>
              </p:cNvPr>
              <p:cNvSpPr txBox="1">
                <a:spLocks noRot="1" noChangeAspect="1" noMove="1" noResize="1" noEditPoints="1" noAdjustHandles="1" noChangeArrowheads="1" noChangeShapeType="1" noTextEdit="1"/>
              </p:cNvSpPr>
              <p:nvPr/>
            </p:nvSpPr>
            <p:spPr>
              <a:xfrm>
                <a:off x="66713" y="5831042"/>
                <a:ext cx="6300862" cy="627736"/>
              </a:xfrm>
              <a:prstGeom prst="rect">
                <a:avLst/>
              </a:prstGeom>
              <a:blipFill>
                <a:blip r:embed="rId7"/>
                <a:stretch>
                  <a:fillRect l="-580" b="-11650"/>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FB32BD9-EBD7-2EEC-A2B2-AEFBEDBC3F4A}"/>
                  </a:ext>
                </a:extLst>
              </p:cNvPr>
              <p:cNvSpPr txBox="1"/>
              <p:nvPr/>
            </p:nvSpPr>
            <p:spPr>
              <a:xfrm>
                <a:off x="1599221" y="4796066"/>
                <a:ext cx="1608174" cy="338554"/>
              </a:xfrm>
              <a:prstGeom prst="rect">
                <a:avLst/>
              </a:prstGeom>
              <a:noFill/>
            </p:spPr>
            <p:txBody>
              <a:bodyPr wrap="square">
                <a:spAutoFit/>
              </a:bodyPr>
              <a:lstStyle/>
              <a:p>
                <a14:m>
                  <m:oMath xmlns:m="http://schemas.openxmlformats.org/officeDocument/2006/math">
                    <m:sSub>
                      <m:sSubPr>
                        <m:ctrlPr>
                          <a:rPr lang="it-IT" sz="1600" i="1" smtClean="0">
                            <a:solidFill>
                              <a:schemeClr val="bg1"/>
                            </a:solidFill>
                            <a:latin typeface="Cambria Math" panose="02040503050406030204" pitchFamily="18" charset="0"/>
                          </a:rPr>
                        </m:ctrlPr>
                      </m:sSubPr>
                      <m:e>
                        <m:r>
                          <a:rPr lang="en-ZA" sz="1600" b="0" i="1" smtClean="0">
                            <a:solidFill>
                              <a:schemeClr val="bg1"/>
                            </a:solidFill>
                            <a:latin typeface="Cambria Math" panose="02040503050406030204" pitchFamily="18" charset="0"/>
                          </a:rPr>
                          <m:t>𝑃</m:t>
                        </m:r>
                      </m:e>
                      <m:sub>
                        <m:r>
                          <a:rPr lang="en-ZA" sz="1600" b="0" i="1" smtClean="0">
                            <a:solidFill>
                              <a:schemeClr val="bg1"/>
                            </a:solidFill>
                            <a:latin typeface="Cambria Math" panose="02040503050406030204" pitchFamily="18" charset="0"/>
                          </a:rPr>
                          <m:t>𝑖</m:t>
                        </m:r>
                      </m:sub>
                    </m:sSub>
                  </m:oMath>
                </a14:m>
                <a:r>
                  <a:rPr lang="it-IT" sz="1600" dirty="0">
                    <a:solidFill>
                      <a:schemeClr val="bg1"/>
                    </a:solidFill>
                  </a:rPr>
                  <a:t>​=[</a:t>
                </a:r>
                <a14:m>
                  <m:oMath xmlns:m="http://schemas.openxmlformats.org/officeDocument/2006/math">
                    <m:sSub>
                      <m:sSubPr>
                        <m:ctrlPr>
                          <a:rPr lang="it-IT" sz="1600" i="1" smtClean="0">
                            <a:solidFill>
                              <a:schemeClr val="bg1"/>
                            </a:solidFill>
                            <a:latin typeface="Cambria Math" panose="02040503050406030204" pitchFamily="18" charset="0"/>
                          </a:rPr>
                        </m:ctrlPr>
                      </m:sSubPr>
                      <m:e>
                        <m:r>
                          <m:rPr>
                            <m:sty m:val="p"/>
                          </m:rPr>
                          <a:rPr lang="en-ZA" sz="1600" b="0" i="1" smtClean="0">
                            <a:solidFill>
                              <a:schemeClr val="bg1"/>
                            </a:solidFill>
                            <a:latin typeface="Cambria Math" panose="02040503050406030204" pitchFamily="18" charset="0"/>
                          </a:rPr>
                          <m:t>Country</m:t>
                        </m:r>
                      </m:e>
                      <m:sub>
                        <m:r>
                          <a:rPr lang="en-ZA" sz="1600" b="0" i="1" smtClean="0">
                            <a:solidFill>
                              <a:schemeClr val="bg1"/>
                            </a:solidFill>
                            <a:latin typeface="Cambria Math" panose="02040503050406030204" pitchFamily="18" charset="0"/>
                          </a:rPr>
                          <m:t>𝑖</m:t>
                        </m:r>
                      </m:sub>
                    </m:sSub>
                    <m:r>
                      <a:rPr lang="en-ZA" sz="1600" b="0" i="0" smtClean="0">
                        <a:solidFill>
                          <a:schemeClr val="bg1"/>
                        </a:solidFill>
                        <a:latin typeface="Cambria Math" panose="02040503050406030204" pitchFamily="18" charset="0"/>
                      </a:rPr>
                      <m:t>]</m:t>
                    </m:r>
                  </m:oMath>
                </a14:m>
                <a:endParaRPr lang="en-ZA" sz="1600" dirty="0"/>
              </a:p>
            </p:txBody>
          </p:sp>
        </mc:Choice>
        <mc:Fallback xmlns="">
          <p:sp>
            <p:nvSpPr>
              <p:cNvPr id="8" name="TextBox 7">
                <a:extLst>
                  <a:ext uri="{FF2B5EF4-FFF2-40B4-BE49-F238E27FC236}">
                    <a16:creationId xmlns:a16="http://schemas.microsoft.com/office/drawing/2014/main" id="{0FB32BD9-EBD7-2EEC-A2B2-AEFBEDBC3F4A}"/>
                  </a:ext>
                </a:extLst>
              </p:cNvPr>
              <p:cNvSpPr txBox="1">
                <a:spLocks noRot="1" noChangeAspect="1" noMove="1" noResize="1" noEditPoints="1" noAdjustHandles="1" noChangeArrowheads="1" noChangeShapeType="1" noTextEdit="1"/>
              </p:cNvSpPr>
              <p:nvPr/>
            </p:nvSpPr>
            <p:spPr>
              <a:xfrm>
                <a:off x="1599221" y="4796066"/>
                <a:ext cx="1608174" cy="338554"/>
              </a:xfrm>
              <a:prstGeom prst="rect">
                <a:avLst/>
              </a:prstGeom>
              <a:blipFill>
                <a:blip r:embed="rId8"/>
                <a:stretch>
                  <a:fillRect t="-7273" b="-23636"/>
                </a:stretch>
              </a:blipFill>
            </p:spPr>
            <p:txBody>
              <a:bodyPr/>
              <a:lstStyle/>
              <a:p>
                <a:r>
                  <a:rPr lang="en-ZA">
                    <a:noFill/>
                  </a:rPr>
                  <a:t> </a:t>
                </a:r>
              </a:p>
            </p:txBody>
          </p:sp>
        </mc:Fallback>
      </mc:AlternateContent>
      <p:sp>
        <p:nvSpPr>
          <p:cNvPr id="9" name="TextBox 8">
            <a:extLst>
              <a:ext uri="{FF2B5EF4-FFF2-40B4-BE49-F238E27FC236}">
                <a16:creationId xmlns:a16="http://schemas.microsoft.com/office/drawing/2014/main" id="{F2FEED73-6CBC-4D84-2DD8-DD70B37A44EC}"/>
              </a:ext>
            </a:extLst>
          </p:cNvPr>
          <p:cNvSpPr txBox="1"/>
          <p:nvPr/>
        </p:nvSpPr>
        <p:spPr>
          <a:xfrm>
            <a:off x="189815" y="4077964"/>
            <a:ext cx="2360428" cy="338554"/>
          </a:xfrm>
          <a:prstGeom prst="rect">
            <a:avLst/>
          </a:prstGeom>
          <a:noFill/>
        </p:spPr>
        <p:txBody>
          <a:bodyPr wrap="square" rtlCol="0">
            <a:spAutoFit/>
          </a:bodyPr>
          <a:lstStyle/>
          <a:p>
            <a:r>
              <a:rPr lang="en-ZA" sz="1600" dirty="0">
                <a:solidFill>
                  <a:schemeClr val="bg1"/>
                </a:solidFill>
              </a:rPr>
              <a:t>For dataset A :</a:t>
            </a:r>
          </a:p>
        </p:txBody>
      </p:sp>
      <p:sp>
        <p:nvSpPr>
          <p:cNvPr id="10" name="TextBox 9">
            <a:extLst>
              <a:ext uri="{FF2B5EF4-FFF2-40B4-BE49-F238E27FC236}">
                <a16:creationId xmlns:a16="http://schemas.microsoft.com/office/drawing/2014/main" id="{EA83E84B-8D86-0C98-F11D-66923CCE59D9}"/>
              </a:ext>
            </a:extLst>
          </p:cNvPr>
          <p:cNvSpPr txBox="1"/>
          <p:nvPr/>
        </p:nvSpPr>
        <p:spPr>
          <a:xfrm>
            <a:off x="189815" y="4768346"/>
            <a:ext cx="2360428" cy="338554"/>
          </a:xfrm>
          <a:prstGeom prst="rect">
            <a:avLst/>
          </a:prstGeom>
          <a:noFill/>
        </p:spPr>
        <p:txBody>
          <a:bodyPr wrap="square" rtlCol="0">
            <a:spAutoFit/>
          </a:bodyPr>
          <a:lstStyle/>
          <a:p>
            <a:r>
              <a:rPr lang="en-ZA" sz="1600" dirty="0">
                <a:solidFill>
                  <a:schemeClr val="bg1"/>
                </a:solidFill>
              </a:rPr>
              <a:t>For dataset B :</a:t>
            </a:r>
          </a:p>
        </p:txBody>
      </p:sp>
      <p:sp>
        <p:nvSpPr>
          <p:cNvPr id="11" name="TextBox 10">
            <a:extLst>
              <a:ext uri="{FF2B5EF4-FFF2-40B4-BE49-F238E27FC236}">
                <a16:creationId xmlns:a16="http://schemas.microsoft.com/office/drawing/2014/main" id="{920A41A4-8AC2-B81F-B0F3-FE881C3A0F66}"/>
              </a:ext>
            </a:extLst>
          </p:cNvPr>
          <p:cNvSpPr txBox="1"/>
          <p:nvPr/>
        </p:nvSpPr>
        <p:spPr>
          <a:xfrm>
            <a:off x="125600" y="5385149"/>
            <a:ext cx="2360428" cy="338554"/>
          </a:xfrm>
          <a:prstGeom prst="rect">
            <a:avLst/>
          </a:prstGeom>
          <a:noFill/>
        </p:spPr>
        <p:txBody>
          <a:bodyPr wrap="square" rtlCol="0">
            <a:spAutoFit/>
          </a:bodyPr>
          <a:lstStyle/>
          <a:p>
            <a:r>
              <a:rPr lang="en-ZA" sz="1600" b="1" dirty="0">
                <a:solidFill>
                  <a:schemeClr val="bg1"/>
                </a:solidFill>
              </a:rPr>
              <a:t>Resulting snapshot :</a:t>
            </a:r>
          </a:p>
        </p:txBody>
      </p:sp>
    </p:spTree>
    <p:extLst>
      <p:ext uri="{BB962C8B-B14F-4D97-AF65-F5344CB8AC3E}">
        <p14:creationId xmlns:p14="http://schemas.microsoft.com/office/powerpoint/2010/main" val="1697924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605309-3931-890E-4F21-162231E77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911A8-1985-2BD5-9AB7-84E5061A3F19}"/>
              </a:ext>
            </a:extLst>
          </p:cNvPr>
          <p:cNvSpPr>
            <a:spLocks noGrp="1"/>
          </p:cNvSpPr>
          <p:nvPr>
            <p:ph type="title"/>
          </p:nvPr>
        </p:nvSpPr>
        <p:spPr>
          <a:xfrm>
            <a:off x="3254828" y="78694"/>
            <a:ext cx="6150428" cy="530614"/>
          </a:xfrm>
        </p:spPr>
        <p:txBody>
          <a:bodyPr>
            <a:noAutofit/>
          </a:bodyPr>
          <a:lstStyle/>
          <a:p>
            <a:r>
              <a:rPr lang="en-ZA" sz="3200" b="1" dirty="0">
                <a:solidFill>
                  <a:srgbClr val="002060"/>
                </a:solidFill>
                <a:latin typeface="Arial Black" panose="020B0A04020102020204" pitchFamily="34" charset="0"/>
              </a:rPr>
              <a:t>Initial Baseline K-means</a:t>
            </a:r>
          </a:p>
        </p:txBody>
      </p:sp>
      <p:sp>
        <p:nvSpPr>
          <p:cNvPr id="4" name="TextBox 3">
            <a:extLst>
              <a:ext uri="{FF2B5EF4-FFF2-40B4-BE49-F238E27FC236}">
                <a16:creationId xmlns:a16="http://schemas.microsoft.com/office/drawing/2014/main" id="{5094F382-69FA-B43E-F657-D3548DE33EB7}"/>
              </a:ext>
            </a:extLst>
          </p:cNvPr>
          <p:cNvSpPr txBox="1"/>
          <p:nvPr/>
        </p:nvSpPr>
        <p:spPr>
          <a:xfrm>
            <a:off x="137626" y="808270"/>
            <a:ext cx="8978381" cy="369332"/>
          </a:xfrm>
          <a:prstGeom prst="rect">
            <a:avLst/>
          </a:prstGeom>
          <a:noFill/>
        </p:spPr>
        <p:txBody>
          <a:bodyPr wrap="square">
            <a:spAutoFit/>
          </a:bodyPr>
          <a:lstStyle/>
          <a:p>
            <a:r>
              <a:rPr lang="en-US" dirty="0">
                <a:solidFill>
                  <a:srgbClr val="002060"/>
                </a:solidFill>
              </a:rPr>
              <a:t>K-means is applied to </a:t>
            </a:r>
            <a:r>
              <a:rPr lang="en-US" b="1" dirty="0">
                <a:solidFill>
                  <a:srgbClr val="002060"/>
                </a:solidFill>
              </a:rPr>
              <a:t>Cycle 0</a:t>
            </a:r>
            <a:r>
              <a:rPr lang="en-US" dirty="0">
                <a:solidFill>
                  <a:srgbClr val="002060"/>
                </a:solidFill>
              </a:rPr>
              <a:t> to create the initial customer segment structure.</a:t>
            </a:r>
            <a:endParaRPr lang="en-ZA" dirty="0">
              <a:solidFill>
                <a:srgbClr val="002060"/>
              </a:solidFill>
            </a:endParaRPr>
          </a:p>
        </p:txBody>
      </p:sp>
      <p:graphicFrame>
        <p:nvGraphicFramePr>
          <p:cNvPr id="8" name="Table 7">
            <a:extLst>
              <a:ext uri="{FF2B5EF4-FFF2-40B4-BE49-F238E27FC236}">
                <a16:creationId xmlns:a16="http://schemas.microsoft.com/office/drawing/2014/main" id="{D48CB1F9-5607-A9F1-3222-BAE3682D1520}"/>
              </a:ext>
            </a:extLst>
          </p:cNvPr>
          <p:cNvGraphicFramePr>
            <a:graphicFrameLocks noGrp="1"/>
          </p:cNvGraphicFramePr>
          <p:nvPr>
            <p:extLst>
              <p:ext uri="{D42A27DB-BD31-4B8C-83A1-F6EECF244321}">
                <p14:modId xmlns:p14="http://schemas.microsoft.com/office/powerpoint/2010/main" val="3943648370"/>
              </p:ext>
            </p:extLst>
          </p:nvPr>
        </p:nvGraphicFramePr>
        <p:xfrm>
          <a:off x="361560" y="1258677"/>
          <a:ext cx="8073314" cy="2319786"/>
        </p:xfrm>
        <a:graphic>
          <a:graphicData uri="http://schemas.openxmlformats.org/drawingml/2006/table">
            <a:tbl>
              <a:tblPr>
                <a:tableStyleId>{D7AC3CCA-C797-4891-BE02-D94E43425B78}</a:tableStyleId>
              </a:tblPr>
              <a:tblGrid>
                <a:gridCol w="2509034">
                  <a:extLst>
                    <a:ext uri="{9D8B030D-6E8A-4147-A177-3AD203B41FA5}">
                      <a16:colId xmlns:a16="http://schemas.microsoft.com/office/drawing/2014/main" val="2758271375"/>
                    </a:ext>
                  </a:extLst>
                </a:gridCol>
                <a:gridCol w="5564280">
                  <a:extLst>
                    <a:ext uri="{9D8B030D-6E8A-4147-A177-3AD203B41FA5}">
                      <a16:colId xmlns:a16="http://schemas.microsoft.com/office/drawing/2014/main" val="2699637513"/>
                    </a:ext>
                  </a:extLst>
                </a:gridCol>
              </a:tblGrid>
              <a:tr h="386631">
                <a:tc>
                  <a:txBody>
                    <a:bodyPr/>
                    <a:lstStyle/>
                    <a:p>
                      <a:pPr>
                        <a:buNone/>
                      </a:pPr>
                      <a:r>
                        <a:rPr lang="en-ZA" sz="1400" dirty="0"/>
                        <a:t>Purpose</a:t>
                      </a:r>
                    </a:p>
                  </a:txBody>
                  <a:tcPr anchor="ctr"/>
                </a:tc>
                <a:tc>
                  <a:txBody>
                    <a:bodyPr/>
                    <a:lstStyle/>
                    <a:p>
                      <a:pPr>
                        <a:buNone/>
                      </a:pPr>
                      <a:r>
                        <a:rPr lang="en-ZA" sz="1400" dirty="0"/>
                        <a:t>Explanation</a:t>
                      </a:r>
                    </a:p>
                  </a:txBody>
                  <a:tcPr anchor="ctr"/>
                </a:tc>
                <a:extLst>
                  <a:ext uri="{0D108BD9-81ED-4DB2-BD59-A6C34878D82A}">
                    <a16:rowId xmlns:a16="http://schemas.microsoft.com/office/drawing/2014/main" val="3644552814"/>
                  </a:ext>
                </a:extLst>
              </a:tr>
              <a:tr h="386631">
                <a:tc>
                  <a:txBody>
                    <a:bodyPr/>
                    <a:lstStyle/>
                    <a:p>
                      <a:pPr>
                        <a:buNone/>
                      </a:pPr>
                      <a:r>
                        <a:rPr lang="en-ZA" sz="1400" dirty="0"/>
                        <a:t>Starting clusters</a:t>
                      </a:r>
                    </a:p>
                  </a:txBody>
                  <a:tcPr anchor="ctr"/>
                </a:tc>
                <a:tc>
                  <a:txBody>
                    <a:bodyPr/>
                    <a:lstStyle/>
                    <a:p>
                      <a:pPr>
                        <a:buNone/>
                      </a:pPr>
                      <a:r>
                        <a:rPr lang="en-US" sz="1400" dirty="0"/>
                        <a:t>Creates the first customer groups before dynamic updates begin</a:t>
                      </a:r>
                    </a:p>
                  </a:txBody>
                  <a:tcPr anchor="ctr"/>
                </a:tc>
                <a:extLst>
                  <a:ext uri="{0D108BD9-81ED-4DB2-BD59-A6C34878D82A}">
                    <a16:rowId xmlns:a16="http://schemas.microsoft.com/office/drawing/2014/main" val="3195991110"/>
                  </a:ext>
                </a:extLst>
              </a:tr>
              <a:tr h="386631">
                <a:tc>
                  <a:txBody>
                    <a:bodyPr/>
                    <a:lstStyle/>
                    <a:p>
                      <a:pPr>
                        <a:buNone/>
                      </a:pPr>
                      <a:r>
                        <a:rPr lang="en-ZA" sz="1400"/>
                        <a:t>Initial centroids</a:t>
                      </a:r>
                    </a:p>
                  </a:txBody>
                  <a:tcPr anchor="ctr"/>
                </a:tc>
                <a:tc>
                  <a:txBody>
                    <a:bodyPr/>
                    <a:lstStyle/>
                    <a:p>
                      <a:pPr>
                        <a:buNone/>
                      </a:pPr>
                      <a:r>
                        <a:rPr lang="en-US" sz="1400"/>
                        <a:t>Stores the first cluster centres used as reference points</a:t>
                      </a:r>
                    </a:p>
                  </a:txBody>
                  <a:tcPr anchor="ctr"/>
                </a:tc>
                <a:extLst>
                  <a:ext uri="{0D108BD9-81ED-4DB2-BD59-A6C34878D82A}">
                    <a16:rowId xmlns:a16="http://schemas.microsoft.com/office/drawing/2014/main" val="1090596565"/>
                  </a:ext>
                </a:extLst>
              </a:tr>
              <a:tr h="386631">
                <a:tc>
                  <a:txBody>
                    <a:bodyPr/>
                    <a:lstStyle/>
                    <a:p>
                      <a:pPr>
                        <a:buNone/>
                      </a:pPr>
                      <a:r>
                        <a:rPr lang="en-ZA" sz="1400"/>
                        <a:t>Baseline segment labels</a:t>
                      </a:r>
                    </a:p>
                  </a:txBody>
                  <a:tcPr anchor="ctr"/>
                </a:tc>
                <a:tc>
                  <a:txBody>
                    <a:bodyPr/>
                    <a:lstStyle/>
                    <a:p>
                      <a:pPr>
                        <a:buNone/>
                      </a:pPr>
                      <a:r>
                        <a:rPr lang="en-US" sz="1400"/>
                        <a:t>Converts numeric clusters into business-friendly groups</a:t>
                      </a:r>
                    </a:p>
                  </a:txBody>
                  <a:tcPr anchor="ctr"/>
                </a:tc>
                <a:extLst>
                  <a:ext uri="{0D108BD9-81ED-4DB2-BD59-A6C34878D82A}">
                    <a16:rowId xmlns:a16="http://schemas.microsoft.com/office/drawing/2014/main" val="3583418050"/>
                  </a:ext>
                </a:extLst>
              </a:tr>
              <a:tr h="386631">
                <a:tc>
                  <a:txBody>
                    <a:bodyPr/>
                    <a:lstStyle/>
                    <a:p>
                      <a:pPr>
                        <a:buNone/>
                      </a:pPr>
                      <a:r>
                        <a:rPr lang="en-ZA" sz="1400"/>
                        <a:t>Comparison point</a:t>
                      </a:r>
                    </a:p>
                  </a:txBody>
                  <a:tcPr anchor="ctr"/>
                </a:tc>
                <a:tc>
                  <a:txBody>
                    <a:bodyPr/>
                    <a:lstStyle/>
                    <a:p>
                      <a:pPr>
                        <a:buNone/>
                      </a:pPr>
                      <a:r>
                        <a:rPr lang="en-US" sz="1400" dirty="0"/>
                        <a:t>Allows later cycles to detect customer movement or migration</a:t>
                      </a:r>
                    </a:p>
                  </a:txBody>
                  <a:tcPr anchor="ctr"/>
                </a:tc>
                <a:extLst>
                  <a:ext uri="{0D108BD9-81ED-4DB2-BD59-A6C34878D82A}">
                    <a16:rowId xmlns:a16="http://schemas.microsoft.com/office/drawing/2014/main" val="506286755"/>
                  </a:ext>
                </a:extLst>
              </a:tr>
              <a:tr h="386631">
                <a:tc>
                  <a:txBody>
                    <a:bodyPr/>
                    <a:lstStyle/>
                    <a:p>
                      <a:pPr>
                        <a:buNone/>
                      </a:pPr>
                      <a:r>
                        <a:rPr lang="en-ZA" sz="1400" dirty="0"/>
                        <a:t>Input for dynamic loop</a:t>
                      </a:r>
                    </a:p>
                  </a:txBody>
                  <a:tcPr anchor="ctr"/>
                </a:tc>
                <a:tc>
                  <a:txBody>
                    <a:bodyPr/>
                    <a:lstStyle/>
                    <a:p>
                      <a:pPr>
                        <a:buNone/>
                      </a:pPr>
                      <a:r>
                        <a:rPr lang="en-US" sz="1400" dirty="0"/>
                        <a:t>Provides the starting structure for MDFCM/CDFCM updates</a:t>
                      </a:r>
                    </a:p>
                  </a:txBody>
                  <a:tcPr anchor="ctr"/>
                </a:tc>
                <a:extLst>
                  <a:ext uri="{0D108BD9-81ED-4DB2-BD59-A6C34878D82A}">
                    <a16:rowId xmlns:a16="http://schemas.microsoft.com/office/drawing/2014/main" val="2073201699"/>
                  </a:ext>
                </a:extLst>
              </a:tr>
            </a:tbl>
          </a:graphicData>
        </a:graphic>
      </p:graphicFrame>
      <p:sp>
        <p:nvSpPr>
          <p:cNvPr id="10" name="TextBox 9">
            <a:extLst>
              <a:ext uri="{FF2B5EF4-FFF2-40B4-BE49-F238E27FC236}">
                <a16:creationId xmlns:a16="http://schemas.microsoft.com/office/drawing/2014/main" id="{DB5DDF10-B30D-CDF9-CBA7-EB109AF2CEF6}"/>
              </a:ext>
            </a:extLst>
          </p:cNvPr>
          <p:cNvSpPr txBox="1"/>
          <p:nvPr/>
        </p:nvSpPr>
        <p:spPr>
          <a:xfrm>
            <a:off x="137626" y="4643563"/>
            <a:ext cx="6097554" cy="369332"/>
          </a:xfrm>
          <a:prstGeom prst="rect">
            <a:avLst/>
          </a:prstGeom>
          <a:noFill/>
        </p:spPr>
        <p:txBody>
          <a:bodyPr wrap="square">
            <a:spAutoFit/>
          </a:bodyPr>
          <a:lstStyle/>
          <a:p>
            <a:r>
              <a:rPr lang="en-ZA" b="1" i="1" dirty="0">
                <a:solidFill>
                  <a:srgbClr val="002060"/>
                </a:solidFill>
              </a:rPr>
              <a:t>K-means Mathematical Representation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AEAB721-BAD6-D088-C284-118A266AE152}"/>
                  </a:ext>
                </a:extLst>
              </p:cNvPr>
              <p:cNvSpPr txBox="1"/>
              <p:nvPr/>
            </p:nvSpPr>
            <p:spPr>
              <a:xfrm>
                <a:off x="361559" y="5222925"/>
                <a:ext cx="4229102" cy="1016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ZA" sz="2000" i="1" dirty="0" smtClean="0">
                          <a:solidFill>
                            <a:srgbClr val="002060"/>
                          </a:solidFill>
                          <a:latin typeface="Cambria Math" panose="02040503050406030204" pitchFamily="18" charset="0"/>
                        </a:rPr>
                        <m:t>𝐽</m:t>
                      </m:r>
                      <m:r>
                        <a:rPr lang="en-ZA" sz="2000" i="1" dirty="0">
                          <a:solidFill>
                            <a:srgbClr val="002060"/>
                          </a:solidFill>
                          <a:latin typeface="Cambria Math" panose="02040503050406030204" pitchFamily="18" charset="0"/>
                        </a:rPr>
                        <m:t>=</m:t>
                      </m:r>
                      <m:nary>
                        <m:naryPr>
                          <m:chr m:val="∑"/>
                          <m:ctrlPr>
                            <a:rPr lang="en-ZA" sz="2000" i="1" dirty="0">
                              <a:solidFill>
                                <a:srgbClr val="002060"/>
                              </a:solidFill>
                              <a:latin typeface="Cambria Math" panose="02040503050406030204" pitchFamily="18" charset="0"/>
                            </a:rPr>
                          </m:ctrlPr>
                        </m:naryPr>
                        <m:sub>
                          <m:r>
                            <a:rPr lang="en-ZA" sz="2000" i="1" dirty="0">
                              <a:solidFill>
                                <a:srgbClr val="002060"/>
                              </a:solidFill>
                              <a:latin typeface="Cambria Math" panose="02040503050406030204" pitchFamily="18" charset="0"/>
                            </a:rPr>
                            <m:t>𝑘</m:t>
                          </m:r>
                          <m:r>
                            <a:rPr lang="en-ZA" sz="2000" i="1" dirty="0">
                              <a:solidFill>
                                <a:srgbClr val="002060"/>
                              </a:solidFill>
                              <a:latin typeface="Cambria Math" panose="02040503050406030204" pitchFamily="18" charset="0"/>
                            </a:rPr>
                            <m:t>=1</m:t>
                          </m:r>
                        </m:sub>
                        <m:sup>
                          <m:r>
                            <a:rPr lang="en-ZA" sz="2000" i="1" dirty="0">
                              <a:solidFill>
                                <a:srgbClr val="002060"/>
                              </a:solidFill>
                              <a:latin typeface="Cambria Math" panose="02040503050406030204" pitchFamily="18" charset="0"/>
                            </a:rPr>
                            <m:t>𝐾</m:t>
                          </m:r>
                        </m:sup>
                        <m:e>
                          <m:nary>
                            <m:naryPr>
                              <m:chr m:val="∑"/>
                              <m:supHide m:val="on"/>
                              <m:ctrlPr>
                                <a:rPr lang="en-ZA" sz="2000" i="1" dirty="0">
                                  <a:solidFill>
                                    <a:srgbClr val="002060"/>
                                  </a:solidFill>
                                  <a:latin typeface="Cambria Math" panose="02040503050406030204" pitchFamily="18" charset="0"/>
                                </a:rPr>
                              </m:ctrlPr>
                            </m:naryPr>
                            <m:sub>
                              <m:sSub>
                                <m:sSubPr>
                                  <m:ctrlPr>
                                    <a:rPr lang="en-ZA" sz="2000" i="1" dirty="0">
                                      <a:solidFill>
                                        <a:srgbClr val="002060"/>
                                      </a:solidFill>
                                      <a:latin typeface="Cambria Math" panose="02040503050406030204" pitchFamily="18" charset="0"/>
                                    </a:rPr>
                                  </m:ctrlPr>
                                </m:sSubPr>
                                <m:e>
                                  <m:r>
                                    <a:rPr lang="en-ZA" sz="2000" i="1" dirty="0">
                                      <a:solidFill>
                                        <a:srgbClr val="002060"/>
                                      </a:solidFill>
                                      <a:latin typeface="Cambria Math" panose="02040503050406030204" pitchFamily="18" charset="0"/>
                                    </a:rPr>
                                    <m:t>𝑆</m:t>
                                  </m:r>
                                </m:e>
                                <m:sub>
                                  <m:r>
                                    <a:rPr lang="en-ZA" sz="2000" i="1" dirty="0" err="1">
                                      <a:solidFill>
                                        <a:srgbClr val="002060"/>
                                      </a:solidFill>
                                      <a:latin typeface="Cambria Math" panose="02040503050406030204" pitchFamily="18" charset="0"/>
                                    </a:rPr>
                                    <m:t>𝑖</m:t>
                                  </m:r>
                                  <m:r>
                                    <a:rPr lang="en-ZA" sz="2000" i="1" dirty="0" err="1">
                                      <a:solidFill>
                                        <a:srgbClr val="002060"/>
                                      </a:solidFill>
                                      <a:latin typeface="Cambria Math" panose="02040503050406030204" pitchFamily="18" charset="0"/>
                                    </a:rPr>
                                    <m:t>,</m:t>
                                  </m:r>
                                  <m:r>
                                    <a:rPr lang="en-ZA" sz="2000" i="1" dirty="0" err="1">
                                      <a:solidFill>
                                        <a:srgbClr val="002060"/>
                                      </a:solidFill>
                                      <a:latin typeface="Cambria Math" panose="02040503050406030204" pitchFamily="18" charset="0"/>
                                    </a:rPr>
                                    <m:t>𝑡</m:t>
                                  </m:r>
                                </m:sub>
                              </m:sSub>
                              <m:r>
                                <a:rPr lang="en-ZA" sz="2000" i="1" dirty="0">
                                  <a:solidFill>
                                    <a:srgbClr val="002060"/>
                                  </a:solidFill>
                                  <a:latin typeface="Cambria Math" panose="02040503050406030204" pitchFamily="18" charset="0"/>
                                </a:rPr>
                                <m:t>∈</m:t>
                              </m:r>
                              <m:sSub>
                                <m:sSubPr>
                                  <m:ctrlPr>
                                    <a:rPr lang="en-ZA" sz="2000" i="1" dirty="0" err="1">
                                      <a:solidFill>
                                        <a:srgbClr val="002060"/>
                                      </a:solidFill>
                                      <a:latin typeface="Cambria Math" panose="02040503050406030204" pitchFamily="18" charset="0"/>
                                    </a:rPr>
                                  </m:ctrlPr>
                                </m:sSubPr>
                                <m:e>
                                  <m:r>
                                    <a:rPr lang="en-ZA" sz="2000" i="1" dirty="0" err="1">
                                      <a:solidFill>
                                        <a:srgbClr val="002060"/>
                                      </a:solidFill>
                                      <a:latin typeface="Cambria Math" panose="02040503050406030204" pitchFamily="18" charset="0"/>
                                    </a:rPr>
                                    <m:t>𝐶</m:t>
                                  </m:r>
                                </m:e>
                                <m:sub>
                                  <m:r>
                                    <a:rPr lang="en-ZA" sz="2000" i="1" dirty="0" err="1">
                                      <a:solidFill>
                                        <a:srgbClr val="002060"/>
                                      </a:solidFill>
                                      <a:latin typeface="Cambria Math" panose="02040503050406030204" pitchFamily="18" charset="0"/>
                                    </a:rPr>
                                    <m:t>𝑘</m:t>
                                  </m:r>
                                </m:sub>
                              </m:sSub>
                            </m:sub>
                            <m:sup/>
                            <m:e>
                              <m:d>
                                <m:dPr>
                                  <m:begChr m:val=""/>
                                  <m:endChr m:val=""/>
                                  <m:ctrlPr>
                                    <a:rPr lang="en-ZA" sz="2000" i="1" dirty="0">
                                      <a:solidFill>
                                        <a:srgbClr val="002060"/>
                                      </a:solidFill>
                                      <a:latin typeface="Cambria Math" panose="02040503050406030204" pitchFamily="18" charset="0"/>
                                    </a:rPr>
                                  </m:ctrlPr>
                                </m:dPr>
                                <m:e>
                                  <m:r>
                                    <m:rPr>
                                      <m:lit/>
                                    </m:rPr>
                                    <a:rPr lang="en-ZA" sz="2000" i="1" dirty="0">
                                      <a:solidFill>
                                        <a:srgbClr val="002060"/>
                                      </a:solidFill>
                                      <a:latin typeface="Cambria Math" panose="02040503050406030204" pitchFamily="18" charset="0"/>
                                    </a:rPr>
                                    <m:t>||</m:t>
                                  </m:r>
                                  <m:sSub>
                                    <m:sSubPr>
                                      <m:ctrlPr>
                                        <a:rPr lang="en-ZA" sz="2000" i="1" dirty="0">
                                          <a:solidFill>
                                            <a:srgbClr val="002060"/>
                                          </a:solidFill>
                                          <a:latin typeface="Cambria Math" panose="02040503050406030204" pitchFamily="18" charset="0"/>
                                        </a:rPr>
                                      </m:ctrlPr>
                                    </m:sSubPr>
                                    <m:e>
                                      <m:r>
                                        <a:rPr lang="en-ZA" sz="2000" i="1" dirty="0">
                                          <a:solidFill>
                                            <a:srgbClr val="002060"/>
                                          </a:solidFill>
                                          <a:latin typeface="Cambria Math" panose="02040503050406030204" pitchFamily="18" charset="0"/>
                                        </a:rPr>
                                        <m:t>𝑆</m:t>
                                      </m:r>
                                    </m:e>
                                    <m:sub>
                                      <m:r>
                                        <a:rPr lang="en-ZA" sz="2000" i="1" dirty="0" err="1">
                                          <a:solidFill>
                                            <a:srgbClr val="002060"/>
                                          </a:solidFill>
                                          <a:latin typeface="Cambria Math" panose="02040503050406030204" pitchFamily="18" charset="0"/>
                                        </a:rPr>
                                        <m:t>𝑖</m:t>
                                      </m:r>
                                      <m:r>
                                        <a:rPr lang="en-ZA" sz="2000" i="1" dirty="0" err="1">
                                          <a:solidFill>
                                            <a:srgbClr val="002060"/>
                                          </a:solidFill>
                                          <a:latin typeface="Cambria Math" panose="02040503050406030204" pitchFamily="18" charset="0"/>
                                        </a:rPr>
                                        <m:t>,</m:t>
                                      </m:r>
                                      <m:r>
                                        <a:rPr lang="en-ZA" sz="2000" i="1" dirty="0" err="1">
                                          <a:solidFill>
                                            <a:srgbClr val="002060"/>
                                          </a:solidFill>
                                          <a:latin typeface="Cambria Math" panose="02040503050406030204" pitchFamily="18" charset="0"/>
                                        </a:rPr>
                                        <m:t>𝑡</m:t>
                                      </m:r>
                                    </m:sub>
                                  </m:sSub>
                                  <m:r>
                                    <a:rPr lang="en-ZA" sz="2000" i="1" dirty="0">
                                      <a:solidFill>
                                        <a:srgbClr val="002060"/>
                                      </a:solidFill>
                                      <a:latin typeface="Cambria Math" panose="02040503050406030204" pitchFamily="18" charset="0"/>
                                    </a:rPr>
                                    <m:t>−</m:t>
                                  </m:r>
                                  <m:sSub>
                                    <m:sSubPr>
                                      <m:ctrlPr>
                                        <a:rPr lang="en-ZA" sz="2000" i="1" dirty="0" err="1">
                                          <a:solidFill>
                                            <a:srgbClr val="002060"/>
                                          </a:solidFill>
                                          <a:latin typeface="Cambria Math" panose="02040503050406030204" pitchFamily="18" charset="0"/>
                                        </a:rPr>
                                      </m:ctrlPr>
                                    </m:sSubPr>
                                    <m:e>
                                      <m:r>
                                        <a:rPr lang="en-ZA" sz="2000" i="1" dirty="0">
                                          <a:solidFill>
                                            <a:srgbClr val="002060"/>
                                          </a:solidFill>
                                          <a:latin typeface="Cambria Math" panose="02040503050406030204" pitchFamily="18" charset="0"/>
                                        </a:rPr>
                                        <m:t>𝜇</m:t>
                                      </m:r>
                                    </m:e>
                                    <m:sub>
                                      <m:r>
                                        <a:rPr lang="en-ZA" sz="2000" i="1" dirty="0" err="1">
                                          <a:solidFill>
                                            <a:srgbClr val="002060"/>
                                          </a:solidFill>
                                          <a:latin typeface="Cambria Math" panose="02040503050406030204" pitchFamily="18" charset="0"/>
                                        </a:rPr>
                                        <m:t>𝑘</m:t>
                                      </m:r>
                                    </m:sub>
                                  </m:sSub>
                                </m:e>
                              </m:d>
                              <m:sSup>
                                <m:sSupPr>
                                  <m:ctrlPr>
                                    <a:rPr lang="en-ZA" sz="2000" i="1" dirty="0">
                                      <a:solidFill>
                                        <a:srgbClr val="002060"/>
                                      </a:solidFill>
                                      <a:latin typeface="Cambria Math" panose="02040503050406030204" pitchFamily="18" charset="0"/>
                                    </a:rPr>
                                  </m:ctrlPr>
                                </m:sSupPr>
                                <m:e>
                                  <m:r>
                                    <m:rPr>
                                      <m:lit/>
                                    </m:rPr>
                                    <a:rPr lang="en-ZA" sz="2000" i="1" dirty="0">
                                      <a:solidFill>
                                        <a:srgbClr val="002060"/>
                                      </a:solidFill>
                                      <a:latin typeface="Cambria Math" panose="02040503050406030204" pitchFamily="18" charset="0"/>
                                    </a:rPr>
                                    <m:t>||</m:t>
                                  </m:r>
                                </m:e>
                                <m:sup>
                                  <m:r>
                                    <a:rPr lang="en-ZA" sz="2000" i="1" dirty="0">
                                      <a:solidFill>
                                        <a:srgbClr val="002060"/>
                                      </a:solidFill>
                                      <a:latin typeface="Cambria Math" panose="02040503050406030204" pitchFamily="18" charset="0"/>
                                    </a:rPr>
                                    <m:t>2</m:t>
                                  </m:r>
                                </m:sup>
                              </m:sSup>
                            </m:e>
                          </m:nary>
                        </m:e>
                      </m:nary>
                      <m:r>
                        <a:rPr lang="en-ZA" sz="2000" b="0" i="1" dirty="0" smtClean="0">
                          <a:solidFill>
                            <a:srgbClr val="002060"/>
                          </a:solidFill>
                          <a:latin typeface="Cambria Math" panose="02040503050406030204" pitchFamily="18" charset="0"/>
                        </a:rPr>
                        <m:t>  , </m:t>
                      </m:r>
                      <m:r>
                        <m:rPr>
                          <m:sty m:val="p"/>
                        </m:rPr>
                        <a:rPr lang="en-ZA" sz="2000" b="0" i="1" dirty="0" smtClean="0">
                          <a:solidFill>
                            <a:srgbClr val="002060"/>
                          </a:solidFill>
                          <a:latin typeface="Cambria Math" panose="02040503050406030204" pitchFamily="18" charset="0"/>
                        </a:rPr>
                        <m:t>t</m:t>
                      </m:r>
                      <m:r>
                        <a:rPr lang="en-ZA" sz="2000" b="0" i="1" dirty="0" smtClean="0">
                          <a:solidFill>
                            <a:srgbClr val="002060"/>
                          </a:solidFill>
                          <a:latin typeface="Cambria Math" panose="02040503050406030204" pitchFamily="18" charset="0"/>
                        </a:rPr>
                        <m:t>=0 </m:t>
                      </m:r>
                    </m:oMath>
                  </m:oMathPara>
                </a14:m>
                <a:endParaRPr/>
              </a:p>
            </p:txBody>
          </p:sp>
        </mc:Choice>
        <mc:Fallback xmlns="">
          <p:sp>
            <p:nvSpPr>
              <p:cNvPr id="22" name="TextBox 21">
                <a:extLst>
                  <a:ext uri="{FF2B5EF4-FFF2-40B4-BE49-F238E27FC236}">
                    <a16:creationId xmlns:a16="http://schemas.microsoft.com/office/drawing/2014/main" id="{4AEAB721-BAD6-D088-C284-118A266AE152}"/>
                  </a:ext>
                </a:extLst>
              </p:cNvPr>
              <p:cNvSpPr txBox="1">
                <a:spLocks noRot="1" noChangeAspect="1" noMove="1" noResize="1" noEditPoints="1" noAdjustHandles="1" noChangeArrowheads="1" noChangeShapeType="1" noTextEdit="1"/>
              </p:cNvSpPr>
              <p:nvPr/>
            </p:nvSpPr>
            <p:spPr>
              <a:xfrm>
                <a:off x="361559" y="5222925"/>
                <a:ext cx="4229102" cy="1016945"/>
              </a:xfrm>
              <a:prstGeom prst="rect">
                <a:avLst/>
              </a:prstGeom>
              <a:blipFill>
                <a:blip r:embed="rId3"/>
                <a:stretch>
                  <a:fillRect/>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C3F1826-F291-134D-AB23-D37E07298EBC}"/>
                  </a:ext>
                </a:extLst>
              </p:cNvPr>
              <p:cNvSpPr txBox="1"/>
              <p:nvPr/>
            </p:nvSpPr>
            <p:spPr>
              <a:xfrm>
                <a:off x="137626" y="3781394"/>
                <a:ext cx="11738688" cy="646331"/>
              </a:xfrm>
              <a:prstGeom prst="rect">
                <a:avLst/>
              </a:prstGeom>
              <a:noFill/>
            </p:spPr>
            <p:txBody>
              <a:bodyPr wrap="square">
                <a:spAutoFit/>
              </a:bodyPr>
              <a:lstStyle/>
              <a:p>
                <a:r>
                  <a:rPr lang="en-US" dirty="0">
                    <a:solidFill>
                      <a:srgbClr val="002060"/>
                    </a:solidFill>
                  </a:rPr>
                  <a:t>The K-means model partitions customers into </a:t>
                </a:r>
                <a14:m>
                  <m:oMath xmlns:m="http://schemas.openxmlformats.org/officeDocument/2006/math">
                    <m:r>
                      <a:rPr lang="en-US" i="1">
                        <a:solidFill>
                          <a:srgbClr val="002060"/>
                        </a:solidFill>
                        <a:latin typeface="Cambria Math" panose="02040503050406030204" pitchFamily="18" charset="0"/>
                      </a:rPr>
                      <m:t>𝐾</m:t>
                    </m:r>
                  </m:oMath>
                </a14:m>
                <a:r>
                  <a:rPr lang="en-US" dirty="0">
                    <a:solidFill>
                      <a:srgbClr val="002060"/>
                    </a:solidFill>
                  </a:rPr>
                  <a:t>clusters by minimizing the within-cluster squared distance between each customer feature vector and its assigned cluster centroid.</a:t>
                </a:r>
                <a:endParaRPr lang="en-ZA" dirty="0">
                  <a:solidFill>
                    <a:srgbClr val="002060"/>
                  </a:solidFill>
                </a:endParaRPr>
              </a:p>
            </p:txBody>
          </p:sp>
        </mc:Choice>
        <mc:Fallback xmlns="">
          <p:sp>
            <p:nvSpPr>
              <p:cNvPr id="24" name="TextBox 23">
                <a:extLst>
                  <a:ext uri="{FF2B5EF4-FFF2-40B4-BE49-F238E27FC236}">
                    <a16:creationId xmlns:a16="http://schemas.microsoft.com/office/drawing/2014/main" id="{0C3F1826-F291-134D-AB23-D37E07298EBC}"/>
                  </a:ext>
                </a:extLst>
              </p:cNvPr>
              <p:cNvSpPr txBox="1">
                <a:spLocks noRot="1" noChangeAspect="1" noMove="1" noResize="1" noEditPoints="1" noAdjustHandles="1" noChangeArrowheads="1" noChangeShapeType="1" noTextEdit="1"/>
              </p:cNvSpPr>
              <p:nvPr/>
            </p:nvSpPr>
            <p:spPr>
              <a:xfrm>
                <a:off x="137626" y="3781394"/>
                <a:ext cx="11738688" cy="646331"/>
              </a:xfrm>
              <a:prstGeom prst="rect">
                <a:avLst/>
              </a:prstGeom>
              <a:blipFill>
                <a:blip r:embed="rId4"/>
                <a:stretch>
                  <a:fillRect l="-468" t="-3774" b="-15094"/>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graphicFrame>
            <p:nvGraphicFramePr>
              <p:cNvPr id="25" name="Table 24">
                <a:extLst>
                  <a:ext uri="{FF2B5EF4-FFF2-40B4-BE49-F238E27FC236}">
                    <a16:creationId xmlns:a16="http://schemas.microsoft.com/office/drawing/2014/main" id="{C73F30DF-FAB7-E2FD-8EA6-533B5A09C42B}"/>
                  </a:ext>
                </a:extLst>
              </p:cNvPr>
              <p:cNvGraphicFramePr>
                <a:graphicFrameLocks noGrp="1"/>
              </p:cNvGraphicFramePr>
              <p:nvPr>
                <p:extLst>
                  <p:ext uri="{D42A27DB-BD31-4B8C-83A1-F6EECF244321}">
                    <p14:modId xmlns:p14="http://schemas.microsoft.com/office/powerpoint/2010/main" val="3616491989"/>
                  </p:ext>
                </p:extLst>
              </p:nvPr>
            </p:nvGraphicFramePr>
            <p:xfrm>
              <a:off x="5253135" y="4737368"/>
              <a:ext cx="6260841" cy="1988058"/>
            </p:xfrm>
            <a:graphic>
              <a:graphicData uri="http://schemas.openxmlformats.org/drawingml/2006/table">
                <a:tbl>
                  <a:tblPr>
                    <a:tableStyleId>{775DCB02-9BB8-47FD-8907-85C794F793BA}</a:tableStyleId>
                  </a:tblPr>
                  <a:tblGrid>
                    <a:gridCol w="2212489">
                      <a:extLst>
                        <a:ext uri="{9D8B030D-6E8A-4147-A177-3AD203B41FA5}">
                          <a16:colId xmlns:a16="http://schemas.microsoft.com/office/drawing/2014/main" val="2421027530"/>
                        </a:ext>
                      </a:extLst>
                    </a:gridCol>
                    <a:gridCol w="4048352">
                      <a:extLst>
                        <a:ext uri="{9D8B030D-6E8A-4147-A177-3AD203B41FA5}">
                          <a16:colId xmlns:a16="http://schemas.microsoft.com/office/drawing/2014/main" val="669712931"/>
                        </a:ext>
                      </a:extLst>
                    </a:gridCol>
                  </a:tblGrid>
                  <a:tr h="259476">
                    <a:tc>
                      <a:txBody>
                        <a:bodyPr/>
                        <a:lstStyle/>
                        <a:p>
                          <a:pPr algn="l">
                            <a:buNone/>
                          </a:pPr>
                          <a:r>
                            <a:rPr lang="en-ZA" sz="1200" b="1" dirty="0">
                              <a:solidFill>
                                <a:srgbClr val="002060"/>
                              </a:solidFill>
                            </a:rPr>
                            <a:t>Symbol</a:t>
                          </a:r>
                        </a:p>
                      </a:txBody>
                      <a:tcPr anchor="ctr">
                        <a:solidFill>
                          <a:schemeClr val="bg2">
                            <a:lumMod val="50000"/>
                            <a:lumOff val="50000"/>
                          </a:schemeClr>
                        </a:solidFill>
                      </a:tcPr>
                    </a:tc>
                    <a:tc>
                      <a:txBody>
                        <a:bodyPr/>
                        <a:lstStyle/>
                        <a:p>
                          <a:pPr algn="l">
                            <a:buNone/>
                          </a:pPr>
                          <a:r>
                            <a:rPr lang="en-ZA" sz="1200" b="1" dirty="0">
                              <a:solidFill>
                                <a:srgbClr val="002060"/>
                              </a:solidFill>
                            </a:rPr>
                            <a:t>Meaning</a:t>
                          </a:r>
                        </a:p>
                      </a:txBody>
                      <a:tcPr anchor="ctr">
                        <a:solidFill>
                          <a:schemeClr val="bg2">
                            <a:lumMod val="50000"/>
                            <a:lumOff val="50000"/>
                          </a:schemeClr>
                        </a:solidFill>
                      </a:tcPr>
                    </a:tc>
                    <a:extLst>
                      <a:ext uri="{0D108BD9-81ED-4DB2-BD59-A6C34878D82A}">
                        <a16:rowId xmlns:a16="http://schemas.microsoft.com/office/drawing/2014/main" val="1806261580"/>
                      </a:ext>
                    </a:extLst>
                  </a:tr>
                  <a:tr h="259476">
                    <a:tc>
                      <a:txBody>
                        <a:bodyPr/>
                        <a:lstStyle/>
                        <a:p>
                          <a:pPr>
                            <a:buNone/>
                          </a:pPr>
                          <a14:m>
                            <m:oMathPara xmlns:m="http://schemas.openxmlformats.org/officeDocument/2006/math">
                              <m:oMathParaPr>
                                <m:jc m:val="centerGroup"/>
                              </m:oMathParaPr>
                              <m:oMath xmlns:m="http://schemas.openxmlformats.org/officeDocument/2006/math">
                                <m:r>
                                  <a:rPr lang="en-ZA" sz="1200" i="1" dirty="0" smtClean="0">
                                    <a:solidFill>
                                      <a:srgbClr val="002060"/>
                                    </a:solidFill>
                                    <a:latin typeface="Cambria Math" panose="02040503050406030204" pitchFamily="18" charset="0"/>
                                  </a:rPr>
                                  <m:t>𝐽</m:t>
                                </m:r>
                              </m:oMath>
                            </m:oMathPara>
                          </a14:m>
                          <a:endParaRPr/>
                        </a:p>
                      </a:txBody>
                      <a:tcPr anchor="ctr"/>
                    </a:tc>
                    <a:tc>
                      <a:txBody>
                        <a:bodyPr/>
                        <a:lstStyle/>
                        <a:p>
                          <a:pPr>
                            <a:buNone/>
                          </a:pPr>
                          <a:r>
                            <a:rPr lang="en-ZA" sz="1200" dirty="0">
                              <a:solidFill>
                                <a:srgbClr val="002060"/>
                              </a:solidFill>
                            </a:rPr>
                            <a:t>K-means objective function</a:t>
                          </a:r>
                        </a:p>
                      </a:txBody>
                      <a:tcPr anchor="ctr"/>
                    </a:tc>
                    <a:extLst>
                      <a:ext uri="{0D108BD9-81ED-4DB2-BD59-A6C34878D82A}">
                        <a16:rowId xmlns:a16="http://schemas.microsoft.com/office/drawing/2014/main" val="1916369857"/>
                      </a:ext>
                    </a:extLst>
                  </a:tr>
                  <a:tr h="259476">
                    <a:tc>
                      <a:txBody>
                        <a:bodyPr/>
                        <a:lstStyle/>
                        <a:p>
                          <a:pPr>
                            <a:buNone/>
                          </a:pPr>
                          <a14:m>
                            <m:oMathPara xmlns:m="http://schemas.openxmlformats.org/officeDocument/2006/math">
                              <m:oMathParaPr>
                                <m:jc m:val="centerGroup"/>
                              </m:oMathParaPr>
                              <m:oMath xmlns:m="http://schemas.openxmlformats.org/officeDocument/2006/math">
                                <m:r>
                                  <a:rPr lang="en-ZA" sz="1200" i="1" dirty="0" smtClean="0">
                                    <a:solidFill>
                                      <a:srgbClr val="002060"/>
                                    </a:solidFill>
                                    <a:latin typeface="Cambria Math" panose="02040503050406030204" pitchFamily="18" charset="0"/>
                                  </a:rPr>
                                  <m:t>𝐾</m:t>
                                </m:r>
                              </m:oMath>
                            </m:oMathPara>
                          </a14:m>
                          <a:endParaRPr/>
                        </a:p>
                      </a:txBody>
                      <a:tcPr anchor="ctr"/>
                    </a:tc>
                    <a:tc>
                      <a:txBody>
                        <a:bodyPr/>
                        <a:lstStyle/>
                        <a:p>
                          <a:pPr>
                            <a:buNone/>
                          </a:pPr>
                          <a:r>
                            <a:rPr lang="en-ZA" sz="1200" dirty="0">
                              <a:solidFill>
                                <a:srgbClr val="002060"/>
                              </a:solidFill>
                            </a:rPr>
                            <a:t>Number of clusters</a:t>
                          </a:r>
                        </a:p>
                      </a:txBody>
                      <a:tcPr anchor="ctr"/>
                    </a:tc>
                    <a:extLst>
                      <a:ext uri="{0D108BD9-81ED-4DB2-BD59-A6C34878D82A}">
                        <a16:rowId xmlns:a16="http://schemas.microsoft.com/office/drawing/2014/main" val="3851865848"/>
                      </a:ext>
                    </a:extLst>
                  </a:tr>
                  <a:tr h="267164">
                    <a:tc>
                      <a:txBody>
                        <a:bodyPr/>
                        <a:lstStyle/>
                        <a:p>
                          <a:pPr>
                            <a:buNone/>
                          </a:pPr>
                          <a14:m>
                            <m:oMathPara xmlns:m="http://schemas.openxmlformats.org/officeDocument/2006/math">
                              <m:oMathParaPr>
                                <m:jc m:val="centerGroup"/>
                              </m:oMathParaPr>
                              <m:oMath xmlns:m="http://schemas.openxmlformats.org/officeDocument/2006/math">
                                <m:sSub>
                                  <m:sSubPr>
                                    <m:ctrlPr>
                                      <a:rPr lang="en-ZA" sz="1200" i="1" dirty="0" smtClean="0">
                                        <a:solidFill>
                                          <a:srgbClr val="002060"/>
                                        </a:solidFill>
                                        <a:latin typeface="Cambria Math" panose="02040503050406030204" pitchFamily="18" charset="0"/>
                                      </a:rPr>
                                    </m:ctrlPr>
                                  </m:sSubPr>
                                  <m:e>
                                    <m:r>
                                      <a:rPr lang="en-ZA" sz="1200" i="1" dirty="0" smtClean="0">
                                        <a:solidFill>
                                          <a:srgbClr val="002060"/>
                                        </a:solidFill>
                                        <a:latin typeface="Cambria Math" panose="02040503050406030204" pitchFamily="18" charset="0"/>
                                      </a:rPr>
                                      <m:t>𝑆</m:t>
                                    </m:r>
                                  </m:e>
                                  <m:sub>
                                    <m:r>
                                      <a:rPr lang="en-ZA" sz="1200" i="1" dirty="0" err="1">
                                        <a:solidFill>
                                          <a:srgbClr val="002060"/>
                                        </a:solidFill>
                                        <a:latin typeface="Cambria Math" panose="02040503050406030204" pitchFamily="18" charset="0"/>
                                      </a:rPr>
                                      <m:t>𝑖</m:t>
                                    </m:r>
                                    <m:r>
                                      <a:rPr lang="en-ZA" sz="1200" i="1" dirty="0" err="1">
                                        <a:solidFill>
                                          <a:srgbClr val="002060"/>
                                        </a:solidFill>
                                        <a:latin typeface="Cambria Math" panose="02040503050406030204" pitchFamily="18" charset="0"/>
                                      </a:rPr>
                                      <m:t>,</m:t>
                                    </m:r>
                                    <m:r>
                                      <a:rPr lang="en-ZA" sz="1200" i="1" dirty="0" err="1">
                                        <a:solidFill>
                                          <a:srgbClr val="002060"/>
                                        </a:solidFill>
                                        <a:latin typeface="Cambria Math" panose="02040503050406030204" pitchFamily="18" charset="0"/>
                                      </a:rPr>
                                      <m:t>𝑡</m:t>
                                    </m:r>
                                  </m:sub>
                                </m:sSub>
                              </m:oMath>
                            </m:oMathPara>
                          </a14:m>
                          <a:endParaRPr/>
                        </a:p>
                      </a:txBody>
                      <a:tcPr anchor="ctr"/>
                    </a:tc>
                    <a:tc>
                      <a:txBody>
                        <a:bodyPr/>
                        <a:lstStyle/>
                        <a:p>
                          <a:pPr>
                            <a:buNone/>
                          </a:pPr>
                          <a:r>
                            <a:rPr lang="en-US" sz="1200">
                              <a:solidFill>
                                <a:srgbClr val="002060"/>
                              </a:solidFill>
                            </a:rPr>
                            <a:t>Stored customer state for customer (i) at cycle (t)</a:t>
                          </a:r>
                        </a:p>
                      </a:txBody>
                      <a:tcPr anchor="ctr"/>
                    </a:tc>
                    <a:extLst>
                      <a:ext uri="{0D108BD9-81ED-4DB2-BD59-A6C34878D82A}">
                        <a16:rowId xmlns:a16="http://schemas.microsoft.com/office/drawing/2014/main" val="2518674509"/>
                      </a:ext>
                    </a:extLst>
                  </a:tr>
                  <a:tr h="259476">
                    <a:tc>
                      <a:txBody>
                        <a:bodyPr/>
                        <a:lstStyle/>
                        <a:p>
                          <a:pPr>
                            <a:buNone/>
                          </a:pPr>
                          <a14:m>
                            <m:oMathPara xmlns:m="http://schemas.openxmlformats.org/officeDocument/2006/math">
                              <m:oMathParaPr>
                                <m:jc m:val="centerGroup"/>
                              </m:oMathParaPr>
                              <m:oMath xmlns:m="http://schemas.openxmlformats.org/officeDocument/2006/math">
                                <m:sSub>
                                  <m:sSubPr>
                                    <m:ctrlPr>
                                      <a:rPr lang="en-ZA" sz="1200" i="1" dirty="0" smtClean="0">
                                        <a:solidFill>
                                          <a:srgbClr val="002060"/>
                                        </a:solidFill>
                                        <a:latin typeface="Cambria Math" panose="02040503050406030204" pitchFamily="18" charset="0"/>
                                      </a:rPr>
                                    </m:ctrlPr>
                                  </m:sSubPr>
                                  <m:e>
                                    <m:r>
                                      <a:rPr lang="en-ZA" sz="1200" i="1" dirty="0" smtClean="0">
                                        <a:solidFill>
                                          <a:srgbClr val="002060"/>
                                        </a:solidFill>
                                        <a:latin typeface="Cambria Math" panose="02040503050406030204" pitchFamily="18" charset="0"/>
                                      </a:rPr>
                                      <m:t>𝐶</m:t>
                                    </m:r>
                                  </m:e>
                                  <m:sub>
                                    <m:r>
                                      <a:rPr lang="en-ZA" sz="1200" i="1" dirty="0" err="1" smtClean="0">
                                        <a:solidFill>
                                          <a:srgbClr val="002060"/>
                                        </a:solidFill>
                                        <a:latin typeface="Cambria Math" panose="02040503050406030204" pitchFamily="18" charset="0"/>
                                      </a:rPr>
                                      <m:t>𝑘</m:t>
                                    </m:r>
                                  </m:sub>
                                </m:sSub>
                              </m:oMath>
                            </m:oMathPara>
                          </a14:m>
                          <a:endParaRPr/>
                        </a:p>
                      </a:txBody>
                      <a:tcPr anchor="ctr"/>
                    </a:tc>
                    <a:tc>
                      <a:txBody>
                        <a:bodyPr/>
                        <a:lstStyle/>
                        <a:p>
                          <a:pPr>
                            <a:buNone/>
                          </a:pPr>
                          <a:r>
                            <a:rPr lang="en-ZA" sz="1200">
                              <a:solidFill>
                                <a:srgbClr val="002060"/>
                              </a:solidFill>
                            </a:rPr>
                            <a:t>Cluster (k)</a:t>
                          </a:r>
                        </a:p>
                      </a:txBody>
                      <a:tcPr anchor="ctr"/>
                    </a:tc>
                    <a:extLst>
                      <a:ext uri="{0D108BD9-81ED-4DB2-BD59-A6C34878D82A}">
                        <a16:rowId xmlns:a16="http://schemas.microsoft.com/office/drawing/2014/main" val="586117295"/>
                      </a:ext>
                    </a:extLst>
                  </a:tr>
                  <a:tr h="259476">
                    <a:tc>
                      <a:txBody>
                        <a:bodyPr/>
                        <a:lstStyle/>
                        <a:p>
                          <a:pPr>
                            <a:buNone/>
                          </a:pPr>
                          <a14:m>
                            <m:oMathPara xmlns:m="http://schemas.openxmlformats.org/officeDocument/2006/math">
                              <m:oMathParaPr>
                                <m:jc m:val="centerGroup"/>
                              </m:oMathParaPr>
                              <m:oMath xmlns:m="http://schemas.openxmlformats.org/officeDocument/2006/math">
                                <m:sSub>
                                  <m:sSubPr>
                                    <m:ctrlPr>
                                      <a:rPr lang="en-ZA" sz="1200" i="1" dirty="0" smtClean="0">
                                        <a:solidFill>
                                          <a:srgbClr val="002060"/>
                                        </a:solidFill>
                                        <a:latin typeface="Cambria Math" panose="02040503050406030204" pitchFamily="18" charset="0"/>
                                      </a:rPr>
                                    </m:ctrlPr>
                                  </m:sSubPr>
                                  <m:e>
                                    <m:r>
                                      <a:rPr lang="en-ZA" sz="1200" i="1" dirty="0" smtClean="0">
                                        <a:solidFill>
                                          <a:srgbClr val="002060"/>
                                        </a:solidFill>
                                        <a:latin typeface="Cambria Math" panose="02040503050406030204" pitchFamily="18" charset="0"/>
                                      </a:rPr>
                                      <m:t>𝜇</m:t>
                                    </m:r>
                                  </m:e>
                                  <m:sub>
                                    <m:r>
                                      <a:rPr lang="en-ZA" sz="1200" i="1" dirty="0" err="1" smtClean="0">
                                        <a:solidFill>
                                          <a:srgbClr val="002060"/>
                                        </a:solidFill>
                                        <a:latin typeface="Cambria Math" panose="02040503050406030204" pitchFamily="18" charset="0"/>
                                      </a:rPr>
                                      <m:t>𝑘</m:t>
                                    </m:r>
                                  </m:sub>
                                </m:sSub>
                              </m:oMath>
                            </m:oMathPara>
                          </a14:m>
                          <a:endParaRPr/>
                        </a:p>
                      </a:txBody>
                      <a:tcPr anchor="ctr"/>
                    </a:tc>
                    <a:tc>
                      <a:txBody>
                        <a:bodyPr/>
                        <a:lstStyle/>
                        <a:p>
                          <a:pPr>
                            <a:buNone/>
                          </a:pPr>
                          <a:r>
                            <a:rPr lang="en-ZA" sz="1200">
                              <a:solidFill>
                                <a:srgbClr val="002060"/>
                              </a:solidFill>
                            </a:rPr>
                            <a:t>Centroid of cluster (k)</a:t>
                          </a:r>
                        </a:p>
                      </a:txBody>
                      <a:tcPr anchor="ctr"/>
                    </a:tc>
                    <a:extLst>
                      <a:ext uri="{0D108BD9-81ED-4DB2-BD59-A6C34878D82A}">
                        <a16:rowId xmlns:a16="http://schemas.microsoft.com/office/drawing/2014/main" val="2941647574"/>
                      </a:ext>
                    </a:extLst>
                  </a:tr>
                  <a:tr h="315936">
                    <a:tc>
                      <a:txBody>
                        <a:bodyPr/>
                        <a:lstStyle/>
                        <a:p>
                          <a:pPr>
                            <a:buNone/>
                          </a:pPr>
                          <a14:m>
                            <m:oMathPara xmlns:m="http://schemas.openxmlformats.org/officeDocument/2006/math">
                              <m:oMathParaPr>
                                <m:jc m:val="centerGroup"/>
                              </m:oMathParaPr>
                              <m:oMath xmlns:m="http://schemas.openxmlformats.org/officeDocument/2006/math">
                                <m:sSup>
                                  <m:sSupPr>
                                    <m:ctrlPr>
                                      <a:rPr lang="pl-PL" sz="1200" i="1" dirty="0" smtClean="0">
                                        <a:solidFill>
                                          <a:srgbClr val="002060"/>
                                        </a:solidFill>
                                        <a:latin typeface="Cambria Math" panose="02040503050406030204" pitchFamily="18" charset="0"/>
                                      </a:rPr>
                                    </m:ctrlPr>
                                  </m:sSupPr>
                                  <m:e>
                                    <m:d>
                                      <m:dPr>
                                        <m:begChr m:val="|"/>
                                        <m:endChr m:val="|"/>
                                        <m:ctrlPr>
                                          <a:rPr lang="pl-PL" sz="1200" i="1" dirty="0" smtClean="0">
                                            <a:solidFill>
                                              <a:srgbClr val="002060"/>
                                            </a:solidFill>
                                            <a:latin typeface="Cambria Math" panose="02040503050406030204" pitchFamily="18" charset="0"/>
                                          </a:rPr>
                                        </m:ctrlPr>
                                      </m:dPr>
                                      <m:e>
                                        <m:sSub>
                                          <m:sSubPr>
                                            <m:ctrlPr>
                                              <a:rPr lang="pl-PL" sz="1200" i="1" dirty="0">
                                                <a:solidFill>
                                                  <a:srgbClr val="002060"/>
                                                </a:solidFill>
                                                <a:latin typeface="Cambria Math" panose="02040503050406030204" pitchFamily="18" charset="0"/>
                                              </a:rPr>
                                            </m:ctrlPr>
                                          </m:sSubPr>
                                          <m:e>
                                            <m:r>
                                              <a:rPr lang="pl-PL" sz="1200" i="1" dirty="0">
                                                <a:solidFill>
                                                  <a:srgbClr val="002060"/>
                                                </a:solidFill>
                                                <a:latin typeface="Cambria Math" panose="02040503050406030204" pitchFamily="18" charset="0"/>
                                              </a:rPr>
                                              <m:t>𝑆</m:t>
                                            </m:r>
                                          </m:e>
                                          <m:sub>
                                            <m:r>
                                              <a:rPr lang="pl-PL" sz="1200" i="1" dirty="0">
                                                <a:solidFill>
                                                  <a:srgbClr val="002060"/>
                                                </a:solidFill>
                                                <a:latin typeface="Cambria Math" panose="02040503050406030204" pitchFamily="18" charset="0"/>
                                              </a:rPr>
                                              <m:t>𝑖</m:t>
                                            </m:r>
                                            <m:r>
                                              <a:rPr lang="pl-PL" sz="1200" i="1" dirty="0">
                                                <a:solidFill>
                                                  <a:srgbClr val="002060"/>
                                                </a:solidFill>
                                                <a:latin typeface="Cambria Math" panose="02040503050406030204" pitchFamily="18" charset="0"/>
                                              </a:rPr>
                                              <m:t>,</m:t>
                                            </m:r>
                                            <m:r>
                                              <a:rPr lang="pl-PL" sz="1200" i="1" dirty="0">
                                                <a:solidFill>
                                                  <a:srgbClr val="002060"/>
                                                </a:solidFill>
                                                <a:latin typeface="Cambria Math" panose="02040503050406030204" pitchFamily="18" charset="0"/>
                                              </a:rPr>
                                              <m:t>𝑡</m:t>
                                            </m:r>
                                          </m:sub>
                                        </m:sSub>
                                        <m:r>
                                          <a:rPr lang="pl-PL" sz="1200" i="1" dirty="0">
                                            <a:solidFill>
                                              <a:srgbClr val="002060"/>
                                            </a:solidFill>
                                            <a:latin typeface="Cambria Math" panose="02040503050406030204" pitchFamily="18" charset="0"/>
                                          </a:rPr>
                                          <m:t>−</m:t>
                                        </m:r>
                                        <m:sSub>
                                          <m:sSubPr>
                                            <m:ctrlPr>
                                              <a:rPr lang="pl-PL" sz="1200" i="1" dirty="0">
                                                <a:solidFill>
                                                  <a:srgbClr val="002060"/>
                                                </a:solidFill>
                                                <a:latin typeface="Cambria Math" panose="02040503050406030204" pitchFamily="18" charset="0"/>
                                              </a:rPr>
                                            </m:ctrlPr>
                                          </m:sSubPr>
                                          <m:e>
                                            <m:r>
                                              <a:rPr lang="pl-PL" sz="1200" i="1" dirty="0">
                                                <a:solidFill>
                                                  <a:srgbClr val="002060"/>
                                                </a:solidFill>
                                                <a:latin typeface="Cambria Math" panose="02040503050406030204" pitchFamily="18" charset="0"/>
                                              </a:rPr>
                                              <m:t>𝜇</m:t>
                                            </m:r>
                                          </m:e>
                                          <m:sub>
                                            <m:r>
                                              <a:rPr lang="pl-PL" sz="1200" i="1" dirty="0">
                                                <a:solidFill>
                                                  <a:srgbClr val="002060"/>
                                                </a:solidFill>
                                                <a:latin typeface="Cambria Math" panose="02040503050406030204" pitchFamily="18" charset="0"/>
                                              </a:rPr>
                                              <m:t>𝑘</m:t>
                                            </m:r>
                                          </m:sub>
                                        </m:sSub>
                                      </m:e>
                                    </m:d>
                                  </m:e>
                                  <m:sup>
                                    <m:r>
                                      <a:rPr lang="pl-PL" sz="1200" i="1" dirty="0" smtClean="0">
                                        <a:solidFill>
                                          <a:srgbClr val="002060"/>
                                        </a:solidFill>
                                        <a:latin typeface="Cambria Math" panose="02040503050406030204" pitchFamily="18" charset="0"/>
                                      </a:rPr>
                                      <m:t>2</m:t>
                                    </m:r>
                                  </m:sup>
                                </m:sSup>
                              </m:oMath>
                            </m:oMathPara>
                          </a14:m>
                          <a:endParaRPr/>
                        </a:p>
                      </a:txBody>
                      <a:tcPr anchor="ctr"/>
                    </a:tc>
                    <a:tc>
                      <a:txBody>
                        <a:bodyPr/>
                        <a:lstStyle/>
                        <a:p>
                          <a:pPr>
                            <a:buNone/>
                          </a:pPr>
                          <a:r>
                            <a:rPr lang="en-US" sz="1200" dirty="0">
                              <a:solidFill>
                                <a:srgbClr val="002060"/>
                              </a:solidFill>
                            </a:rPr>
                            <a:t>Squared distance between customer state and centroid</a:t>
                          </a:r>
                        </a:p>
                      </a:txBody>
                      <a:tcPr anchor="ctr"/>
                    </a:tc>
                    <a:extLst>
                      <a:ext uri="{0D108BD9-81ED-4DB2-BD59-A6C34878D82A}">
                        <a16:rowId xmlns:a16="http://schemas.microsoft.com/office/drawing/2014/main" val="2625305401"/>
                      </a:ext>
                    </a:extLst>
                  </a:tr>
                </a:tbl>
              </a:graphicData>
            </a:graphic>
          </p:graphicFrame>
        </mc:Choice>
        <mc:Fallback xmlns="">
          <p:graphicFrame>
            <p:nvGraphicFramePr>
              <p:cNvPr id="25" name="Table 24">
                <a:extLst>
                  <a:ext uri="{FF2B5EF4-FFF2-40B4-BE49-F238E27FC236}">
                    <a16:creationId xmlns:a16="http://schemas.microsoft.com/office/drawing/2014/main" id="{C73F30DF-FAB7-E2FD-8EA6-533B5A09C42B}"/>
                  </a:ext>
                </a:extLst>
              </p:cNvPr>
              <p:cNvGraphicFramePr>
                <a:graphicFrameLocks noGrp="1"/>
              </p:cNvGraphicFramePr>
              <p:nvPr>
                <p:extLst>
                  <p:ext uri="{D42A27DB-BD31-4B8C-83A1-F6EECF244321}">
                    <p14:modId xmlns:p14="http://schemas.microsoft.com/office/powerpoint/2010/main" val="3616491989"/>
                  </p:ext>
                </p:extLst>
              </p:nvPr>
            </p:nvGraphicFramePr>
            <p:xfrm>
              <a:off x="5253135" y="4737368"/>
              <a:ext cx="6260841" cy="1988058"/>
            </p:xfrm>
            <a:graphic>
              <a:graphicData uri="http://schemas.openxmlformats.org/drawingml/2006/table">
                <a:tbl>
                  <a:tblPr>
                    <a:tableStyleId>{775DCB02-9BB8-47FD-8907-85C794F793BA}</a:tableStyleId>
                  </a:tblPr>
                  <a:tblGrid>
                    <a:gridCol w="2212489">
                      <a:extLst>
                        <a:ext uri="{9D8B030D-6E8A-4147-A177-3AD203B41FA5}">
                          <a16:colId xmlns:a16="http://schemas.microsoft.com/office/drawing/2014/main" val="2421027530"/>
                        </a:ext>
                      </a:extLst>
                    </a:gridCol>
                    <a:gridCol w="4048352">
                      <a:extLst>
                        <a:ext uri="{9D8B030D-6E8A-4147-A177-3AD203B41FA5}">
                          <a16:colId xmlns:a16="http://schemas.microsoft.com/office/drawing/2014/main" val="669712931"/>
                        </a:ext>
                      </a:extLst>
                    </a:gridCol>
                  </a:tblGrid>
                  <a:tr h="274320">
                    <a:tc>
                      <a:txBody>
                        <a:bodyPr/>
                        <a:lstStyle/>
                        <a:p>
                          <a:pPr algn="l">
                            <a:buNone/>
                          </a:pPr>
                          <a:r>
                            <a:rPr lang="en-ZA" sz="1200" b="1" dirty="0">
                              <a:solidFill>
                                <a:srgbClr val="002060"/>
                              </a:solidFill>
                            </a:rPr>
                            <a:t>Symbol</a:t>
                          </a:r>
                        </a:p>
                      </a:txBody>
                      <a:tcPr anchor="ctr">
                        <a:solidFill>
                          <a:schemeClr val="bg2">
                            <a:lumMod val="50000"/>
                            <a:lumOff val="50000"/>
                          </a:schemeClr>
                        </a:solidFill>
                      </a:tcPr>
                    </a:tc>
                    <a:tc>
                      <a:txBody>
                        <a:bodyPr/>
                        <a:lstStyle/>
                        <a:p>
                          <a:pPr algn="l">
                            <a:buNone/>
                          </a:pPr>
                          <a:r>
                            <a:rPr lang="en-ZA" sz="1200" b="1" dirty="0">
                              <a:solidFill>
                                <a:srgbClr val="002060"/>
                              </a:solidFill>
                            </a:rPr>
                            <a:t>Meaning</a:t>
                          </a:r>
                        </a:p>
                      </a:txBody>
                      <a:tcPr anchor="ctr">
                        <a:solidFill>
                          <a:schemeClr val="bg2">
                            <a:lumMod val="50000"/>
                            <a:lumOff val="50000"/>
                          </a:schemeClr>
                        </a:solidFill>
                      </a:tcPr>
                    </a:tc>
                    <a:extLst>
                      <a:ext uri="{0D108BD9-81ED-4DB2-BD59-A6C34878D82A}">
                        <a16:rowId xmlns:a16="http://schemas.microsoft.com/office/drawing/2014/main" val="1806261580"/>
                      </a:ext>
                    </a:extLst>
                  </a:tr>
                  <a:tr h="274320">
                    <a:tc>
                      <a:txBody>
                        <a:bodyPr/>
                        <a:lstStyle/>
                        <a:p>
                          <a:endParaRPr lang="en-US"/>
                        </a:p>
                      </a:txBody>
                      <a:tcPr anchor="ctr">
                        <a:blipFill>
                          <a:blip r:embed="rId5"/>
                          <a:stretch>
                            <a:fillRect l="-275" t="-102222" r="-183747" b="-537778"/>
                          </a:stretch>
                        </a:blipFill>
                      </a:tcPr>
                    </a:tc>
                    <a:tc>
                      <a:txBody>
                        <a:bodyPr/>
                        <a:lstStyle/>
                        <a:p>
                          <a:pPr>
                            <a:buNone/>
                          </a:pPr>
                          <a:r>
                            <a:rPr lang="en-ZA" sz="1200" dirty="0">
                              <a:solidFill>
                                <a:srgbClr val="002060"/>
                              </a:solidFill>
                            </a:rPr>
                            <a:t>K-means objective function</a:t>
                          </a:r>
                        </a:p>
                      </a:txBody>
                      <a:tcPr anchor="ctr"/>
                    </a:tc>
                    <a:extLst>
                      <a:ext uri="{0D108BD9-81ED-4DB2-BD59-A6C34878D82A}">
                        <a16:rowId xmlns:a16="http://schemas.microsoft.com/office/drawing/2014/main" val="1916369857"/>
                      </a:ext>
                    </a:extLst>
                  </a:tr>
                  <a:tr h="274320">
                    <a:tc>
                      <a:txBody>
                        <a:bodyPr/>
                        <a:lstStyle/>
                        <a:p>
                          <a:endParaRPr lang="en-US"/>
                        </a:p>
                      </a:txBody>
                      <a:tcPr anchor="ctr">
                        <a:blipFill>
                          <a:blip r:embed="rId5"/>
                          <a:stretch>
                            <a:fillRect l="-275" t="-202222" r="-183747" b="-437778"/>
                          </a:stretch>
                        </a:blipFill>
                      </a:tcPr>
                    </a:tc>
                    <a:tc>
                      <a:txBody>
                        <a:bodyPr/>
                        <a:lstStyle/>
                        <a:p>
                          <a:pPr>
                            <a:buNone/>
                          </a:pPr>
                          <a:r>
                            <a:rPr lang="en-ZA" sz="1200" dirty="0">
                              <a:solidFill>
                                <a:srgbClr val="002060"/>
                              </a:solidFill>
                            </a:rPr>
                            <a:t>Number of clusters</a:t>
                          </a:r>
                        </a:p>
                      </a:txBody>
                      <a:tcPr anchor="ctr"/>
                    </a:tc>
                    <a:extLst>
                      <a:ext uri="{0D108BD9-81ED-4DB2-BD59-A6C34878D82A}">
                        <a16:rowId xmlns:a16="http://schemas.microsoft.com/office/drawing/2014/main" val="3851865848"/>
                      </a:ext>
                    </a:extLst>
                  </a:tr>
                  <a:tr h="282448">
                    <a:tc>
                      <a:txBody>
                        <a:bodyPr/>
                        <a:lstStyle/>
                        <a:p>
                          <a:endParaRPr lang="en-US"/>
                        </a:p>
                      </a:txBody>
                      <a:tcPr anchor="ctr">
                        <a:blipFill>
                          <a:blip r:embed="rId5"/>
                          <a:stretch>
                            <a:fillRect l="-275" t="-289362" r="-183747" b="-319149"/>
                          </a:stretch>
                        </a:blipFill>
                      </a:tcPr>
                    </a:tc>
                    <a:tc>
                      <a:txBody>
                        <a:bodyPr/>
                        <a:lstStyle/>
                        <a:p>
                          <a:pPr>
                            <a:buNone/>
                          </a:pPr>
                          <a:r>
                            <a:rPr lang="en-US" sz="1200">
                              <a:solidFill>
                                <a:srgbClr val="002060"/>
                              </a:solidFill>
                            </a:rPr>
                            <a:t>Stored customer state for customer (i) at cycle (t)</a:t>
                          </a:r>
                        </a:p>
                      </a:txBody>
                      <a:tcPr anchor="ctr"/>
                    </a:tc>
                    <a:extLst>
                      <a:ext uri="{0D108BD9-81ED-4DB2-BD59-A6C34878D82A}">
                        <a16:rowId xmlns:a16="http://schemas.microsoft.com/office/drawing/2014/main" val="2518674509"/>
                      </a:ext>
                    </a:extLst>
                  </a:tr>
                  <a:tr h="274320">
                    <a:tc>
                      <a:txBody>
                        <a:bodyPr/>
                        <a:lstStyle/>
                        <a:p>
                          <a:endParaRPr lang="en-US"/>
                        </a:p>
                      </a:txBody>
                      <a:tcPr anchor="ctr">
                        <a:blipFill>
                          <a:blip r:embed="rId5"/>
                          <a:stretch>
                            <a:fillRect l="-275" t="-406667" r="-183747" b="-233333"/>
                          </a:stretch>
                        </a:blipFill>
                      </a:tcPr>
                    </a:tc>
                    <a:tc>
                      <a:txBody>
                        <a:bodyPr/>
                        <a:lstStyle/>
                        <a:p>
                          <a:pPr>
                            <a:buNone/>
                          </a:pPr>
                          <a:r>
                            <a:rPr lang="en-ZA" sz="1200">
                              <a:solidFill>
                                <a:srgbClr val="002060"/>
                              </a:solidFill>
                            </a:rPr>
                            <a:t>Cluster (k)</a:t>
                          </a:r>
                        </a:p>
                      </a:txBody>
                      <a:tcPr anchor="ctr"/>
                    </a:tc>
                    <a:extLst>
                      <a:ext uri="{0D108BD9-81ED-4DB2-BD59-A6C34878D82A}">
                        <a16:rowId xmlns:a16="http://schemas.microsoft.com/office/drawing/2014/main" val="586117295"/>
                      </a:ext>
                    </a:extLst>
                  </a:tr>
                  <a:tr h="274320">
                    <a:tc>
                      <a:txBody>
                        <a:bodyPr/>
                        <a:lstStyle/>
                        <a:p>
                          <a:endParaRPr lang="en-US"/>
                        </a:p>
                      </a:txBody>
                      <a:tcPr anchor="ctr">
                        <a:blipFill>
                          <a:blip r:embed="rId5"/>
                          <a:stretch>
                            <a:fillRect l="-275" t="-506667" r="-183747" b="-133333"/>
                          </a:stretch>
                        </a:blipFill>
                      </a:tcPr>
                    </a:tc>
                    <a:tc>
                      <a:txBody>
                        <a:bodyPr/>
                        <a:lstStyle/>
                        <a:p>
                          <a:pPr>
                            <a:buNone/>
                          </a:pPr>
                          <a:r>
                            <a:rPr lang="en-ZA" sz="1200">
                              <a:solidFill>
                                <a:srgbClr val="002060"/>
                              </a:solidFill>
                            </a:rPr>
                            <a:t>Centroid of cluster (k)</a:t>
                          </a:r>
                        </a:p>
                      </a:txBody>
                      <a:tcPr anchor="ctr"/>
                    </a:tc>
                    <a:extLst>
                      <a:ext uri="{0D108BD9-81ED-4DB2-BD59-A6C34878D82A}">
                        <a16:rowId xmlns:a16="http://schemas.microsoft.com/office/drawing/2014/main" val="2941647574"/>
                      </a:ext>
                    </a:extLst>
                  </a:tr>
                  <a:tr h="334010">
                    <a:tc>
                      <a:txBody>
                        <a:bodyPr/>
                        <a:lstStyle/>
                        <a:p>
                          <a:endParaRPr lang="en-US"/>
                        </a:p>
                      </a:txBody>
                      <a:tcPr anchor="ctr">
                        <a:blipFill>
                          <a:blip r:embed="rId5"/>
                          <a:stretch>
                            <a:fillRect l="-275" t="-496364" r="-183747" b="-9091"/>
                          </a:stretch>
                        </a:blipFill>
                      </a:tcPr>
                    </a:tc>
                    <a:tc>
                      <a:txBody>
                        <a:bodyPr/>
                        <a:lstStyle/>
                        <a:p>
                          <a:pPr>
                            <a:buNone/>
                          </a:pPr>
                          <a:r>
                            <a:rPr lang="en-US" sz="1200" dirty="0">
                              <a:solidFill>
                                <a:srgbClr val="002060"/>
                              </a:solidFill>
                            </a:rPr>
                            <a:t>Squared distance between customer state and centroid</a:t>
                          </a:r>
                        </a:p>
                      </a:txBody>
                      <a:tcPr anchor="ctr"/>
                    </a:tc>
                    <a:extLst>
                      <a:ext uri="{0D108BD9-81ED-4DB2-BD59-A6C34878D82A}">
                        <a16:rowId xmlns:a16="http://schemas.microsoft.com/office/drawing/2014/main" val="2625305401"/>
                      </a:ext>
                    </a:extLst>
                  </a:tr>
                </a:tbl>
              </a:graphicData>
            </a:graphic>
          </p:graphicFrame>
        </mc:Fallback>
      </mc:AlternateContent>
    </p:spTree>
    <p:extLst>
      <p:ext uri="{BB962C8B-B14F-4D97-AF65-F5344CB8AC3E}">
        <p14:creationId xmlns:p14="http://schemas.microsoft.com/office/powerpoint/2010/main" val="750768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8F07F7C-562E-0A65-B186-2C040AF2A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B0C471-65CB-9232-55CE-2B39CB8CB6A5}"/>
              </a:ext>
            </a:extLst>
          </p:cNvPr>
          <p:cNvSpPr>
            <a:spLocks noGrp="1"/>
          </p:cNvSpPr>
          <p:nvPr>
            <p:ph type="title"/>
          </p:nvPr>
        </p:nvSpPr>
        <p:spPr>
          <a:xfrm>
            <a:off x="315686" y="277656"/>
            <a:ext cx="11738688" cy="530614"/>
          </a:xfrm>
        </p:spPr>
        <p:txBody>
          <a:bodyPr>
            <a:noAutofit/>
          </a:bodyPr>
          <a:lstStyle/>
          <a:p>
            <a:r>
              <a:rPr lang="en-ZA" sz="3200" b="1" dirty="0">
                <a:solidFill>
                  <a:srgbClr val="002060"/>
                </a:solidFill>
                <a:latin typeface="Arial Black" panose="020B0A04020102020204" pitchFamily="34" charset="0"/>
              </a:rPr>
              <a:t>Initial Baseline K-means </a:t>
            </a:r>
            <a:r>
              <a:rPr lang="en-ZA" sz="2400" b="1" dirty="0">
                <a:solidFill>
                  <a:srgbClr val="002060"/>
                </a:solidFill>
              </a:rPr>
              <a:t>- </a:t>
            </a:r>
            <a:r>
              <a:rPr lang="en-US" sz="2800" b="1" dirty="0">
                <a:solidFill>
                  <a:srgbClr val="002060"/>
                </a:solidFill>
              </a:rPr>
              <a:t>Determining the Number of Clusters K</a:t>
            </a:r>
            <a:endParaRPr lang="en-ZA" sz="2800" b="1" dirty="0">
              <a:solidFill>
                <a:srgbClr val="002060"/>
              </a:solidFill>
            </a:endParaRPr>
          </a:p>
        </p:txBody>
      </p:sp>
      <p:sp>
        <p:nvSpPr>
          <p:cNvPr id="5" name="TextBox 4">
            <a:extLst>
              <a:ext uri="{FF2B5EF4-FFF2-40B4-BE49-F238E27FC236}">
                <a16:creationId xmlns:a16="http://schemas.microsoft.com/office/drawing/2014/main" id="{E33B826D-B19E-6AFE-28AC-AF14A37FC388}"/>
              </a:ext>
            </a:extLst>
          </p:cNvPr>
          <p:cNvSpPr txBox="1"/>
          <p:nvPr/>
        </p:nvSpPr>
        <p:spPr>
          <a:xfrm>
            <a:off x="241041" y="1064377"/>
            <a:ext cx="11356910" cy="369332"/>
          </a:xfrm>
          <a:prstGeom prst="rect">
            <a:avLst/>
          </a:prstGeom>
          <a:noFill/>
        </p:spPr>
        <p:txBody>
          <a:bodyPr wrap="square">
            <a:spAutoFit/>
          </a:bodyPr>
          <a:lstStyle/>
          <a:p>
            <a:r>
              <a:rPr lang="en-US" dirty="0">
                <a:solidFill>
                  <a:srgbClr val="002060"/>
                </a:solidFill>
              </a:rPr>
              <a:t>The optimal number of clusters is selected using the </a:t>
            </a:r>
            <a:r>
              <a:rPr lang="en-US" b="1" dirty="0">
                <a:solidFill>
                  <a:srgbClr val="002060"/>
                </a:solidFill>
              </a:rPr>
              <a:t>Elbow Method</a:t>
            </a:r>
            <a:endParaRPr lang="en-ZA" dirty="0">
              <a:solidFill>
                <a:srgbClr val="002060"/>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2ADB029-A65F-B424-C06C-75A57F15E6B8}"/>
                  </a:ext>
                </a:extLst>
              </p:cNvPr>
              <p:cNvSpPr txBox="1"/>
              <p:nvPr/>
            </p:nvSpPr>
            <p:spPr>
              <a:xfrm>
                <a:off x="213048" y="1531520"/>
                <a:ext cx="10638453" cy="923330"/>
              </a:xfrm>
              <a:prstGeom prst="rect">
                <a:avLst/>
              </a:prstGeom>
              <a:noFill/>
            </p:spPr>
            <p:txBody>
              <a:bodyPr wrap="square">
                <a:spAutoFit/>
              </a:bodyPr>
              <a:lstStyle/>
              <a:p>
                <a:pPr>
                  <a:buNone/>
                </a:pPr>
                <a:r>
                  <a:rPr lang="en-US" dirty="0">
                    <a:solidFill>
                      <a:srgbClr val="002060"/>
                    </a:solidFill>
                  </a:rPr>
                  <a:t>The Elbow Method tests different values of </a:t>
                </a:r>
                <a14:m>
                  <m:oMath xmlns:m="http://schemas.openxmlformats.org/officeDocument/2006/math">
                    <m:r>
                      <a:rPr lang="en-US" i="1">
                        <a:solidFill>
                          <a:srgbClr val="002060"/>
                        </a:solidFill>
                        <a:latin typeface="Cambria Math" panose="02040503050406030204" pitchFamily="18" charset="0"/>
                      </a:rPr>
                      <m:t>𝐾</m:t>
                    </m:r>
                  </m:oMath>
                </a14:m>
                <a:r>
                  <a:rPr lang="en-US" dirty="0">
                    <a:solidFill>
                      <a:srgbClr val="002060"/>
                    </a:solidFill>
                  </a:rPr>
                  <a:t> we choose to test between 2 to 10 values of K and calculates the </a:t>
                </a:r>
                <a:r>
                  <a:rPr lang="en-US" b="1" dirty="0">
                    <a:solidFill>
                      <a:srgbClr val="002060"/>
                    </a:solidFill>
                  </a:rPr>
                  <a:t>Within-Cluster Sum of Squares (WCSS) </a:t>
                </a:r>
                <a:r>
                  <a:rPr lang="en-US" dirty="0">
                    <a:solidFill>
                      <a:srgbClr val="002060"/>
                    </a:solidFill>
                  </a:rPr>
                  <a:t>:</a:t>
                </a:r>
              </a:p>
              <a:p>
                <a:pPr>
                  <a:buNone/>
                </a:pPr>
                <a:endParaRPr lang="en-US" dirty="0">
                  <a:solidFill>
                    <a:srgbClr val="002060"/>
                  </a:solidFill>
                </a:endParaRPr>
              </a:p>
            </p:txBody>
          </p:sp>
        </mc:Choice>
        <mc:Fallback xmlns="">
          <p:sp>
            <p:nvSpPr>
              <p:cNvPr id="7" name="TextBox 6">
                <a:extLst>
                  <a:ext uri="{FF2B5EF4-FFF2-40B4-BE49-F238E27FC236}">
                    <a16:creationId xmlns:a16="http://schemas.microsoft.com/office/drawing/2014/main" id="{72ADB029-A65F-B424-C06C-75A57F15E6B8}"/>
                  </a:ext>
                </a:extLst>
              </p:cNvPr>
              <p:cNvSpPr txBox="1">
                <a:spLocks noRot="1" noChangeAspect="1" noMove="1" noResize="1" noEditPoints="1" noAdjustHandles="1" noChangeArrowheads="1" noChangeShapeType="1" noTextEdit="1"/>
              </p:cNvSpPr>
              <p:nvPr/>
            </p:nvSpPr>
            <p:spPr>
              <a:xfrm>
                <a:off x="213048" y="1531520"/>
                <a:ext cx="10638453" cy="923330"/>
              </a:xfrm>
              <a:prstGeom prst="rect">
                <a:avLst/>
              </a:prstGeom>
              <a:blipFill>
                <a:blip r:embed="rId3"/>
                <a:stretch>
                  <a:fillRect l="-516" t="-2632"/>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0808336-F1D3-9ED4-746F-230EE1E59C41}"/>
                  </a:ext>
                </a:extLst>
              </p:cNvPr>
              <p:cNvSpPr txBox="1"/>
              <p:nvPr/>
            </p:nvSpPr>
            <p:spPr>
              <a:xfrm>
                <a:off x="3523679" y="2169552"/>
                <a:ext cx="4017190" cy="8945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ZA" i="1" smtClean="0">
                          <a:solidFill>
                            <a:srgbClr val="002060"/>
                          </a:solidFill>
                          <a:latin typeface="Cambria Math" panose="02040503050406030204" pitchFamily="18" charset="0"/>
                        </a:rPr>
                        <m:t>𝑊𝐶𝑆𝑆</m:t>
                      </m:r>
                      <m:d>
                        <m:dPr>
                          <m:ctrlPr>
                            <a:rPr lang="en-ZA" i="1">
                              <a:solidFill>
                                <a:srgbClr val="002060"/>
                              </a:solidFill>
                              <a:latin typeface="Cambria Math" panose="02040503050406030204" pitchFamily="18" charset="0"/>
                            </a:rPr>
                          </m:ctrlPr>
                        </m:dPr>
                        <m:e>
                          <m:r>
                            <a:rPr lang="en-ZA" i="1">
                              <a:solidFill>
                                <a:srgbClr val="002060"/>
                              </a:solidFill>
                              <a:latin typeface="Cambria Math" panose="02040503050406030204" pitchFamily="18" charset="0"/>
                            </a:rPr>
                            <m:t>𝐾</m:t>
                          </m:r>
                        </m:e>
                      </m:d>
                      <m:r>
                        <a:rPr lang="en-ZA" i="1">
                          <a:solidFill>
                            <a:srgbClr val="002060"/>
                          </a:solidFill>
                          <a:latin typeface="Cambria Math" panose="02040503050406030204" pitchFamily="18" charset="0"/>
                        </a:rPr>
                        <m:t>=</m:t>
                      </m:r>
                      <m:nary>
                        <m:naryPr>
                          <m:chr m:val="∑"/>
                          <m:ctrlPr>
                            <a:rPr lang="en-ZA" i="1">
                              <a:solidFill>
                                <a:srgbClr val="002060"/>
                              </a:solidFill>
                              <a:latin typeface="Cambria Math" panose="02040503050406030204" pitchFamily="18" charset="0"/>
                            </a:rPr>
                          </m:ctrlPr>
                        </m:naryPr>
                        <m:sub>
                          <m:r>
                            <a:rPr lang="en-ZA" i="1">
                              <a:solidFill>
                                <a:srgbClr val="002060"/>
                              </a:solidFill>
                              <a:latin typeface="Cambria Math" panose="02040503050406030204" pitchFamily="18" charset="0"/>
                            </a:rPr>
                            <m:t>𝑘</m:t>
                          </m:r>
                          <m:r>
                            <a:rPr lang="en-ZA" i="1">
                              <a:solidFill>
                                <a:srgbClr val="002060"/>
                              </a:solidFill>
                              <a:latin typeface="Cambria Math" panose="02040503050406030204" pitchFamily="18" charset="0"/>
                            </a:rPr>
                            <m:t>=1</m:t>
                          </m:r>
                        </m:sub>
                        <m:sup>
                          <m:r>
                            <a:rPr lang="en-ZA" i="1">
                              <a:solidFill>
                                <a:srgbClr val="002060"/>
                              </a:solidFill>
                              <a:latin typeface="Cambria Math" panose="02040503050406030204" pitchFamily="18" charset="0"/>
                            </a:rPr>
                            <m:t>𝐾</m:t>
                          </m:r>
                        </m:sup>
                        <m:e>
                          <m:nary>
                            <m:naryPr>
                              <m:chr m:val="∑"/>
                              <m:supHide m:val="on"/>
                              <m:ctrlPr>
                                <a:rPr lang="en-ZA" i="1">
                                  <a:solidFill>
                                    <a:srgbClr val="002060"/>
                                  </a:solidFill>
                                  <a:latin typeface="Cambria Math" panose="02040503050406030204" pitchFamily="18" charset="0"/>
                                </a:rPr>
                              </m:ctrlPr>
                            </m:naryPr>
                            <m:sub>
                              <m:sSubSup>
                                <m:sSubSupPr>
                                  <m:ctrlPr>
                                    <a:rPr lang="en-ZA" i="1">
                                      <a:solidFill>
                                        <a:srgbClr val="002060"/>
                                      </a:solidFill>
                                      <a:latin typeface="Cambria Math" panose="02040503050406030204" pitchFamily="18" charset="0"/>
                                    </a:rPr>
                                  </m:ctrlPr>
                                </m:sSubSupPr>
                                <m:e>
                                  <m:r>
                                    <a:rPr lang="en-ZA" i="1">
                                      <a:solidFill>
                                        <a:srgbClr val="002060"/>
                                      </a:solidFill>
                                      <a:latin typeface="Cambria Math" panose="02040503050406030204" pitchFamily="18" charset="0"/>
                                    </a:rPr>
                                    <m:t>𝑆</m:t>
                                  </m:r>
                                </m:e>
                                <m:sub>
                                  <m:r>
                                    <a:rPr lang="en-ZA" i="1">
                                      <a:solidFill>
                                        <a:srgbClr val="002060"/>
                                      </a:solidFill>
                                      <a:latin typeface="Cambria Math" panose="02040503050406030204" pitchFamily="18" charset="0"/>
                                    </a:rPr>
                                    <m:t>𝑖</m:t>
                                  </m:r>
                                  <m:r>
                                    <a:rPr lang="en-ZA" i="1">
                                      <a:solidFill>
                                        <a:srgbClr val="002060"/>
                                      </a:solidFill>
                                      <a:latin typeface="Cambria Math" panose="02040503050406030204" pitchFamily="18" charset="0"/>
                                    </a:rPr>
                                    <m:t>,0</m:t>
                                  </m:r>
                                </m:sub>
                                <m:sup>
                                  <m:r>
                                    <a:rPr lang="en-ZA" i="1">
                                      <a:solidFill>
                                        <a:srgbClr val="002060"/>
                                      </a:solidFill>
                                      <a:latin typeface="Cambria Math" panose="02040503050406030204" pitchFamily="18" charset="0"/>
                                    </a:rPr>
                                    <m:t>𝑡𝑟𝑎𝑖𝑛</m:t>
                                  </m:r>
                                </m:sup>
                              </m:sSubSup>
                              <m:r>
                                <a:rPr lang="en-ZA" i="1">
                                  <a:solidFill>
                                    <a:srgbClr val="002060"/>
                                  </a:solidFill>
                                  <a:latin typeface="Cambria Math" panose="02040503050406030204" pitchFamily="18" charset="0"/>
                                </a:rPr>
                                <m:t>∈</m:t>
                              </m:r>
                              <m:sSub>
                                <m:sSubPr>
                                  <m:ctrlPr>
                                    <a:rPr lang="en-ZA" i="1">
                                      <a:solidFill>
                                        <a:srgbClr val="002060"/>
                                      </a:solidFill>
                                      <a:latin typeface="Cambria Math" panose="02040503050406030204" pitchFamily="18" charset="0"/>
                                    </a:rPr>
                                  </m:ctrlPr>
                                </m:sSubPr>
                                <m:e>
                                  <m:r>
                                    <a:rPr lang="en-ZA" i="1">
                                      <a:solidFill>
                                        <a:srgbClr val="002060"/>
                                      </a:solidFill>
                                      <a:latin typeface="Cambria Math" panose="02040503050406030204" pitchFamily="18" charset="0"/>
                                    </a:rPr>
                                    <m:t>𝐶</m:t>
                                  </m:r>
                                </m:e>
                                <m:sub>
                                  <m:r>
                                    <a:rPr lang="en-ZA" i="1">
                                      <a:solidFill>
                                        <a:srgbClr val="002060"/>
                                      </a:solidFill>
                                      <a:latin typeface="Cambria Math" panose="02040503050406030204" pitchFamily="18" charset="0"/>
                                    </a:rPr>
                                    <m:t>𝑘</m:t>
                                  </m:r>
                                </m:sub>
                              </m:sSub>
                            </m:sub>
                            <m:sup/>
                            <m:e>
                              <m:sSup>
                                <m:sSupPr>
                                  <m:ctrlPr>
                                    <a:rPr lang="en-ZA" i="1">
                                      <a:solidFill>
                                        <a:srgbClr val="002060"/>
                                      </a:solidFill>
                                      <a:latin typeface="Cambria Math" panose="02040503050406030204" pitchFamily="18" charset="0"/>
                                    </a:rPr>
                                  </m:ctrlPr>
                                </m:sSupPr>
                                <m:e>
                                  <m:d>
                                    <m:dPr>
                                      <m:begChr m:val="‖"/>
                                      <m:endChr m:val="‖"/>
                                      <m:ctrlPr>
                                        <a:rPr lang="en-ZA" i="1">
                                          <a:solidFill>
                                            <a:srgbClr val="002060"/>
                                          </a:solidFill>
                                          <a:latin typeface="Cambria Math" panose="02040503050406030204" pitchFamily="18" charset="0"/>
                                        </a:rPr>
                                      </m:ctrlPr>
                                    </m:dPr>
                                    <m:e>
                                      <m:sSubSup>
                                        <m:sSubSupPr>
                                          <m:ctrlPr>
                                            <a:rPr lang="en-ZA" i="1">
                                              <a:solidFill>
                                                <a:srgbClr val="002060"/>
                                              </a:solidFill>
                                              <a:latin typeface="Cambria Math" panose="02040503050406030204" pitchFamily="18" charset="0"/>
                                            </a:rPr>
                                          </m:ctrlPr>
                                        </m:sSubSupPr>
                                        <m:e>
                                          <m:r>
                                            <a:rPr lang="en-ZA" i="1">
                                              <a:solidFill>
                                                <a:srgbClr val="002060"/>
                                              </a:solidFill>
                                              <a:latin typeface="Cambria Math" panose="02040503050406030204" pitchFamily="18" charset="0"/>
                                            </a:rPr>
                                            <m:t>𝑆</m:t>
                                          </m:r>
                                        </m:e>
                                        <m:sub>
                                          <m:r>
                                            <a:rPr lang="en-ZA" i="1">
                                              <a:solidFill>
                                                <a:srgbClr val="002060"/>
                                              </a:solidFill>
                                              <a:latin typeface="Cambria Math" panose="02040503050406030204" pitchFamily="18" charset="0"/>
                                            </a:rPr>
                                            <m:t>𝑖</m:t>
                                          </m:r>
                                          <m:r>
                                            <a:rPr lang="en-ZA" i="1">
                                              <a:solidFill>
                                                <a:srgbClr val="002060"/>
                                              </a:solidFill>
                                              <a:latin typeface="Cambria Math" panose="02040503050406030204" pitchFamily="18" charset="0"/>
                                            </a:rPr>
                                            <m:t>,0</m:t>
                                          </m:r>
                                        </m:sub>
                                        <m:sup>
                                          <m:r>
                                            <a:rPr lang="en-ZA" i="1">
                                              <a:solidFill>
                                                <a:srgbClr val="002060"/>
                                              </a:solidFill>
                                              <a:latin typeface="Cambria Math" panose="02040503050406030204" pitchFamily="18" charset="0"/>
                                            </a:rPr>
                                            <m:t>𝑡𝑟𝑎𝑖𝑛</m:t>
                                          </m:r>
                                        </m:sup>
                                      </m:sSubSup>
                                      <m:r>
                                        <a:rPr lang="en-ZA" i="1">
                                          <a:solidFill>
                                            <a:srgbClr val="002060"/>
                                          </a:solidFill>
                                          <a:latin typeface="Cambria Math" panose="02040503050406030204" pitchFamily="18" charset="0"/>
                                        </a:rPr>
                                        <m:t>−</m:t>
                                      </m:r>
                                      <m:sSub>
                                        <m:sSubPr>
                                          <m:ctrlPr>
                                            <a:rPr lang="en-ZA" i="1">
                                              <a:solidFill>
                                                <a:srgbClr val="002060"/>
                                              </a:solidFill>
                                              <a:latin typeface="Cambria Math" panose="02040503050406030204" pitchFamily="18" charset="0"/>
                                            </a:rPr>
                                          </m:ctrlPr>
                                        </m:sSubPr>
                                        <m:e>
                                          <m:r>
                                            <a:rPr lang="en-ZA" i="1" dirty="0">
                                              <a:solidFill>
                                                <a:srgbClr val="002060"/>
                                              </a:solidFill>
                                              <a:latin typeface="Cambria Math" panose="02040503050406030204" pitchFamily="18" charset="0"/>
                                            </a:rPr>
                                            <m:t>𝜇</m:t>
                                          </m:r>
                                        </m:e>
                                        <m:sub>
                                          <m:r>
                                            <a:rPr lang="en-ZA" i="1">
                                              <a:solidFill>
                                                <a:srgbClr val="002060"/>
                                              </a:solidFill>
                                              <a:latin typeface="Cambria Math" panose="02040503050406030204" pitchFamily="18" charset="0"/>
                                            </a:rPr>
                                            <m:t>𝑘</m:t>
                                          </m:r>
                                        </m:sub>
                                      </m:sSub>
                                    </m:e>
                                  </m:d>
                                </m:e>
                                <m:sup>
                                  <m:r>
                                    <a:rPr lang="en-ZA" i="1">
                                      <a:solidFill>
                                        <a:srgbClr val="002060"/>
                                      </a:solidFill>
                                      <a:latin typeface="Cambria Math" panose="02040503050406030204" pitchFamily="18" charset="0"/>
                                    </a:rPr>
                                    <m:t>2</m:t>
                                  </m:r>
                                </m:sup>
                              </m:sSup>
                            </m:e>
                          </m:nary>
                        </m:e>
                      </m:nary>
                    </m:oMath>
                  </m:oMathPara>
                </a14:m>
                <a:endParaRPr lang="en-ZA" dirty="0">
                  <a:solidFill>
                    <a:srgbClr val="002060"/>
                  </a:solidFill>
                </a:endParaRPr>
              </a:p>
            </p:txBody>
          </p:sp>
        </mc:Choice>
        <mc:Fallback xmlns="">
          <p:sp>
            <p:nvSpPr>
              <p:cNvPr id="9" name="TextBox 8">
                <a:extLst>
                  <a:ext uri="{FF2B5EF4-FFF2-40B4-BE49-F238E27FC236}">
                    <a16:creationId xmlns:a16="http://schemas.microsoft.com/office/drawing/2014/main" id="{F0808336-F1D3-9ED4-746F-230EE1E59C41}"/>
                  </a:ext>
                </a:extLst>
              </p:cNvPr>
              <p:cNvSpPr txBox="1">
                <a:spLocks noRot="1" noChangeAspect="1" noMove="1" noResize="1" noEditPoints="1" noAdjustHandles="1" noChangeArrowheads="1" noChangeShapeType="1" noTextEdit="1"/>
              </p:cNvSpPr>
              <p:nvPr/>
            </p:nvSpPr>
            <p:spPr>
              <a:xfrm>
                <a:off x="3523679" y="2169552"/>
                <a:ext cx="4017190" cy="894540"/>
              </a:xfrm>
              <a:prstGeom prst="rect">
                <a:avLst/>
              </a:prstGeom>
              <a:blipFill>
                <a:blip r:embed="rId4"/>
                <a:stretch>
                  <a:fillRect/>
                </a:stretch>
              </a:blipFill>
            </p:spPr>
            <p:txBody>
              <a:bodyPr/>
              <a:lstStyle/>
              <a:p>
                <a:r>
                  <a:rPr lang="en-ZA">
                    <a:noFill/>
                  </a:rPr>
                  <a:t> </a:t>
                </a:r>
              </a:p>
            </p:txBody>
          </p:sp>
        </mc:Fallback>
      </mc:AlternateContent>
      <p:sp>
        <p:nvSpPr>
          <p:cNvPr id="13" name="TextBox 12">
            <a:extLst>
              <a:ext uri="{FF2B5EF4-FFF2-40B4-BE49-F238E27FC236}">
                <a16:creationId xmlns:a16="http://schemas.microsoft.com/office/drawing/2014/main" id="{095A03FE-D0D4-3243-5EFF-C44CE5DFC1CB}"/>
              </a:ext>
            </a:extLst>
          </p:cNvPr>
          <p:cNvSpPr txBox="1"/>
          <p:nvPr/>
        </p:nvSpPr>
        <p:spPr>
          <a:xfrm>
            <a:off x="315685" y="3416950"/>
            <a:ext cx="6980853" cy="369332"/>
          </a:xfrm>
          <a:prstGeom prst="rect">
            <a:avLst/>
          </a:prstGeom>
          <a:noFill/>
        </p:spPr>
        <p:txBody>
          <a:bodyPr wrap="square">
            <a:spAutoFit/>
          </a:bodyPr>
          <a:lstStyle/>
          <a:p>
            <a:r>
              <a:rPr lang="en-ZA" b="1" i="1" dirty="0">
                <a:solidFill>
                  <a:srgbClr val="002060"/>
                </a:solidFill>
              </a:rPr>
              <a:t>Elbow Method Decision Rule</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AB6C53D-EBAC-12D7-82A7-9B0951A0F92D}"/>
                  </a:ext>
                </a:extLst>
              </p:cNvPr>
              <p:cNvSpPr txBox="1"/>
              <p:nvPr/>
            </p:nvSpPr>
            <p:spPr>
              <a:xfrm>
                <a:off x="241041" y="3950416"/>
                <a:ext cx="6097554" cy="1036374"/>
              </a:xfrm>
              <a:prstGeom prst="rect">
                <a:avLst/>
              </a:prstGeom>
              <a:noFill/>
            </p:spPr>
            <p:txBody>
              <a:bodyPr wrap="square">
                <a:spAutoFit/>
              </a:bodyPr>
              <a:lstStyle/>
              <a:p>
                <a:pPr>
                  <a:buNone/>
                </a:pPr>
                <a:r>
                  <a:rPr lang="en-ZA" sz="2000" b="1" dirty="0">
                    <a:solidFill>
                      <a:srgbClr val="002060"/>
                    </a:solidFill>
                  </a:rPr>
                  <a:t>The optimal number of clusters is selected as:</a:t>
                </a:r>
              </a:p>
              <a:p>
                <a:pPr>
                  <a:buNone/>
                </a:pPr>
                <a:endParaRPr lang="en-ZA" b="1" dirty="0">
                  <a:solidFill>
                    <a:srgbClr val="002060"/>
                  </a:solidFill>
                </a:endParaRPr>
              </a:p>
              <a:p>
                <a:pPr>
                  <a:buNone/>
                </a:pPr>
                <a14:m>
                  <m:oMathPara xmlns:m="http://schemas.openxmlformats.org/officeDocument/2006/math">
                    <m:oMathParaPr>
                      <m:jc m:val="centerGroup"/>
                    </m:oMathParaPr>
                    <m:oMath xmlns:m="http://schemas.openxmlformats.org/officeDocument/2006/math">
                      <m:sSup>
                        <m:sSupPr>
                          <m:ctrlPr>
                            <a:rPr lang="ar-AE" i="1" smtClean="0">
                              <a:solidFill>
                                <a:schemeClr val="accent1"/>
                              </a:solidFill>
                              <a:latin typeface="Cambria Math" panose="02040503050406030204" pitchFamily="18" charset="0"/>
                            </a:rPr>
                          </m:ctrlPr>
                        </m:sSupPr>
                        <m:e>
                          <m:r>
                            <a:rPr lang="ar-AE" i="1">
                              <a:solidFill>
                                <a:schemeClr val="accent1"/>
                              </a:solidFill>
                              <a:latin typeface="Cambria Math" panose="02040503050406030204" pitchFamily="18" charset="0"/>
                            </a:rPr>
                            <m:t>𝐾</m:t>
                          </m:r>
                        </m:e>
                        <m:sup>
                          <m:r>
                            <a:rPr lang="ar-AE" i="0">
                              <a:solidFill>
                                <a:schemeClr val="accent1"/>
                              </a:solidFill>
                              <a:latin typeface="Cambria Math" panose="02040503050406030204" pitchFamily="18" charset="0"/>
                            </a:rPr>
                            <m:t>∗</m:t>
                          </m:r>
                        </m:sup>
                      </m:sSup>
                      <m:r>
                        <a:rPr lang="ar-AE" i="0">
                          <a:solidFill>
                            <a:schemeClr val="accent1"/>
                          </a:solidFill>
                          <a:latin typeface="Cambria Math" panose="02040503050406030204" pitchFamily="18" charset="0"/>
                        </a:rPr>
                        <m:t>=</m:t>
                      </m:r>
                      <m:func>
                        <m:funcPr>
                          <m:ctrlPr>
                            <a:rPr lang="ar-AE" i="1">
                              <a:solidFill>
                                <a:schemeClr val="accent1"/>
                              </a:solidFill>
                              <a:latin typeface="Cambria Math" panose="02040503050406030204" pitchFamily="18" charset="0"/>
                            </a:rPr>
                          </m:ctrlPr>
                        </m:funcPr>
                        <m:fName>
                          <m:r>
                            <m:rPr>
                              <m:sty m:val="p"/>
                            </m:rPr>
                            <a:rPr lang="en-ZA" i="0">
                              <a:solidFill>
                                <a:schemeClr val="accent1"/>
                              </a:solidFill>
                              <a:latin typeface="Cambria Math" panose="02040503050406030204" pitchFamily="18" charset="0"/>
                            </a:rPr>
                            <m:t>arg</m:t>
                          </m:r>
                        </m:fName>
                        <m:e>
                          <m:limLow>
                            <m:limLowPr>
                              <m:ctrlPr>
                                <a:rPr lang="ar-AE" i="1">
                                  <a:solidFill>
                                    <a:schemeClr val="accent1"/>
                                  </a:solidFill>
                                  <a:latin typeface="Cambria Math" panose="02040503050406030204" pitchFamily="18" charset="0"/>
                                </a:rPr>
                              </m:ctrlPr>
                            </m:limLowPr>
                            <m:e>
                              <m:func>
                                <m:funcPr>
                                  <m:ctrlPr>
                                    <a:rPr lang="ar-AE" i="1" smtClean="0">
                                      <a:solidFill>
                                        <a:schemeClr val="accent1"/>
                                      </a:solidFill>
                                      <a:latin typeface="Cambria Math" panose="02040503050406030204" pitchFamily="18" charset="0"/>
                                    </a:rPr>
                                  </m:ctrlPr>
                                </m:funcPr>
                                <m:fName>
                                  <m:r>
                                    <m:rPr>
                                      <m:sty m:val="p"/>
                                    </m:rPr>
                                    <a:rPr lang="en-ZA" i="0">
                                      <a:solidFill>
                                        <a:schemeClr val="accent1"/>
                                      </a:solidFill>
                                      <a:latin typeface="Cambria Math" panose="02040503050406030204" pitchFamily="18" charset="0"/>
                                    </a:rPr>
                                    <m:t>min</m:t>
                                  </m:r>
                                </m:fName>
                                <m:e>
                                  <m:r>
                                    <a:rPr lang="en-ZA" b="0" i="1" smtClean="0">
                                      <a:solidFill>
                                        <a:schemeClr val="accent1"/>
                                      </a:solidFill>
                                      <a:latin typeface="Cambria Math" panose="02040503050406030204" pitchFamily="18" charset="0"/>
                                    </a:rPr>
                                    <m:t> </m:t>
                                  </m:r>
                                </m:e>
                              </m:func>
                            </m:e>
                            <m:lim>
                              <m:r>
                                <a:rPr lang="ar-AE" i="1">
                                  <a:solidFill>
                                    <a:schemeClr val="accent1"/>
                                  </a:solidFill>
                                  <a:latin typeface="Cambria Math" panose="02040503050406030204" pitchFamily="18" charset="0"/>
                                </a:rPr>
                                <m:t>𝐾</m:t>
                              </m:r>
                            </m:lim>
                          </m:limLow>
                        </m:e>
                      </m:func>
                      <m:r>
                        <m:rPr>
                          <m:sty m:val="p"/>
                        </m:rPr>
                        <a:rPr lang="el-GR" i="0">
                          <a:solidFill>
                            <a:schemeClr val="accent1"/>
                          </a:solidFill>
                          <a:latin typeface="Cambria Math" panose="02040503050406030204" pitchFamily="18" charset="0"/>
                        </a:rPr>
                        <m:t>Δ</m:t>
                      </m:r>
                      <m:r>
                        <a:rPr lang="el-GR" i="1">
                          <a:solidFill>
                            <a:schemeClr val="accent1"/>
                          </a:solidFill>
                          <a:latin typeface="Cambria Math" panose="02040503050406030204" pitchFamily="18" charset="0"/>
                        </a:rPr>
                        <m:t>𝑊𝐶𝑆𝑆</m:t>
                      </m:r>
                      <m:d>
                        <m:dPr>
                          <m:ctrlPr>
                            <a:rPr lang="ar-AE" i="1">
                              <a:solidFill>
                                <a:schemeClr val="accent1"/>
                              </a:solidFill>
                              <a:latin typeface="Cambria Math" panose="02040503050406030204" pitchFamily="18" charset="0"/>
                            </a:rPr>
                          </m:ctrlPr>
                        </m:dPr>
                        <m:e>
                          <m:r>
                            <a:rPr lang="ar-AE" i="1">
                              <a:solidFill>
                                <a:schemeClr val="accent1"/>
                              </a:solidFill>
                              <a:latin typeface="Cambria Math" panose="02040503050406030204" pitchFamily="18" charset="0"/>
                            </a:rPr>
                            <m:t>𝐾</m:t>
                          </m:r>
                        </m:e>
                      </m:d>
                    </m:oMath>
                  </m:oMathPara>
                </a14:m>
                <a:endParaRPr lang="en-ZA" dirty="0">
                  <a:solidFill>
                    <a:srgbClr val="002060"/>
                  </a:solidFill>
                </a:endParaRPr>
              </a:p>
            </p:txBody>
          </p:sp>
        </mc:Choice>
        <mc:Fallback xmlns="">
          <p:sp>
            <p:nvSpPr>
              <p:cNvPr id="15" name="TextBox 14">
                <a:extLst>
                  <a:ext uri="{FF2B5EF4-FFF2-40B4-BE49-F238E27FC236}">
                    <a16:creationId xmlns:a16="http://schemas.microsoft.com/office/drawing/2014/main" id="{7AB6C53D-EBAC-12D7-82A7-9B0951A0F92D}"/>
                  </a:ext>
                </a:extLst>
              </p:cNvPr>
              <p:cNvSpPr txBox="1">
                <a:spLocks noRot="1" noChangeAspect="1" noMove="1" noResize="1" noEditPoints="1" noAdjustHandles="1" noChangeArrowheads="1" noChangeShapeType="1" noTextEdit="1"/>
              </p:cNvSpPr>
              <p:nvPr/>
            </p:nvSpPr>
            <p:spPr>
              <a:xfrm>
                <a:off x="241041" y="3950416"/>
                <a:ext cx="6097554" cy="1036374"/>
              </a:xfrm>
              <a:prstGeom prst="rect">
                <a:avLst/>
              </a:prstGeom>
              <a:blipFill>
                <a:blip r:embed="rId5"/>
                <a:stretch>
                  <a:fillRect l="-1100" t="-2941" b="-588"/>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ECB5F15-F4AB-7DCB-FB1E-94D07B1D9170}"/>
                  </a:ext>
                </a:extLst>
              </p:cNvPr>
              <p:cNvSpPr txBox="1"/>
              <p:nvPr/>
            </p:nvSpPr>
            <p:spPr>
              <a:xfrm>
                <a:off x="213048" y="5326480"/>
                <a:ext cx="5351411" cy="646331"/>
              </a:xfrm>
              <a:prstGeom prst="rect">
                <a:avLst/>
              </a:prstGeom>
              <a:noFill/>
            </p:spPr>
            <p:txBody>
              <a:bodyPr wrap="square">
                <a:spAutoFit/>
              </a:bodyPr>
              <a:lstStyle/>
              <a:p>
                <a14:m>
                  <m:oMath xmlns:m="http://schemas.openxmlformats.org/officeDocument/2006/math">
                    <m:sSup>
                      <m:sSupPr>
                        <m:ctrlPr>
                          <a:rPr lang="en-US" i="1" dirty="0" smtClean="0">
                            <a:solidFill>
                              <a:srgbClr val="002060"/>
                            </a:solidFill>
                            <a:latin typeface="Cambria Math" panose="02040503050406030204" pitchFamily="18" charset="0"/>
                          </a:rPr>
                        </m:ctrlPr>
                      </m:sSupPr>
                      <m:e>
                        <m:r>
                          <m:rPr>
                            <m:sty m:val="p"/>
                          </m:rPr>
                          <a:rPr lang="en-ZA" b="0" i="1" dirty="0" smtClean="0">
                            <a:solidFill>
                              <a:srgbClr val="002060"/>
                            </a:solidFill>
                            <a:latin typeface="Cambria Math" panose="02040503050406030204" pitchFamily="18" charset="0"/>
                          </a:rPr>
                          <m:t>K</m:t>
                        </m:r>
                      </m:e>
                      <m:sup>
                        <m:r>
                          <a:rPr lang="en-ZA" b="0" i="1" dirty="0" smtClean="0">
                            <a:solidFill>
                              <a:srgbClr val="002060"/>
                            </a:solidFill>
                            <a:latin typeface="Cambria Math" panose="02040503050406030204" pitchFamily="18" charset="0"/>
                          </a:rPr>
                          <m:t>∗</m:t>
                        </m:r>
                      </m:sup>
                    </m:sSup>
                    <m:r>
                      <a:rPr lang="en-US" i="1" dirty="0" smtClean="0">
                        <a:solidFill>
                          <a:srgbClr val="002060"/>
                        </a:solidFill>
                        <a:latin typeface="Cambria Math" panose="02040503050406030204" pitchFamily="18" charset="0"/>
                      </a:rPr>
                      <m:t> </m:t>
                    </m:r>
                  </m:oMath>
                </a14:m>
                <a:r>
                  <a:rPr lang="en-US" dirty="0">
                    <a:solidFill>
                      <a:srgbClr val="002060"/>
                    </a:solidFill>
                  </a:rPr>
                  <a:t>is chosen at the point where the WCSS  curve begins to flatten</a:t>
                </a:r>
                <a:endParaRPr lang="en-ZA" dirty="0">
                  <a:solidFill>
                    <a:srgbClr val="002060"/>
                  </a:solidFill>
                </a:endParaRPr>
              </a:p>
            </p:txBody>
          </p:sp>
        </mc:Choice>
        <mc:Fallback xmlns="">
          <p:sp>
            <p:nvSpPr>
              <p:cNvPr id="17" name="TextBox 16">
                <a:extLst>
                  <a:ext uri="{FF2B5EF4-FFF2-40B4-BE49-F238E27FC236}">
                    <a16:creationId xmlns:a16="http://schemas.microsoft.com/office/drawing/2014/main" id="{CECB5F15-F4AB-7DCB-FB1E-94D07B1D9170}"/>
                  </a:ext>
                </a:extLst>
              </p:cNvPr>
              <p:cNvSpPr txBox="1">
                <a:spLocks noRot="1" noChangeAspect="1" noMove="1" noResize="1" noEditPoints="1" noAdjustHandles="1" noChangeArrowheads="1" noChangeShapeType="1" noTextEdit="1"/>
              </p:cNvSpPr>
              <p:nvPr/>
            </p:nvSpPr>
            <p:spPr>
              <a:xfrm>
                <a:off x="213048" y="5326480"/>
                <a:ext cx="5351411" cy="646331"/>
              </a:xfrm>
              <a:prstGeom prst="rect">
                <a:avLst/>
              </a:prstGeom>
              <a:blipFill>
                <a:blip r:embed="rId6"/>
                <a:stretch>
                  <a:fillRect l="-1025" t="-4717" b="-15094"/>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6FD29A6-4CDD-3C06-BC1D-CC7F83EF4483}"/>
                  </a:ext>
                </a:extLst>
              </p:cNvPr>
              <p:cNvSpPr txBox="1"/>
              <p:nvPr/>
            </p:nvSpPr>
            <p:spPr>
              <a:xfrm>
                <a:off x="213048" y="6071360"/>
                <a:ext cx="6096000" cy="379656"/>
              </a:xfrm>
              <a:prstGeom prst="rect">
                <a:avLst/>
              </a:prstGeom>
              <a:noFill/>
            </p:spPr>
            <p:txBody>
              <a:bodyPr wrap="square">
                <a:spAutoFit/>
              </a:bodyPr>
              <a:lstStyle/>
              <a:p>
                <a:r>
                  <a:rPr lang="en-ZA" dirty="0">
                    <a:solidFill>
                      <a:schemeClr val="bg2"/>
                    </a:solidFill>
                    <a:highlight>
                      <a:srgbClr val="00FFFF"/>
                    </a:highlight>
                  </a:rPr>
                  <a:t>Elbow point  =  optimal </a:t>
                </a:r>
                <a14:m>
                  <m:oMath xmlns:m="http://schemas.openxmlformats.org/officeDocument/2006/math">
                    <m:sSup>
                      <m:sSupPr>
                        <m:ctrlPr>
                          <a:rPr lang="en-ZA" i="1" smtClean="0">
                            <a:solidFill>
                              <a:schemeClr val="bg2"/>
                            </a:solidFill>
                            <a:highlight>
                              <a:srgbClr val="00FFFF"/>
                            </a:highlight>
                            <a:latin typeface="Cambria Math" panose="02040503050406030204" pitchFamily="18" charset="0"/>
                          </a:rPr>
                        </m:ctrlPr>
                      </m:sSupPr>
                      <m:e>
                        <m:r>
                          <m:rPr>
                            <m:sty m:val="p"/>
                          </m:rPr>
                          <a:rPr lang="en-ZA" b="0" i="1" smtClean="0">
                            <a:solidFill>
                              <a:schemeClr val="bg2"/>
                            </a:solidFill>
                            <a:highlight>
                              <a:srgbClr val="00FFFF"/>
                            </a:highlight>
                            <a:latin typeface="Cambria Math" panose="02040503050406030204" pitchFamily="18" charset="0"/>
                          </a:rPr>
                          <m:t>K</m:t>
                        </m:r>
                      </m:e>
                      <m:sup>
                        <m:r>
                          <a:rPr lang="en-ZA" b="0" i="1" smtClean="0">
                            <a:solidFill>
                              <a:schemeClr val="bg2"/>
                            </a:solidFill>
                            <a:highlight>
                              <a:srgbClr val="00FFFF"/>
                            </a:highlight>
                            <a:latin typeface="Cambria Math" panose="02040503050406030204" pitchFamily="18" charset="0"/>
                          </a:rPr>
                          <m:t>∗</m:t>
                        </m:r>
                      </m:sup>
                    </m:sSup>
                  </m:oMath>
                </a14:m>
                <a:endParaRPr lang="en-ZA" dirty="0">
                  <a:solidFill>
                    <a:schemeClr val="bg2"/>
                  </a:solidFill>
                  <a:highlight>
                    <a:srgbClr val="00FFFF"/>
                  </a:highlight>
                </a:endParaRPr>
              </a:p>
            </p:txBody>
          </p:sp>
        </mc:Choice>
        <mc:Fallback xmlns="">
          <p:sp>
            <p:nvSpPr>
              <p:cNvPr id="21" name="TextBox 20">
                <a:extLst>
                  <a:ext uri="{FF2B5EF4-FFF2-40B4-BE49-F238E27FC236}">
                    <a16:creationId xmlns:a16="http://schemas.microsoft.com/office/drawing/2014/main" id="{F6FD29A6-4CDD-3C06-BC1D-CC7F83EF4483}"/>
                  </a:ext>
                </a:extLst>
              </p:cNvPr>
              <p:cNvSpPr txBox="1">
                <a:spLocks noRot="1" noChangeAspect="1" noMove="1" noResize="1" noEditPoints="1" noAdjustHandles="1" noChangeArrowheads="1" noChangeShapeType="1" noTextEdit="1"/>
              </p:cNvSpPr>
              <p:nvPr/>
            </p:nvSpPr>
            <p:spPr>
              <a:xfrm>
                <a:off x="213048" y="6071360"/>
                <a:ext cx="6096000" cy="379656"/>
              </a:xfrm>
              <a:prstGeom prst="rect">
                <a:avLst/>
              </a:prstGeom>
              <a:blipFill>
                <a:blip r:embed="rId7"/>
                <a:stretch>
                  <a:fillRect l="-900" t="-8065" b="-24194"/>
                </a:stretch>
              </a:blipFill>
            </p:spPr>
            <p:txBody>
              <a:bodyPr/>
              <a:lstStyle/>
              <a:p>
                <a:r>
                  <a:rPr lang="en-ZA">
                    <a:noFill/>
                  </a:rPr>
                  <a:t> </a:t>
                </a:r>
              </a:p>
            </p:txBody>
          </p:sp>
        </mc:Fallback>
      </mc:AlternateContent>
      <p:pic>
        <p:nvPicPr>
          <p:cNvPr id="1026" name="Picture 2" descr="The elbow method - Statistics for Machine Learning [Book]">
            <a:extLst>
              <a:ext uri="{FF2B5EF4-FFF2-40B4-BE49-F238E27FC236}">
                <a16:creationId xmlns:a16="http://schemas.microsoft.com/office/drawing/2014/main" id="{071CDC58-C10F-22F1-9D51-F8156729811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3369" t="9401" b="4495"/>
          <a:stretch>
            <a:fillRect/>
          </a:stretch>
        </p:blipFill>
        <p:spPr bwMode="auto">
          <a:xfrm>
            <a:off x="6039515" y="3322531"/>
            <a:ext cx="5836800" cy="3257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610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CDBED58-2663-8957-3F0B-03FFBD42AA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2DE22-6F17-E219-D3E5-F76C21C07BF1}"/>
              </a:ext>
            </a:extLst>
          </p:cNvPr>
          <p:cNvSpPr>
            <a:spLocks noGrp="1"/>
          </p:cNvSpPr>
          <p:nvPr>
            <p:ph type="title"/>
          </p:nvPr>
        </p:nvSpPr>
        <p:spPr>
          <a:xfrm>
            <a:off x="687825" y="222411"/>
            <a:ext cx="10614584" cy="530614"/>
          </a:xfrm>
        </p:spPr>
        <p:txBody>
          <a:bodyPr>
            <a:noAutofit/>
          </a:bodyPr>
          <a:lstStyle/>
          <a:p>
            <a:r>
              <a:rPr lang="en-ZA" sz="3200" b="1" dirty="0">
                <a:solidFill>
                  <a:srgbClr val="002060"/>
                </a:solidFill>
                <a:latin typeface="Arial Black" panose="020B0A04020102020204" pitchFamily="34" charset="0"/>
              </a:rPr>
              <a:t>Initial Baseline K-means </a:t>
            </a:r>
            <a:r>
              <a:rPr lang="en-ZA" sz="2400" b="1" dirty="0">
                <a:solidFill>
                  <a:srgbClr val="002060"/>
                </a:solidFill>
              </a:rPr>
              <a:t>- </a:t>
            </a:r>
            <a:r>
              <a:rPr lang="en-US" sz="2800" b="1" dirty="0">
                <a:solidFill>
                  <a:srgbClr val="002060"/>
                </a:solidFill>
              </a:rPr>
              <a:t>Final K-means Baseline Model</a:t>
            </a:r>
            <a:endParaRPr lang="en-ZA" sz="2800" b="1" dirty="0">
              <a:solidFill>
                <a:srgbClr val="002060"/>
              </a:solidFill>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1CE2EC5-1DDE-4F63-BFB7-E95F33322CDA}"/>
                  </a:ext>
                </a:extLst>
              </p:cNvPr>
              <p:cNvSpPr txBox="1"/>
              <p:nvPr/>
            </p:nvSpPr>
            <p:spPr>
              <a:xfrm>
                <a:off x="147026" y="1136741"/>
                <a:ext cx="4688768" cy="379656"/>
              </a:xfrm>
              <a:prstGeom prst="rect">
                <a:avLst/>
              </a:prstGeom>
              <a:noFill/>
            </p:spPr>
            <p:txBody>
              <a:bodyPr wrap="square">
                <a:spAutoFit/>
              </a:bodyPr>
              <a:lstStyle/>
              <a:p>
                <a:r>
                  <a:rPr lang="en-US" dirty="0">
                    <a:solidFill>
                      <a:srgbClr val="002060"/>
                    </a:solidFill>
                  </a:rPr>
                  <a:t>Applying Final K-means Using Selected </a:t>
                </a:r>
                <a14:m>
                  <m:oMath xmlns:m="http://schemas.openxmlformats.org/officeDocument/2006/math">
                    <m:sSup>
                      <m:sSupPr>
                        <m:ctrlPr>
                          <a:rPr lang="en-US" i="1" smtClean="0">
                            <a:solidFill>
                              <a:srgbClr val="002060"/>
                            </a:solidFill>
                            <a:latin typeface="Cambria Math" panose="02040503050406030204" pitchFamily="18" charset="0"/>
                          </a:rPr>
                        </m:ctrlPr>
                      </m:sSupPr>
                      <m:e>
                        <m:r>
                          <m:rPr>
                            <m:sty m:val="p"/>
                          </m:rPr>
                          <a:rPr lang="en-ZA" b="0" i="1" smtClean="0">
                            <a:solidFill>
                              <a:srgbClr val="002060"/>
                            </a:solidFill>
                            <a:latin typeface="Cambria Math" panose="02040503050406030204" pitchFamily="18" charset="0"/>
                          </a:rPr>
                          <m:t>K</m:t>
                        </m:r>
                      </m:e>
                      <m:sup>
                        <m:r>
                          <a:rPr lang="en-ZA" b="0" i="1" smtClean="0">
                            <a:solidFill>
                              <a:srgbClr val="002060"/>
                            </a:solidFill>
                            <a:latin typeface="Cambria Math" panose="02040503050406030204" pitchFamily="18" charset="0"/>
                          </a:rPr>
                          <m:t>∗</m:t>
                        </m:r>
                      </m:sup>
                    </m:sSup>
                  </m:oMath>
                </a14:m>
                <a:endParaRPr lang="en-ZA" dirty="0">
                  <a:solidFill>
                    <a:srgbClr val="002060"/>
                  </a:solidFill>
                </a:endParaRPr>
              </a:p>
            </p:txBody>
          </p:sp>
        </mc:Choice>
        <mc:Fallback xmlns="">
          <p:sp>
            <p:nvSpPr>
              <p:cNvPr id="5" name="TextBox 4">
                <a:extLst>
                  <a:ext uri="{FF2B5EF4-FFF2-40B4-BE49-F238E27FC236}">
                    <a16:creationId xmlns:a16="http://schemas.microsoft.com/office/drawing/2014/main" id="{B1CE2EC5-1DDE-4F63-BFB7-E95F33322CDA}"/>
                  </a:ext>
                </a:extLst>
              </p:cNvPr>
              <p:cNvSpPr txBox="1">
                <a:spLocks noRot="1" noChangeAspect="1" noMove="1" noResize="1" noEditPoints="1" noAdjustHandles="1" noChangeArrowheads="1" noChangeShapeType="1" noTextEdit="1"/>
              </p:cNvSpPr>
              <p:nvPr/>
            </p:nvSpPr>
            <p:spPr>
              <a:xfrm>
                <a:off x="147026" y="1136741"/>
                <a:ext cx="4688768" cy="379656"/>
              </a:xfrm>
              <a:prstGeom prst="rect">
                <a:avLst/>
              </a:prstGeom>
              <a:blipFill>
                <a:blip r:embed="rId3"/>
                <a:stretch>
                  <a:fillRect l="-1040" t="-3175" b="-25397"/>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A3E02B8-5D5E-0071-8983-3B8CF1873280}"/>
                  </a:ext>
                </a:extLst>
              </p:cNvPr>
              <p:cNvSpPr txBox="1"/>
              <p:nvPr/>
            </p:nvSpPr>
            <p:spPr>
              <a:xfrm>
                <a:off x="163673" y="1579092"/>
                <a:ext cx="6021357" cy="646331"/>
              </a:xfrm>
              <a:prstGeom prst="rect">
                <a:avLst/>
              </a:prstGeom>
              <a:noFill/>
            </p:spPr>
            <p:txBody>
              <a:bodyPr wrap="square">
                <a:spAutoFit/>
              </a:bodyPr>
              <a:lstStyle/>
              <a:p>
                <a:r>
                  <a:rPr lang="en-ZA" dirty="0">
                    <a:solidFill>
                      <a:schemeClr val="bg2"/>
                    </a:solidFill>
                  </a:rPr>
                  <a:t>After selecting the optimal number of clusters </a:t>
                </a:r>
                <a14:m>
                  <m:oMath xmlns:m="http://schemas.openxmlformats.org/officeDocument/2006/math">
                    <m:sSup>
                      <m:sSupPr>
                        <m:ctrlPr>
                          <a:rPr lang="ar-AE" i="1">
                            <a:solidFill>
                              <a:schemeClr val="bg2"/>
                            </a:solidFill>
                            <a:latin typeface="Cambria Math" panose="02040503050406030204" pitchFamily="18" charset="0"/>
                          </a:rPr>
                        </m:ctrlPr>
                      </m:sSupPr>
                      <m:e>
                        <m:r>
                          <a:rPr lang="ar-AE" i="1">
                            <a:solidFill>
                              <a:schemeClr val="bg2"/>
                            </a:solidFill>
                            <a:latin typeface="Cambria Math" panose="02040503050406030204" pitchFamily="18" charset="0"/>
                          </a:rPr>
                          <m:t>𝐾</m:t>
                        </m:r>
                      </m:e>
                      <m:sup>
                        <m:r>
                          <a:rPr lang="ar-AE" i="0">
                            <a:solidFill>
                              <a:schemeClr val="bg2"/>
                            </a:solidFill>
                            <a:latin typeface="Cambria Math" panose="02040503050406030204" pitchFamily="18" charset="0"/>
                          </a:rPr>
                          <m:t>∗</m:t>
                        </m:r>
                      </m:sup>
                    </m:sSup>
                    <m:r>
                      <a:rPr lang="en-ZA" b="0" i="0" smtClean="0">
                        <a:solidFill>
                          <a:schemeClr val="bg2"/>
                        </a:solidFill>
                        <a:latin typeface="Cambria Math" panose="02040503050406030204" pitchFamily="18" charset="0"/>
                      </a:rPr>
                      <m:t>  </m:t>
                    </m:r>
                  </m:oMath>
                </a14:m>
                <a:r>
                  <a:rPr lang="en-ZA" dirty="0">
                    <a:solidFill>
                      <a:schemeClr val="bg2"/>
                    </a:solidFill>
                  </a:rPr>
                  <a:t>the final K-means model is applied to the Cycle 0 customer states.</a:t>
                </a:r>
              </a:p>
            </p:txBody>
          </p:sp>
        </mc:Choice>
        <mc:Fallback xmlns="">
          <p:sp>
            <p:nvSpPr>
              <p:cNvPr id="4" name="TextBox 3">
                <a:extLst>
                  <a:ext uri="{FF2B5EF4-FFF2-40B4-BE49-F238E27FC236}">
                    <a16:creationId xmlns:a16="http://schemas.microsoft.com/office/drawing/2014/main" id="{9A3E02B8-5D5E-0071-8983-3B8CF1873280}"/>
                  </a:ext>
                </a:extLst>
              </p:cNvPr>
              <p:cNvSpPr txBox="1">
                <a:spLocks noRot="1" noChangeAspect="1" noMove="1" noResize="1" noEditPoints="1" noAdjustHandles="1" noChangeArrowheads="1" noChangeShapeType="1" noTextEdit="1"/>
              </p:cNvSpPr>
              <p:nvPr/>
            </p:nvSpPr>
            <p:spPr>
              <a:xfrm>
                <a:off x="163673" y="1579092"/>
                <a:ext cx="6021357" cy="646331"/>
              </a:xfrm>
              <a:prstGeom prst="rect">
                <a:avLst/>
              </a:prstGeom>
              <a:blipFill>
                <a:blip r:embed="rId4"/>
                <a:stretch>
                  <a:fillRect l="-911" t="-3774" b="-15094"/>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D839561-94D9-4F98-12EF-A8F9E4713DD7}"/>
                  </a:ext>
                </a:extLst>
              </p:cNvPr>
              <p:cNvSpPr txBox="1"/>
              <p:nvPr/>
            </p:nvSpPr>
            <p:spPr>
              <a:xfrm>
                <a:off x="456488" y="2324204"/>
                <a:ext cx="5136237" cy="12018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ZA" sz="2400" i="1" dirty="0" smtClean="0">
                          <a:solidFill>
                            <a:srgbClr val="002060"/>
                          </a:solidFill>
                          <a:latin typeface="Cambria Math" panose="02040503050406030204" pitchFamily="18" charset="0"/>
                        </a:rPr>
                        <m:t>𝐽</m:t>
                      </m:r>
                      <m:r>
                        <a:rPr lang="en-ZA" sz="2400" i="1" dirty="0">
                          <a:solidFill>
                            <a:srgbClr val="002060"/>
                          </a:solidFill>
                          <a:latin typeface="Cambria Math" panose="02040503050406030204" pitchFamily="18" charset="0"/>
                        </a:rPr>
                        <m:t>=</m:t>
                      </m:r>
                      <m:nary>
                        <m:naryPr>
                          <m:chr m:val="∑"/>
                          <m:ctrlPr>
                            <a:rPr lang="en-ZA" sz="2400" i="1" dirty="0">
                              <a:solidFill>
                                <a:srgbClr val="002060"/>
                              </a:solidFill>
                              <a:latin typeface="Cambria Math" panose="02040503050406030204" pitchFamily="18" charset="0"/>
                            </a:rPr>
                          </m:ctrlPr>
                        </m:naryPr>
                        <m:sub>
                          <m:r>
                            <a:rPr lang="en-ZA" sz="2400" i="1" dirty="0">
                              <a:solidFill>
                                <a:srgbClr val="002060"/>
                              </a:solidFill>
                              <a:latin typeface="Cambria Math" panose="02040503050406030204" pitchFamily="18" charset="0"/>
                            </a:rPr>
                            <m:t>𝑘</m:t>
                          </m:r>
                          <m:r>
                            <a:rPr lang="en-ZA" sz="2400" i="1" dirty="0">
                              <a:solidFill>
                                <a:srgbClr val="002060"/>
                              </a:solidFill>
                              <a:latin typeface="Cambria Math" panose="02040503050406030204" pitchFamily="18" charset="0"/>
                            </a:rPr>
                            <m:t>=</m:t>
                          </m:r>
                          <m:r>
                            <a:rPr lang="en-ZA" sz="2400" i="1" dirty="0">
                              <a:solidFill>
                                <a:srgbClr val="002060"/>
                              </a:solidFill>
                              <a:latin typeface="Cambria Math" panose="02040503050406030204" pitchFamily="18" charset="0"/>
                            </a:rPr>
                            <m:t>1</m:t>
                          </m:r>
                        </m:sub>
                        <m:sup>
                          <m:r>
                            <a:rPr lang="en-ZA" sz="2400" i="1" dirty="0">
                              <a:solidFill>
                                <a:srgbClr val="002060"/>
                              </a:solidFill>
                              <a:latin typeface="Cambria Math" panose="02040503050406030204" pitchFamily="18" charset="0"/>
                            </a:rPr>
                            <m:t>𝐾</m:t>
                          </m:r>
                        </m:sup>
                        <m:e>
                          <m:nary>
                            <m:naryPr>
                              <m:chr m:val="∑"/>
                              <m:supHide m:val="on"/>
                              <m:ctrlPr>
                                <a:rPr lang="en-ZA" sz="2400" i="1" dirty="0">
                                  <a:solidFill>
                                    <a:srgbClr val="002060"/>
                                  </a:solidFill>
                                  <a:latin typeface="Cambria Math" panose="02040503050406030204" pitchFamily="18" charset="0"/>
                                </a:rPr>
                              </m:ctrlPr>
                            </m:naryPr>
                            <m:sub>
                              <m:sSub>
                                <m:sSubPr>
                                  <m:ctrlPr>
                                    <a:rPr lang="en-ZA" sz="2400" i="1" dirty="0">
                                      <a:solidFill>
                                        <a:srgbClr val="002060"/>
                                      </a:solidFill>
                                      <a:latin typeface="Cambria Math" panose="02040503050406030204" pitchFamily="18" charset="0"/>
                                    </a:rPr>
                                  </m:ctrlPr>
                                </m:sSubPr>
                                <m:e>
                                  <m:r>
                                    <a:rPr lang="en-ZA" sz="2400" i="1" dirty="0">
                                      <a:solidFill>
                                        <a:srgbClr val="002060"/>
                                      </a:solidFill>
                                      <a:latin typeface="Cambria Math" panose="02040503050406030204" pitchFamily="18" charset="0"/>
                                    </a:rPr>
                                    <m:t>𝑆</m:t>
                                  </m:r>
                                </m:e>
                                <m:sub>
                                  <m:r>
                                    <a:rPr lang="en-ZA" sz="2400" i="1" dirty="0" err="1">
                                      <a:solidFill>
                                        <a:srgbClr val="002060"/>
                                      </a:solidFill>
                                      <a:latin typeface="Cambria Math" panose="02040503050406030204" pitchFamily="18" charset="0"/>
                                    </a:rPr>
                                    <m:t>𝑖</m:t>
                                  </m:r>
                                  <m:r>
                                    <a:rPr lang="en-ZA" sz="2400" i="1" dirty="0" err="1">
                                      <a:solidFill>
                                        <a:srgbClr val="002060"/>
                                      </a:solidFill>
                                      <a:latin typeface="Cambria Math" panose="02040503050406030204" pitchFamily="18" charset="0"/>
                                    </a:rPr>
                                    <m:t>,</m:t>
                                  </m:r>
                                  <m:r>
                                    <a:rPr lang="en-ZA" sz="2400" i="1" dirty="0" err="1">
                                      <a:solidFill>
                                        <a:srgbClr val="002060"/>
                                      </a:solidFill>
                                      <a:latin typeface="Cambria Math" panose="02040503050406030204" pitchFamily="18" charset="0"/>
                                    </a:rPr>
                                    <m:t>𝑡</m:t>
                                  </m:r>
                                </m:sub>
                              </m:sSub>
                              <m:r>
                                <a:rPr lang="en-ZA" sz="2400" i="1" dirty="0">
                                  <a:solidFill>
                                    <a:srgbClr val="002060"/>
                                  </a:solidFill>
                                  <a:latin typeface="Cambria Math" panose="02040503050406030204" pitchFamily="18" charset="0"/>
                                </a:rPr>
                                <m:t>∈</m:t>
                              </m:r>
                              <m:sSub>
                                <m:sSubPr>
                                  <m:ctrlPr>
                                    <a:rPr lang="en-ZA" sz="2400" i="1" dirty="0" err="1">
                                      <a:solidFill>
                                        <a:srgbClr val="002060"/>
                                      </a:solidFill>
                                      <a:latin typeface="Cambria Math" panose="02040503050406030204" pitchFamily="18" charset="0"/>
                                    </a:rPr>
                                  </m:ctrlPr>
                                </m:sSubPr>
                                <m:e>
                                  <m:r>
                                    <a:rPr lang="en-ZA" sz="2400" i="1" dirty="0" err="1">
                                      <a:solidFill>
                                        <a:srgbClr val="002060"/>
                                      </a:solidFill>
                                      <a:latin typeface="Cambria Math" panose="02040503050406030204" pitchFamily="18" charset="0"/>
                                    </a:rPr>
                                    <m:t>𝐶</m:t>
                                  </m:r>
                                </m:e>
                                <m:sub>
                                  <m:r>
                                    <a:rPr lang="en-ZA" sz="2400" i="1" dirty="0" err="1">
                                      <a:solidFill>
                                        <a:srgbClr val="002060"/>
                                      </a:solidFill>
                                      <a:latin typeface="Cambria Math" panose="02040503050406030204" pitchFamily="18" charset="0"/>
                                    </a:rPr>
                                    <m:t>𝑘</m:t>
                                  </m:r>
                                </m:sub>
                              </m:sSub>
                            </m:sub>
                            <m:sup/>
                            <m:e>
                              <m:d>
                                <m:dPr>
                                  <m:begChr m:val=""/>
                                  <m:endChr m:val=""/>
                                  <m:ctrlPr>
                                    <a:rPr lang="en-ZA" sz="2400" i="1" dirty="0">
                                      <a:solidFill>
                                        <a:srgbClr val="002060"/>
                                      </a:solidFill>
                                      <a:latin typeface="Cambria Math" panose="02040503050406030204" pitchFamily="18" charset="0"/>
                                    </a:rPr>
                                  </m:ctrlPr>
                                </m:dPr>
                                <m:e>
                                  <m:r>
                                    <m:rPr>
                                      <m:lit/>
                                    </m:rPr>
                                    <a:rPr lang="en-ZA" sz="2400" i="1" dirty="0">
                                      <a:solidFill>
                                        <a:srgbClr val="002060"/>
                                      </a:solidFill>
                                      <a:latin typeface="Cambria Math" panose="02040503050406030204" pitchFamily="18" charset="0"/>
                                    </a:rPr>
                                    <m:t>||</m:t>
                                  </m:r>
                                  <m:sSub>
                                    <m:sSubPr>
                                      <m:ctrlPr>
                                        <a:rPr lang="en-ZA" sz="2400" i="1" dirty="0">
                                          <a:solidFill>
                                            <a:srgbClr val="002060"/>
                                          </a:solidFill>
                                          <a:latin typeface="Cambria Math" panose="02040503050406030204" pitchFamily="18" charset="0"/>
                                        </a:rPr>
                                      </m:ctrlPr>
                                    </m:sSubPr>
                                    <m:e>
                                      <m:r>
                                        <a:rPr lang="en-ZA" sz="2400" i="1" dirty="0">
                                          <a:solidFill>
                                            <a:srgbClr val="002060"/>
                                          </a:solidFill>
                                          <a:latin typeface="Cambria Math" panose="02040503050406030204" pitchFamily="18" charset="0"/>
                                        </a:rPr>
                                        <m:t>𝑆</m:t>
                                      </m:r>
                                    </m:e>
                                    <m:sub>
                                      <m:r>
                                        <a:rPr lang="en-ZA" sz="2400" i="1" dirty="0" err="1">
                                          <a:solidFill>
                                            <a:srgbClr val="002060"/>
                                          </a:solidFill>
                                          <a:latin typeface="Cambria Math" panose="02040503050406030204" pitchFamily="18" charset="0"/>
                                        </a:rPr>
                                        <m:t>𝑖</m:t>
                                      </m:r>
                                      <m:r>
                                        <a:rPr lang="en-ZA" sz="2400" i="1" dirty="0" err="1">
                                          <a:solidFill>
                                            <a:srgbClr val="002060"/>
                                          </a:solidFill>
                                          <a:latin typeface="Cambria Math" panose="02040503050406030204" pitchFamily="18" charset="0"/>
                                        </a:rPr>
                                        <m:t>,</m:t>
                                      </m:r>
                                      <m:r>
                                        <a:rPr lang="en-ZA" sz="2400" i="1" dirty="0" err="1">
                                          <a:solidFill>
                                            <a:srgbClr val="002060"/>
                                          </a:solidFill>
                                          <a:latin typeface="Cambria Math" panose="02040503050406030204" pitchFamily="18" charset="0"/>
                                        </a:rPr>
                                        <m:t>𝑡</m:t>
                                      </m:r>
                                    </m:sub>
                                  </m:sSub>
                                  <m:r>
                                    <a:rPr lang="en-ZA" sz="2400" i="1" dirty="0">
                                      <a:solidFill>
                                        <a:srgbClr val="002060"/>
                                      </a:solidFill>
                                      <a:latin typeface="Cambria Math" panose="02040503050406030204" pitchFamily="18" charset="0"/>
                                    </a:rPr>
                                    <m:t>−</m:t>
                                  </m:r>
                                  <m:sSub>
                                    <m:sSubPr>
                                      <m:ctrlPr>
                                        <a:rPr lang="en-ZA" sz="2400" i="1" dirty="0" err="1">
                                          <a:solidFill>
                                            <a:srgbClr val="002060"/>
                                          </a:solidFill>
                                          <a:latin typeface="Cambria Math" panose="02040503050406030204" pitchFamily="18" charset="0"/>
                                        </a:rPr>
                                      </m:ctrlPr>
                                    </m:sSubPr>
                                    <m:e>
                                      <m:r>
                                        <a:rPr lang="en-ZA" sz="2400" i="1" dirty="0">
                                          <a:solidFill>
                                            <a:srgbClr val="002060"/>
                                          </a:solidFill>
                                          <a:latin typeface="Cambria Math" panose="02040503050406030204" pitchFamily="18" charset="0"/>
                                        </a:rPr>
                                        <m:t>𝜇</m:t>
                                      </m:r>
                                    </m:e>
                                    <m:sub>
                                      <m:r>
                                        <a:rPr lang="en-ZA" sz="2400" i="1" dirty="0" err="1">
                                          <a:solidFill>
                                            <a:srgbClr val="002060"/>
                                          </a:solidFill>
                                          <a:latin typeface="Cambria Math" panose="02040503050406030204" pitchFamily="18" charset="0"/>
                                        </a:rPr>
                                        <m:t>𝑘</m:t>
                                      </m:r>
                                    </m:sub>
                                  </m:sSub>
                                </m:e>
                              </m:d>
                              <m:sSup>
                                <m:sSupPr>
                                  <m:ctrlPr>
                                    <a:rPr lang="en-ZA" sz="2400" i="1" dirty="0">
                                      <a:solidFill>
                                        <a:srgbClr val="002060"/>
                                      </a:solidFill>
                                      <a:latin typeface="Cambria Math" panose="02040503050406030204" pitchFamily="18" charset="0"/>
                                    </a:rPr>
                                  </m:ctrlPr>
                                </m:sSupPr>
                                <m:e>
                                  <m:r>
                                    <m:rPr>
                                      <m:lit/>
                                    </m:rPr>
                                    <a:rPr lang="en-ZA" sz="2400" i="1" dirty="0">
                                      <a:solidFill>
                                        <a:srgbClr val="002060"/>
                                      </a:solidFill>
                                      <a:latin typeface="Cambria Math" panose="02040503050406030204" pitchFamily="18" charset="0"/>
                                    </a:rPr>
                                    <m:t>||</m:t>
                                  </m:r>
                                </m:e>
                                <m:sup>
                                  <m:r>
                                    <a:rPr lang="en-ZA" sz="2400" i="1" dirty="0">
                                      <a:solidFill>
                                        <a:srgbClr val="002060"/>
                                      </a:solidFill>
                                      <a:latin typeface="Cambria Math" panose="02040503050406030204" pitchFamily="18" charset="0"/>
                                    </a:rPr>
                                    <m:t>2</m:t>
                                  </m:r>
                                </m:sup>
                              </m:sSup>
                            </m:e>
                          </m:nary>
                        </m:e>
                      </m:nary>
                      <m:r>
                        <a:rPr lang="en-ZA" sz="2400" b="0" i="1" dirty="0" smtClean="0">
                          <a:solidFill>
                            <a:srgbClr val="002060"/>
                          </a:solidFill>
                          <a:latin typeface="Cambria Math" panose="02040503050406030204" pitchFamily="18" charset="0"/>
                        </a:rPr>
                        <m:t>  , </m:t>
                      </m:r>
                      <m:r>
                        <m:rPr>
                          <m:sty m:val="p"/>
                        </m:rPr>
                        <a:rPr lang="en-ZA" sz="2400" b="0" i="1" dirty="0" smtClean="0">
                          <a:solidFill>
                            <a:srgbClr val="002060"/>
                          </a:solidFill>
                          <a:latin typeface="Cambria Math" panose="02040503050406030204" pitchFamily="18" charset="0"/>
                        </a:rPr>
                        <m:t>t</m:t>
                      </m:r>
                      <m:r>
                        <a:rPr lang="en-ZA" sz="2400" b="0" i="1" dirty="0" smtClean="0">
                          <a:solidFill>
                            <a:srgbClr val="002060"/>
                          </a:solidFill>
                          <a:latin typeface="Cambria Math" panose="02040503050406030204" pitchFamily="18" charset="0"/>
                        </a:rPr>
                        <m:t>=</m:t>
                      </m:r>
                      <m:r>
                        <a:rPr lang="en-ZA" sz="2400" b="0" i="1" dirty="0" smtClean="0">
                          <a:solidFill>
                            <a:srgbClr val="002060"/>
                          </a:solidFill>
                          <a:latin typeface="Cambria Math" panose="02040503050406030204" pitchFamily="18" charset="0"/>
                        </a:rPr>
                        <m:t>0</m:t>
                      </m:r>
                      <m:r>
                        <a:rPr lang="en-ZA" sz="2400" b="0" i="1" dirty="0" smtClean="0">
                          <a:solidFill>
                            <a:srgbClr val="002060"/>
                          </a:solidFill>
                          <a:latin typeface="Cambria Math" panose="02040503050406030204" pitchFamily="18" charset="0"/>
                        </a:rPr>
                        <m:t> </m:t>
                      </m:r>
                    </m:oMath>
                  </m:oMathPara>
                </a14:m>
                <a:endParaRPr/>
              </a:p>
            </p:txBody>
          </p:sp>
        </mc:Choice>
        <mc:Fallback xmlns="">
          <p:sp>
            <p:nvSpPr>
              <p:cNvPr id="6" name="TextBox 5">
                <a:extLst>
                  <a:ext uri="{FF2B5EF4-FFF2-40B4-BE49-F238E27FC236}">
                    <a16:creationId xmlns:a16="http://schemas.microsoft.com/office/drawing/2014/main" id="{FD839561-94D9-4F98-12EF-A8F9E4713DD7}"/>
                  </a:ext>
                </a:extLst>
              </p:cNvPr>
              <p:cNvSpPr txBox="1">
                <a:spLocks noRot="1" noChangeAspect="1" noMove="1" noResize="1" noEditPoints="1" noAdjustHandles="1" noChangeArrowheads="1" noChangeShapeType="1" noTextEdit="1"/>
              </p:cNvSpPr>
              <p:nvPr/>
            </p:nvSpPr>
            <p:spPr>
              <a:xfrm>
                <a:off x="456488" y="2324204"/>
                <a:ext cx="5136237" cy="1201867"/>
              </a:xfrm>
              <a:prstGeom prst="rect">
                <a:avLst/>
              </a:prstGeom>
              <a:blipFill>
                <a:blip r:embed="rId5"/>
                <a:stretch>
                  <a:fillRect/>
                </a:stretch>
              </a:blipFill>
            </p:spPr>
            <p:txBody>
              <a:bodyPr/>
              <a:lstStyle/>
              <a:p>
                <a:r>
                  <a:rPr lang="en-ZA">
                    <a:noFill/>
                  </a:rPr>
                  <a:t> </a:t>
                </a:r>
              </a:p>
            </p:txBody>
          </p:sp>
        </mc:Fallback>
      </mc:AlternateContent>
      <p:sp>
        <p:nvSpPr>
          <p:cNvPr id="10" name="TextBox 9">
            <a:extLst>
              <a:ext uri="{FF2B5EF4-FFF2-40B4-BE49-F238E27FC236}">
                <a16:creationId xmlns:a16="http://schemas.microsoft.com/office/drawing/2014/main" id="{58031F61-BF9F-B77A-2AE8-CC90D9EC8659}"/>
              </a:ext>
            </a:extLst>
          </p:cNvPr>
          <p:cNvSpPr txBox="1"/>
          <p:nvPr/>
        </p:nvSpPr>
        <p:spPr>
          <a:xfrm>
            <a:off x="241042" y="4127111"/>
            <a:ext cx="6096000" cy="369332"/>
          </a:xfrm>
          <a:prstGeom prst="rect">
            <a:avLst/>
          </a:prstGeom>
          <a:noFill/>
        </p:spPr>
        <p:txBody>
          <a:bodyPr wrap="square">
            <a:spAutoFit/>
          </a:bodyPr>
          <a:lstStyle/>
          <a:p>
            <a:r>
              <a:rPr lang="en-US" b="1" dirty="0">
                <a:solidFill>
                  <a:srgbClr val="002060"/>
                </a:solidFill>
              </a:rPr>
              <a:t>The algorithm follows these steps:</a:t>
            </a:r>
            <a:endParaRPr lang="en-ZA" b="1" dirty="0">
              <a:solidFill>
                <a:srgbClr val="002060"/>
              </a:solidFill>
            </a:endParaRPr>
          </a:p>
        </p:txBody>
      </p:sp>
      <p:sp>
        <p:nvSpPr>
          <p:cNvPr id="16" name="TextBox 15">
            <a:extLst>
              <a:ext uri="{FF2B5EF4-FFF2-40B4-BE49-F238E27FC236}">
                <a16:creationId xmlns:a16="http://schemas.microsoft.com/office/drawing/2014/main" id="{C740FD5D-D8B9-D8A5-B4C4-B71E31468698}"/>
              </a:ext>
            </a:extLst>
          </p:cNvPr>
          <p:cNvSpPr txBox="1"/>
          <p:nvPr/>
        </p:nvSpPr>
        <p:spPr>
          <a:xfrm>
            <a:off x="315685" y="4496443"/>
            <a:ext cx="6724211" cy="1477328"/>
          </a:xfrm>
          <a:prstGeom prst="rect">
            <a:avLst/>
          </a:prstGeom>
          <a:noFill/>
        </p:spPr>
        <p:txBody>
          <a:bodyPr wrap="square">
            <a:spAutoFit/>
          </a:bodyPr>
          <a:lstStyle/>
          <a:p>
            <a:r>
              <a:rPr lang="en-US" dirty="0">
                <a:solidFill>
                  <a:srgbClr val="002060"/>
                </a:solidFill>
              </a:rPr>
              <a:t>1. Initialize K* centroids.</a:t>
            </a:r>
          </a:p>
          <a:p>
            <a:r>
              <a:rPr lang="en-US" dirty="0">
                <a:solidFill>
                  <a:srgbClr val="002060"/>
                </a:solidFill>
              </a:rPr>
              <a:t>2. Assign each customer  data points to the nearest centroid.</a:t>
            </a:r>
          </a:p>
          <a:p>
            <a:r>
              <a:rPr lang="en-US" dirty="0">
                <a:solidFill>
                  <a:srgbClr val="002060"/>
                </a:solidFill>
              </a:rPr>
              <a:t>3. Recalculate each centroid using assigned customers.</a:t>
            </a:r>
          </a:p>
          <a:p>
            <a:r>
              <a:rPr lang="en-US" dirty="0">
                <a:solidFill>
                  <a:srgbClr val="002060"/>
                </a:solidFill>
              </a:rPr>
              <a:t>4. Repeat until cluster assignments stabilize.</a:t>
            </a:r>
          </a:p>
          <a:p>
            <a:r>
              <a:rPr lang="en-US" dirty="0">
                <a:solidFill>
                  <a:srgbClr val="002060"/>
                </a:solidFill>
              </a:rPr>
              <a:t>5. Store final labels and centroids.</a:t>
            </a:r>
            <a:endParaRPr lang="en-ZA" dirty="0">
              <a:solidFill>
                <a:srgbClr val="002060"/>
              </a:solidFill>
            </a:endParaRPr>
          </a:p>
        </p:txBody>
      </p:sp>
      <p:sp>
        <p:nvSpPr>
          <p:cNvPr id="20" name="TextBox 19">
            <a:extLst>
              <a:ext uri="{FF2B5EF4-FFF2-40B4-BE49-F238E27FC236}">
                <a16:creationId xmlns:a16="http://schemas.microsoft.com/office/drawing/2014/main" id="{045B5FC4-8D93-B150-6AA3-5D5EC487BAA9}"/>
              </a:ext>
            </a:extLst>
          </p:cNvPr>
          <p:cNvSpPr txBox="1"/>
          <p:nvPr/>
        </p:nvSpPr>
        <p:spPr>
          <a:xfrm>
            <a:off x="6893822" y="1395097"/>
            <a:ext cx="4982493" cy="5262979"/>
          </a:xfrm>
          <a:prstGeom prst="rect">
            <a:avLst/>
          </a:prstGeom>
          <a:solidFill>
            <a:schemeClr val="tx1">
              <a:lumMod val="95000"/>
            </a:schemeClr>
          </a:solidFill>
        </p:spPr>
        <p:txBody>
          <a:bodyPr wrap="square">
            <a:spAutoFit/>
          </a:bodyPr>
          <a:lstStyle/>
          <a:p>
            <a:r>
              <a:rPr lang="en-ZA" sz="1050" dirty="0">
                <a:solidFill>
                  <a:schemeClr val="accent1"/>
                </a:solidFill>
              </a:rPr>
              <a:t>Step 1: Load Cycle 0 customer states from the preprocessing table.</a:t>
            </a:r>
          </a:p>
          <a:p>
            <a:endParaRPr lang="en-ZA" sz="1050" dirty="0">
              <a:solidFill>
                <a:schemeClr val="accent1"/>
              </a:solidFill>
            </a:endParaRPr>
          </a:p>
          <a:p>
            <a:r>
              <a:rPr lang="en-ZA" sz="1050" dirty="0">
                <a:solidFill>
                  <a:schemeClr val="accent1"/>
                </a:solidFill>
              </a:rPr>
              <a:t>Step 2: Select training features.</a:t>
            </a:r>
          </a:p>
          <a:p>
            <a:endParaRPr lang="en-ZA" sz="1050" dirty="0">
              <a:solidFill>
                <a:schemeClr val="accent1"/>
              </a:solidFill>
            </a:endParaRPr>
          </a:p>
          <a:p>
            <a:r>
              <a:rPr lang="en-ZA" sz="1050" dirty="0">
                <a:solidFill>
                  <a:schemeClr val="accent1"/>
                </a:solidFill>
              </a:rPr>
              <a:t>        If Dataset A:</a:t>
            </a:r>
          </a:p>
          <a:p>
            <a:r>
              <a:rPr lang="en-ZA" sz="1050" dirty="0">
                <a:solidFill>
                  <a:schemeClr val="accent6"/>
                </a:solidFill>
              </a:rPr>
              <a:t>            Use RFM, cascaded RFM, and selected encoded profile variables</a:t>
            </a:r>
            <a:r>
              <a:rPr lang="en-ZA" sz="1050" dirty="0">
                <a:solidFill>
                  <a:schemeClr val="accent1"/>
                </a:solidFill>
              </a:rPr>
              <a:t>.</a:t>
            </a:r>
          </a:p>
          <a:p>
            <a:r>
              <a:rPr lang="en-ZA" sz="1050" dirty="0">
                <a:solidFill>
                  <a:schemeClr val="accent1"/>
                </a:solidFill>
              </a:rPr>
              <a:t>            Exclude name and contact details.</a:t>
            </a:r>
          </a:p>
          <a:p>
            <a:endParaRPr lang="en-ZA" sz="1050" dirty="0">
              <a:solidFill>
                <a:schemeClr val="accent1"/>
              </a:solidFill>
            </a:endParaRPr>
          </a:p>
          <a:p>
            <a:r>
              <a:rPr lang="en-ZA" sz="1050" dirty="0">
                <a:solidFill>
                  <a:schemeClr val="accent1"/>
                </a:solidFill>
              </a:rPr>
              <a:t>        If Dataset B:</a:t>
            </a:r>
          </a:p>
          <a:p>
            <a:r>
              <a:rPr lang="en-ZA" sz="1050" dirty="0">
                <a:solidFill>
                  <a:schemeClr val="accent1"/>
                </a:solidFill>
              </a:rPr>
              <a:t>            </a:t>
            </a:r>
            <a:r>
              <a:rPr lang="en-ZA" sz="1050" dirty="0">
                <a:solidFill>
                  <a:schemeClr val="accent6"/>
                </a:solidFill>
              </a:rPr>
              <a:t>Use RFM and cascaded RFM features only</a:t>
            </a:r>
            <a:r>
              <a:rPr lang="en-ZA" sz="1050" dirty="0">
                <a:solidFill>
                  <a:schemeClr val="accent1"/>
                </a:solidFill>
              </a:rPr>
              <a:t>.</a:t>
            </a:r>
          </a:p>
          <a:p>
            <a:endParaRPr lang="en-ZA" sz="1050" dirty="0">
              <a:solidFill>
                <a:schemeClr val="accent1"/>
              </a:solidFill>
            </a:endParaRPr>
          </a:p>
          <a:p>
            <a:r>
              <a:rPr lang="en-ZA" sz="1050" dirty="0">
                <a:solidFill>
                  <a:schemeClr val="accent1"/>
                </a:solidFill>
              </a:rPr>
              <a:t>Step 3: Apply required encoding, transformation, and scaling.</a:t>
            </a:r>
          </a:p>
          <a:p>
            <a:endParaRPr lang="en-ZA" sz="1050" dirty="0">
              <a:solidFill>
                <a:schemeClr val="accent1"/>
              </a:solidFill>
            </a:endParaRPr>
          </a:p>
          <a:p>
            <a:r>
              <a:rPr lang="en-ZA" sz="1050" dirty="0">
                <a:solidFill>
                  <a:schemeClr val="accent1"/>
                </a:solidFill>
              </a:rPr>
              <a:t>Step 4: For each candidate K:</a:t>
            </a:r>
          </a:p>
          <a:p>
            <a:r>
              <a:rPr lang="en-ZA" sz="1050" dirty="0">
                <a:solidFill>
                  <a:schemeClr val="accent1"/>
                </a:solidFill>
              </a:rPr>
              <a:t>            </a:t>
            </a:r>
            <a:r>
              <a:rPr lang="en-ZA" sz="1050" dirty="0">
                <a:solidFill>
                  <a:srgbClr val="00B0F0"/>
                </a:solidFill>
              </a:rPr>
              <a:t>Run K-means on Cycle 0 training features.</a:t>
            </a:r>
          </a:p>
          <a:p>
            <a:r>
              <a:rPr lang="en-ZA" sz="1050" dirty="0">
                <a:solidFill>
                  <a:schemeClr val="accent1"/>
                </a:solidFill>
              </a:rPr>
              <a:t>            Calculate WCSS(K).</a:t>
            </a:r>
          </a:p>
          <a:p>
            <a:endParaRPr lang="en-ZA" sz="1050" dirty="0">
              <a:solidFill>
                <a:schemeClr val="accent1"/>
              </a:solidFill>
            </a:endParaRPr>
          </a:p>
          <a:p>
            <a:r>
              <a:rPr lang="en-ZA" sz="1050" dirty="0">
                <a:solidFill>
                  <a:schemeClr val="accent1"/>
                </a:solidFill>
              </a:rPr>
              <a:t>Step 5: </a:t>
            </a:r>
            <a:r>
              <a:rPr lang="en-ZA" sz="1050" dirty="0">
                <a:solidFill>
                  <a:srgbClr val="7030A0"/>
                </a:solidFill>
              </a:rPr>
              <a:t>Plot WCSS values against K</a:t>
            </a:r>
            <a:r>
              <a:rPr lang="en-ZA" sz="1050" dirty="0">
                <a:solidFill>
                  <a:schemeClr val="accent1"/>
                </a:solidFill>
              </a:rPr>
              <a:t>.</a:t>
            </a:r>
          </a:p>
          <a:p>
            <a:endParaRPr lang="en-ZA" sz="1050" dirty="0">
              <a:solidFill>
                <a:schemeClr val="accent1"/>
              </a:solidFill>
            </a:endParaRPr>
          </a:p>
          <a:p>
            <a:r>
              <a:rPr lang="en-ZA" sz="1050" dirty="0">
                <a:solidFill>
                  <a:schemeClr val="accent1"/>
                </a:solidFill>
              </a:rPr>
              <a:t>Step 6: </a:t>
            </a:r>
            <a:r>
              <a:rPr lang="en-ZA" sz="1050" dirty="0">
                <a:solidFill>
                  <a:srgbClr val="00B0F0"/>
                </a:solidFill>
              </a:rPr>
              <a:t>Select K* at the elbow point</a:t>
            </a:r>
            <a:r>
              <a:rPr lang="en-ZA" sz="1050" dirty="0">
                <a:solidFill>
                  <a:schemeClr val="accent1"/>
                </a:solidFill>
              </a:rPr>
              <a:t>.</a:t>
            </a:r>
          </a:p>
          <a:p>
            <a:endParaRPr lang="en-ZA" sz="1050" dirty="0">
              <a:solidFill>
                <a:schemeClr val="accent1"/>
              </a:solidFill>
            </a:endParaRPr>
          </a:p>
          <a:p>
            <a:r>
              <a:rPr lang="en-ZA" sz="1050" dirty="0">
                <a:solidFill>
                  <a:schemeClr val="accent1"/>
                </a:solidFill>
              </a:rPr>
              <a:t>Step 7: Run final K-means using selected K*.</a:t>
            </a:r>
          </a:p>
          <a:p>
            <a:r>
              <a:rPr lang="en-ZA" sz="1050" dirty="0">
                <a:solidFill>
                  <a:schemeClr val="accent1"/>
                </a:solidFill>
              </a:rPr>
              <a:t>Step 8: </a:t>
            </a:r>
            <a:r>
              <a:rPr lang="en-ZA" sz="1050" dirty="0">
                <a:solidFill>
                  <a:srgbClr val="7030A0"/>
                </a:solidFill>
              </a:rPr>
              <a:t>Store baseline outputs in Cycle0_Segmentation:</a:t>
            </a:r>
          </a:p>
          <a:p>
            <a:r>
              <a:rPr lang="en-ZA" sz="1050" dirty="0">
                <a:solidFill>
                  <a:schemeClr val="accent1"/>
                </a:solidFill>
              </a:rPr>
              <a:t>            CustomerID</a:t>
            </a:r>
          </a:p>
          <a:p>
            <a:r>
              <a:rPr lang="en-ZA" sz="1050" dirty="0">
                <a:solidFill>
                  <a:schemeClr val="accent1"/>
                </a:solidFill>
              </a:rPr>
              <a:t>            ClusterLabel</a:t>
            </a:r>
          </a:p>
          <a:p>
            <a:r>
              <a:rPr lang="en-ZA" sz="1050" dirty="0">
                <a:solidFill>
                  <a:schemeClr val="accent1"/>
                </a:solidFill>
              </a:rPr>
              <a:t>            </a:t>
            </a:r>
            <a:r>
              <a:rPr lang="en-ZA" sz="1050" dirty="0" err="1">
                <a:solidFill>
                  <a:schemeClr val="accent1"/>
                </a:solidFill>
              </a:rPr>
              <a:t>SegmentLabel</a:t>
            </a:r>
            <a:endParaRPr lang="en-ZA" sz="1050" dirty="0">
              <a:solidFill>
                <a:schemeClr val="accent1"/>
              </a:solidFill>
            </a:endParaRPr>
          </a:p>
          <a:p>
            <a:r>
              <a:rPr lang="en-ZA" sz="1050" dirty="0">
                <a:solidFill>
                  <a:schemeClr val="accent1"/>
                </a:solidFill>
              </a:rPr>
              <a:t>            InitialCentroid</a:t>
            </a:r>
          </a:p>
          <a:p>
            <a:r>
              <a:rPr lang="en-ZA" sz="1050" dirty="0">
                <a:solidFill>
                  <a:schemeClr val="accent1"/>
                </a:solidFill>
              </a:rPr>
              <a:t>            WCSS</a:t>
            </a:r>
          </a:p>
          <a:p>
            <a:r>
              <a:rPr lang="en-ZA" sz="1050" dirty="0">
                <a:solidFill>
                  <a:schemeClr val="accent1"/>
                </a:solidFill>
              </a:rPr>
              <a:t>            </a:t>
            </a:r>
            <a:r>
              <a:rPr lang="en-ZA" sz="1050" dirty="0" err="1">
                <a:solidFill>
                  <a:schemeClr val="accent1"/>
                </a:solidFill>
              </a:rPr>
              <a:t>SelectedK</a:t>
            </a:r>
            <a:endParaRPr lang="en-ZA" sz="1050" dirty="0">
              <a:solidFill>
                <a:schemeClr val="accent1"/>
              </a:solidFill>
            </a:endParaRPr>
          </a:p>
          <a:p>
            <a:r>
              <a:rPr lang="en-ZA" sz="1050" dirty="0">
                <a:solidFill>
                  <a:schemeClr val="accent1"/>
                </a:solidFill>
              </a:rPr>
              <a:t>Return:</a:t>
            </a:r>
          </a:p>
          <a:p>
            <a:r>
              <a:rPr lang="en-ZA" sz="1050" dirty="0">
                <a:solidFill>
                  <a:schemeClr val="accent1"/>
                </a:solidFill>
              </a:rPr>
              <a:t>    Baseline K-means segmentation ready for final evaluation and dynamic updating.</a:t>
            </a:r>
          </a:p>
        </p:txBody>
      </p:sp>
      <p:sp>
        <p:nvSpPr>
          <p:cNvPr id="23" name="TextBox 22">
            <a:extLst>
              <a:ext uri="{FF2B5EF4-FFF2-40B4-BE49-F238E27FC236}">
                <a16:creationId xmlns:a16="http://schemas.microsoft.com/office/drawing/2014/main" id="{87434F25-EE6B-9F6B-BB13-7874E593634E}"/>
              </a:ext>
            </a:extLst>
          </p:cNvPr>
          <p:cNvSpPr txBox="1"/>
          <p:nvPr/>
        </p:nvSpPr>
        <p:spPr>
          <a:xfrm>
            <a:off x="6893821" y="984753"/>
            <a:ext cx="2806769" cy="369332"/>
          </a:xfrm>
          <a:prstGeom prst="rect">
            <a:avLst/>
          </a:prstGeom>
          <a:noFill/>
        </p:spPr>
        <p:txBody>
          <a:bodyPr wrap="square">
            <a:spAutoFit/>
          </a:bodyPr>
          <a:lstStyle/>
          <a:p>
            <a:r>
              <a:rPr lang="en-US" b="1" dirty="0">
                <a:solidFill>
                  <a:srgbClr val="002060"/>
                </a:solidFill>
              </a:rPr>
              <a:t>The Full  algorithm</a:t>
            </a:r>
            <a:endParaRPr lang="en-ZA" dirty="0"/>
          </a:p>
        </p:txBody>
      </p:sp>
      <p:sp>
        <p:nvSpPr>
          <p:cNvPr id="25" name="TextBox 24">
            <a:extLst>
              <a:ext uri="{FF2B5EF4-FFF2-40B4-BE49-F238E27FC236}">
                <a16:creationId xmlns:a16="http://schemas.microsoft.com/office/drawing/2014/main" id="{43910262-BC60-1F0A-86AE-4EF0439E2329}"/>
              </a:ext>
            </a:extLst>
          </p:cNvPr>
          <p:cNvSpPr txBox="1"/>
          <p:nvPr/>
        </p:nvSpPr>
        <p:spPr>
          <a:xfrm>
            <a:off x="315685" y="6276904"/>
            <a:ext cx="6376069" cy="307777"/>
          </a:xfrm>
          <a:prstGeom prst="rect">
            <a:avLst/>
          </a:prstGeom>
          <a:noFill/>
        </p:spPr>
        <p:txBody>
          <a:bodyPr wrap="square">
            <a:spAutoFit/>
          </a:bodyPr>
          <a:lstStyle/>
          <a:p>
            <a:r>
              <a:rPr lang="en-US" sz="1400" b="1" dirty="0">
                <a:solidFill>
                  <a:schemeClr val="bg1"/>
                </a:solidFill>
                <a:latin typeface="+mj-lt"/>
              </a:rPr>
              <a:t>The final K-means outputs are stored in the Cycle0_Segmentation  Database table.</a:t>
            </a:r>
            <a:endParaRPr lang="en-ZA" sz="1400" b="1" dirty="0">
              <a:solidFill>
                <a:schemeClr val="bg1"/>
              </a:solidFill>
              <a:latin typeface="+mj-lt"/>
            </a:endParaRPr>
          </a:p>
        </p:txBody>
      </p:sp>
    </p:spTree>
    <p:extLst>
      <p:ext uri="{BB962C8B-B14F-4D97-AF65-F5344CB8AC3E}">
        <p14:creationId xmlns:p14="http://schemas.microsoft.com/office/powerpoint/2010/main" val="1224895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6ECA554-E681-5194-74EA-C75E29D260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DF31D5-6DF9-A29C-F927-0438DE7C02A4}"/>
              </a:ext>
            </a:extLst>
          </p:cNvPr>
          <p:cNvSpPr>
            <a:spLocks noGrp="1"/>
          </p:cNvSpPr>
          <p:nvPr>
            <p:ph type="title"/>
          </p:nvPr>
        </p:nvSpPr>
        <p:spPr>
          <a:xfrm>
            <a:off x="315686" y="95553"/>
            <a:ext cx="9494236" cy="530614"/>
          </a:xfrm>
        </p:spPr>
        <p:txBody>
          <a:bodyPr>
            <a:noAutofit/>
          </a:bodyPr>
          <a:lstStyle/>
          <a:p>
            <a:r>
              <a:rPr lang="en-ZA" sz="3200" b="1" dirty="0">
                <a:solidFill>
                  <a:srgbClr val="002060"/>
                </a:solidFill>
                <a:latin typeface="Arial Black" panose="020B0A04020102020204" pitchFamily="34" charset="0"/>
              </a:rPr>
              <a:t>Initial Baseline K-means </a:t>
            </a:r>
            <a:r>
              <a:rPr lang="en-ZA" sz="2400" b="1" dirty="0">
                <a:solidFill>
                  <a:srgbClr val="002060"/>
                </a:solidFill>
              </a:rPr>
              <a:t>– </a:t>
            </a:r>
            <a:r>
              <a:rPr lang="en-US" sz="2800" b="1" dirty="0">
                <a:solidFill>
                  <a:srgbClr val="002060"/>
                </a:solidFill>
              </a:rPr>
              <a:t>Output  and Evaluation </a:t>
            </a:r>
            <a:endParaRPr lang="en-ZA" sz="2800" b="1" dirty="0">
              <a:solidFill>
                <a:srgbClr val="002060"/>
              </a:solidFill>
            </a:endParaRPr>
          </a:p>
        </p:txBody>
      </p:sp>
      <p:sp>
        <p:nvSpPr>
          <p:cNvPr id="4" name="TextBox 3">
            <a:extLst>
              <a:ext uri="{FF2B5EF4-FFF2-40B4-BE49-F238E27FC236}">
                <a16:creationId xmlns:a16="http://schemas.microsoft.com/office/drawing/2014/main" id="{6C2F9973-D233-4659-4FA4-5D8B4EB9E3E6}"/>
              </a:ext>
            </a:extLst>
          </p:cNvPr>
          <p:cNvSpPr txBox="1"/>
          <p:nvPr/>
        </p:nvSpPr>
        <p:spPr>
          <a:xfrm>
            <a:off x="189005" y="1222816"/>
            <a:ext cx="6360882" cy="523220"/>
          </a:xfrm>
          <a:prstGeom prst="rect">
            <a:avLst/>
          </a:prstGeom>
          <a:noFill/>
        </p:spPr>
        <p:txBody>
          <a:bodyPr wrap="square">
            <a:spAutoFit/>
          </a:bodyPr>
          <a:lstStyle/>
          <a:p>
            <a:r>
              <a:rPr lang="en-US" sz="1400" dirty="0">
                <a:solidFill>
                  <a:schemeClr val="bg2"/>
                </a:solidFill>
              </a:rPr>
              <a:t>The Silhouette Score is used to evaluate the quality of the final K-means baseline clusters after the optimal K*  was selected and the model was applied.</a:t>
            </a:r>
          </a:p>
        </p:txBody>
      </p:sp>
      <p:sp>
        <p:nvSpPr>
          <p:cNvPr id="10" name="TextBox 9">
            <a:extLst>
              <a:ext uri="{FF2B5EF4-FFF2-40B4-BE49-F238E27FC236}">
                <a16:creationId xmlns:a16="http://schemas.microsoft.com/office/drawing/2014/main" id="{86FBF766-42CD-71E7-07BA-82C6D8141687}"/>
              </a:ext>
            </a:extLst>
          </p:cNvPr>
          <p:cNvSpPr txBox="1"/>
          <p:nvPr/>
        </p:nvSpPr>
        <p:spPr>
          <a:xfrm>
            <a:off x="245165" y="811730"/>
            <a:ext cx="6096000" cy="369332"/>
          </a:xfrm>
          <a:prstGeom prst="rect">
            <a:avLst/>
          </a:prstGeom>
          <a:noFill/>
        </p:spPr>
        <p:txBody>
          <a:bodyPr wrap="square">
            <a:spAutoFit/>
          </a:bodyPr>
          <a:lstStyle/>
          <a:p>
            <a:r>
              <a:rPr lang="en-US" b="1" dirty="0">
                <a:solidFill>
                  <a:srgbClr val="002060"/>
                </a:solidFill>
              </a:rPr>
              <a:t>Model Evaluation Using Silhouette Score</a:t>
            </a:r>
            <a:endParaRPr lang="en-ZA" b="1" dirty="0">
              <a:solidFill>
                <a:srgbClr val="002060"/>
              </a:solidFill>
            </a:endParaRPr>
          </a:p>
        </p:txBody>
      </p:sp>
      <p:graphicFrame>
        <p:nvGraphicFramePr>
          <p:cNvPr id="3" name="Table 2">
            <a:extLst>
              <a:ext uri="{FF2B5EF4-FFF2-40B4-BE49-F238E27FC236}">
                <a16:creationId xmlns:a16="http://schemas.microsoft.com/office/drawing/2014/main" id="{1E89F53C-5B5E-6887-D0DE-C33B4E4231F9}"/>
              </a:ext>
            </a:extLst>
          </p:cNvPr>
          <p:cNvGraphicFramePr>
            <a:graphicFrameLocks noGrp="1"/>
          </p:cNvGraphicFramePr>
          <p:nvPr>
            <p:extLst>
              <p:ext uri="{D42A27DB-BD31-4B8C-83A1-F6EECF244321}">
                <p14:modId xmlns:p14="http://schemas.microsoft.com/office/powerpoint/2010/main" val="1661520217"/>
              </p:ext>
            </p:extLst>
          </p:nvPr>
        </p:nvGraphicFramePr>
        <p:xfrm>
          <a:off x="189005" y="3719769"/>
          <a:ext cx="6152160" cy="548640"/>
        </p:xfrm>
        <a:graphic>
          <a:graphicData uri="http://schemas.openxmlformats.org/drawingml/2006/table">
            <a:tbl>
              <a:tblPr>
                <a:tableStyleId>{D7AC3CCA-C797-4891-BE02-D94E43425B78}</a:tableStyleId>
              </a:tblPr>
              <a:tblGrid>
                <a:gridCol w="1656522">
                  <a:extLst>
                    <a:ext uri="{9D8B030D-6E8A-4147-A177-3AD203B41FA5}">
                      <a16:colId xmlns:a16="http://schemas.microsoft.com/office/drawing/2014/main" val="4179453575"/>
                    </a:ext>
                  </a:extLst>
                </a:gridCol>
                <a:gridCol w="4495638">
                  <a:extLst>
                    <a:ext uri="{9D8B030D-6E8A-4147-A177-3AD203B41FA5}">
                      <a16:colId xmlns:a16="http://schemas.microsoft.com/office/drawing/2014/main" val="3092925377"/>
                    </a:ext>
                  </a:extLst>
                </a:gridCol>
              </a:tblGrid>
              <a:tr h="0">
                <a:tc>
                  <a:txBody>
                    <a:bodyPr/>
                    <a:lstStyle/>
                    <a:p>
                      <a:pPr>
                        <a:buNone/>
                      </a:pPr>
                      <a:r>
                        <a:rPr lang="en-ZA" sz="1200" b="1" dirty="0"/>
                        <a:t>Cohesion</a:t>
                      </a:r>
                      <a:endParaRPr lang="en-ZA" sz="1200" dirty="0"/>
                    </a:p>
                  </a:txBody>
                  <a:tcPr anchor="ctr"/>
                </a:tc>
                <a:tc>
                  <a:txBody>
                    <a:bodyPr/>
                    <a:lstStyle/>
                    <a:p>
                      <a:pPr>
                        <a:buNone/>
                      </a:pPr>
                      <a:r>
                        <a:rPr lang="en-US" sz="1200" dirty="0"/>
                        <a:t>How close a customer is to other customers in the same cluster</a:t>
                      </a:r>
                    </a:p>
                  </a:txBody>
                  <a:tcPr anchor="ctr"/>
                </a:tc>
                <a:extLst>
                  <a:ext uri="{0D108BD9-81ED-4DB2-BD59-A6C34878D82A}">
                    <a16:rowId xmlns:a16="http://schemas.microsoft.com/office/drawing/2014/main" val="2287929997"/>
                  </a:ext>
                </a:extLst>
              </a:tr>
              <a:tr h="0">
                <a:tc>
                  <a:txBody>
                    <a:bodyPr/>
                    <a:lstStyle/>
                    <a:p>
                      <a:pPr>
                        <a:buNone/>
                      </a:pPr>
                      <a:r>
                        <a:rPr lang="en-ZA" sz="1200" b="1"/>
                        <a:t>Separation</a:t>
                      </a:r>
                      <a:endParaRPr lang="en-ZA" sz="1200"/>
                    </a:p>
                  </a:txBody>
                  <a:tcPr anchor="ctr"/>
                </a:tc>
                <a:tc>
                  <a:txBody>
                    <a:bodyPr/>
                    <a:lstStyle/>
                    <a:p>
                      <a:pPr>
                        <a:buNone/>
                      </a:pPr>
                      <a:r>
                        <a:rPr lang="en-US" sz="1200" dirty="0"/>
                        <a:t>How far a customer is from customers in the nearest other cluster</a:t>
                      </a:r>
                    </a:p>
                  </a:txBody>
                  <a:tcPr anchor="ctr"/>
                </a:tc>
                <a:extLst>
                  <a:ext uri="{0D108BD9-81ED-4DB2-BD59-A6C34878D82A}">
                    <a16:rowId xmlns:a16="http://schemas.microsoft.com/office/drawing/2014/main" val="3768892496"/>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B0D0AB4-9A6A-987F-2ED2-45B33C481C1E}"/>
                  </a:ext>
                </a:extLst>
              </p:cNvPr>
              <p:cNvSpPr txBox="1"/>
              <p:nvPr/>
            </p:nvSpPr>
            <p:spPr>
              <a:xfrm>
                <a:off x="37271" y="1912426"/>
                <a:ext cx="2653586" cy="67967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ZA" i="1" dirty="0" smtClean="0">
                          <a:solidFill>
                            <a:srgbClr val="002060"/>
                          </a:solidFill>
                          <a:latin typeface="Cambria Math" panose="02040503050406030204" pitchFamily="18" charset="0"/>
                        </a:rPr>
                        <m:t>𝑠</m:t>
                      </m:r>
                      <m:d>
                        <m:dPr>
                          <m:ctrlPr>
                            <a:rPr lang="en-ZA" i="1" dirty="0" smtClean="0">
                              <a:solidFill>
                                <a:srgbClr val="002060"/>
                              </a:solidFill>
                              <a:latin typeface="Cambria Math" panose="02040503050406030204" pitchFamily="18" charset="0"/>
                            </a:rPr>
                          </m:ctrlPr>
                        </m:dPr>
                        <m:e>
                          <m:r>
                            <a:rPr lang="en-ZA" i="1" dirty="0" err="1">
                              <a:solidFill>
                                <a:srgbClr val="002060"/>
                              </a:solidFill>
                              <a:latin typeface="Cambria Math" panose="02040503050406030204" pitchFamily="18" charset="0"/>
                            </a:rPr>
                            <m:t>𝑖</m:t>
                          </m:r>
                        </m:e>
                      </m:d>
                      <m:r>
                        <a:rPr lang="en-ZA" i="1" dirty="0">
                          <a:solidFill>
                            <a:srgbClr val="002060"/>
                          </a:solidFill>
                          <a:latin typeface="Cambria Math" panose="02040503050406030204" pitchFamily="18" charset="0"/>
                        </a:rPr>
                        <m:t>=</m:t>
                      </m:r>
                      <m:f>
                        <m:fPr>
                          <m:ctrlPr>
                            <a:rPr lang="en-ZA" i="1" dirty="0" smtClean="0">
                              <a:solidFill>
                                <a:srgbClr val="002060"/>
                              </a:solidFill>
                              <a:latin typeface="Cambria Math" panose="02040503050406030204" pitchFamily="18" charset="0"/>
                            </a:rPr>
                          </m:ctrlPr>
                        </m:fPr>
                        <m:num>
                          <m:r>
                            <a:rPr lang="en-ZA" i="1" dirty="0">
                              <a:solidFill>
                                <a:srgbClr val="002060"/>
                              </a:solidFill>
                              <a:latin typeface="Cambria Math" panose="02040503050406030204" pitchFamily="18" charset="0"/>
                            </a:rPr>
                            <m:t>𝑏</m:t>
                          </m:r>
                          <m:d>
                            <m:dPr>
                              <m:ctrlPr>
                                <a:rPr lang="en-ZA" i="1" dirty="0">
                                  <a:solidFill>
                                    <a:srgbClr val="002060"/>
                                  </a:solidFill>
                                  <a:latin typeface="Cambria Math" panose="02040503050406030204" pitchFamily="18" charset="0"/>
                                </a:rPr>
                              </m:ctrlPr>
                            </m:dPr>
                            <m:e>
                              <m:r>
                                <a:rPr lang="en-ZA" i="1" dirty="0" err="1">
                                  <a:solidFill>
                                    <a:srgbClr val="002060"/>
                                  </a:solidFill>
                                  <a:latin typeface="Cambria Math" panose="02040503050406030204" pitchFamily="18" charset="0"/>
                                </a:rPr>
                                <m:t>𝑖</m:t>
                              </m:r>
                            </m:e>
                          </m:d>
                          <m:r>
                            <a:rPr lang="en-ZA" i="1" dirty="0">
                              <a:solidFill>
                                <a:srgbClr val="002060"/>
                              </a:solidFill>
                              <a:latin typeface="Cambria Math" panose="02040503050406030204" pitchFamily="18" charset="0"/>
                            </a:rPr>
                            <m:t>−</m:t>
                          </m:r>
                          <m:r>
                            <a:rPr lang="en-ZA" i="1" dirty="0">
                              <a:solidFill>
                                <a:srgbClr val="002060"/>
                              </a:solidFill>
                              <a:latin typeface="Cambria Math" panose="02040503050406030204" pitchFamily="18" charset="0"/>
                            </a:rPr>
                            <m:t>𝑎</m:t>
                          </m:r>
                          <m:d>
                            <m:dPr>
                              <m:ctrlPr>
                                <a:rPr lang="en-ZA" i="1" dirty="0">
                                  <a:solidFill>
                                    <a:srgbClr val="002060"/>
                                  </a:solidFill>
                                  <a:latin typeface="Cambria Math" panose="02040503050406030204" pitchFamily="18" charset="0"/>
                                </a:rPr>
                              </m:ctrlPr>
                            </m:dPr>
                            <m:e>
                              <m:r>
                                <a:rPr lang="en-ZA" i="1" dirty="0" err="1">
                                  <a:solidFill>
                                    <a:srgbClr val="002060"/>
                                  </a:solidFill>
                                  <a:latin typeface="Cambria Math" panose="02040503050406030204" pitchFamily="18" charset="0"/>
                                </a:rPr>
                                <m:t>𝑖</m:t>
                              </m:r>
                            </m:e>
                          </m:d>
                          <m:r>
                            <a:rPr lang="en-ZA" i="1" dirty="0">
                              <a:solidFill>
                                <a:srgbClr val="002060"/>
                              </a:solidFill>
                              <a:latin typeface="Cambria Math" panose="02040503050406030204" pitchFamily="18" charset="0"/>
                            </a:rPr>
                            <m:t>​</m:t>
                          </m:r>
                        </m:num>
                        <m:den>
                          <m:r>
                            <a:rPr lang="en-ZA" i="1" dirty="0">
                              <a:solidFill>
                                <a:srgbClr val="002060"/>
                              </a:solidFill>
                              <a:latin typeface="Cambria Math" panose="02040503050406030204" pitchFamily="18" charset="0"/>
                            </a:rPr>
                            <m:t>𝑚𝑎</m:t>
                          </m:r>
                          <m:func>
                            <m:funcPr>
                              <m:ctrlPr>
                                <a:rPr lang="en-ZA" i="1" dirty="0">
                                  <a:solidFill>
                                    <a:srgbClr val="002060"/>
                                  </a:solidFill>
                                  <a:latin typeface="Cambria Math" panose="02040503050406030204" pitchFamily="18" charset="0"/>
                                </a:rPr>
                              </m:ctrlPr>
                            </m:funcPr>
                            <m:fName>
                              <m:r>
                                <a:rPr lang="en-ZA" i="1" dirty="0">
                                  <a:solidFill>
                                    <a:srgbClr val="002060"/>
                                  </a:solidFill>
                                  <a:latin typeface="Cambria Math" panose="02040503050406030204" pitchFamily="18" charset="0"/>
                                </a:rPr>
                                <m:t>𝑥</m:t>
                              </m:r>
                            </m:fName>
                            <m:e>
                              <m:r>
                                <a:rPr lang="en-ZA" b="0" i="1" dirty="0" smtClean="0">
                                  <a:solidFill>
                                    <a:srgbClr val="002060"/>
                                  </a:solidFill>
                                  <a:latin typeface="Cambria Math" panose="02040503050406030204" pitchFamily="18" charset="0"/>
                                </a:rPr>
                                <m:t>{</m:t>
                              </m:r>
                              <m:r>
                                <a:rPr lang="en-ZA" i="1" dirty="0">
                                  <a:solidFill>
                                    <a:srgbClr val="002060"/>
                                  </a:solidFill>
                                  <a:latin typeface="Cambria Math" panose="02040503050406030204" pitchFamily="18" charset="0"/>
                                </a:rPr>
                                <m:t>𝑎</m:t>
                              </m:r>
                              <m:d>
                                <m:dPr>
                                  <m:ctrlPr>
                                    <a:rPr lang="en-ZA" i="1" dirty="0">
                                      <a:solidFill>
                                        <a:srgbClr val="002060"/>
                                      </a:solidFill>
                                      <a:latin typeface="Cambria Math" panose="02040503050406030204" pitchFamily="18" charset="0"/>
                                    </a:rPr>
                                  </m:ctrlPr>
                                </m:dPr>
                                <m:e>
                                  <m:r>
                                    <a:rPr lang="en-ZA" i="1" dirty="0" err="1">
                                      <a:solidFill>
                                        <a:srgbClr val="002060"/>
                                      </a:solidFill>
                                      <a:latin typeface="Cambria Math" panose="02040503050406030204" pitchFamily="18" charset="0"/>
                                    </a:rPr>
                                    <m:t>𝑖</m:t>
                                  </m:r>
                                </m:e>
                              </m:d>
                              <m:r>
                                <a:rPr lang="en-ZA" i="1" dirty="0">
                                  <a:solidFill>
                                    <a:srgbClr val="002060"/>
                                  </a:solidFill>
                                  <a:latin typeface="Cambria Math" panose="02040503050406030204" pitchFamily="18" charset="0"/>
                                </a:rPr>
                                <m:t>,</m:t>
                              </m:r>
                              <m:r>
                                <a:rPr lang="en-ZA" i="1" dirty="0">
                                  <a:solidFill>
                                    <a:srgbClr val="002060"/>
                                  </a:solidFill>
                                  <a:latin typeface="Cambria Math" panose="02040503050406030204" pitchFamily="18" charset="0"/>
                                </a:rPr>
                                <m:t>𝑏</m:t>
                              </m:r>
                              <m:d>
                                <m:dPr>
                                  <m:ctrlPr>
                                    <a:rPr lang="en-ZA" i="1" dirty="0">
                                      <a:solidFill>
                                        <a:srgbClr val="002060"/>
                                      </a:solidFill>
                                      <a:latin typeface="Cambria Math" panose="02040503050406030204" pitchFamily="18" charset="0"/>
                                    </a:rPr>
                                  </m:ctrlPr>
                                </m:dPr>
                                <m:e>
                                  <m:r>
                                    <a:rPr lang="en-ZA" i="1" dirty="0" err="1">
                                      <a:solidFill>
                                        <a:srgbClr val="002060"/>
                                      </a:solidFill>
                                      <a:latin typeface="Cambria Math" panose="02040503050406030204" pitchFamily="18" charset="0"/>
                                    </a:rPr>
                                    <m:t>𝑖</m:t>
                                  </m:r>
                                </m:e>
                              </m:d>
                            </m:e>
                          </m:func>
                          <m:r>
                            <a:rPr lang="en-ZA" b="0" i="1" dirty="0" smtClean="0">
                              <a:solidFill>
                                <a:srgbClr val="002060"/>
                              </a:solidFill>
                              <a:latin typeface="Cambria Math" panose="02040503050406030204" pitchFamily="18" charset="0"/>
                            </a:rPr>
                            <m:t>}</m:t>
                          </m:r>
                        </m:den>
                      </m:f>
                    </m:oMath>
                  </m:oMathPara>
                </a14:m>
                <a:endParaRPr/>
              </a:p>
            </p:txBody>
          </p:sp>
        </mc:Choice>
        <mc:Fallback xmlns="">
          <p:sp>
            <p:nvSpPr>
              <p:cNvPr id="8" name="TextBox 7">
                <a:extLst>
                  <a:ext uri="{FF2B5EF4-FFF2-40B4-BE49-F238E27FC236}">
                    <a16:creationId xmlns:a16="http://schemas.microsoft.com/office/drawing/2014/main" id="{AB0D0AB4-9A6A-987F-2ED2-45B33C481C1E}"/>
                  </a:ext>
                </a:extLst>
              </p:cNvPr>
              <p:cNvSpPr txBox="1">
                <a:spLocks noRot="1" noChangeAspect="1" noMove="1" noResize="1" noEditPoints="1" noAdjustHandles="1" noChangeArrowheads="1" noChangeShapeType="1" noTextEdit="1"/>
              </p:cNvSpPr>
              <p:nvPr/>
            </p:nvSpPr>
            <p:spPr>
              <a:xfrm>
                <a:off x="37271" y="1912426"/>
                <a:ext cx="2653586" cy="679673"/>
              </a:xfrm>
              <a:prstGeom prst="rect">
                <a:avLst/>
              </a:prstGeom>
              <a:blipFill>
                <a:blip r:embed="rId3"/>
                <a:stretch>
                  <a:fillRect/>
                </a:stretch>
              </a:blipFill>
            </p:spPr>
            <p:txBody>
              <a:bodyPr/>
              <a:lstStyle/>
              <a:p>
                <a:r>
                  <a:rPr lang="en-ZA">
                    <a:noFill/>
                  </a:rPr>
                  <a:t> </a:t>
                </a:r>
              </a:p>
            </p:txBody>
          </p:sp>
        </mc:Fallback>
      </mc:AlternateContent>
      <p:sp>
        <p:nvSpPr>
          <p:cNvPr id="12" name="TextBox 11">
            <a:extLst>
              <a:ext uri="{FF2B5EF4-FFF2-40B4-BE49-F238E27FC236}">
                <a16:creationId xmlns:a16="http://schemas.microsoft.com/office/drawing/2014/main" id="{E23BCFCD-C3CB-1DCA-8465-25A7C9DEE59B}"/>
              </a:ext>
            </a:extLst>
          </p:cNvPr>
          <p:cNvSpPr txBox="1"/>
          <p:nvPr/>
        </p:nvSpPr>
        <p:spPr>
          <a:xfrm>
            <a:off x="111916" y="3287821"/>
            <a:ext cx="1670231" cy="369332"/>
          </a:xfrm>
          <a:prstGeom prst="rect">
            <a:avLst/>
          </a:prstGeom>
          <a:noFill/>
        </p:spPr>
        <p:txBody>
          <a:bodyPr wrap="square">
            <a:spAutoFit/>
          </a:bodyPr>
          <a:lstStyle/>
          <a:p>
            <a:r>
              <a:rPr lang="en-US" dirty="0">
                <a:solidFill>
                  <a:schemeClr val="bg2"/>
                </a:solidFill>
              </a:rPr>
              <a:t>It measures: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31A1725-14D2-77F5-4F4F-87D3187D3483}"/>
                  </a:ext>
                </a:extLst>
              </p:cNvPr>
              <p:cNvSpPr txBox="1"/>
              <p:nvPr/>
            </p:nvSpPr>
            <p:spPr>
              <a:xfrm>
                <a:off x="2625542" y="1787790"/>
                <a:ext cx="4650209" cy="276999"/>
              </a:xfrm>
              <a:prstGeom prst="rect">
                <a:avLst/>
              </a:prstGeom>
              <a:noFill/>
            </p:spPr>
            <p:txBody>
              <a:bodyPr wrap="square">
                <a:spAutoFit/>
              </a:bodyPr>
              <a:lstStyle/>
              <a:p>
                <a14:m>
                  <m:oMath xmlns:m="http://schemas.openxmlformats.org/officeDocument/2006/math">
                    <m:r>
                      <a:rPr lang="en-ZA" sz="1200" i="1" dirty="0" smtClean="0">
                        <a:solidFill>
                          <a:schemeClr val="accent5"/>
                        </a:solidFill>
                        <a:latin typeface="Cambria Math" panose="02040503050406030204" pitchFamily="18" charset="0"/>
                      </a:rPr>
                      <m:t>𝑠</m:t>
                    </m:r>
                    <m:d>
                      <m:dPr>
                        <m:ctrlPr>
                          <a:rPr lang="en-ZA" sz="1200" i="1" dirty="0" smtClean="0">
                            <a:solidFill>
                              <a:schemeClr val="accent5"/>
                            </a:solidFill>
                            <a:latin typeface="Cambria Math" panose="02040503050406030204" pitchFamily="18" charset="0"/>
                          </a:rPr>
                        </m:ctrlPr>
                      </m:dPr>
                      <m:e>
                        <m:r>
                          <a:rPr lang="en-ZA" sz="1200" i="1" dirty="0" err="1">
                            <a:solidFill>
                              <a:schemeClr val="accent5"/>
                            </a:solidFill>
                            <a:latin typeface="Cambria Math" panose="02040503050406030204" pitchFamily="18" charset="0"/>
                          </a:rPr>
                          <m:t>𝑖</m:t>
                        </m:r>
                      </m:e>
                    </m:d>
                    <m:r>
                      <a:rPr lang="en-ZA" sz="1200" b="0" i="1" dirty="0" smtClean="0">
                        <a:solidFill>
                          <a:schemeClr val="accent5"/>
                        </a:solidFill>
                        <a:latin typeface="Cambria Math" panose="02040503050406030204" pitchFamily="18" charset="0"/>
                      </a:rPr>
                      <m:t> :  </m:t>
                    </m:r>
                  </m:oMath>
                </a14:m>
                <a:r>
                  <a:rPr lang="en-US" sz="1200" i="1" dirty="0">
                    <a:solidFill>
                      <a:schemeClr val="accent5"/>
                    </a:solidFill>
                  </a:rPr>
                  <a:t>Silhouette score of customer (</a:t>
                </a:r>
                <a:r>
                  <a:rPr lang="en-US" sz="1200" i="1" dirty="0" err="1">
                    <a:solidFill>
                      <a:schemeClr val="accent5"/>
                    </a:solidFill>
                  </a:rPr>
                  <a:t>i</a:t>
                </a:r>
                <a:r>
                  <a:rPr lang="en-US" sz="1200" i="1" dirty="0">
                    <a:solidFill>
                      <a:schemeClr val="accent5"/>
                    </a:solidFill>
                  </a:rPr>
                  <a:t>)</a:t>
                </a:r>
                <a:endParaRPr lang="en-ZA" sz="1200" i="1" dirty="0">
                  <a:solidFill>
                    <a:schemeClr val="accent5"/>
                  </a:solidFill>
                </a:endParaRPr>
              </a:p>
            </p:txBody>
          </p:sp>
        </mc:Choice>
        <mc:Fallback xmlns="">
          <p:sp>
            <p:nvSpPr>
              <p:cNvPr id="17" name="TextBox 16">
                <a:extLst>
                  <a:ext uri="{FF2B5EF4-FFF2-40B4-BE49-F238E27FC236}">
                    <a16:creationId xmlns:a16="http://schemas.microsoft.com/office/drawing/2014/main" id="{831A1725-14D2-77F5-4F4F-87D3187D3483}"/>
                  </a:ext>
                </a:extLst>
              </p:cNvPr>
              <p:cNvSpPr txBox="1">
                <a:spLocks noRot="1" noChangeAspect="1" noMove="1" noResize="1" noEditPoints="1" noAdjustHandles="1" noChangeArrowheads="1" noChangeShapeType="1" noTextEdit="1"/>
              </p:cNvSpPr>
              <p:nvPr/>
            </p:nvSpPr>
            <p:spPr>
              <a:xfrm>
                <a:off x="2625542" y="1787790"/>
                <a:ext cx="4650209" cy="276999"/>
              </a:xfrm>
              <a:prstGeom prst="rect">
                <a:avLst/>
              </a:prstGeom>
              <a:blipFill>
                <a:blip r:embed="rId4"/>
                <a:stretch>
                  <a:fillRect b="-15217"/>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136F470-0096-391A-7406-7C60827F5575}"/>
                  </a:ext>
                </a:extLst>
              </p:cNvPr>
              <p:cNvSpPr txBox="1"/>
              <p:nvPr/>
            </p:nvSpPr>
            <p:spPr>
              <a:xfrm>
                <a:off x="2625541" y="2064789"/>
                <a:ext cx="3976244" cy="461665"/>
              </a:xfrm>
              <a:prstGeom prst="rect">
                <a:avLst/>
              </a:prstGeom>
              <a:noFill/>
            </p:spPr>
            <p:txBody>
              <a:bodyPr wrap="square">
                <a:spAutoFit/>
              </a:bodyPr>
              <a:lstStyle/>
              <a:p>
                <a14:m>
                  <m:oMath xmlns:m="http://schemas.openxmlformats.org/officeDocument/2006/math">
                    <m:r>
                      <m:rPr>
                        <m:sty m:val="p"/>
                      </m:rPr>
                      <a:rPr lang="en-ZA" sz="1200" i="0" dirty="0" smtClean="0">
                        <a:solidFill>
                          <a:schemeClr val="accent5"/>
                        </a:solidFill>
                        <a:latin typeface="Cambria Math" panose="02040503050406030204" pitchFamily="18" charset="0"/>
                      </a:rPr>
                      <m:t>a</m:t>
                    </m:r>
                    <m:d>
                      <m:dPr>
                        <m:ctrlPr>
                          <a:rPr lang="en-ZA" sz="1200" i="1" dirty="0" smtClean="0">
                            <a:solidFill>
                              <a:schemeClr val="accent5"/>
                            </a:solidFill>
                            <a:latin typeface="Cambria Math" panose="02040503050406030204" pitchFamily="18" charset="0"/>
                          </a:rPr>
                        </m:ctrlPr>
                      </m:dPr>
                      <m:e>
                        <m:r>
                          <m:rPr>
                            <m:sty m:val="p"/>
                          </m:rPr>
                          <a:rPr lang="en-ZA" sz="1200" i="0" dirty="0" err="1">
                            <a:solidFill>
                              <a:schemeClr val="accent5"/>
                            </a:solidFill>
                            <a:latin typeface="Cambria Math" panose="02040503050406030204" pitchFamily="18" charset="0"/>
                          </a:rPr>
                          <m:t>i</m:t>
                        </m:r>
                      </m:e>
                    </m:d>
                  </m:oMath>
                </a14:m>
                <a:r>
                  <a:rPr lang="en-ZA" sz="1200" dirty="0">
                    <a:solidFill>
                      <a:schemeClr val="accent5"/>
                    </a:solidFill>
                  </a:rPr>
                  <a:t>   : </a:t>
                </a:r>
                <a:r>
                  <a:rPr lang="en-US" sz="1200" dirty="0">
                    <a:solidFill>
                      <a:schemeClr val="accent5"/>
                    </a:solidFill>
                  </a:rPr>
                  <a:t>Average distance from customer (</a:t>
                </a:r>
                <a:r>
                  <a:rPr lang="en-US" sz="1200" dirty="0" err="1">
                    <a:solidFill>
                      <a:schemeClr val="accent5"/>
                    </a:solidFill>
                  </a:rPr>
                  <a:t>i</a:t>
                </a:r>
                <a:r>
                  <a:rPr lang="en-US" sz="1200" dirty="0">
                    <a:solidFill>
                      <a:schemeClr val="accent5"/>
                    </a:solidFill>
                  </a:rPr>
                  <a:t>) to customers in 	the same cluster</a:t>
                </a:r>
              </a:p>
            </p:txBody>
          </p:sp>
        </mc:Choice>
        <mc:Fallback xmlns="">
          <p:sp>
            <p:nvSpPr>
              <p:cNvPr id="19" name="TextBox 18">
                <a:extLst>
                  <a:ext uri="{FF2B5EF4-FFF2-40B4-BE49-F238E27FC236}">
                    <a16:creationId xmlns:a16="http://schemas.microsoft.com/office/drawing/2014/main" id="{5136F470-0096-391A-7406-7C60827F5575}"/>
                  </a:ext>
                </a:extLst>
              </p:cNvPr>
              <p:cNvSpPr txBox="1">
                <a:spLocks noRot="1" noChangeAspect="1" noMove="1" noResize="1" noEditPoints="1" noAdjustHandles="1" noChangeArrowheads="1" noChangeShapeType="1" noTextEdit="1"/>
              </p:cNvSpPr>
              <p:nvPr/>
            </p:nvSpPr>
            <p:spPr>
              <a:xfrm>
                <a:off x="2625541" y="2064789"/>
                <a:ext cx="3976244" cy="461665"/>
              </a:xfrm>
              <a:prstGeom prst="rect">
                <a:avLst/>
              </a:prstGeom>
              <a:blipFill>
                <a:blip r:embed="rId5"/>
                <a:stretch>
                  <a:fillRect t="-1333" b="-10667"/>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5514CA4-876F-7812-3DAD-602207726645}"/>
                  </a:ext>
                </a:extLst>
              </p:cNvPr>
              <p:cNvSpPr txBox="1"/>
              <p:nvPr/>
            </p:nvSpPr>
            <p:spPr>
              <a:xfrm>
                <a:off x="2625542" y="2464886"/>
                <a:ext cx="4260446" cy="646331"/>
              </a:xfrm>
              <a:prstGeom prst="rect">
                <a:avLst/>
              </a:prstGeom>
              <a:noFill/>
            </p:spPr>
            <p:txBody>
              <a:bodyPr wrap="square">
                <a:spAutoFit/>
              </a:bodyPr>
              <a:lstStyle/>
              <a:p>
                <a14:m>
                  <m:oMath xmlns:m="http://schemas.openxmlformats.org/officeDocument/2006/math">
                    <m:r>
                      <a:rPr lang="en-ZA" sz="1200" i="1" dirty="0" smtClean="0">
                        <a:solidFill>
                          <a:schemeClr val="accent5"/>
                        </a:solidFill>
                        <a:latin typeface="Cambria Math" panose="02040503050406030204" pitchFamily="18" charset="0"/>
                      </a:rPr>
                      <m:t>𝑏</m:t>
                    </m:r>
                    <m:d>
                      <m:dPr>
                        <m:ctrlPr>
                          <a:rPr lang="en-ZA" sz="1200" i="1" dirty="0" smtClean="0">
                            <a:solidFill>
                              <a:schemeClr val="accent5"/>
                            </a:solidFill>
                            <a:latin typeface="Cambria Math" panose="02040503050406030204" pitchFamily="18" charset="0"/>
                          </a:rPr>
                        </m:ctrlPr>
                      </m:dPr>
                      <m:e>
                        <m:r>
                          <a:rPr lang="en-ZA" sz="1200" i="1" dirty="0" err="1">
                            <a:solidFill>
                              <a:schemeClr val="accent5"/>
                            </a:solidFill>
                            <a:latin typeface="Cambria Math" panose="02040503050406030204" pitchFamily="18" charset="0"/>
                          </a:rPr>
                          <m:t>𝑖</m:t>
                        </m:r>
                      </m:e>
                    </m:d>
                  </m:oMath>
                </a14:m>
                <a:r>
                  <a:rPr lang="en-ZA" sz="1200" i="1" dirty="0">
                    <a:solidFill>
                      <a:schemeClr val="accent5"/>
                    </a:solidFill>
                  </a:rPr>
                  <a:t>  : </a:t>
                </a:r>
                <a:r>
                  <a:rPr lang="en-US" sz="1200" i="1" dirty="0">
                    <a:solidFill>
                      <a:schemeClr val="accent5"/>
                    </a:solidFill>
                  </a:rPr>
                  <a:t>Lowest average distance from customer (</a:t>
                </a:r>
                <a:r>
                  <a:rPr lang="en-US" sz="1200" i="1" dirty="0" err="1">
                    <a:solidFill>
                      <a:schemeClr val="accent5"/>
                    </a:solidFill>
                  </a:rPr>
                  <a:t>i</a:t>
                </a:r>
                <a:r>
                  <a:rPr lang="en-US" sz="1200" i="1" dirty="0">
                    <a:solidFill>
                      <a:schemeClr val="accent5"/>
                    </a:solidFill>
                  </a:rPr>
                  <a:t>) to customers </a:t>
                </a:r>
              </a:p>
              <a:p>
                <a:r>
                  <a:rPr lang="en-US" sz="1200" i="1" dirty="0">
                    <a:solidFill>
                      <a:schemeClr val="accent5"/>
                    </a:solidFill>
                  </a:rPr>
                  <a:t>	in the nearest different cluster</a:t>
                </a:r>
              </a:p>
              <a:p>
                <a:endParaRPr lang="en-ZA" sz="1200" i="1" dirty="0">
                  <a:solidFill>
                    <a:schemeClr val="accent5"/>
                  </a:solidFill>
                </a:endParaRPr>
              </a:p>
            </p:txBody>
          </p:sp>
        </mc:Choice>
        <mc:Fallback xmlns="">
          <p:sp>
            <p:nvSpPr>
              <p:cNvPr id="22" name="TextBox 21">
                <a:extLst>
                  <a:ext uri="{FF2B5EF4-FFF2-40B4-BE49-F238E27FC236}">
                    <a16:creationId xmlns:a16="http://schemas.microsoft.com/office/drawing/2014/main" id="{45514CA4-876F-7812-3DAD-602207726645}"/>
                  </a:ext>
                </a:extLst>
              </p:cNvPr>
              <p:cNvSpPr txBox="1">
                <a:spLocks noRot="1" noChangeAspect="1" noMove="1" noResize="1" noEditPoints="1" noAdjustHandles="1" noChangeArrowheads="1" noChangeShapeType="1" noTextEdit="1"/>
              </p:cNvSpPr>
              <p:nvPr/>
            </p:nvSpPr>
            <p:spPr>
              <a:xfrm>
                <a:off x="2625542" y="2464886"/>
                <a:ext cx="4260446" cy="646331"/>
              </a:xfrm>
              <a:prstGeom prst="rect">
                <a:avLst/>
              </a:prstGeom>
              <a:blipFill>
                <a:blip r:embed="rId6"/>
                <a:stretch>
                  <a:fillRect r="-572"/>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7165772-8FD6-F922-E543-A5628BDAE75A}"/>
                  </a:ext>
                </a:extLst>
              </p:cNvPr>
              <p:cNvSpPr txBox="1"/>
              <p:nvPr/>
            </p:nvSpPr>
            <p:spPr>
              <a:xfrm>
                <a:off x="2595879" y="2888400"/>
                <a:ext cx="4120490" cy="276999"/>
              </a:xfrm>
              <a:prstGeom prst="rect">
                <a:avLst/>
              </a:prstGeom>
              <a:noFill/>
            </p:spPr>
            <p:txBody>
              <a:bodyPr wrap="square">
                <a:spAutoFit/>
              </a:bodyPr>
              <a:lstStyle/>
              <a:p>
                <a14:m>
                  <m:oMath xmlns:m="http://schemas.openxmlformats.org/officeDocument/2006/math">
                    <m:r>
                      <a:rPr lang="en-ZA" sz="1200" i="1" dirty="0" smtClean="0">
                        <a:solidFill>
                          <a:schemeClr val="accent5"/>
                        </a:solidFill>
                        <a:latin typeface="Cambria Math" panose="02040503050406030204" pitchFamily="18" charset="0"/>
                      </a:rPr>
                      <m:t>𝑚𝑎</m:t>
                    </m:r>
                    <m:func>
                      <m:funcPr>
                        <m:ctrlPr>
                          <a:rPr lang="en-ZA" sz="1200" i="1" dirty="0" smtClean="0">
                            <a:solidFill>
                              <a:schemeClr val="accent5"/>
                            </a:solidFill>
                            <a:latin typeface="Cambria Math" panose="02040503050406030204" pitchFamily="18" charset="0"/>
                          </a:rPr>
                        </m:ctrlPr>
                      </m:funcPr>
                      <m:fName>
                        <m:r>
                          <a:rPr lang="en-ZA" sz="1200" i="1" dirty="0" smtClean="0">
                            <a:solidFill>
                              <a:schemeClr val="accent5"/>
                            </a:solidFill>
                            <a:latin typeface="Cambria Math" panose="02040503050406030204" pitchFamily="18" charset="0"/>
                          </a:rPr>
                          <m:t>𝑥</m:t>
                        </m:r>
                      </m:fName>
                      <m:e>
                        <m:r>
                          <a:rPr lang="en-ZA" sz="1200" b="0" i="1" dirty="0" smtClean="0">
                            <a:solidFill>
                              <a:schemeClr val="accent5"/>
                            </a:solidFill>
                            <a:latin typeface="Cambria Math" panose="02040503050406030204" pitchFamily="18" charset="0"/>
                          </a:rPr>
                          <m:t>{</m:t>
                        </m:r>
                        <m:r>
                          <a:rPr lang="en-ZA" sz="1200" i="1" dirty="0" smtClean="0">
                            <a:solidFill>
                              <a:schemeClr val="accent5"/>
                            </a:solidFill>
                            <a:latin typeface="Cambria Math" panose="02040503050406030204" pitchFamily="18" charset="0"/>
                          </a:rPr>
                          <m:t>𝑎</m:t>
                        </m:r>
                        <m:d>
                          <m:dPr>
                            <m:ctrlPr>
                              <a:rPr lang="en-ZA" sz="1200" i="1" dirty="0" smtClean="0">
                                <a:solidFill>
                                  <a:schemeClr val="accent5"/>
                                </a:solidFill>
                                <a:latin typeface="Cambria Math" panose="02040503050406030204" pitchFamily="18" charset="0"/>
                              </a:rPr>
                            </m:ctrlPr>
                          </m:dPr>
                          <m:e>
                            <m:r>
                              <a:rPr lang="en-ZA" sz="1200" i="1" dirty="0" err="1">
                                <a:solidFill>
                                  <a:schemeClr val="accent5"/>
                                </a:solidFill>
                                <a:latin typeface="Cambria Math" panose="02040503050406030204" pitchFamily="18" charset="0"/>
                              </a:rPr>
                              <m:t>𝑖</m:t>
                            </m:r>
                          </m:e>
                        </m:d>
                        <m:r>
                          <a:rPr lang="en-ZA" sz="1200" i="1" dirty="0">
                            <a:solidFill>
                              <a:schemeClr val="accent5"/>
                            </a:solidFill>
                            <a:latin typeface="Cambria Math" panose="02040503050406030204" pitchFamily="18" charset="0"/>
                          </a:rPr>
                          <m:t>,</m:t>
                        </m:r>
                        <m:r>
                          <a:rPr lang="en-ZA" sz="1200" i="1" dirty="0">
                            <a:solidFill>
                              <a:schemeClr val="accent5"/>
                            </a:solidFill>
                            <a:latin typeface="Cambria Math" panose="02040503050406030204" pitchFamily="18" charset="0"/>
                          </a:rPr>
                          <m:t>𝑏</m:t>
                        </m:r>
                        <m:d>
                          <m:dPr>
                            <m:ctrlPr>
                              <a:rPr lang="en-ZA" sz="1200" i="1" dirty="0">
                                <a:solidFill>
                                  <a:schemeClr val="accent5"/>
                                </a:solidFill>
                                <a:latin typeface="Cambria Math" panose="02040503050406030204" pitchFamily="18" charset="0"/>
                              </a:rPr>
                            </m:ctrlPr>
                          </m:dPr>
                          <m:e>
                            <m:r>
                              <a:rPr lang="en-ZA" sz="1200" i="1" dirty="0" err="1">
                                <a:solidFill>
                                  <a:schemeClr val="accent5"/>
                                </a:solidFill>
                                <a:latin typeface="Cambria Math" panose="02040503050406030204" pitchFamily="18" charset="0"/>
                              </a:rPr>
                              <m:t>𝑖</m:t>
                            </m:r>
                          </m:e>
                        </m:d>
                        <m:r>
                          <a:rPr lang="en-ZA" sz="1200" b="0" i="1" dirty="0" smtClean="0">
                            <a:solidFill>
                              <a:schemeClr val="accent5"/>
                            </a:solidFill>
                            <a:latin typeface="Cambria Math" panose="02040503050406030204" pitchFamily="18" charset="0"/>
                          </a:rPr>
                          <m:t>}</m:t>
                        </m:r>
                      </m:e>
                    </m:func>
                  </m:oMath>
                </a14:m>
                <a:r>
                  <a:rPr lang="en-ZA" sz="1200" i="1" dirty="0">
                    <a:solidFill>
                      <a:schemeClr val="accent5"/>
                    </a:solidFill>
                  </a:rPr>
                  <a:t>  : </a:t>
                </a:r>
                <a:r>
                  <a:rPr lang="en-US" sz="1200" i="1" dirty="0">
                    <a:solidFill>
                      <a:schemeClr val="accent5"/>
                    </a:solidFill>
                  </a:rPr>
                  <a:t>Normalizes the score between (-1) and (1)</a:t>
                </a:r>
              </a:p>
            </p:txBody>
          </p:sp>
        </mc:Choice>
        <mc:Fallback xmlns="">
          <p:sp>
            <p:nvSpPr>
              <p:cNvPr id="25" name="TextBox 24">
                <a:extLst>
                  <a:ext uri="{FF2B5EF4-FFF2-40B4-BE49-F238E27FC236}">
                    <a16:creationId xmlns:a16="http://schemas.microsoft.com/office/drawing/2014/main" id="{27165772-8FD6-F922-E543-A5628BDAE75A}"/>
                  </a:ext>
                </a:extLst>
              </p:cNvPr>
              <p:cNvSpPr txBox="1">
                <a:spLocks noRot="1" noChangeAspect="1" noMove="1" noResize="1" noEditPoints="1" noAdjustHandles="1" noChangeArrowheads="1" noChangeShapeType="1" noTextEdit="1"/>
              </p:cNvSpPr>
              <p:nvPr/>
            </p:nvSpPr>
            <p:spPr>
              <a:xfrm>
                <a:off x="2595879" y="2888400"/>
                <a:ext cx="4120490" cy="276999"/>
              </a:xfrm>
              <a:prstGeom prst="rect">
                <a:avLst/>
              </a:prstGeom>
              <a:blipFill>
                <a:blip r:embed="rId7"/>
                <a:stretch>
                  <a:fillRect t="-2222" b="-17778"/>
                </a:stretch>
              </a:blipFill>
            </p:spPr>
            <p:txBody>
              <a:bodyPr/>
              <a:lstStyle/>
              <a:p>
                <a:r>
                  <a:rPr lang="en-ZA">
                    <a:noFill/>
                  </a:rPr>
                  <a:t> </a:t>
                </a:r>
              </a:p>
            </p:txBody>
          </p:sp>
        </mc:Fallback>
      </mc:AlternateContent>
      <p:cxnSp>
        <p:nvCxnSpPr>
          <p:cNvPr id="27" name="Straight Connector 26">
            <a:extLst>
              <a:ext uri="{FF2B5EF4-FFF2-40B4-BE49-F238E27FC236}">
                <a16:creationId xmlns:a16="http://schemas.microsoft.com/office/drawing/2014/main" id="{3B651055-555B-C66B-53CB-E7CFF773BEF4}"/>
              </a:ext>
            </a:extLst>
          </p:cNvPr>
          <p:cNvCxnSpPr>
            <a:cxnSpLocks/>
          </p:cNvCxnSpPr>
          <p:nvPr/>
        </p:nvCxnSpPr>
        <p:spPr>
          <a:xfrm>
            <a:off x="2595879" y="1727703"/>
            <a:ext cx="0" cy="1474365"/>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AC0E9DE-15D0-88D6-5F6B-6B6AC65585B5}"/>
                  </a:ext>
                </a:extLst>
              </p:cNvPr>
              <p:cNvSpPr txBox="1"/>
              <p:nvPr/>
            </p:nvSpPr>
            <p:spPr>
              <a:xfrm>
                <a:off x="445968" y="5537399"/>
                <a:ext cx="1328697" cy="7546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ZA" b="0" i="1" smtClean="0">
                          <a:solidFill>
                            <a:srgbClr val="002060"/>
                          </a:solidFill>
                          <a:latin typeface="Cambria Math" panose="02040503050406030204" pitchFamily="18" charset="0"/>
                        </a:rPr>
                        <m:t>S</m:t>
                      </m:r>
                      <m:r>
                        <a:rPr lang="en-ZA" b="0" i="1" smtClean="0">
                          <a:solidFill>
                            <a:srgbClr val="002060"/>
                          </a:solidFill>
                          <a:latin typeface="Cambria Math" panose="02040503050406030204" pitchFamily="18" charset="0"/>
                        </a:rPr>
                        <m:t>=</m:t>
                      </m:r>
                      <m:f>
                        <m:fPr>
                          <m:ctrlPr>
                            <a:rPr lang="en-ZA" i="1" smtClean="0">
                              <a:solidFill>
                                <a:srgbClr val="002060"/>
                              </a:solidFill>
                              <a:latin typeface="Cambria Math" panose="02040503050406030204" pitchFamily="18" charset="0"/>
                            </a:rPr>
                          </m:ctrlPr>
                        </m:fPr>
                        <m:num>
                          <m:r>
                            <a:rPr lang="en-ZA" b="0" i="1" smtClean="0">
                              <a:solidFill>
                                <a:srgbClr val="002060"/>
                              </a:solidFill>
                              <a:latin typeface="Cambria Math" panose="02040503050406030204" pitchFamily="18" charset="0"/>
                            </a:rPr>
                            <m:t>1</m:t>
                          </m:r>
                        </m:num>
                        <m:den>
                          <m:r>
                            <m:rPr>
                              <m:sty m:val="p"/>
                            </m:rPr>
                            <a:rPr lang="en-ZA" b="0" i="1" smtClean="0">
                              <a:solidFill>
                                <a:srgbClr val="002060"/>
                              </a:solidFill>
                              <a:latin typeface="Cambria Math" panose="02040503050406030204" pitchFamily="18" charset="0"/>
                            </a:rPr>
                            <m:t>n</m:t>
                          </m:r>
                        </m:den>
                      </m:f>
                      <m:nary>
                        <m:naryPr>
                          <m:chr m:val="∑"/>
                          <m:ctrlPr>
                            <a:rPr lang="en-ZA" i="1" smtClean="0">
                              <a:solidFill>
                                <a:srgbClr val="002060"/>
                              </a:solidFill>
                              <a:latin typeface="Cambria Math" panose="02040503050406030204" pitchFamily="18" charset="0"/>
                            </a:rPr>
                          </m:ctrlPr>
                        </m:naryPr>
                        <m:sub>
                          <m:r>
                            <m:rPr>
                              <m:sty m:val="p"/>
                              <m:brk m:alnAt="23"/>
                            </m:rPr>
                            <a:rPr lang="en-ZA" b="0" i="1" smtClean="0">
                              <a:solidFill>
                                <a:srgbClr val="002060"/>
                              </a:solidFill>
                              <a:latin typeface="Cambria Math" panose="02040503050406030204" pitchFamily="18" charset="0"/>
                            </a:rPr>
                            <m:t>i</m:t>
                          </m:r>
                          <m:r>
                            <a:rPr lang="en-ZA" b="0" i="1" smtClean="0">
                              <a:solidFill>
                                <a:srgbClr val="002060"/>
                              </a:solidFill>
                              <a:latin typeface="Cambria Math" panose="02040503050406030204" pitchFamily="18" charset="0"/>
                            </a:rPr>
                            <m:t>=</m:t>
                          </m:r>
                          <m:r>
                            <m:rPr>
                              <m:brk m:alnAt="23"/>
                            </m:rPr>
                            <a:rPr lang="en-ZA" b="0" i="1" smtClean="0">
                              <a:solidFill>
                                <a:srgbClr val="002060"/>
                              </a:solidFill>
                              <a:latin typeface="Cambria Math" panose="02040503050406030204" pitchFamily="18" charset="0"/>
                            </a:rPr>
                            <m:t>1</m:t>
                          </m:r>
                        </m:sub>
                        <m:sup>
                          <m:r>
                            <m:rPr>
                              <m:sty m:val="p"/>
                            </m:rPr>
                            <a:rPr lang="en-ZA" b="0" i="1" smtClean="0">
                              <a:solidFill>
                                <a:srgbClr val="002060"/>
                              </a:solidFill>
                              <a:latin typeface="Cambria Math" panose="02040503050406030204" pitchFamily="18" charset="0"/>
                            </a:rPr>
                            <m:t>n</m:t>
                          </m:r>
                        </m:sup>
                        <m:e>
                          <m:r>
                            <m:rPr>
                              <m:sty m:val="p"/>
                            </m:rPr>
                            <a:rPr lang="en-ZA" b="0" i="1" smtClean="0">
                              <a:solidFill>
                                <a:srgbClr val="002060"/>
                              </a:solidFill>
                              <a:latin typeface="Cambria Math" panose="02040503050406030204" pitchFamily="18" charset="0"/>
                            </a:rPr>
                            <m:t>s</m:t>
                          </m:r>
                          <m:r>
                            <a:rPr lang="en-ZA" b="0" i="1" smtClean="0">
                              <a:solidFill>
                                <a:srgbClr val="002060"/>
                              </a:solidFill>
                              <a:latin typeface="Cambria Math" panose="02040503050406030204" pitchFamily="18" charset="0"/>
                            </a:rPr>
                            <m:t>(</m:t>
                          </m:r>
                          <m:r>
                            <m:rPr>
                              <m:sty m:val="p"/>
                            </m:rPr>
                            <a:rPr lang="en-ZA" b="0" i="1" smtClean="0">
                              <a:solidFill>
                                <a:srgbClr val="002060"/>
                              </a:solidFill>
                              <a:latin typeface="Cambria Math" panose="02040503050406030204" pitchFamily="18" charset="0"/>
                            </a:rPr>
                            <m:t>i</m:t>
                          </m:r>
                          <m:r>
                            <a:rPr lang="en-ZA" b="0" i="1" smtClean="0">
                              <a:solidFill>
                                <a:srgbClr val="002060"/>
                              </a:solidFill>
                              <a:latin typeface="Cambria Math" panose="02040503050406030204" pitchFamily="18" charset="0"/>
                            </a:rPr>
                            <m:t>)</m:t>
                          </m:r>
                        </m:e>
                      </m:nary>
                    </m:oMath>
                  </m:oMathPara>
                </a14:m>
                <a:endParaRPr lang="en-ZA" dirty="0">
                  <a:solidFill>
                    <a:srgbClr val="002060"/>
                  </a:solidFill>
                </a:endParaRPr>
              </a:p>
            </p:txBody>
          </p:sp>
        </mc:Choice>
        <mc:Fallback xmlns="">
          <p:sp>
            <p:nvSpPr>
              <p:cNvPr id="30" name="TextBox 29">
                <a:extLst>
                  <a:ext uri="{FF2B5EF4-FFF2-40B4-BE49-F238E27FC236}">
                    <a16:creationId xmlns:a16="http://schemas.microsoft.com/office/drawing/2014/main" id="{3AC0E9DE-15D0-88D6-5F6B-6B6AC65585B5}"/>
                  </a:ext>
                </a:extLst>
              </p:cNvPr>
              <p:cNvSpPr txBox="1">
                <a:spLocks noRot="1" noChangeAspect="1" noMove="1" noResize="1" noEditPoints="1" noAdjustHandles="1" noChangeArrowheads="1" noChangeShapeType="1" noTextEdit="1"/>
              </p:cNvSpPr>
              <p:nvPr/>
            </p:nvSpPr>
            <p:spPr>
              <a:xfrm>
                <a:off x="445968" y="5537399"/>
                <a:ext cx="1328697" cy="754694"/>
              </a:xfrm>
              <a:prstGeom prst="rect">
                <a:avLst/>
              </a:prstGeom>
              <a:blipFill>
                <a:blip r:embed="rId8"/>
                <a:stretch>
                  <a:fillRect/>
                </a:stretch>
              </a:blipFill>
            </p:spPr>
            <p:txBody>
              <a:bodyPr/>
              <a:lstStyle/>
              <a:p>
                <a:r>
                  <a:rPr lang="en-ZA">
                    <a:noFill/>
                  </a:rPr>
                  <a:t> </a:t>
                </a:r>
              </a:p>
            </p:txBody>
          </p:sp>
        </mc:Fallback>
      </mc:AlternateContent>
      <p:sp>
        <p:nvSpPr>
          <p:cNvPr id="32" name="TextBox 31">
            <a:extLst>
              <a:ext uri="{FF2B5EF4-FFF2-40B4-BE49-F238E27FC236}">
                <a16:creationId xmlns:a16="http://schemas.microsoft.com/office/drawing/2014/main" id="{6B60A1F5-738E-1381-C3F7-DD5BCA00A4EF}"/>
              </a:ext>
            </a:extLst>
          </p:cNvPr>
          <p:cNvSpPr txBox="1"/>
          <p:nvPr/>
        </p:nvSpPr>
        <p:spPr>
          <a:xfrm>
            <a:off x="111916" y="4648493"/>
            <a:ext cx="4133513" cy="369332"/>
          </a:xfrm>
          <a:prstGeom prst="rect">
            <a:avLst/>
          </a:prstGeom>
          <a:noFill/>
        </p:spPr>
        <p:txBody>
          <a:bodyPr wrap="square">
            <a:spAutoFit/>
          </a:bodyPr>
          <a:lstStyle/>
          <a:p>
            <a:r>
              <a:rPr lang="en-ZA" b="1" u="sng" dirty="0">
                <a:solidFill>
                  <a:srgbClr val="002060"/>
                </a:solidFill>
              </a:rPr>
              <a:t>Average Silhouette Score formula</a:t>
            </a:r>
          </a:p>
        </p:txBody>
      </p:sp>
      <p:sp>
        <p:nvSpPr>
          <p:cNvPr id="34" name="TextBox 33">
            <a:extLst>
              <a:ext uri="{FF2B5EF4-FFF2-40B4-BE49-F238E27FC236}">
                <a16:creationId xmlns:a16="http://schemas.microsoft.com/office/drawing/2014/main" id="{D4421D4C-0009-51E8-E732-7517F2E2831C}"/>
              </a:ext>
            </a:extLst>
          </p:cNvPr>
          <p:cNvSpPr txBox="1"/>
          <p:nvPr/>
        </p:nvSpPr>
        <p:spPr>
          <a:xfrm>
            <a:off x="111916" y="5014431"/>
            <a:ext cx="1996802" cy="338554"/>
          </a:xfrm>
          <a:prstGeom prst="rect">
            <a:avLst/>
          </a:prstGeom>
          <a:noFill/>
        </p:spPr>
        <p:txBody>
          <a:bodyPr wrap="square">
            <a:spAutoFit/>
          </a:bodyPr>
          <a:lstStyle/>
          <a:p>
            <a:r>
              <a:rPr lang="en-ZA" sz="1600" dirty="0">
                <a:solidFill>
                  <a:srgbClr val="002060"/>
                </a:solidFill>
              </a:rPr>
              <a:t>Final model score</a:t>
            </a:r>
          </a:p>
        </p:txBody>
      </p:sp>
      <p:graphicFrame>
        <p:nvGraphicFramePr>
          <p:cNvPr id="35" name="Table 34">
            <a:extLst>
              <a:ext uri="{FF2B5EF4-FFF2-40B4-BE49-F238E27FC236}">
                <a16:creationId xmlns:a16="http://schemas.microsoft.com/office/drawing/2014/main" id="{2FBD5B36-02E2-1655-1F81-D2A3C3166D89}"/>
              </a:ext>
            </a:extLst>
          </p:cNvPr>
          <p:cNvGraphicFramePr>
            <a:graphicFrameLocks noGrp="1"/>
          </p:cNvGraphicFramePr>
          <p:nvPr>
            <p:extLst>
              <p:ext uri="{D42A27DB-BD31-4B8C-83A1-F6EECF244321}">
                <p14:modId xmlns:p14="http://schemas.microsoft.com/office/powerpoint/2010/main" val="1376435110"/>
              </p:ext>
            </p:extLst>
          </p:nvPr>
        </p:nvGraphicFramePr>
        <p:xfrm>
          <a:off x="2073253" y="5541382"/>
          <a:ext cx="5080819" cy="822960"/>
        </p:xfrm>
        <a:graphic>
          <a:graphicData uri="http://schemas.openxmlformats.org/drawingml/2006/table">
            <a:tbl>
              <a:tblPr>
                <a:tableStyleId>{69C7853C-536D-4A76-A0AE-DD22124D55A5}</a:tableStyleId>
              </a:tblPr>
              <a:tblGrid>
                <a:gridCol w="1560871">
                  <a:extLst>
                    <a:ext uri="{9D8B030D-6E8A-4147-A177-3AD203B41FA5}">
                      <a16:colId xmlns:a16="http://schemas.microsoft.com/office/drawing/2014/main" val="2750611863"/>
                    </a:ext>
                  </a:extLst>
                </a:gridCol>
                <a:gridCol w="3519948">
                  <a:extLst>
                    <a:ext uri="{9D8B030D-6E8A-4147-A177-3AD203B41FA5}">
                      <a16:colId xmlns:a16="http://schemas.microsoft.com/office/drawing/2014/main" val="725783376"/>
                    </a:ext>
                  </a:extLst>
                </a:gridCol>
              </a:tblGrid>
              <a:tr h="0">
                <a:tc>
                  <a:txBody>
                    <a:bodyPr/>
                    <a:lstStyle/>
                    <a:p>
                      <a:pPr>
                        <a:buNone/>
                      </a:pPr>
                      <a:r>
                        <a:rPr lang="en-ZA" sz="1200" dirty="0">
                          <a:solidFill>
                            <a:srgbClr val="002060"/>
                          </a:solidFill>
                        </a:rPr>
                        <a:t>Close to (1)</a:t>
                      </a:r>
                    </a:p>
                  </a:txBody>
                  <a:tcPr anchor="ctr"/>
                </a:tc>
                <a:tc>
                  <a:txBody>
                    <a:bodyPr/>
                    <a:lstStyle/>
                    <a:p>
                      <a:pPr>
                        <a:buNone/>
                      </a:pPr>
                      <a:r>
                        <a:rPr lang="en-US" sz="1200" dirty="0">
                          <a:solidFill>
                            <a:srgbClr val="002060"/>
                          </a:solidFill>
                        </a:rPr>
                        <a:t>Customers are well matched to their own cluster</a:t>
                      </a:r>
                    </a:p>
                  </a:txBody>
                  <a:tcPr anchor="ctr"/>
                </a:tc>
                <a:extLst>
                  <a:ext uri="{0D108BD9-81ED-4DB2-BD59-A6C34878D82A}">
                    <a16:rowId xmlns:a16="http://schemas.microsoft.com/office/drawing/2014/main" val="1169627862"/>
                  </a:ext>
                </a:extLst>
              </a:tr>
              <a:tr h="0">
                <a:tc>
                  <a:txBody>
                    <a:bodyPr/>
                    <a:lstStyle/>
                    <a:p>
                      <a:pPr>
                        <a:buNone/>
                      </a:pPr>
                      <a:r>
                        <a:rPr lang="en-ZA" sz="1200">
                          <a:solidFill>
                            <a:srgbClr val="002060"/>
                          </a:solidFill>
                        </a:rPr>
                        <a:t>Around (0)</a:t>
                      </a:r>
                    </a:p>
                  </a:txBody>
                  <a:tcPr anchor="ctr"/>
                </a:tc>
                <a:tc>
                  <a:txBody>
                    <a:bodyPr/>
                    <a:lstStyle/>
                    <a:p>
                      <a:pPr>
                        <a:buNone/>
                      </a:pPr>
                      <a:r>
                        <a:rPr lang="en-US" sz="1200" dirty="0">
                          <a:solidFill>
                            <a:srgbClr val="002060"/>
                          </a:solidFill>
                        </a:rPr>
                        <a:t>Clusters overlap or customers lie between clusters</a:t>
                      </a:r>
                    </a:p>
                  </a:txBody>
                  <a:tcPr anchor="ctr"/>
                </a:tc>
                <a:extLst>
                  <a:ext uri="{0D108BD9-81ED-4DB2-BD59-A6C34878D82A}">
                    <a16:rowId xmlns:a16="http://schemas.microsoft.com/office/drawing/2014/main" val="3131426325"/>
                  </a:ext>
                </a:extLst>
              </a:tr>
              <a:tr h="0">
                <a:tc>
                  <a:txBody>
                    <a:bodyPr/>
                    <a:lstStyle/>
                    <a:p>
                      <a:pPr>
                        <a:buNone/>
                      </a:pPr>
                      <a:r>
                        <a:rPr lang="en-ZA" sz="1200" dirty="0">
                          <a:solidFill>
                            <a:srgbClr val="002060"/>
                          </a:solidFill>
                        </a:rPr>
                        <a:t>Less than (0)</a:t>
                      </a:r>
                    </a:p>
                  </a:txBody>
                  <a:tcPr anchor="ctr"/>
                </a:tc>
                <a:tc>
                  <a:txBody>
                    <a:bodyPr/>
                    <a:lstStyle/>
                    <a:p>
                      <a:pPr>
                        <a:buNone/>
                      </a:pPr>
                      <a:r>
                        <a:rPr lang="en-US" sz="1200" dirty="0">
                          <a:solidFill>
                            <a:srgbClr val="002060"/>
                          </a:solidFill>
                        </a:rPr>
                        <a:t>Customers may be assigned to the wrong cluster</a:t>
                      </a:r>
                    </a:p>
                  </a:txBody>
                  <a:tcPr anchor="ctr"/>
                </a:tc>
                <a:extLst>
                  <a:ext uri="{0D108BD9-81ED-4DB2-BD59-A6C34878D82A}">
                    <a16:rowId xmlns:a16="http://schemas.microsoft.com/office/drawing/2014/main" val="81074743"/>
                  </a:ext>
                </a:extLst>
              </a:tr>
            </a:tbl>
          </a:graphicData>
        </a:graphic>
      </p:graphicFrame>
      <p:sp>
        <p:nvSpPr>
          <p:cNvPr id="38" name="TextBox 37">
            <a:extLst>
              <a:ext uri="{FF2B5EF4-FFF2-40B4-BE49-F238E27FC236}">
                <a16:creationId xmlns:a16="http://schemas.microsoft.com/office/drawing/2014/main" id="{10DD79CD-7033-FB9B-4940-A6FC2BCC8C1F}"/>
              </a:ext>
            </a:extLst>
          </p:cNvPr>
          <p:cNvSpPr txBox="1"/>
          <p:nvPr/>
        </p:nvSpPr>
        <p:spPr>
          <a:xfrm>
            <a:off x="7913849" y="996396"/>
            <a:ext cx="3364543" cy="5509200"/>
          </a:xfrm>
          <a:prstGeom prst="rect">
            <a:avLst/>
          </a:prstGeom>
          <a:solidFill>
            <a:schemeClr val="tx1">
              <a:lumMod val="95000"/>
            </a:schemeClr>
          </a:solidFill>
        </p:spPr>
        <p:txBody>
          <a:bodyPr wrap="square">
            <a:spAutoFit/>
          </a:bodyPr>
          <a:lstStyle/>
          <a:p>
            <a:r>
              <a:rPr lang="en-ZA" sz="1100" dirty="0">
                <a:solidFill>
                  <a:schemeClr val="bg1"/>
                </a:solidFill>
              </a:rPr>
              <a:t>Input:</a:t>
            </a:r>
          </a:p>
          <a:p>
            <a:r>
              <a:rPr lang="en-ZA" sz="1100" dirty="0">
                <a:solidFill>
                  <a:schemeClr val="bg1"/>
                </a:solidFill>
              </a:rPr>
              <a:t>    Final K-means cluster labels</a:t>
            </a:r>
          </a:p>
          <a:p>
            <a:r>
              <a:rPr lang="en-ZA" sz="1100" dirty="0">
                <a:solidFill>
                  <a:schemeClr val="bg1"/>
                </a:solidFill>
              </a:rPr>
              <a:t>    Cycle 0 training customer states S(i,0)^train</a:t>
            </a:r>
          </a:p>
          <a:p>
            <a:r>
              <a:rPr lang="en-ZA" sz="1100" dirty="0">
                <a:solidFill>
                  <a:schemeClr val="bg1"/>
                </a:solidFill>
              </a:rPr>
              <a:t>    Selected number of clusters K*</a:t>
            </a:r>
          </a:p>
          <a:p>
            <a:endParaRPr lang="en-ZA" sz="1100" dirty="0">
              <a:solidFill>
                <a:schemeClr val="bg1"/>
              </a:solidFill>
            </a:endParaRPr>
          </a:p>
          <a:p>
            <a:r>
              <a:rPr lang="en-ZA" sz="1100" dirty="0">
                <a:solidFill>
                  <a:schemeClr val="bg1"/>
                </a:solidFill>
              </a:rPr>
              <a:t>Output:</a:t>
            </a:r>
          </a:p>
          <a:p>
            <a:r>
              <a:rPr lang="en-ZA" sz="1100" dirty="0">
                <a:solidFill>
                  <a:schemeClr val="bg1"/>
                </a:solidFill>
              </a:rPr>
              <a:t>    Average Silhouette Score S</a:t>
            </a:r>
          </a:p>
          <a:p>
            <a:endParaRPr lang="en-ZA" sz="1100" dirty="0">
              <a:solidFill>
                <a:schemeClr val="accent1"/>
              </a:solidFill>
            </a:endParaRPr>
          </a:p>
          <a:p>
            <a:r>
              <a:rPr lang="en-ZA" sz="1100" dirty="0">
                <a:solidFill>
                  <a:schemeClr val="accent1"/>
                </a:solidFill>
              </a:rPr>
              <a:t>Step 1: For each customer i:</a:t>
            </a:r>
          </a:p>
          <a:p>
            <a:r>
              <a:rPr lang="en-ZA" sz="1100" dirty="0">
                <a:solidFill>
                  <a:srgbClr val="00B0F0"/>
                </a:solidFill>
              </a:rPr>
              <a:t>            Calculate a(</a:t>
            </a:r>
            <a:r>
              <a:rPr lang="en-ZA" sz="1100" dirty="0" err="1">
                <a:solidFill>
                  <a:srgbClr val="00B0F0"/>
                </a:solidFill>
              </a:rPr>
              <a:t>i</a:t>
            </a:r>
            <a:r>
              <a:rPr lang="en-ZA" sz="1100" dirty="0">
                <a:solidFill>
                  <a:srgbClr val="00B0F0"/>
                </a:solidFill>
              </a:rPr>
              <a:t>):</a:t>
            </a:r>
          </a:p>
          <a:p>
            <a:r>
              <a:rPr lang="en-ZA" sz="1100" dirty="0">
                <a:solidFill>
                  <a:schemeClr val="accent1"/>
                </a:solidFill>
              </a:rPr>
              <a:t>                Average distance between customer </a:t>
            </a:r>
            <a:r>
              <a:rPr lang="en-ZA" sz="1100" dirty="0" err="1">
                <a:solidFill>
                  <a:schemeClr val="accent1"/>
                </a:solidFill>
              </a:rPr>
              <a:t>i</a:t>
            </a:r>
            <a:endParaRPr lang="en-ZA" sz="1100" dirty="0">
              <a:solidFill>
                <a:schemeClr val="accent1"/>
              </a:solidFill>
            </a:endParaRPr>
          </a:p>
          <a:p>
            <a:r>
              <a:rPr lang="en-ZA" sz="1100" dirty="0">
                <a:solidFill>
                  <a:schemeClr val="accent1"/>
                </a:solidFill>
              </a:rPr>
              <a:t>                and all customers in the same cluster.</a:t>
            </a:r>
          </a:p>
          <a:p>
            <a:endParaRPr lang="en-ZA" sz="1100" dirty="0">
              <a:solidFill>
                <a:schemeClr val="accent1"/>
              </a:solidFill>
            </a:endParaRPr>
          </a:p>
          <a:p>
            <a:r>
              <a:rPr lang="en-ZA" sz="1100" dirty="0">
                <a:solidFill>
                  <a:schemeClr val="accent1"/>
                </a:solidFill>
              </a:rPr>
              <a:t>Step 2: </a:t>
            </a:r>
            <a:r>
              <a:rPr lang="en-ZA" sz="1100" dirty="0">
                <a:solidFill>
                  <a:srgbClr val="00B0F0"/>
                </a:solidFill>
              </a:rPr>
              <a:t>Calculate b(</a:t>
            </a:r>
            <a:r>
              <a:rPr lang="en-ZA" sz="1100" dirty="0" err="1">
                <a:solidFill>
                  <a:srgbClr val="00B0F0"/>
                </a:solidFill>
              </a:rPr>
              <a:t>i</a:t>
            </a:r>
            <a:r>
              <a:rPr lang="en-ZA" sz="1100" dirty="0">
                <a:solidFill>
                  <a:srgbClr val="00B0F0"/>
                </a:solidFill>
              </a:rPr>
              <a:t>)</a:t>
            </a:r>
            <a:r>
              <a:rPr lang="en-ZA" sz="1100" dirty="0">
                <a:solidFill>
                  <a:schemeClr val="accent1"/>
                </a:solidFill>
              </a:rPr>
              <a:t>:</a:t>
            </a:r>
          </a:p>
          <a:p>
            <a:r>
              <a:rPr lang="en-ZA" sz="1100" dirty="0">
                <a:solidFill>
                  <a:schemeClr val="accent1"/>
                </a:solidFill>
              </a:rPr>
              <a:t>            Lowest average distance between customer </a:t>
            </a:r>
            <a:r>
              <a:rPr lang="en-ZA" sz="1100" dirty="0" err="1">
                <a:solidFill>
                  <a:schemeClr val="accent1"/>
                </a:solidFill>
              </a:rPr>
              <a:t>i</a:t>
            </a:r>
            <a:endParaRPr lang="en-ZA" sz="1100" dirty="0">
              <a:solidFill>
                <a:schemeClr val="accent1"/>
              </a:solidFill>
            </a:endParaRPr>
          </a:p>
          <a:p>
            <a:r>
              <a:rPr lang="en-ZA" sz="1100" dirty="0">
                <a:solidFill>
                  <a:schemeClr val="accent1"/>
                </a:solidFill>
              </a:rPr>
              <a:t>            and customers in the nearest different cluster.</a:t>
            </a:r>
          </a:p>
          <a:p>
            <a:endParaRPr lang="en-ZA" sz="1100" dirty="0">
              <a:solidFill>
                <a:schemeClr val="accent1"/>
              </a:solidFill>
            </a:endParaRPr>
          </a:p>
          <a:p>
            <a:r>
              <a:rPr lang="en-ZA" sz="1100" dirty="0">
                <a:solidFill>
                  <a:schemeClr val="accent1"/>
                </a:solidFill>
              </a:rPr>
              <a:t>Step 3: Calculate silhouette score:</a:t>
            </a:r>
          </a:p>
          <a:p>
            <a:r>
              <a:rPr lang="en-ZA" sz="1100" dirty="0">
                <a:solidFill>
                  <a:srgbClr val="00B0F0"/>
                </a:solidFill>
              </a:rPr>
              <a:t>            s(</a:t>
            </a:r>
            <a:r>
              <a:rPr lang="en-ZA" sz="1100" dirty="0" err="1">
                <a:solidFill>
                  <a:srgbClr val="00B0F0"/>
                </a:solidFill>
              </a:rPr>
              <a:t>i</a:t>
            </a:r>
            <a:r>
              <a:rPr lang="en-ZA" sz="1100" dirty="0">
                <a:solidFill>
                  <a:srgbClr val="00B0F0"/>
                </a:solidFill>
              </a:rPr>
              <a:t>) = [b(</a:t>
            </a:r>
            <a:r>
              <a:rPr lang="en-ZA" sz="1100" dirty="0" err="1">
                <a:solidFill>
                  <a:srgbClr val="00B0F0"/>
                </a:solidFill>
              </a:rPr>
              <a:t>i</a:t>
            </a:r>
            <a:r>
              <a:rPr lang="en-ZA" sz="1100" dirty="0">
                <a:solidFill>
                  <a:srgbClr val="00B0F0"/>
                </a:solidFill>
              </a:rPr>
              <a:t>) - a(</a:t>
            </a:r>
            <a:r>
              <a:rPr lang="en-ZA" sz="1100" dirty="0" err="1">
                <a:solidFill>
                  <a:srgbClr val="00B0F0"/>
                </a:solidFill>
              </a:rPr>
              <a:t>i</a:t>
            </a:r>
            <a:r>
              <a:rPr lang="en-ZA" sz="1100" dirty="0">
                <a:solidFill>
                  <a:srgbClr val="00B0F0"/>
                </a:solidFill>
              </a:rPr>
              <a:t>)] / max[a(</a:t>
            </a:r>
            <a:r>
              <a:rPr lang="en-ZA" sz="1100" dirty="0" err="1">
                <a:solidFill>
                  <a:srgbClr val="00B0F0"/>
                </a:solidFill>
              </a:rPr>
              <a:t>i</a:t>
            </a:r>
            <a:r>
              <a:rPr lang="en-ZA" sz="1100" dirty="0">
                <a:solidFill>
                  <a:srgbClr val="00B0F0"/>
                </a:solidFill>
              </a:rPr>
              <a:t>), b(</a:t>
            </a:r>
            <a:r>
              <a:rPr lang="en-ZA" sz="1100" dirty="0" err="1">
                <a:solidFill>
                  <a:srgbClr val="00B0F0"/>
                </a:solidFill>
              </a:rPr>
              <a:t>i</a:t>
            </a:r>
            <a:r>
              <a:rPr lang="en-ZA" sz="1100" dirty="0">
                <a:solidFill>
                  <a:srgbClr val="00B0F0"/>
                </a:solidFill>
              </a:rPr>
              <a:t>)]</a:t>
            </a:r>
          </a:p>
          <a:p>
            <a:endParaRPr lang="en-ZA" sz="1100" dirty="0">
              <a:solidFill>
                <a:srgbClr val="00B0F0"/>
              </a:solidFill>
            </a:endParaRPr>
          </a:p>
          <a:p>
            <a:r>
              <a:rPr lang="en-ZA" sz="1100" dirty="0">
                <a:solidFill>
                  <a:schemeClr val="accent1"/>
                </a:solidFill>
              </a:rPr>
              <a:t>Step 4: Calculate average silhouette score:</a:t>
            </a:r>
          </a:p>
          <a:p>
            <a:r>
              <a:rPr lang="en-ZA" sz="1100" dirty="0">
                <a:solidFill>
                  <a:schemeClr val="accent1"/>
                </a:solidFill>
              </a:rPr>
              <a:t>            </a:t>
            </a:r>
            <a:r>
              <a:rPr lang="en-ZA" sz="1100" dirty="0">
                <a:solidFill>
                  <a:srgbClr val="00B0F0"/>
                </a:solidFill>
              </a:rPr>
              <a:t>S = mean of all s(</a:t>
            </a:r>
            <a:r>
              <a:rPr lang="en-ZA" sz="1100" dirty="0" err="1">
                <a:solidFill>
                  <a:srgbClr val="00B0F0"/>
                </a:solidFill>
              </a:rPr>
              <a:t>i</a:t>
            </a:r>
            <a:r>
              <a:rPr lang="en-ZA" sz="1100" dirty="0">
                <a:solidFill>
                  <a:srgbClr val="00B0F0"/>
                </a:solidFill>
              </a:rPr>
              <a:t>)</a:t>
            </a:r>
          </a:p>
          <a:p>
            <a:endParaRPr lang="en-ZA" sz="1100" dirty="0">
              <a:solidFill>
                <a:schemeClr val="accent1"/>
              </a:solidFill>
            </a:endParaRPr>
          </a:p>
          <a:p>
            <a:r>
              <a:rPr lang="en-ZA" sz="1100" dirty="0">
                <a:solidFill>
                  <a:schemeClr val="accent1"/>
                </a:solidFill>
              </a:rPr>
              <a:t>Step 5: Interpret final model quality:</a:t>
            </a:r>
          </a:p>
          <a:p>
            <a:r>
              <a:rPr lang="en-ZA" sz="1100" dirty="0">
                <a:solidFill>
                  <a:schemeClr val="accent6"/>
                </a:solidFill>
              </a:rPr>
              <a:t>            If S is close to 1:</a:t>
            </a:r>
          </a:p>
          <a:p>
            <a:r>
              <a:rPr lang="en-ZA" sz="1100" dirty="0">
                <a:solidFill>
                  <a:schemeClr val="accent1"/>
                </a:solidFill>
              </a:rPr>
              <a:t>                Clusters are well separated.</a:t>
            </a:r>
          </a:p>
          <a:p>
            <a:r>
              <a:rPr lang="en-ZA" sz="1100" dirty="0">
                <a:solidFill>
                  <a:schemeClr val="accent6"/>
                </a:solidFill>
              </a:rPr>
              <a:t>            If S is close to 0:</a:t>
            </a:r>
          </a:p>
          <a:p>
            <a:r>
              <a:rPr lang="en-ZA" sz="1100" dirty="0">
                <a:solidFill>
                  <a:schemeClr val="accent1"/>
                </a:solidFill>
              </a:rPr>
              <a:t>                Clusters overlap.</a:t>
            </a:r>
          </a:p>
          <a:p>
            <a:r>
              <a:rPr lang="en-ZA" sz="1100" dirty="0">
                <a:solidFill>
                  <a:schemeClr val="accent1"/>
                </a:solidFill>
              </a:rPr>
              <a:t>            </a:t>
            </a:r>
            <a:r>
              <a:rPr lang="en-ZA" sz="1100" dirty="0">
                <a:solidFill>
                  <a:schemeClr val="accent6"/>
                </a:solidFill>
              </a:rPr>
              <a:t>If S is negative:</a:t>
            </a:r>
          </a:p>
          <a:p>
            <a:r>
              <a:rPr lang="en-ZA" sz="1100" dirty="0">
                <a:solidFill>
                  <a:schemeClr val="accent1"/>
                </a:solidFill>
              </a:rPr>
              <a:t>                Some customers may be misclassified.</a:t>
            </a:r>
          </a:p>
          <a:p>
            <a:r>
              <a:rPr lang="en-ZA" sz="1100" dirty="0">
                <a:solidFill>
                  <a:schemeClr val="accent1"/>
                </a:solidFill>
              </a:rPr>
              <a:t>Return:</a:t>
            </a:r>
          </a:p>
          <a:p>
            <a:r>
              <a:rPr lang="en-ZA" sz="1100" dirty="0">
                <a:solidFill>
                  <a:schemeClr val="accent5"/>
                </a:solidFill>
              </a:rPr>
              <a:t>    Final baseline K-means validation score.</a:t>
            </a:r>
          </a:p>
        </p:txBody>
      </p:sp>
      <p:sp>
        <p:nvSpPr>
          <p:cNvPr id="39" name="TextBox 38">
            <a:extLst>
              <a:ext uri="{FF2B5EF4-FFF2-40B4-BE49-F238E27FC236}">
                <a16:creationId xmlns:a16="http://schemas.microsoft.com/office/drawing/2014/main" id="{47957395-BFED-361D-94C1-EB2BD3E0BA20}"/>
              </a:ext>
            </a:extLst>
          </p:cNvPr>
          <p:cNvSpPr txBox="1"/>
          <p:nvPr/>
        </p:nvSpPr>
        <p:spPr>
          <a:xfrm>
            <a:off x="7773044" y="711213"/>
            <a:ext cx="3646152" cy="307777"/>
          </a:xfrm>
          <a:prstGeom prst="rect">
            <a:avLst/>
          </a:prstGeom>
          <a:noFill/>
        </p:spPr>
        <p:txBody>
          <a:bodyPr wrap="square">
            <a:spAutoFit/>
          </a:bodyPr>
          <a:lstStyle/>
          <a:p>
            <a:r>
              <a:rPr lang="en-US" sz="1400" b="1" dirty="0">
                <a:solidFill>
                  <a:schemeClr val="bg1"/>
                </a:solidFill>
              </a:rPr>
              <a:t>The  algorithm pseudocode</a:t>
            </a:r>
            <a:endParaRPr lang="en-ZA" sz="1400" dirty="0">
              <a:solidFill>
                <a:schemeClr val="bg1"/>
              </a:solidFill>
            </a:endParaRPr>
          </a:p>
        </p:txBody>
      </p:sp>
    </p:spTree>
    <p:extLst>
      <p:ext uri="{BB962C8B-B14F-4D97-AF65-F5344CB8AC3E}">
        <p14:creationId xmlns:p14="http://schemas.microsoft.com/office/powerpoint/2010/main" val="32607747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D6C1B29-F55B-DAAA-285F-CA52E31FB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3A7F5A-680F-0607-2A40-492B6FC48ACB}"/>
              </a:ext>
            </a:extLst>
          </p:cNvPr>
          <p:cNvSpPr>
            <a:spLocks noGrp="1"/>
          </p:cNvSpPr>
          <p:nvPr>
            <p:ph type="title"/>
          </p:nvPr>
        </p:nvSpPr>
        <p:spPr>
          <a:xfrm>
            <a:off x="1943116" y="202599"/>
            <a:ext cx="8551218" cy="530614"/>
          </a:xfrm>
        </p:spPr>
        <p:txBody>
          <a:bodyPr>
            <a:normAutofit fontScale="90000"/>
          </a:bodyPr>
          <a:lstStyle/>
          <a:p>
            <a:r>
              <a:rPr lang="en-ZA" sz="3200" dirty="0">
                <a:solidFill>
                  <a:srgbClr val="002060"/>
                </a:solidFill>
                <a:latin typeface="Arial Black" panose="020B0A04020102020204" pitchFamily="34" charset="0"/>
              </a:rPr>
              <a:t>Dynamic Loop : </a:t>
            </a:r>
            <a:r>
              <a:rPr lang="en-ZA" sz="3200" dirty="0">
                <a:solidFill>
                  <a:srgbClr val="002060"/>
                </a:solidFill>
              </a:rPr>
              <a:t>Purpose &amp; Dynamic Fuzzy formula</a:t>
            </a:r>
            <a:endParaRPr lang="en-ZA" sz="3200" dirty="0">
              <a:solidFill>
                <a:srgbClr val="002060"/>
              </a:solidFill>
              <a:latin typeface="Arial Black" panose="020B0A04020102020204" pitchFamily="34" charset="0"/>
            </a:endParaRPr>
          </a:p>
        </p:txBody>
      </p:sp>
      <p:sp>
        <p:nvSpPr>
          <p:cNvPr id="9" name="TextBox 8">
            <a:extLst>
              <a:ext uri="{FF2B5EF4-FFF2-40B4-BE49-F238E27FC236}">
                <a16:creationId xmlns:a16="http://schemas.microsoft.com/office/drawing/2014/main" id="{834F50EB-DDD6-0CF3-78C9-3F8896E46AE7}"/>
              </a:ext>
            </a:extLst>
          </p:cNvPr>
          <p:cNvSpPr txBox="1"/>
          <p:nvPr/>
        </p:nvSpPr>
        <p:spPr>
          <a:xfrm>
            <a:off x="121920" y="884626"/>
            <a:ext cx="11490960" cy="369332"/>
          </a:xfrm>
          <a:prstGeom prst="rect">
            <a:avLst/>
          </a:prstGeom>
          <a:noFill/>
        </p:spPr>
        <p:txBody>
          <a:bodyPr wrap="square">
            <a:spAutoFit/>
          </a:bodyPr>
          <a:lstStyle/>
          <a:p>
            <a:r>
              <a:rPr lang="en-US" dirty="0">
                <a:solidFill>
                  <a:srgbClr val="002060"/>
                </a:solidFill>
              </a:rPr>
              <a:t>The dynamic loop updates customer segments </a:t>
            </a:r>
            <a:r>
              <a:rPr lang="en-US" dirty="0">
                <a:solidFill>
                  <a:schemeClr val="accent5"/>
                </a:solidFill>
              </a:rPr>
              <a:t>after the initial K-means baseline has been created at </a:t>
            </a:r>
            <a:r>
              <a:rPr lang="en-US" b="1" dirty="0">
                <a:solidFill>
                  <a:schemeClr val="accent5"/>
                </a:solidFill>
              </a:rPr>
              <a:t>Time Cycle 0</a:t>
            </a:r>
            <a:r>
              <a:rPr lang="en-US" dirty="0">
                <a:solidFill>
                  <a:srgbClr val="002060"/>
                </a:solidFill>
              </a:rPr>
              <a:t>.</a:t>
            </a:r>
            <a:endParaRPr lang="en-ZA" dirty="0">
              <a:solidFill>
                <a:srgbClr val="002060"/>
              </a:solidFill>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97BE03D-2F99-2F62-086B-04CC57A9E79B}"/>
                  </a:ext>
                </a:extLst>
              </p:cNvPr>
              <p:cNvSpPr txBox="1"/>
              <p:nvPr/>
            </p:nvSpPr>
            <p:spPr>
              <a:xfrm>
                <a:off x="121920" y="1279966"/>
                <a:ext cx="10287000" cy="646331"/>
              </a:xfrm>
              <a:prstGeom prst="rect">
                <a:avLst/>
              </a:prstGeom>
              <a:noFill/>
            </p:spPr>
            <p:txBody>
              <a:bodyPr wrap="square">
                <a:spAutoFit/>
              </a:bodyPr>
              <a:lstStyle/>
              <a:p>
                <a:pPr>
                  <a:buNone/>
                </a:pPr>
                <a:r>
                  <a:rPr lang="en-US" dirty="0">
                    <a:solidFill>
                      <a:srgbClr val="002060"/>
                    </a:solidFill>
                  </a:rPr>
                  <a:t>instead of clustering customers once, the system processes new time cycles sequentially:</a:t>
                </a:r>
              </a:p>
              <a:p>
                <a:pPr>
                  <a:buNone/>
                </a:pPr>
                <a14:m>
                  <m:oMathPara xmlns:m="http://schemas.openxmlformats.org/officeDocument/2006/math">
                    <m:oMathParaPr>
                      <m:jc m:val="centerGroup"/>
                    </m:oMathParaPr>
                    <m:oMath xmlns:m="http://schemas.openxmlformats.org/officeDocument/2006/math">
                      <m:r>
                        <a:rPr lang="en-US" i="1">
                          <a:solidFill>
                            <a:srgbClr val="002060"/>
                          </a:solidFill>
                          <a:latin typeface="Cambria Math" panose="02040503050406030204" pitchFamily="18" charset="0"/>
                        </a:rPr>
                        <m:t>𝑡</m:t>
                      </m:r>
                      <m:r>
                        <a:rPr lang="en-US" i="0">
                          <a:solidFill>
                            <a:srgbClr val="002060"/>
                          </a:solidFill>
                          <a:latin typeface="Cambria Math" panose="02040503050406030204" pitchFamily="18" charset="0"/>
                        </a:rPr>
                        <m:t>=</m:t>
                      </m:r>
                      <m:r>
                        <a:rPr lang="en-US" i="0">
                          <a:solidFill>
                            <a:srgbClr val="002060"/>
                          </a:solidFill>
                          <a:latin typeface="Cambria Math" panose="02040503050406030204" pitchFamily="18" charset="0"/>
                        </a:rPr>
                        <m:t>1</m:t>
                      </m:r>
                      <m:r>
                        <a:rPr lang="en-US" i="0">
                          <a:solidFill>
                            <a:srgbClr val="002060"/>
                          </a:solidFill>
                          <a:latin typeface="Cambria Math" panose="02040503050406030204" pitchFamily="18" charset="0"/>
                        </a:rPr>
                        <m:t>,</m:t>
                      </m:r>
                      <m:r>
                        <a:rPr lang="en-US" i="0">
                          <a:solidFill>
                            <a:srgbClr val="002060"/>
                          </a:solidFill>
                          <a:latin typeface="Cambria Math" panose="02040503050406030204" pitchFamily="18" charset="0"/>
                        </a:rPr>
                        <m:t>2</m:t>
                      </m:r>
                      <m:r>
                        <a:rPr lang="en-US" i="0">
                          <a:solidFill>
                            <a:srgbClr val="002060"/>
                          </a:solidFill>
                          <a:latin typeface="Cambria Math" panose="02040503050406030204" pitchFamily="18" charset="0"/>
                        </a:rPr>
                        <m:t>,</m:t>
                      </m:r>
                      <m:r>
                        <a:rPr lang="en-US" i="0">
                          <a:solidFill>
                            <a:srgbClr val="002060"/>
                          </a:solidFill>
                          <a:latin typeface="Cambria Math" panose="02040503050406030204" pitchFamily="18" charset="0"/>
                        </a:rPr>
                        <m:t>3</m:t>
                      </m:r>
                      <m:r>
                        <a:rPr lang="en-US" i="0">
                          <a:solidFill>
                            <a:srgbClr val="002060"/>
                          </a:solidFill>
                          <a:latin typeface="Cambria Math" panose="02040503050406030204" pitchFamily="18" charset="0"/>
                        </a:rPr>
                        <m:t>,…,</m:t>
                      </m:r>
                      <m:r>
                        <a:rPr lang="en-US" i="1">
                          <a:solidFill>
                            <a:srgbClr val="002060"/>
                          </a:solidFill>
                          <a:latin typeface="Cambria Math" panose="02040503050406030204" pitchFamily="18" charset="0"/>
                        </a:rPr>
                        <m:t>𝑛</m:t>
                      </m:r>
                    </m:oMath>
                  </m:oMathPara>
                </a14:m>
                <a:endParaRPr lang="en-US" dirty="0">
                  <a:solidFill>
                    <a:srgbClr val="002060"/>
                  </a:solidFill>
                </a:endParaRPr>
              </a:p>
            </p:txBody>
          </p:sp>
        </mc:Choice>
        <mc:Fallback xmlns="">
          <p:sp>
            <p:nvSpPr>
              <p:cNvPr id="11" name="TextBox 10">
                <a:extLst>
                  <a:ext uri="{FF2B5EF4-FFF2-40B4-BE49-F238E27FC236}">
                    <a16:creationId xmlns:a16="http://schemas.microsoft.com/office/drawing/2014/main" id="{D97BE03D-2F99-2F62-086B-04CC57A9E79B}"/>
                  </a:ext>
                </a:extLst>
              </p:cNvPr>
              <p:cNvSpPr txBox="1">
                <a:spLocks noRot="1" noChangeAspect="1" noMove="1" noResize="1" noEditPoints="1" noAdjustHandles="1" noChangeArrowheads="1" noChangeShapeType="1" noTextEdit="1"/>
              </p:cNvSpPr>
              <p:nvPr/>
            </p:nvSpPr>
            <p:spPr>
              <a:xfrm>
                <a:off x="121920" y="1279966"/>
                <a:ext cx="10287000" cy="646331"/>
              </a:xfrm>
              <a:prstGeom prst="rect">
                <a:avLst/>
              </a:prstGeom>
              <a:blipFill>
                <a:blip r:embed="rId3"/>
                <a:stretch>
                  <a:fillRect l="-474" t="-4717"/>
                </a:stretch>
              </a:blipFill>
            </p:spPr>
            <p:txBody>
              <a:bodyPr/>
              <a:lstStyle/>
              <a:p>
                <a:r>
                  <a:rPr lang="en-ZA">
                    <a:noFill/>
                  </a:rPr>
                  <a:t> </a:t>
                </a:r>
              </a:p>
            </p:txBody>
          </p:sp>
        </mc:Fallback>
      </mc:AlternateContent>
      <p:graphicFrame>
        <p:nvGraphicFramePr>
          <p:cNvPr id="12" name="Table 11">
            <a:extLst>
              <a:ext uri="{FF2B5EF4-FFF2-40B4-BE49-F238E27FC236}">
                <a16:creationId xmlns:a16="http://schemas.microsoft.com/office/drawing/2014/main" id="{8F03730A-93E1-95B8-A232-05F6A442FE56}"/>
              </a:ext>
            </a:extLst>
          </p:cNvPr>
          <p:cNvGraphicFramePr>
            <a:graphicFrameLocks noGrp="1"/>
          </p:cNvGraphicFramePr>
          <p:nvPr>
            <p:extLst>
              <p:ext uri="{D42A27DB-BD31-4B8C-83A1-F6EECF244321}">
                <p14:modId xmlns:p14="http://schemas.microsoft.com/office/powerpoint/2010/main" val="1672146656"/>
              </p:ext>
            </p:extLst>
          </p:nvPr>
        </p:nvGraphicFramePr>
        <p:xfrm>
          <a:off x="121921" y="2029768"/>
          <a:ext cx="10531902" cy="1645920"/>
        </p:xfrm>
        <a:graphic>
          <a:graphicData uri="http://schemas.openxmlformats.org/drawingml/2006/table">
            <a:tbl>
              <a:tblPr/>
              <a:tblGrid>
                <a:gridCol w="4151705">
                  <a:extLst>
                    <a:ext uri="{9D8B030D-6E8A-4147-A177-3AD203B41FA5}">
                      <a16:colId xmlns:a16="http://schemas.microsoft.com/office/drawing/2014/main" val="3495728735"/>
                    </a:ext>
                  </a:extLst>
                </a:gridCol>
                <a:gridCol w="6380197">
                  <a:extLst>
                    <a:ext uri="{9D8B030D-6E8A-4147-A177-3AD203B41FA5}">
                      <a16:colId xmlns:a16="http://schemas.microsoft.com/office/drawing/2014/main" val="2602259569"/>
                    </a:ext>
                  </a:extLst>
                </a:gridCol>
              </a:tblGrid>
              <a:tr h="0">
                <a:tc>
                  <a:txBody>
                    <a:bodyPr/>
                    <a:lstStyle/>
                    <a:p>
                      <a:pPr>
                        <a:buNone/>
                      </a:pPr>
                      <a:r>
                        <a:rPr lang="en-ZA" sz="1200" b="1" dirty="0">
                          <a:solidFill>
                            <a:srgbClr val="002060"/>
                          </a:solidFill>
                        </a:rPr>
                        <a:t>Step</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85000"/>
                      </a:schemeClr>
                    </a:solidFill>
                  </a:tcPr>
                </a:tc>
                <a:tc>
                  <a:txBody>
                    <a:bodyPr/>
                    <a:lstStyle/>
                    <a:p>
                      <a:pPr>
                        <a:buNone/>
                      </a:pPr>
                      <a:r>
                        <a:rPr lang="en-ZA" sz="1200" b="1" dirty="0">
                          <a:solidFill>
                            <a:srgbClr val="002060"/>
                          </a:solidFill>
                        </a:rPr>
                        <a:t>Purpose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85000"/>
                      </a:schemeClr>
                    </a:solidFill>
                  </a:tcPr>
                </a:tc>
                <a:extLst>
                  <a:ext uri="{0D108BD9-81ED-4DB2-BD59-A6C34878D82A}">
                    <a16:rowId xmlns:a16="http://schemas.microsoft.com/office/drawing/2014/main" val="725160332"/>
                  </a:ext>
                </a:extLst>
              </a:tr>
              <a:tr h="0">
                <a:tc>
                  <a:txBody>
                    <a:bodyPr/>
                    <a:lstStyle/>
                    <a:p>
                      <a:pPr>
                        <a:buNone/>
                      </a:pPr>
                      <a:r>
                        <a:rPr lang="en-ZA" sz="1200">
                          <a:solidFill>
                            <a:srgbClr val="002060"/>
                          </a:solidFill>
                        </a:rPr>
                        <a:t>Loads new monthly transactions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200" dirty="0">
                          <a:solidFill>
                            <a:srgbClr val="002060"/>
                          </a:solidFill>
                        </a:rPr>
                        <a:t>Captures recent customer behaviour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47214134"/>
                  </a:ext>
                </a:extLst>
              </a:tr>
              <a:tr h="0">
                <a:tc>
                  <a:txBody>
                    <a:bodyPr/>
                    <a:lstStyle/>
                    <a:p>
                      <a:pPr>
                        <a:buNone/>
                      </a:pPr>
                      <a:r>
                        <a:rPr lang="en-US" sz="1200">
                          <a:solidFill>
                            <a:srgbClr val="002060"/>
                          </a:solidFill>
                        </a:rPr>
                        <a:t>Recalculates RFM and cascaded RFM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200" dirty="0">
                          <a:solidFill>
                            <a:srgbClr val="002060"/>
                          </a:solidFill>
                        </a:rPr>
                        <a:t>Updates behavioural features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99225575"/>
                  </a:ext>
                </a:extLst>
              </a:tr>
              <a:tr h="0">
                <a:tc>
                  <a:txBody>
                    <a:bodyPr/>
                    <a:lstStyle/>
                    <a:p>
                      <a:pPr>
                        <a:buNone/>
                      </a:pPr>
                      <a:r>
                        <a:rPr lang="en-ZA" sz="1200" dirty="0">
                          <a:solidFill>
                            <a:srgbClr val="002060"/>
                          </a:solidFill>
                        </a:rPr>
                        <a:t>Applies dynamic fuzzy clustering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200">
                          <a:solidFill>
                            <a:srgbClr val="002060"/>
                          </a:solidFill>
                        </a:rPr>
                        <a:t>Allows customers to belong to clusters by membership strength</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04384226"/>
                  </a:ext>
                </a:extLst>
              </a:tr>
              <a:tr h="0">
                <a:tc>
                  <a:txBody>
                    <a:bodyPr/>
                    <a:lstStyle/>
                    <a:p>
                      <a:pPr>
                        <a:buNone/>
                      </a:pPr>
                      <a:r>
                        <a:rPr lang="en-ZA" sz="1200" dirty="0">
                          <a:solidFill>
                            <a:srgbClr val="002060"/>
                          </a:solidFill>
                        </a:rPr>
                        <a:t>Tracks customer migration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200">
                          <a:solidFill>
                            <a:srgbClr val="002060"/>
                          </a:solidFill>
                        </a:rPr>
                        <a:t>Detects whether customers stayed, moved, or shifted risk level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74312236"/>
                  </a:ext>
                </a:extLst>
              </a:tr>
              <a:tr h="0">
                <a:tc>
                  <a:txBody>
                    <a:bodyPr/>
                    <a:lstStyle/>
                    <a:p>
                      <a:pPr>
                        <a:buNone/>
                      </a:pPr>
                      <a:r>
                        <a:rPr lang="en-ZA" sz="1200" dirty="0">
                          <a:solidFill>
                            <a:srgbClr val="002060"/>
                          </a:solidFill>
                        </a:rPr>
                        <a:t>Stores updated results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200" dirty="0">
                          <a:solidFill>
                            <a:srgbClr val="002060"/>
                          </a:solidFill>
                        </a:rPr>
                        <a:t>Saves dynamic outputs for dashboard visualization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49499517"/>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FCC6115-0864-897F-95D5-65C5A847033E}"/>
                  </a:ext>
                </a:extLst>
              </p:cNvPr>
              <p:cNvSpPr txBox="1"/>
              <p:nvPr/>
            </p:nvSpPr>
            <p:spPr>
              <a:xfrm>
                <a:off x="401378" y="4215767"/>
                <a:ext cx="6097772"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i="1" dirty="0" smtClean="0">
                          <a:solidFill>
                            <a:srgbClr val="002060"/>
                          </a:solidFill>
                          <a:latin typeface="Cambria Math" panose="02040503050406030204" pitchFamily="18" charset="0"/>
                        </a:rPr>
                        <m:t>𝑆</m:t>
                      </m:r>
                      <m:sSub>
                        <m:sSubPr>
                          <m:ctrlPr>
                            <a:rPr lang="it-IT" i="1" dirty="0">
                              <a:solidFill>
                                <a:srgbClr val="002060"/>
                              </a:solidFill>
                              <a:latin typeface="Cambria Math" panose="02040503050406030204" pitchFamily="18" charset="0"/>
                            </a:rPr>
                          </m:ctrlPr>
                        </m:sSubPr>
                        <m:e>
                          <m:r>
                            <a:rPr lang="it-IT" i="1" dirty="0">
                              <a:solidFill>
                                <a:srgbClr val="002060"/>
                              </a:solidFill>
                              <a:latin typeface="Cambria Math" panose="02040503050406030204" pitchFamily="18" charset="0"/>
                            </a:rPr>
                            <m:t>𝑒</m:t>
                          </m:r>
                        </m:e>
                        <m:sub>
                          <m:r>
                            <a:rPr lang="it-IT" i="1" dirty="0">
                              <a:solidFill>
                                <a:srgbClr val="002060"/>
                              </a:solidFill>
                              <a:latin typeface="Cambria Math" panose="02040503050406030204" pitchFamily="18" charset="0"/>
                            </a:rPr>
                            <m:t>𝑖</m:t>
                          </m:r>
                          <m:r>
                            <a:rPr lang="it-IT" i="1" dirty="0">
                              <a:solidFill>
                                <a:srgbClr val="002060"/>
                              </a:solidFill>
                              <a:latin typeface="Cambria Math" panose="02040503050406030204" pitchFamily="18" charset="0"/>
                            </a:rPr>
                            <m:t>,</m:t>
                          </m:r>
                          <m:r>
                            <a:rPr lang="it-IT" i="1" dirty="0">
                              <a:solidFill>
                                <a:srgbClr val="002060"/>
                              </a:solidFill>
                              <a:latin typeface="Cambria Math" panose="02040503050406030204" pitchFamily="18" charset="0"/>
                            </a:rPr>
                            <m:t>𝑘</m:t>
                          </m:r>
                          <m:r>
                            <a:rPr lang="it-IT" i="1" dirty="0">
                              <a:solidFill>
                                <a:srgbClr val="002060"/>
                              </a:solidFill>
                              <a:latin typeface="Cambria Math" panose="02040503050406030204" pitchFamily="18" charset="0"/>
                            </a:rPr>
                            <m:t>,</m:t>
                          </m:r>
                          <m:r>
                            <a:rPr lang="it-IT" i="1" dirty="0">
                              <a:solidFill>
                                <a:srgbClr val="002060"/>
                              </a:solidFill>
                              <a:latin typeface="Cambria Math" panose="02040503050406030204" pitchFamily="18" charset="0"/>
                            </a:rPr>
                            <m:t>𝑡</m:t>
                          </m:r>
                        </m:sub>
                      </m:sSub>
                      <m:r>
                        <a:rPr lang="it-IT" i="1" dirty="0">
                          <a:solidFill>
                            <a:srgbClr val="002060"/>
                          </a:solidFill>
                          <a:latin typeface="Cambria Math" panose="02040503050406030204" pitchFamily="18" charset="0"/>
                        </a:rPr>
                        <m:t>∈</m:t>
                      </m:r>
                      <m:d>
                        <m:dPr>
                          <m:begChr m:val="["/>
                          <m:endChr m:val="]"/>
                          <m:ctrlPr>
                            <a:rPr lang="it-IT" i="1" dirty="0">
                              <a:solidFill>
                                <a:srgbClr val="002060"/>
                              </a:solidFill>
                              <a:latin typeface="Cambria Math" panose="02040503050406030204" pitchFamily="18" charset="0"/>
                            </a:rPr>
                          </m:ctrlPr>
                        </m:dPr>
                        <m:e>
                          <m:r>
                            <a:rPr lang="it-IT" i="1" dirty="0">
                              <a:solidFill>
                                <a:srgbClr val="002060"/>
                              </a:solidFill>
                              <a:latin typeface="Cambria Math" panose="02040503050406030204" pitchFamily="18" charset="0"/>
                            </a:rPr>
                            <m:t>0</m:t>
                          </m:r>
                          <m:r>
                            <a:rPr lang="it-IT" i="1" dirty="0">
                              <a:solidFill>
                                <a:srgbClr val="002060"/>
                              </a:solidFill>
                              <a:latin typeface="Cambria Math" panose="02040503050406030204" pitchFamily="18" charset="0"/>
                            </a:rPr>
                            <m:t>,</m:t>
                          </m:r>
                          <m:r>
                            <a:rPr lang="it-IT" i="1" dirty="0">
                              <a:solidFill>
                                <a:srgbClr val="002060"/>
                              </a:solidFill>
                              <a:latin typeface="Cambria Math" panose="02040503050406030204" pitchFamily="18" charset="0"/>
                            </a:rPr>
                            <m:t>1</m:t>
                          </m:r>
                        </m:e>
                      </m:d>
                    </m:oMath>
                  </m:oMathPara>
                </a14:m>
                <a:endParaRPr dirty="0"/>
              </a:p>
            </p:txBody>
          </p:sp>
        </mc:Choice>
        <mc:Fallback xmlns="">
          <p:sp>
            <p:nvSpPr>
              <p:cNvPr id="14" name="TextBox 13">
                <a:extLst>
                  <a:ext uri="{FF2B5EF4-FFF2-40B4-BE49-F238E27FC236}">
                    <a16:creationId xmlns:a16="http://schemas.microsoft.com/office/drawing/2014/main" id="{7FCC6115-0864-897F-95D5-65C5A847033E}"/>
                  </a:ext>
                </a:extLst>
              </p:cNvPr>
              <p:cNvSpPr txBox="1">
                <a:spLocks noRot="1" noChangeAspect="1" noMove="1" noResize="1" noEditPoints="1" noAdjustHandles="1" noChangeArrowheads="1" noChangeShapeType="1" noTextEdit="1"/>
              </p:cNvSpPr>
              <p:nvPr/>
            </p:nvSpPr>
            <p:spPr>
              <a:xfrm>
                <a:off x="401378" y="4215767"/>
                <a:ext cx="6097772" cy="381515"/>
              </a:xfrm>
              <a:prstGeom prst="rect">
                <a:avLst/>
              </a:prstGeom>
              <a:blipFill>
                <a:blip r:embed="rId4"/>
                <a:stretch>
                  <a:fillRect t="-11290" b="-20968"/>
                </a:stretch>
              </a:blipFill>
            </p:spPr>
            <p:txBody>
              <a:bodyPr/>
              <a:lstStyle/>
              <a:p>
                <a:r>
                  <a:rPr lang="en-ZA">
                    <a:noFill/>
                  </a:rPr>
                  <a:t> </a:t>
                </a:r>
              </a:p>
            </p:txBody>
          </p:sp>
        </mc:Fallback>
      </mc:AlternateContent>
      <p:sp>
        <p:nvSpPr>
          <p:cNvPr id="16" name="TextBox 15">
            <a:extLst>
              <a:ext uri="{FF2B5EF4-FFF2-40B4-BE49-F238E27FC236}">
                <a16:creationId xmlns:a16="http://schemas.microsoft.com/office/drawing/2014/main" id="{A82D6AD6-619A-006D-3248-69A02300B7EE}"/>
              </a:ext>
            </a:extLst>
          </p:cNvPr>
          <p:cNvSpPr txBox="1"/>
          <p:nvPr/>
        </p:nvSpPr>
        <p:spPr>
          <a:xfrm>
            <a:off x="121921" y="3825524"/>
            <a:ext cx="6097772" cy="369332"/>
          </a:xfrm>
          <a:prstGeom prst="rect">
            <a:avLst/>
          </a:prstGeom>
          <a:noFill/>
        </p:spPr>
        <p:txBody>
          <a:bodyPr wrap="square">
            <a:spAutoFit/>
          </a:bodyPr>
          <a:lstStyle/>
          <a:p>
            <a:r>
              <a:rPr lang="en-ZA" sz="1800" b="1" dirty="0">
                <a:solidFill>
                  <a:srgbClr val="002060"/>
                </a:solidFill>
              </a:rPr>
              <a:t>Dynamic Fuzzy formula</a:t>
            </a:r>
            <a:endParaRPr lang="en-ZA" b="1"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D197F0E-5A51-690A-CFC0-C8FFAAC7A817}"/>
                  </a:ext>
                </a:extLst>
              </p:cNvPr>
              <p:cNvSpPr txBox="1"/>
              <p:nvPr/>
            </p:nvSpPr>
            <p:spPr>
              <a:xfrm>
                <a:off x="209992" y="4626688"/>
                <a:ext cx="7272848" cy="1247265"/>
              </a:xfrm>
              <a:prstGeom prst="rect">
                <a:avLst/>
              </a:prstGeom>
              <a:noFill/>
            </p:spPr>
            <p:txBody>
              <a:bodyPr wrap="square">
                <a:spAutoFit/>
              </a:bodyPr>
              <a:lstStyle/>
              <a:p>
                <a:pPr>
                  <a:lnSpc>
                    <a:spcPct val="150000"/>
                  </a:lnSpc>
                  <a:spcBef>
                    <a:spcPts val="1200"/>
                  </a:spcBef>
                  <a:buNone/>
                </a:pPr>
                <a:r>
                  <a:rPr lang="en-ZA" sz="1600" dirty="0">
                    <a:solidFill>
                      <a:srgbClr val="002060"/>
                    </a:solidFill>
                  </a:rPr>
                  <a:t>Where </a:t>
                </a:r>
                <a14:m>
                  <m:oMath xmlns:m="http://schemas.openxmlformats.org/officeDocument/2006/math">
                    <m:r>
                      <a:rPr lang="en-ZA" sz="1600" i="1" smtClean="0">
                        <a:solidFill>
                          <a:srgbClr val="002060"/>
                        </a:solidFill>
                        <a:latin typeface="Cambria Math" panose="02040503050406030204" pitchFamily="18" charset="0"/>
                      </a:rPr>
                      <m:t>𝑆</m:t>
                    </m:r>
                    <m:sSub>
                      <m:sSubPr>
                        <m:ctrlPr>
                          <a:rPr lang="ar-AE" sz="1600" i="1">
                            <a:solidFill>
                              <a:srgbClr val="002060"/>
                            </a:solidFill>
                            <a:latin typeface="Cambria Math" panose="02040503050406030204" pitchFamily="18" charset="0"/>
                          </a:rPr>
                        </m:ctrlPr>
                      </m:sSubPr>
                      <m:e>
                        <m:r>
                          <a:rPr lang="ar-AE" sz="1600" i="1">
                            <a:solidFill>
                              <a:srgbClr val="002060"/>
                            </a:solidFill>
                            <a:latin typeface="Cambria Math" panose="02040503050406030204" pitchFamily="18" charset="0"/>
                          </a:rPr>
                          <m:t>𝑒</m:t>
                        </m:r>
                      </m:e>
                      <m:sub>
                        <m:r>
                          <a:rPr lang="ar-AE" sz="1600" i="1">
                            <a:solidFill>
                              <a:srgbClr val="002060"/>
                            </a:solidFill>
                            <a:latin typeface="Cambria Math" panose="02040503050406030204" pitchFamily="18" charset="0"/>
                          </a:rPr>
                          <m:t>𝑖</m:t>
                        </m:r>
                        <m:r>
                          <a:rPr lang="ar-AE" sz="1600" i="0">
                            <a:solidFill>
                              <a:srgbClr val="002060"/>
                            </a:solidFill>
                            <a:latin typeface="Cambria Math" panose="02040503050406030204" pitchFamily="18" charset="0"/>
                          </a:rPr>
                          <m:t>,</m:t>
                        </m:r>
                        <m:r>
                          <a:rPr lang="ar-AE" sz="1600" i="1">
                            <a:solidFill>
                              <a:srgbClr val="002060"/>
                            </a:solidFill>
                            <a:latin typeface="Cambria Math" panose="02040503050406030204" pitchFamily="18" charset="0"/>
                          </a:rPr>
                          <m:t>𝑘</m:t>
                        </m:r>
                        <m:r>
                          <a:rPr lang="ar-AE" sz="1600" i="0">
                            <a:solidFill>
                              <a:srgbClr val="002060"/>
                            </a:solidFill>
                            <a:latin typeface="Cambria Math" panose="02040503050406030204" pitchFamily="18" charset="0"/>
                          </a:rPr>
                          <m:t>,</m:t>
                        </m:r>
                        <m:r>
                          <a:rPr lang="ar-AE" sz="1600" i="1">
                            <a:solidFill>
                              <a:srgbClr val="002060"/>
                            </a:solidFill>
                            <a:latin typeface="Cambria Math" panose="02040503050406030204" pitchFamily="18" charset="0"/>
                          </a:rPr>
                          <m:t>𝑡</m:t>
                        </m:r>
                      </m:sub>
                    </m:sSub>
                  </m:oMath>
                </a14:m>
                <a:r>
                  <a:rPr lang="en-ZA" sz="1600" dirty="0">
                    <a:solidFill>
                      <a:srgbClr val="002060"/>
                    </a:solidFill>
                  </a:rPr>
                  <a:t>is the </a:t>
                </a:r>
                <a:r>
                  <a:rPr lang="en-ZA" sz="1600" dirty="0">
                    <a:solidFill>
                      <a:srgbClr val="00B0F0"/>
                    </a:solidFill>
                  </a:rPr>
                  <a:t>membership strength </a:t>
                </a:r>
                <a:r>
                  <a:rPr lang="en-ZA" sz="1600" dirty="0">
                    <a:solidFill>
                      <a:srgbClr val="002060"/>
                    </a:solidFill>
                  </a:rPr>
                  <a:t>of customer </a:t>
                </a:r>
                <a14:m>
                  <m:oMath xmlns:m="http://schemas.openxmlformats.org/officeDocument/2006/math">
                    <m:r>
                      <a:rPr lang="en-ZA" sz="1600" i="1" smtClean="0">
                        <a:solidFill>
                          <a:srgbClr val="002060"/>
                        </a:solidFill>
                        <a:latin typeface="Cambria Math" panose="02040503050406030204" pitchFamily="18" charset="0"/>
                      </a:rPr>
                      <m:t>𝑖</m:t>
                    </m:r>
                    <m:r>
                      <a:rPr lang="en-ZA" sz="1600" b="0" i="1" smtClean="0">
                        <a:solidFill>
                          <a:srgbClr val="002060"/>
                        </a:solidFill>
                        <a:latin typeface="Cambria Math" panose="02040503050406030204" pitchFamily="18" charset="0"/>
                      </a:rPr>
                      <m:t> </m:t>
                    </m:r>
                  </m:oMath>
                </a14:m>
                <a:r>
                  <a:rPr lang="en-ZA" sz="1600" dirty="0">
                    <a:solidFill>
                      <a:srgbClr val="002060"/>
                    </a:solidFill>
                  </a:rPr>
                  <a:t>in cluster </a:t>
                </a:r>
                <a14:m>
                  <m:oMath xmlns:m="http://schemas.openxmlformats.org/officeDocument/2006/math">
                    <m:r>
                      <a:rPr lang="en-ZA" sz="1600" i="1" smtClean="0">
                        <a:solidFill>
                          <a:srgbClr val="002060"/>
                        </a:solidFill>
                        <a:latin typeface="Cambria Math" panose="02040503050406030204" pitchFamily="18" charset="0"/>
                      </a:rPr>
                      <m:t>𝑘</m:t>
                    </m:r>
                  </m:oMath>
                </a14:m>
                <a:r>
                  <a:rPr lang="en-ZA" sz="1600" dirty="0">
                    <a:solidFill>
                      <a:srgbClr val="002060"/>
                    </a:solidFill>
                  </a:rPr>
                  <a:t> during cycle </a:t>
                </a:r>
                <a14:m>
                  <m:oMath xmlns:m="http://schemas.openxmlformats.org/officeDocument/2006/math">
                    <m:r>
                      <a:rPr lang="en-ZA" sz="1600" i="1">
                        <a:solidFill>
                          <a:srgbClr val="002060"/>
                        </a:solidFill>
                        <a:latin typeface="Cambria Math" panose="02040503050406030204" pitchFamily="18" charset="0"/>
                      </a:rPr>
                      <m:t>𝑡</m:t>
                    </m:r>
                  </m:oMath>
                </a14:m>
                <a:r>
                  <a:rPr lang="en-ZA" sz="1600" dirty="0">
                    <a:solidFill>
                      <a:srgbClr val="002060"/>
                    </a:solidFill>
                  </a:rPr>
                  <a:t>.</a:t>
                </a:r>
              </a:p>
              <a:p>
                <a:pPr>
                  <a:lnSpc>
                    <a:spcPct val="150000"/>
                  </a:lnSpc>
                  <a:spcBef>
                    <a:spcPts val="1200"/>
                  </a:spcBef>
                  <a:buNone/>
                </a:pPr>
                <a:endParaRPr lang="en-ZA" sz="1600" dirty="0">
                  <a:solidFill>
                    <a:srgbClr val="002060"/>
                  </a:solidFill>
                </a:endParaRPr>
              </a:p>
              <a:p>
                <a:pPr>
                  <a:buNone/>
                </a:pPr>
                <a:r>
                  <a:rPr lang="en-ZA" sz="1600" dirty="0">
                    <a:solidFill>
                      <a:srgbClr val="002060"/>
                    </a:solidFill>
                  </a:rPr>
                  <a:t>The fuzzy clustering objective can be represented as:</a:t>
                </a:r>
              </a:p>
            </p:txBody>
          </p:sp>
        </mc:Choice>
        <mc:Fallback xmlns="">
          <p:sp>
            <p:nvSpPr>
              <p:cNvPr id="20" name="TextBox 19">
                <a:extLst>
                  <a:ext uri="{FF2B5EF4-FFF2-40B4-BE49-F238E27FC236}">
                    <a16:creationId xmlns:a16="http://schemas.microsoft.com/office/drawing/2014/main" id="{AD197F0E-5A51-690A-CFC0-C8FFAAC7A817}"/>
                  </a:ext>
                </a:extLst>
              </p:cNvPr>
              <p:cNvSpPr txBox="1">
                <a:spLocks noRot="1" noChangeAspect="1" noMove="1" noResize="1" noEditPoints="1" noAdjustHandles="1" noChangeArrowheads="1" noChangeShapeType="1" noTextEdit="1"/>
              </p:cNvSpPr>
              <p:nvPr/>
            </p:nvSpPr>
            <p:spPr>
              <a:xfrm>
                <a:off x="209992" y="4626688"/>
                <a:ext cx="7272848" cy="1247265"/>
              </a:xfrm>
              <a:prstGeom prst="rect">
                <a:avLst/>
              </a:prstGeom>
              <a:blipFill>
                <a:blip r:embed="rId5"/>
                <a:stretch>
                  <a:fillRect l="-419" b="-4878"/>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CECDDED5-976A-2922-ED30-9B29CCB44181}"/>
                  </a:ext>
                </a:extLst>
              </p:cNvPr>
              <p:cNvSpPr txBox="1"/>
              <p:nvPr/>
            </p:nvSpPr>
            <p:spPr>
              <a:xfrm>
                <a:off x="692445" y="5874697"/>
                <a:ext cx="6097772" cy="8485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ZA" i="1" dirty="0" smtClean="0">
                              <a:solidFill>
                                <a:srgbClr val="002060"/>
                              </a:solidFill>
                              <a:latin typeface="Cambria Math" panose="02040503050406030204" pitchFamily="18" charset="0"/>
                            </a:rPr>
                          </m:ctrlPr>
                        </m:sSubPr>
                        <m:e>
                          <m:r>
                            <a:rPr lang="en-ZA" i="1" dirty="0" smtClean="0">
                              <a:solidFill>
                                <a:srgbClr val="002060"/>
                              </a:solidFill>
                              <a:latin typeface="Cambria Math" panose="02040503050406030204" pitchFamily="18" charset="0"/>
                            </a:rPr>
                            <m:t>𝐽</m:t>
                          </m:r>
                        </m:e>
                        <m:sub>
                          <m:r>
                            <a:rPr lang="en-ZA" i="1" dirty="0" smtClean="0">
                              <a:solidFill>
                                <a:srgbClr val="002060"/>
                              </a:solidFill>
                              <a:latin typeface="Cambria Math" panose="02040503050406030204" pitchFamily="18" charset="0"/>
                            </a:rPr>
                            <m:t>𝑡</m:t>
                          </m:r>
                        </m:sub>
                      </m:sSub>
                      <m:r>
                        <a:rPr lang="en-ZA" i="1" dirty="0">
                          <a:solidFill>
                            <a:srgbClr val="002060"/>
                          </a:solidFill>
                          <a:latin typeface="Cambria Math" panose="02040503050406030204" pitchFamily="18" charset="0"/>
                        </a:rPr>
                        <m:t>=</m:t>
                      </m:r>
                      <m:nary>
                        <m:naryPr>
                          <m:chr m:val="∑"/>
                          <m:ctrlPr>
                            <a:rPr lang="en-ZA" i="1" dirty="0">
                              <a:solidFill>
                                <a:srgbClr val="002060"/>
                              </a:solidFill>
                              <a:latin typeface="Cambria Math" panose="02040503050406030204" pitchFamily="18" charset="0"/>
                            </a:rPr>
                          </m:ctrlPr>
                        </m:naryPr>
                        <m:sub>
                          <m:r>
                            <a:rPr lang="en-ZA" i="1" dirty="0" err="1">
                              <a:solidFill>
                                <a:srgbClr val="002060"/>
                              </a:solidFill>
                              <a:latin typeface="Cambria Math" panose="02040503050406030204" pitchFamily="18" charset="0"/>
                            </a:rPr>
                            <m:t>𝑖</m:t>
                          </m:r>
                          <m:r>
                            <a:rPr lang="en-ZA" i="1" dirty="0">
                              <a:solidFill>
                                <a:srgbClr val="002060"/>
                              </a:solidFill>
                              <a:latin typeface="Cambria Math" panose="02040503050406030204" pitchFamily="18" charset="0"/>
                            </a:rPr>
                            <m:t>=</m:t>
                          </m:r>
                          <m:r>
                            <a:rPr lang="en-ZA" i="1" dirty="0">
                              <a:solidFill>
                                <a:srgbClr val="002060"/>
                              </a:solidFill>
                              <a:latin typeface="Cambria Math" panose="02040503050406030204" pitchFamily="18" charset="0"/>
                            </a:rPr>
                            <m:t>1</m:t>
                          </m:r>
                        </m:sub>
                        <m:sup>
                          <m:sSub>
                            <m:sSubPr>
                              <m:ctrlPr>
                                <a:rPr lang="en-ZA" i="1" dirty="0" err="1">
                                  <a:solidFill>
                                    <a:srgbClr val="002060"/>
                                  </a:solidFill>
                                  <a:latin typeface="Cambria Math" panose="02040503050406030204" pitchFamily="18" charset="0"/>
                                </a:rPr>
                              </m:ctrlPr>
                            </m:sSubPr>
                            <m:e>
                              <m:r>
                                <a:rPr lang="en-ZA" i="1" dirty="0" err="1">
                                  <a:solidFill>
                                    <a:srgbClr val="002060"/>
                                  </a:solidFill>
                                  <a:latin typeface="Cambria Math" panose="02040503050406030204" pitchFamily="18" charset="0"/>
                                </a:rPr>
                                <m:t>𝑛</m:t>
                              </m:r>
                            </m:e>
                            <m:sub>
                              <m:r>
                                <a:rPr lang="en-ZA" i="1" dirty="0" err="1">
                                  <a:solidFill>
                                    <a:srgbClr val="002060"/>
                                  </a:solidFill>
                                  <a:latin typeface="Cambria Math" panose="02040503050406030204" pitchFamily="18" charset="0"/>
                                </a:rPr>
                                <m:t>𝑡</m:t>
                              </m:r>
                            </m:sub>
                          </m:sSub>
                        </m:sup>
                        <m:e>
                          <m:nary>
                            <m:naryPr>
                              <m:chr m:val="∑"/>
                              <m:ctrlPr>
                                <a:rPr lang="en-ZA" i="1" dirty="0">
                                  <a:solidFill>
                                    <a:srgbClr val="002060"/>
                                  </a:solidFill>
                                  <a:latin typeface="Cambria Math" panose="02040503050406030204" pitchFamily="18" charset="0"/>
                                </a:rPr>
                              </m:ctrlPr>
                            </m:naryPr>
                            <m:sub>
                              <m:r>
                                <a:rPr lang="en-ZA" i="1" dirty="0">
                                  <a:solidFill>
                                    <a:srgbClr val="002060"/>
                                  </a:solidFill>
                                  <a:latin typeface="Cambria Math" panose="02040503050406030204" pitchFamily="18" charset="0"/>
                                </a:rPr>
                                <m:t>𝑘</m:t>
                              </m:r>
                              <m:r>
                                <a:rPr lang="en-ZA" i="1" dirty="0">
                                  <a:solidFill>
                                    <a:srgbClr val="002060"/>
                                  </a:solidFill>
                                  <a:latin typeface="Cambria Math" panose="02040503050406030204" pitchFamily="18" charset="0"/>
                                </a:rPr>
                                <m:t>=</m:t>
                              </m:r>
                              <m:r>
                                <a:rPr lang="en-ZA" i="1" dirty="0">
                                  <a:solidFill>
                                    <a:srgbClr val="002060"/>
                                  </a:solidFill>
                                  <a:latin typeface="Cambria Math" panose="02040503050406030204" pitchFamily="18" charset="0"/>
                                </a:rPr>
                                <m:t>1</m:t>
                              </m:r>
                            </m:sub>
                            <m:sup>
                              <m:sSub>
                                <m:sSubPr>
                                  <m:ctrlPr>
                                    <a:rPr lang="en-ZA" i="1" dirty="0" err="1">
                                      <a:solidFill>
                                        <a:srgbClr val="002060"/>
                                      </a:solidFill>
                                      <a:latin typeface="Cambria Math" panose="02040503050406030204" pitchFamily="18" charset="0"/>
                                    </a:rPr>
                                  </m:ctrlPr>
                                </m:sSubPr>
                                <m:e>
                                  <m:r>
                                    <a:rPr lang="en-ZA" i="1" dirty="0" err="1">
                                      <a:solidFill>
                                        <a:srgbClr val="002060"/>
                                      </a:solidFill>
                                      <a:latin typeface="Cambria Math" panose="02040503050406030204" pitchFamily="18" charset="0"/>
                                    </a:rPr>
                                    <m:t>𝑐</m:t>
                                  </m:r>
                                </m:e>
                                <m:sub>
                                  <m:r>
                                    <a:rPr lang="en-ZA" i="1" dirty="0" err="1">
                                      <a:solidFill>
                                        <a:srgbClr val="002060"/>
                                      </a:solidFill>
                                      <a:latin typeface="Cambria Math" panose="02040503050406030204" pitchFamily="18" charset="0"/>
                                    </a:rPr>
                                    <m:t>𝑡</m:t>
                                  </m:r>
                                </m:sub>
                              </m:sSub>
                            </m:sup>
                            <m:e>
                              <m:sSup>
                                <m:sSupPr>
                                  <m:ctrlPr>
                                    <a:rPr lang="en-ZA" i="1" dirty="0">
                                      <a:solidFill>
                                        <a:srgbClr val="002060"/>
                                      </a:solidFill>
                                      <a:latin typeface="Cambria Math" panose="02040503050406030204" pitchFamily="18" charset="0"/>
                                    </a:rPr>
                                  </m:ctrlPr>
                                </m:sSupPr>
                                <m:e>
                                  <m:d>
                                    <m:dPr>
                                      <m:ctrlPr>
                                        <a:rPr lang="en-ZA" i="1" dirty="0">
                                          <a:solidFill>
                                            <a:srgbClr val="002060"/>
                                          </a:solidFill>
                                          <a:latin typeface="Cambria Math" panose="02040503050406030204" pitchFamily="18" charset="0"/>
                                        </a:rPr>
                                      </m:ctrlPr>
                                    </m:dPr>
                                    <m:e>
                                      <m:r>
                                        <a:rPr lang="en-ZA" i="1" dirty="0">
                                          <a:solidFill>
                                            <a:srgbClr val="002060"/>
                                          </a:solidFill>
                                          <a:latin typeface="Cambria Math" panose="02040503050406030204" pitchFamily="18" charset="0"/>
                                        </a:rPr>
                                        <m:t>𝑆</m:t>
                                      </m:r>
                                      <m:sSub>
                                        <m:sSubPr>
                                          <m:ctrlPr>
                                            <a:rPr lang="en-ZA" i="1" dirty="0">
                                              <a:solidFill>
                                                <a:srgbClr val="002060"/>
                                              </a:solidFill>
                                              <a:latin typeface="Cambria Math" panose="02040503050406030204" pitchFamily="18" charset="0"/>
                                            </a:rPr>
                                          </m:ctrlPr>
                                        </m:sSubPr>
                                        <m:e>
                                          <m:r>
                                            <a:rPr lang="en-ZA" i="1" dirty="0">
                                              <a:solidFill>
                                                <a:srgbClr val="002060"/>
                                              </a:solidFill>
                                              <a:latin typeface="Cambria Math" panose="02040503050406030204" pitchFamily="18" charset="0"/>
                                            </a:rPr>
                                            <m:t>𝑒</m:t>
                                          </m:r>
                                        </m:e>
                                        <m:sub>
                                          <m:r>
                                            <a:rPr lang="en-ZA" i="1" dirty="0" err="1">
                                              <a:solidFill>
                                                <a:srgbClr val="002060"/>
                                              </a:solidFill>
                                              <a:latin typeface="Cambria Math" panose="02040503050406030204" pitchFamily="18" charset="0"/>
                                            </a:rPr>
                                            <m:t>𝑖</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𝑘</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𝑡</m:t>
                                          </m:r>
                                        </m:sub>
                                      </m:sSub>
                                    </m:e>
                                  </m:d>
                                </m:e>
                                <m:sup>
                                  <m:r>
                                    <a:rPr lang="en-ZA" i="1" dirty="0">
                                      <a:solidFill>
                                        <a:srgbClr val="002060"/>
                                      </a:solidFill>
                                      <a:latin typeface="Cambria Math" panose="02040503050406030204" pitchFamily="18" charset="0"/>
                                    </a:rPr>
                                    <m:t>𝑚</m:t>
                                  </m:r>
                                </m:sup>
                              </m:sSup>
                              <m:d>
                                <m:dPr>
                                  <m:begChr m:val=""/>
                                  <m:endChr m:val=""/>
                                  <m:ctrlPr>
                                    <a:rPr lang="en-ZA" i="1" dirty="0">
                                      <a:solidFill>
                                        <a:srgbClr val="002060"/>
                                      </a:solidFill>
                                      <a:latin typeface="Cambria Math" panose="02040503050406030204" pitchFamily="18" charset="0"/>
                                    </a:rPr>
                                  </m:ctrlPr>
                                </m:dPr>
                                <m:e>
                                  <m:r>
                                    <m:rPr>
                                      <m:lit/>
                                    </m:rPr>
                                    <a:rPr lang="en-ZA" i="1" dirty="0">
                                      <a:solidFill>
                                        <a:srgbClr val="002060"/>
                                      </a:solidFill>
                                      <a:latin typeface="Cambria Math" panose="02040503050406030204" pitchFamily="18" charset="0"/>
                                    </a:rPr>
                                    <m:t>||</m:t>
                                  </m:r>
                                  <m:sSubSup>
                                    <m:sSubSupPr>
                                      <m:ctrlPr>
                                        <a:rPr lang="en-ZA" i="1" dirty="0">
                                          <a:solidFill>
                                            <a:srgbClr val="002060"/>
                                          </a:solidFill>
                                          <a:latin typeface="Cambria Math" panose="02040503050406030204" pitchFamily="18" charset="0"/>
                                        </a:rPr>
                                      </m:ctrlPr>
                                    </m:sSubSupPr>
                                    <m:e>
                                      <m:r>
                                        <a:rPr lang="en-ZA" i="1" dirty="0">
                                          <a:solidFill>
                                            <a:srgbClr val="002060"/>
                                          </a:solidFill>
                                          <a:latin typeface="Cambria Math" panose="02040503050406030204" pitchFamily="18" charset="0"/>
                                        </a:rPr>
                                        <m:t>𝑆</m:t>
                                      </m:r>
                                    </m:e>
                                    <m:sub>
                                      <m:r>
                                        <a:rPr lang="en-ZA" i="1" dirty="0" err="1">
                                          <a:solidFill>
                                            <a:srgbClr val="002060"/>
                                          </a:solidFill>
                                          <a:latin typeface="Cambria Math" panose="02040503050406030204" pitchFamily="18" charset="0"/>
                                        </a:rPr>
                                        <m:t>𝑖</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𝑡</m:t>
                                      </m:r>
                                    </m:sub>
                                    <m:sup>
                                      <m:r>
                                        <a:rPr lang="en-ZA" i="1" dirty="0" smtClean="0">
                                          <a:solidFill>
                                            <a:srgbClr val="002060"/>
                                          </a:solidFill>
                                          <a:latin typeface="Cambria Math" panose="02040503050406030204" pitchFamily="18" charset="0"/>
                                        </a:rPr>
                                        <m:t>𝑡𝑟𝑎𝑖𝑛</m:t>
                                      </m:r>
                                    </m:sup>
                                  </m:sSubSup>
                                  <m:r>
                                    <a:rPr lang="en-ZA" i="1" dirty="0">
                                      <a:solidFill>
                                        <a:srgbClr val="002060"/>
                                      </a:solidFill>
                                      <a:latin typeface="Cambria Math" panose="02040503050406030204" pitchFamily="18" charset="0"/>
                                    </a:rPr>
                                    <m:t>−</m:t>
                                  </m:r>
                                  <m:sSub>
                                    <m:sSubPr>
                                      <m:ctrlPr>
                                        <a:rPr lang="en-ZA" i="1" dirty="0">
                                          <a:solidFill>
                                            <a:srgbClr val="002060"/>
                                          </a:solidFill>
                                          <a:latin typeface="Cambria Math" panose="02040503050406030204" pitchFamily="18" charset="0"/>
                                        </a:rPr>
                                      </m:ctrlPr>
                                    </m:sSubPr>
                                    <m:e>
                                      <m:r>
                                        <a:rPr lang="en-ZA" i="1" dirty="0">
                                          <a:solidFill>
                                            <a:srgbClr val="002060"/>
                                          </a:solidFill>
                                          <a:latin typeface="Cambria Math" panose="02040503050406030204" pitchFamily="18" charset="0"/>
                                        </a:rPr>
                                        <m:t>𝑉</m:t>
                                      </m:r>
                                    </m:e>
                                    <m:sub>
                                      <m:r>
                                        <a:rPr lang="en-ZA" i="1" dirty="0" err="1">
                                          <a:solidFill>
                                            <a:srgbClr val="002060"/>
                                          </a:solidFill>
                                          <a:latin typeface="Cambria Math" panose="02040503050406030204" pitchFamily="18" charset="0"/>
                                        </a:rPr>
                                        <m:t>𝑘</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𝑡</m:t>
                                      </m:r>
                                    </m:sub>
                                  </m:sSub>
                                </m:e>
                              </m:d>
                              <m:sSup>
                                <m:sSupPr>
                                  <m:ctrlPr>
                                    <a:rPr lang="en-ZA" i="1" dirty="0">
                                      <a:solidFill>
                                        <a:srgbClr val="002060"/>
                                      </a:solidFill>
                                      <a:latin typeface="Cambria Math" panose="02040503050406030204" pitchFamily="18" charset="0"/>
                                    </a:rPr>
                                  </m:ctrlPr>
                                </m:sSupPr>
                                <m:e>
                                  <m:r>
                                    <m:rPr>
                                      <m:lit/>
                                    </m:rPr>
                                    <a:rPr lang="en-ZA" i="1" dirty="0">
                                      <a:solidFill>
                                        <a:srgbClr val="002060"/>
                                      </a:solidFill>
                                      <a:latin typeface="Cambria Math" panose="02040503050406030204" pitchFamily="18" charset="0"/>
                                    </a:rPr>
                                    <m:t>||</m:t>
                                  </m:r>
                                </m:e>
                                <m:sup>
                                  <m:r>
                                    <a:rPr lang="en-ZA" i="1" dirty="0">
                                      <a:solidFill>
                                        <a:srgbClr val="002060"/>
                                      </a:solidFill>
                                      <a:latin typeface="Cambria Math" panose="02040503050406030204" pitchFamily="18" charset="0"/>
                                    </a:rPr>
                                    <m:t>2</m:t>
                                  </m:r>
                                </m:sup>
                              </m:sSup>
                            </m:e>
                          </m:nary>
                        </m:e>
                      </m:nary>
                    </m:oMath>
                  </m:oMathPara>
                </a14:m>
                <a:endParaRPr dirty="0"/>
              </a:p>
            </p:txBody>
          </p:sp>
        </mc:Choice>
        <mc:Fallback xmlns="">
          <p:sp>
            <p:nvSpPr>
              <p:cNvPr id="22" name="TextBox 21">
                <a:extLst>
                  <a:ext uri="{FF2B5EF4-FFF2-40B4-BE49-F238E27FC236}">
                    <a16:creationId xmlns:a16="http://schemas.microsoft.com/office/drawing/2014/main" id="{CECDDED5-976A-2922-ED30-9B29CCB44181}"/>
                  </a:ext>
                </a:extLst>
              </p:cNvPr>
              <p:cNvSpPr txBox="1">
                <a:spLocks noRot="1" noChangeAspect="1" noMove="1" noResize="1" noEditPoints="1" noAdjustHandles="1" noChangeArrowheads="1" noChangeShapeType="1" noTextEdit="1"/>
              </p:cNvSpPr>
              <p:nvPr/>
            </p:nvSpPr>
            <p:spPr>
              <a:xfrm>
                <a:off x="692445" y="5874697"/>
                <a:ext cx="6097772" cy="848566"/>
              </a:xfrm>
              <a:prstGeom prst="rect">
                <a:avLst/>
              </a:prstGeom>
              <a:blipFill>
                <a:blip r:embed="rId6"/>
                <a:stretch>
                  <a:fillRect/>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DE8809BC-C443-CB61-846A-BABD3E67CAC2}"/>
                  </a:ext>
                </a:extLst>
              </p:cNvPr>
              <p:cNvGraphicFramePr>
                <a:graphicFrameLocks noGrp="1"/>
              </p:cNvGraphicFramePr>
              <p:nvPr>
                <p:extLst>
                  <p:ext uri="{D42A27DB-BD31-4B8C-83A1-F6EECF244321}">
                    <p14:modId xmlns:p14="http://schemas.microsoft.com/office/powerpoint/2010/main" val="3558127955"/>
                  </p:ext>
                </p:extLst>
              </p:nvPr>
            </p:nvGraphicFramePr>
            <p:xfrm>
              <a:off x="7482840" y="4480887"/>
              <a:ext cx="4415073" cy="2242376"/>
            </p:xfrm>
            <a:graphic>
              <a:graphicData uri="http://schemas.openxmlformats.org/drawingml/2006/table">
                <a:tbl>
                  <a:tblPr/>
                  <a:tblGrid>
                    <a:gridCol w="804148">
                      <a:extLst>
                        <a:ext uri="{9D8B030D-6E8A-4147-A177-3AD203B41FA5}">
                          <a16:colId xmlns:a16="http://schemas.microsoft.com/office/drawing/2014/main" val="1923210505"/>
                        </a:ext>
                      </a:extLst>
                    </a:gridCol>
                    <a:gridCol w="3610925">
                      <a:extLst>
                        <a:ext uri="{9D8B030D-6E8A-4147-A177-3AD203B41FA5}">
                          <a16:colId xmlns:a16="http://schemas.microsoft.com/office/drawing/2014/main" val="562523974"/>
                        </a:ext>
                      </a:extLst>
                    </a:gridCol>
                  </a:tblGrid>
                  <a:tr h="0">
                    <a:tc>
                      <a:txBody>
                        <a:bodyPr/>
                        <a:lstStyle/>
                        <a:p>
                          <a:pPr>
                            <a:buNone/>
                          </a:pPr>
                          <a:r>
                            <a:rPr lang="en-ZA" sz="1200" b="1">
                              <a:solidFill>
                                <a:srgbClr val="002060"/>
                              </a:solidFill>
                            </a:rPr>
                            <a:t>Symbol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85000"/>
                          </a:schemeClr>
                        </a:solidFill>
                      </a:tcPr>
                    </a:tc>
                    <a:tc>
                      <a:txBody>
                        <a:bodyPr/>
                        <a:lstStyle/>
                        <a:p>
                          <a:pPr>
                            <a:buNone/>
                          </a:pPr>
                          <a:r>
                            <a:rPr lang="en-ZA" sz="1200" b="1" dirty="0">
                              <a:solidFill>
                                <a:srgbClr val="002060"/>
                              </a:solidFill>
                            </a:rPr>
                            <a:t>Meaning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85000"/>
                          </a:schemeClr>
                        </a:solidFill>
                      </a:tcPr>
                    </a:tc>
                    <a:extLst>
                      <a:ext uri="{0D108BD9-81ED-4DB2-BD59-A6C34878D82A}">
                        <a16:rowId xmlns:a16="http://schemas.microsoft.com/office/drawing/2014/main" val="3766541024"/>
                      </a:ext>
                    </a:extLst>
                  </a:tr>
                  <a:tr h="0">
                    <a:tc>
                      <a:txBody>
                        <a:bodyPr/>
                        <a:lstStyle/>
                        <a:p>
                          <a:pPr>
                            <a:buNone/>
                          </a:pPr>
                          <a14:m>
                            <m:oMathPara xmlns:m="http://schemas.openxmlformats.org/officeDocument/2006/math">
                              <m:oMathParaPr>
                                <m:jc m:val="centerGroup"/>
                              </m:oMathParaPr>
                              <m:oMath xmlns:m="http://schemas.openxmlformats.org/officeDocument/2006/math">
                                <m:sSub>
                                  <m:sSubPr>
                                    <m:ctrlPr>
                                      <a:rPr lang="en-ZA" sz="1200" i="1" dirty="0" smtClean="0">
                                        <a:solidFill>
                                          <a:srgbClr val="002060"/>
                                        </a:solidFill>
                                        <a:latin typeface="Cambria Math" panose="02040503050406030204" pitchFamily="18" charset="0"/>
                                      </a:rPr>
                                    </m:ctrlPr>
                                  </m:sSubPr>
                                  <m:e>
                                    <m:r>
                                      <a:rPr lang="en-ZA" sz="1200" i="1" dirty="0" smtClean="0">
                                        <a:solidFill>
                                          <a:srgbClr val="002060"/>
                                        </a:solidFill>
                                        <a:latin typeface="Cambria Math" panose="02040503050406030204" pitchFamily="18" charset="0"/>
                                      </a:rPr>
                                      <m:t>𝐽</m:t>
                                    </m:r>
                                  </m:e>
                                  <m:sub>
                                    <m:r>
                                      <a:rPr lang="en-ZA" sz="1200" i="1" dirty="0" err="1" smtClean="0">
                                        <a:solidFill>
                                          <a:srgbClr val="002060"/>
                                        </a:solidFill>
                                        <a:latin typeface="Cambria Math" panose="02040503050406030204" pitchFamily="18" charset="0"/>
                                      </a:rPr>
                                      <m:t>𝑡</m:t>
                                    </m:r>
                                  </m:sub>
                                </m:sSub>
                              </m:oMath>
                            </m:oMathPara>
                          </a14:m>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200" dirty="0">
                              <a:solidFill>
                                <a:srgbClr val="002060"/>
                              </a:solidFill>
                            </a:rPr>
                            <a:t>Dynamic fuzzy clustering objective at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12678942"/>
                      </a:ext>
                    </a:extLst>
                  </a:tr>
                  <a:tr h="0">
                    <a:tc>
                      <a:txBody>
                        <a:bodyPr/>
                        <a:lstStyle/>
                        <a:p>
                          <a:pPr>
                            <a:buNone/>
                          </a:pPr>
                          <a14:m>
                            <m:oMathPara xmlns:m="http://schemas.openxmlformats.org/officeDocument/2006/math">
                              <m:oMathParaPr>
                                <m:jc m:val="centerGroup"/>
                              </m:oMathParaPr>
                              <m:oMath xmlns:m="http://schemas.openxmlformats.org/officeDocument/2006/math">
                                <m:sSub>
                                  <m:sSubPr>
                                    <m:ctrlPr>
                                      <a:rPr lang="en-ZA" sz="1200" i="1" dirty="0" smtClean="0">
                                        <a:solidFill>
                                          <a:srgbClr val="002060"/>
                                        </a:solidFill>
                                        <a:latin typeface="Cambria Math" panose="02040503050406030204" pitchFamily="18" charset="0"/>
                                      </a:rPr>
                                    </m:ctrlPr>
                                  </m:sSubPr>
                                  <m:e>
                                    <m:r>
                                      <a:rPr lang="en-ZA" sz="1200" i="1" dirty="0" smtClean="0">
                                        <a:solidFill>
                                          <a:srgbClr val="002060"/>
                                        </a:solidFill>
                                        <a:latin typeface="Cambria Math" panose="02040503050406030204" pitchFamily="18" charset="0"/>
                                      </a:rPr>
                                      <m:t>𝑛</m:t>
                                    </m:r>
                                  </m:e>
                                  <m:sub>
                                    <m:r>
                                      <a:rPr lang="en-ZA" sz="1200" i="1" dirty="0" err="1" smtClean="0">
                                        <a:solidFill>
                                          <a:srgbClr val="002060"/>
                                        </a:solidFill>
                                        <a:latin typeface="Cambria Math" panose="02040503050406030204" pitchFamily="18" charset="0"/>
                                      </a:rPr>
                                      <m:t>𝑡</m:t>
                                    </m:r>
                                  </m:sub>
                                </m:sSub>
                              </m:oMath>
                            </m:oMathPara>
                          </a14:m>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200">
                              <a:solidFill>
                                <a:srgbClr val="002060"/>
                              </a:solidFill>
                            </a:rPr>
                            <a:t>Number of customers in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86961307"/>
                      </a:ext>
                    </a:extLst>
                  </a:tr>
                  <a:tr h="0">
                    <a:tc>
                      <a:txBody>
                        <a:bodyPr/>
                        <a:lstStyle/>
                        <a:p>
                          <a:pPr>
                            <a:buNone/>
                          </a:pPr>
                          <a14:m>
                            <m:oMathPara xmlns:m="http://schemas.openxmlformats.org/officeDocument/2006/math">
                              <m:oMathParaPr>
                                <m:jc m:val="centerGroup"/>
                              </m:oMathParaPr>
                              <m:oMath xmlns:m="http://schemas.openxmlformats.org/officeDocument/2006/math">
                                <m:sSub>
                                  <m:sSubPr>
                                    <m:ctrlPr>
                                      <a:rPr lang="en-ZA" sz="1200" i="1" dirty="0" smtClean="0">
                                        <a:solidFill>
                                          <a:srgbClr val="002060"/>
                                        </a:solidFill>
                                        <a:latin typeface="Cambria Math" panose="02040503050406030204" pitchFamily="18" charset="0"/>
                                      </a:rPr>
                                    </m:ctrlPr>
                                  </m:sSubPr>
                                  <m:e>
                                    <m:r>
                                      <a:rPr lang="en-ZA" sz="1200" i="1" dirty="0" smtClean="0">
                                        <a:solidFill>
                                          <a:srgbClr val="002060"/>
                                        </a:solidFill>
                                        <a:latin typeface="Cambria Math" panose="02040503050406030204" pitchFamily="18" charset="0"/>
                                      </a:rPr>
                                      <m:t>𝑐</m:t>
                                    </m:r>
                                  </m:e>
                                  <m:sub>
                                    <m:r>
                                      <a:rPr lang="en-ZA" sz="1200" i="1" dirty="0" err="1" smtClean="0">
                                        <a:solidFill>
                                          <a:srgbClr val="002060"/>
                                        </a:solidFill>
                                        <a:latin typeface="Cambria Math" panose="02040503050406030204" pitchFamily="18" charset="0"/>
                                      </a:rPr>
                                      <m:t>𝑡</m:t>
                                    </m:r>
                                  </m:sub>
                                </m:sSub>
                              </m:oMath>
                            </m:oMathPara>
                          </a14:m>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200" dirty="0">
                              <a:solidFill>
                                <a:srgbClr val="002060"/>
                              </a:solidFill>
                            </a:rPr>
                            <a:t>Number of clusters in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08486021"/>
                      </a:ext>
                    </a:extLst>
                  </a:tr>
                  <a:tr h="0">
                    <a:tc>
                      <a:txBody>
                        <a:bodyPr/>
                        <a:lstStyle/>
                        <a:p>
                          <a:pPr>
                            <a:buNone/>
                          </a:pPr>
                          <a14:m>
                            <m:oMathPara xmlns:m="http://schemas.openxmlformats.org/officeDocument/2006/math">
                              <m:oMathParaPr>
                                <m:jc m:val="centerGroup"/>
                              </m:oMathParaPr>
                              <m:oMath xmlns:m="http://schemas.openxmlformats.org/officeDocument/2006/math">
                                <m:r>
                                  <a:rPr lang="en-ZA" sz="1200" i="1" dirty="0" smtClean="0">
                                    <a:solidFill>
                                      <a:srgbClr val="002060"/>
                                    </a:solidFill>
                                    <a:latin typeface="Cambria Math" panose="02040503050406030204" pitchFamily="18" charset="0"/>
                                  </a:rPr>
                                  <m:t>𝑆</m:t>
                                </m:r>
                                <m:sSub>
                                  <m:sSubPr>
                                    <m:ctrlPr>
                                      <a:rPr lang="en-ZA" sz="1200" i="1" dirty="0" smtClean="0">
                                        <a:solidFill>
                                          <a:srgbClr val="002060"/>
                                        </a:solidFill>
                                        <a:latin typeface="Cambria Math" panose="02040503050406030204" pitchFamily="18" charset="0"/>
                                      </a:rPr>
                                    </m:ctrlPr>
                                  </m:sSubPr>
                                  <m:e>
                                    <m:r>
                                      <a:rPr lang="en-ZA" sz="1200" i="1" dirty="0" smtClean="0">
                                        <a:solidFill>
                                          <a:srgbClr val="002060"/>
                                        </a:solidFill>
                                        <a:latin typeface="Cambria Math" panose="02040503050406030204" pitchFamily="18" charset="0"/>
                                      </a:rPr>
                                      <m:t>𝑒</m:t>
                                    </m:r>
                                  </m:e>
                                  <m:sub>
                                    <m:r>
                                      <a:rPr lang="en-ZA" sz="1200" i="1" dirty="0" err="1" smtClean="0">
                                        <a:solidFill>
                                          <a:srgbClr val="002060"/>
                                        </a:solidFill>
                                        <a:latin typeface="Cambria Math" panose="02040503050406030204" pitchFamily="18" charset="0"/>
                                      </a:rPr>
                                      <m:t>𝑖</m:t>
                                    </m:r>
                                    <m:r>
                                      <a:rPr lang="en-ZA" sz="1200" i="1" dirty="0" err="1">
                                        <a:solidFill>
                                          <a:srgbClr val="002060"/>
                                        </a:solidFill>
                                        <a:latin typeface="Cambria Math" panose="02040503050406030204" pitchFamily="18" charset="0"/>
                                      </a:rPr>
                                      <m:t>,</m:t>
                                    </m:r>
                                    <m:r>
                                      <a:rPr lang="en-ZA" sz="1200" i="1" dirty="0" err="1">
                                        <a:solidFill>
                                          <a:srgbClr val="002060"/>
                                        </a:solidFill>
                                        <a:latin typeface="Cambria Math" panose="02040503050406030204" pitchFamily="18" charset="0"/>
                                      </a:rPr>
                                      <m:t>𝑘</m:t>
                                    </m:r>
                                    <m:r>
                                      <a:rPr lang="en-ZA" sz="1200" i="1" dirty="0" err="1">
                                        <a:solidFill>
                                          <a:srgbClr val="002060"/>
                                        </a:solidFill>
                                        <a:latin typeface="Cambria Math" panose="02040503050406030204" pitchFamily="18" charset="0"/>
                                      </a:rPr>
                                      <m:t>,</m:t>
                                    </m:r>
                                    <m:r>
                                      <a:rPr lang="en-ZA" sz="1200" i="1" dirty="0" err="1" smtClean="0">
                                        <a:solidFill>
                                          <a:srgbClr val="002060"/>
                                        </a:solidFill>
                                        <a:latin typeface="Cambria Math" panose="02040503050406030204" pitchFamily="18" charset="0"/>
                                      </a:rPr>
                                      <m:t>𝑡</m:t>
                                    </m:r>
                                  </m:sub>
                                </m:sSub>
                              </m:oMath>
                            </m:oMathPara>
                          </a14:m>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200">
                              <a:solidFill>
                                <a:srgbClr val="002060"/>
                              </a:solidFill>
                            </a:rPr>
                            <a:t>Membership strength of customer (i) in cluster (k)</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69174614"/>
                      </a:ext>
                    </a:extLst>
                  </a:tr>
                  <a:tr h="0">
                    <a:tc>
                      <a:txBody>
                        <a:bodyPr/>
                        <a:lstStyle/>
                        <a:p>
                          <a:pPr>
                            <a:buNone/>
                          </a:pPr>
                          <a14:m>
                            <m:oMathPara xmlns:m="http://schemas.openxmlformats.org/officeDocument/2006/math">
                              <m:oMathParaPr>
                                <m:jc m:val="centerGroup"/>
                              </m:oMathParaPr>
                              <m:oMath xmlns:m="http://schemas.openxmlformats.org/officeDocument/2006/math">
                                <m:r>
                                  <a:rPr lang="en-ZA" sz="1200" i="1" dirty="0" smtClean="0">
                                    <a:solidFill>
                                      <a:srgbClr val="002060"/>
                                    </a:solidFill>
                                    <a:latin typeface="Cambria Math" panose="02040503050406030204" pitchFamily="18" charset="0"/>
                                  </a:rPr>
                                  <m:t>𝑚</m:t>
                                </m:r>
                              </m:oMath>
                            </m:oMathPara>
                          </a14:m>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200">
                              <a:solidFill>
                                <a:srgbClr val="002060"/>
                              </a:solidFill>
                            </a:rPr>
                            <a:t>Fuzzifier parameter controlling cluster softness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55640732"/>
                      </a:ext>
                    </a:extLst>
                  </a:tr>
                  <a:tr h="0">
                    <a:tc>
                      <a:txBody>
                        <a:bodyPr/>
                        <a:lstStyle/>
                        <a:p>
                          <a:pPr>
                            <a:buNone/>
                          </a:pPr>
                          <a14:m>
                            <m:oMathPara xmlns:m="http://schemas.openxmlformats.org/officeDocument/2006/math">
                              <m:oMathParaPr>
                                <m:jc m:val="centerGroup"/>
                              </m:oMathParaPr>
                              <m:oMath xmlns:m="http://schemas.openxmlformats.org/officeDocument/2006/math">
                                <m:sSubSup>
                                  <m:sSubSupPr>
                                    <m:ctrlPr>
                                      <a:rPr lang="en-ZA" sz="1200" i="1" dirty="0" smtClean="0">
                                        <a:solidFill>
                                          <a:srgbClr val="002060"/>
                                        </a:solidFill>
                                        <a:latin typeface="Cambria Math" panose="02040503050406030204" pitchFamily="18" charset="0"/>
                                      </a:rPr>
                                    </m:ctrlPr>
                                  </m:sSubSupPr>
                                  <m:e>
                                    <m:r>
                                      <a:rPr lang="en-ZA" sz="1200" i="1" dirty="0" smtClean="0">
                                        <a:solidFill>
                                          <a:srgbClr val="002060"/>
                                        </a:solidFill>
                                        <a:latin typeface="Cambria Math" panose="02040503050406030204" pitchFamily="18" charset="0"/>
                                      </a:rPr>
                                      <m:t>𝑆</m:t>
                                    </m:r>
                                  </m:e>
                                  <m:sub>
                                    <m:r>
                                      <a:rPr lang="en-ZA" sz="1200" i="1" dirty="0" err="1">
                                        <a:solidFill>
                                          <a:srgbClr val="002060"/>
                                        </a:solidFill>
                                        <a:latin typeface="Cambria Math" panose="02040503050406030204" pitchFamily="18" charset="0"/>
                                      </a:rPr>
                                      <m:t>𝑖</m:t>
                                    </m:r>
                                    <m:r>
                                      <a:rPr lang="en-ZA" sz="1200" i="1" dirty="0" err="1">
                                        <a:solidFill>
                                          <a:srgbClr val="002060"/>
                                        </a:solidFill>
                                        <a:latin typeface="Cambria Math" panose="02040503050406030204" pitchFamily="18" charset="0"/>
                                      </a:rPr>
                                      <m:t>,</m:t>
                                    </m:r>
                                    <m:r>
                                      <a:rPr lang="en-ZA" sz="1200" i="1" dirty="0" err="1">
                                        <a:solidFill>
                                          <a:srgbClr val="002060"/>
                                        </a:solidFill>
                                        <a:latin typeface="Cambria Math" panose="02040503050406030204" pitchFamily="18" charset="0"/>
                                      </a:rPr>
                                      <m:t>𝑡</m:t>
                                    </m:r>
                                  </m:sub>
                                  <m:sup>
                                    <m:r>
                                      <a:rPr lang="en-ZA" sz="1200" i="1" dirty="0" smtClean="0">
                                        <a:solidFill>
                                          <a:srgbClr val="002060"/>
                                        </a:solidFill>
                                        <a:latin typeface="Cambria Math" panose="02040503050406030204" pitchFamily="18" charset="0"/>
                                      </a:rPr>
                                      <m:t>𝑡𝑟𝑎𝑖𝑛</m:t>
                                    </m:r>
                                  </m:sup>
                                </m:sSubSup>
                              </m:oMath>
                            </m:oMathPara>
                          </a14:m>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200">
                              <a:solidFill>
                                <a:srgbClr val="002060"/>
                              </a:solidFill>
                            </a:rPr>
                            <a:t>Training version of customer state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07377242"/>
                      </a:ext>
                    </a:extLst>
                  </a:tr>
                  <a:tr h="0">
                    <a:tc>
                      <a:txBody>
                        <a:bodyPr/>
                        <a:lstStyle/>
                        <a:p>
                          <a:pPr>
                            <a:buNone/>
                          </a:pPr>
                          <a14:m>
                            <m:oMathPara xmlns:m="http://schemas.openxmlformats.org/officeDocument/2006/math">
                              <m:oMathParaPr>
                                <m:jc m:val="centerGroup"/>
                              </m:oMathParaPr>
                              <m:oMath xmlns:m="http://schemas.openxmlformats.org/officeDocument/2006/math">
                                <m:sSub>
                                  <m:sSubPr>
                                    <m:ctrlPr>
                                      <a:rPr lang="en-ZA" sz="1200" i="1" dirty="0" smtClean="0">
                                        <a:solidFill>
                                          <a:srgbClr val="002060"/>
                                        </a:solidFill>
                                        <a:latin typeface="Cambria Math" panose="02040503050406030204" pitchFamily="18" charset="0"/>
                                      </a:rPr>
                                    </m:ctrlPr>
                                  </m:sSubPr>
                                  <m:e>
                                    <m:r>
                                      <a:rPr lang="en-ZA" sz="1200" i="1" dirty="0" smtClean="0">
                                        <a:solidFill>
                                          <a:srgbClr val="002060"/>
                                        </a:solidFill>
                                        <a:latin typeface="Cambria Math" panose="02040503050406030204" pitchFamily="18" charset="0"/>
                                      </a:rPr>
                                      <m:t>𝑉</m:t>
                                    </m:r>
                                  </m:e>
                                  <m:sub>
                                    <m:r>
                                      <a:rPr lang="en-ZA" sz="1200" i="1" dirty="0" err="1">
                                        <a:solidFill>
                                          <a:srgbClr val="002060"/>
                                        </a:solidFill>
                                        <a:latin typeface="Cambria Math" panose="02040503050406030204" pitchFamily="18" charset="0"/>
                                      </a:rPr>
                                      <m:t>𝑘</m:t>
                                    </m:r>
                                    <m:r>
                                      <a:rPr lang="en-ZA" sz="1200" i="1" dirty="0" err="1">
                                        <a:solidFill>
                                          <a:srgbClr val="002060"/>
                                        </a:solidFill>
                                        <a:latin typeface="Cambria Math" panose="02040503050406030204" pitchFamily="18" charset="0"/>
                                      </a:rPr>
                                      <m:t>,</m:t>
                                    </m:r>
                                    <m:r>
                                      <a:rPr lang="en-ZA" sz="1200" i="1" dirty="0" err="1">
                                        <a:solidFill>
                                          <a:srgbClr val="002060"/>
                                        </a:solidFill>
                                        <a:latin typeface="Cambria Math" panose="02040503050406030204" pitchFamily="18" charset="0"/>
                                      </a:rPr>
                                      <m:t>𝑡</m:t>
                                    </m:r>
                                  </m:sub>
                                </m:sSub>
                              </m:oMath>
                            </m:oMathPara>
                          </a14:m>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200" dirty="0">
                              <a:solidFill>
                                <a:srgbClr val="002060"/>
                              </a:solidFill>
                            </a:rPr>
                            <a:t>Centroid of cluster (k) at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33019578"/>
                      </a:ext>
                    </a:extLst>
                  </a:tr>
                </a:tbl>
              </a:graphicData>
            </a:graphic>
          </p:graphicFrame>
        </mc:Choice>
        <mc:Fallback xmlns="">
          <p:graphicFrame>
            <p:nvGraphicFramePr>
              <p:cNvPr id="23" name="Table 22">
                <a:extLst>
                  <a:ext uri="{FF2B5EF4-FFF2-40B4-BE49-F238E27FC236}">
                    <a16:creationId xmlns:a16="http://schemas.microsoft.com/office/drawing/2014/main" id="{DE8809BC-C443-CB61-846A-BABD3E67CAC2}"/>
                  </a:ext>
                </a:extLst>
              </p:cNvPr>
              <p:cNvGraphicFramePr>
                <a:graphicFrameLocks noGrp="1"/>
              </p:cNvGraphicFramePr>
              <p:nvPr>
                <p:extLst>
                  <p:ext uri="{D42A27DB-BD31-4B8C-83A1-F6EECF244321}">
                    <p14:modId xmlns:p14="http://schemas.microsoft.com/office/powerpoint/2010/main" val="3558127955"/>
                  </p:ext>
                </p:extLst>
              </p:nvPr>
            </p:nvGraphicFramePr>
            <p:xfrm>
              <a:off x="7482840" y="4480887"/>
              <a:ext cx="4415073" cy="2242376"/>
            </p:xfrm>
            <a:graphic>
              <a:graphicData uri="http://schemas.openxmlformats.org/drawingml/2006/table">
                <a:tbl>
                  <a:tblPr/>
                  <a:tblGrid>
                    <a:gridCol w="804148">
                      <a:extLst>
                        <a:ext uri="{9D8B030D-6E8A-4147-A177-3AD203B41FA5}">
                          <a16:colId xmlns:a16="http://schemas.microsoft.com/office/drawing/2014/main" val="1923210505"/>
                        </a:ext>
                      </a:extLst>
                    </a:gridCol>
                    <a:gridCol w="3610925">
                      <a:extLst>
                        <a:ext uri="{9D8B030D-6E8A-4147-A177-3AD203B41FA5}">
                          <a16:colId xmlns:a16="http://schemas.microsoft.com/office/drawing/2014/main" val="562523974"/>
                        </a:ext>
                      </a:extLst>
                    </a:gridCol>
                  </a:tblGrid>
                  <a:tr h="274320">
                    <a:tc>
                      <a:txBody>
                        <a:bodyPr/>
                        <a:lstStyle/>
                        <a:p>
                          <a:pPr>
                            <a:buNone/>
                          </a:pPr>
                          <a:r>
                            <a:rPr lang="en-ZA" sz="1200" b="1">
                              <a:solidFill>
                                <a:srgbClr val="002060"/>
                              </a:solidFill>
                            </a:rPr>
                            <a:t>Symbol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85000"/>
                          </a:schemeClr>
                        </a:solidFill>
                      </a:tcPr>
                    </a:tc>
                    <a:tc>
                      <a:txBody>
                        <a:bodyPr/>
                        <a:lstStyle/>
                        <a:p>
                          <a:pPr>
                            <a:buNone/>
                          </a:pPr>
                          <a:r>
                            <a:rPr lang="en-ZA" sz="1200" b="1" dirty="0">
                              <a:solidFill>
                                <a:srgbClr val="002060"/>
                              </a:solidFill>
                            </a:rPr>
                            <a:t>Meaning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85000"/>
                          </a:schemeClr>
                        </a:solidFill>
                      </a:tcPr>
                    </a:tc>
                    <a:extLst>
                      <a:ext uri="{0D108BD9-81ED-4DB2-BD59-A6C34878D82A}">
                        <a16:rowId xmlns:a16="http://schemas.microsoft.com/office/drawing/2014/main" val="3766541024"/>
                      </a:ext>
                    </a:extLst>
                  </a:tr>
                  <a:tr h="274320">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7"/>
                          <a:stretch>
                            <a:fillRect l="-758" t="-102222" r="-450758" b="-633333"/>
                          </a:stretch>
                        </a:blipFill>
                      </a:tcPr>
                    </a:tc>
                    <a:tc>
                      <a:txBody>
                        <a:bodyPr/>
                        <a:lstStyle/>
                        <a:p>
                          <a:pPr>
                            <a:buNone/>
                          </a:pPr>
                          <a:r>
                            <a:rPr lang="en-US" sz="1200" dirty="0">
                              <a:solidFill>
                                <a:srgbClr val="002060"/>
                              </a:solidFill>
                            </a:rPr>
                            <a:t>Dynamic fuzzy clustering objective at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12678942"/>
                      </a:ext>
                    </a:extLst>
                  </a:tr>
                  <a:tr h="274320">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7"/>
                          <a:stretch>
                            <a:fillRect l="-758" t="-202222" r="-450758" b="-533333"/>
                          </a:stretch>
                        </a:blipFill>
                      </a:tcPr>
                    </a:tc>
                    <a:tc>
                      <a:txBody>
                        <a:bodyPr/>
                        <a:lstStyle/>
                        <a:p>
                          <a:pPr>
                            <a:buNone/>
                          </a:pPr>
                          <a:r>
                            <a:rPr lang="en-US" sz="1200">
                              <a:solidFill>
                                <a:srgbClr val="002060"/>
                              </a:solidFill>
                            </a:rPr>
                            <a:t>Number of customers in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86961307"/>
                      </a:ext>
                    </a:extLst>
                  </a:tr>
                  <a:tr h="274320">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7"/>
                          <a:stretch>
                            <a:fillRect l="-758" t="-302222" r="-450758" b="-433333"/>
                          </a:stretch>
                        </a:blipFill>
                      </a:tcPr>
                    </a:tc>
                    <a:tc>
                      <a:txBody>
                        <a:bodyPr/>
                        <a:lstStyle/>
                        <a:p>
                          <a:pPr>
                            <a:buNone/>
                          </a:pPr>
                          <a:r>
                            <a:rPr lang="en-US" sz="1200" dirty="0">
                              <a:solidFill>
                                <a:srgbClr val="002060"/>
                              </a:solidFill>
                            </a:rPr>
                            <a:t>Number of clusters in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08486021"/>
                      </a:ext>
                    </a:extLst>
                  </a:tr>
                  <a:tr h="282448">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7"/>
                          <a:stretch>
                            <a:fillRect l="-758" t="-393478" r="-450758" b="-323913"/>
                          </a:stretch>
                        </a:blipFill>
                      </a:tcPr>
                    </a:tc>
                    <a:tc>
                      <a:txBody>
                        <a:bodyPr/>
                        <a:lstStyle/>
                        <a:p>
                          <a:pPr>
                            <a:buNone/>
                          </a:pPr>
                          <a:r>
                            <a:rPr lang="en-US" sz="1200">
                              <a:solidFill>
                                <a:srgbClr val="002060"/>
                              </a:solidFill>
                            </a:rPr>
                            <a:t>Membership strength of customer (i) in cluster (k)</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69174614"/>
                      </a:ext>
                    </a:extLst>
                  </a:tr>
                  <a:tr h="274320">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7"/>
                          <a:stretch>
                            <a:fillRect l="-758" t="-504444" r="-450758" b="-231111"/>
                          </a:stretch>
                        </a:blipFill>
                      </a:tcPr>
                    </a:tc>
                    <a:tc>
                      <a:txBody>
                        <a:bodyPr/>
                        <a:lstStyle/>
                        <a:p>
                          <a:pPr>
                            <a:buNone/>
                          </a:pPr>
                          <a:r>
                            <a:rPr lang="en-US" sz="1200">
                              <a:solidFill>
                                <a:srgbClr val="002060"/>
                              </a:solidFill>
                            </a:rPr>
                            <a:t>Fuzzifier parameter controlling cluster softness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55640732"/>
                      </a:ext>
                    </a:extLst>
                  </a:tr>
                  <a:tr h="305880">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7"/>
                          <a:stretch>
                            <a:fillRect l="-758" t="-533333" r="-450758" b="-103922"/>
                          </a:stretch>
                        </a:blipFill>
                      </a:tcPr>
                    </a:tc>
                    <a:tc>
                      <a:txBody>
                        <a:bodyPr/>
                        <a:lstStyle/>
                        <a:p>
                          <a:pPr>
                            <a:buNone/>
                          </a:pPr>
                          <a:r>
                            <a:rPr lang="en-US" sz="1200">
                              <a:solidFill>
                                <a:srgbClr val="002060"/>
                              </a:solidFill>
                            </a:rPr>
                            <a:t>Training version of customer state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07377242"/>
                      </a:ext>
                    </a:extLst>
                  </a:tr>
                  <a:tr h="282448">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7"/>
                          <a:stretch>
                            <a:fillRect l="-758" t="-702174" r="-450758" b="-15217"/>
                          </a:stretch>
                        </a:blipFill>
                      </a:tcPr>
                    </a:tc>
                    <a:tc>
                      <a:txBody>
                        <a:bodyPr/>
                        <a:lstStyle/>
                        <a:p>
                          <a:pPr>
                            <a:buNone/>
                          </a:pPr>
                          <a:r>
                            <a:rPr lang="en-US" sz="1200" dirty="0">
                              <a:solidFill>
                                <a:srgbClr val="002060"/>
                              </a:solidFill>
                            </a:rPr>
                            <a:t>Centroid of cluster (k) at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33019578"/>
                      </a:ext>
                    </a:extLst>
                  </a:tr>
                </a:tbl>
              </a:graphicData>
            </a:graphic>
          </p:graphicFrame>
        </mc:Fallback>
      </mc:AlternateContent>
    </p:spTree>
    <p:extLst>
      <p:ext uri="{BB962C8B-B14F-4D97-AF65-F5344CB8AC3E}">
        <p14:creationId xmlns:p14="http://schemas.microsoft.com/office/powerpoint/2010/main" val="9107203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99626ED-C76D-5BC3-09AD-F236093E839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63E8F41-654E-801D-9FB6-87B829BC420F}"/>
              </a:ext>
            </a:extLst>
          </p:cNvPr>
          <p:cNvSpPr txBox="1">
            <a:spLocks/>
          </p:cNvSpPr>
          <p:nvPr/>
        </p:nvSpPr>
        <p:spPr>
          <a:xfrm>
            <a:off x="1943116" y="202599"/>
            <a:ext cx="8551218" cy="530614"/>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ZA" sz="3200" dirty="0">
                <a:solidFill>
                  <a:srgbClr val="002060"/>
                </a:solidFill>
                <a:latin typeface="Arial Black" panose="020B0A04020102020204" pitchFamily="34" charset="0"/>
              </a:rPr>
              <a:t>Dynamic Loop : </a:t>
            </a:r>
            <a:r>
              <a:rPr lang="en-ZA" sz="3200" dirty="0">
                <a:solidFill>
                  <a:srgbClr val="002060"/>
                </a:solidFill>
              </a:rPr>
              <a:t>Centroid and Membership Updating</a:t>
            </a:r>
            <a:endParaRPr lang="en-ZA" sz="3200" dirty="0">
              <a:solidFill>
                <a:srgbClr val="002060"/>
              </a:solidFill>
              <a:latin typeface="Arial Black" panose="020B0A04020102020204" pitchFamily="34" charset="0"/>
            </a:endParaRPr>
          </a:p>
        </p:txBody>
      </p:sp>
      <p:sp>
        <p:nvSpPr>
          <p:cNvPr id="10" name="TextBox 9">
            <a:extLst>
              <a:ext uri="{FF2B5EF4-FFF2-40B4-BE49-F238E27FC236}">
                <a16:creationId xmlns:a16="http://schemas.microsoft.com/office/drawing/2014/main" id="{796EE639-2FB4-37DB-B2EF-7AC2B7D02869}"/>
              </a:ext>
            </a:extLst>
          </p:cNvPr>
          <p:cNvSpPr txBox="1"/>
          <p:nvPr/>
        </p:nvSpPr>
        <p:spPr>
          <a:xfrm>
            <a:off x="116957" y="968691"/>
            <a:ext cx="8551218" cy="338554"/>
          </a:xfrm>
          <a:prstGeom prst="rect">
            <a:avLst/>
          </a:prstGeom>
          <a:noFill/>
        </p:spPr>
        <p:txBody>
          <a:bodyPr wrap="square">
            <a:spAutoFit/>
          </a:bodyPr>
          <a:lstStyle/>
          <a:p>
            <a:r>
              <a:rPr lang="en-US" sz="1600" dirty="0">
                <a:solidFill>
                  <a:srgbClr val="002060"/>
                </a:solidFill>
              </a:rPr>
              <a:t>At each cycle, the </a:t>
            </a:r>
            <a:r>
              <a:rPr lang="en-US" sz="1600" dirty="0">
                <a:solidFill>
                  <a:srgbClr val="00B0F0"/>
                </a:solidFill>
              </a:rPr>
              <a:t>centroid</a:t>
            </a:r>
            <a:r>
              <a:rPr lang="en-US" sz="1600" dirty="0">
                <a:solidFill>
                  <a:srgbClr val="002060"/>
                </a:solidFill>
              </a:rPr>
              <a:t> is updated using the customer membership strengths:</a:t>
            </a:r>
            <a:endParaRPr lang="en-ZA" sz="1600" dirty="0">
              <a:solidFill>
                <a:srgbClr val="002060"/>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1129DBC-3B37-B5FD-89F3-304FAAB9C027}"/>
                  </a:ext>
                </a:extLst>
              </p:cNvPr>
              <p:cNvSpPr txBox="1"/>
              <p:nvPr/>
            </p:nvSpPr>
            <p:spPr>
              <a:xfrm>
                <a:off x="705294" y="1504348"/>
                <a:ext cx="6097772" cy="83779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ZA" i="1" dirty="0" smtClean="0">
                              <a:solidFill>
                                <a:srgbClr val="002060"/>
                              </a:solidFill>
                              <a:latin typeface="Cambria Math" panose="02040503050406030204" pitchFamily="18" charset="0"/>
                            </a:rPr>
                          </m:ctrlPr>
                        </m:sSubPr>
                        <m:e>
                          <m:r>
                            <a:rPr lang="en-ZA" i="1" dirty="0" smtClean="0">
                              <a:solidFill>
                                <a:srgbClr val="002060"/>
                              </a:solidFill>
                              <a:latin typeface="Cambria Math" panose="02040503050406030204" pitchFamily="18" charset="0"/>
                            </a:rPr>
                            <m:t>𝑉</m:t>
                          </m:r>
                        </m:e>
                        <m:sub>
                          <m:r>
                            <a:rPr lang="en-ZA" i="1" dirty="0" err="1">
                              <a:solidFill>
                                <a:srgbClr val="002060"/>
                              </a:solidFill>
                              <a:latin typeface="Cambria Math" panose="02040503050406030204" pitchFamily="18" charset="0"/>
                            </a:rPr>
                            <m:t>𝑘</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𝑡</m:t>
                          </m:r>
                        </m:sub>
                      </m:sSub>
                      <m:r>
                        <a:rPr lang="en-ZA" i="1" dirty="0">
                          <a:solidFill>
                            <a:srgbClr val="002060"/>
                          </a:solidFill>
                          <a:latin typeface="Cambria Math" panose="02040503050406030204" pitchFamily="18" charset="0"/>
                        </a:rPr>
                        <m:t>=</m:t>
                      </m:r>
                      <m:f>
                        <m:fPr>
                          <m:ctrlPr>
                            <a:rPr lang="en-ZA" i="1" dirty="0">
                              <a:solidFill>
                                <a:srgbClr val="002060"/>
                              </a:solidFill>
                              <a:latin typeface="Cambria Math" panose="02040503050406030204" pitchFamily="18" charset="0"/>
                            </a:rPr>
                          </m:ctrlPr>
                        </m:fPr>
                        <m:num>
                          <m:nary>
                            <m:naryPr>
                              <m:chr m:val="∑"/>
                              <m:ctrlPr>
                                <a:rPr lang="en-ZA" i="1" dirty="0">
                                  <a:solidFill>
                                    <a:srgbClr val="002060"/>
                                  </a:solidFill>
                                  <a:latin typeface="Cambria Math" panose="02040503050406030204" pitchFamily="18" charset="0"/>
                                </a:rPr>
                              </m:ctrlPr>
                            </m:naryPr>
                            <m:sub>
                              <m:r>
                                <a:rPr lang="en-ZA" i="1" dirty="0" err="1">
                                  <a:solidFill>
                                    <a:srgbClr val="002060"/>
                                  </a:solidFill>
                                  <a:latin typeface="Cambria Math" panose="02040503050406030204" pitchFamily="18" charset="0"/>
                                </a:rPr>
                                <m:t>𝑖</m:t>
                              </m:r>
                              <m:r>
                                <a:rPr lang="en-ZA" i="1" dirty="0">
                                  <a:solidFill>
                                    <a:srgbClr val="002060"/>
                                  </a:solidFill>
                                  <a:latin typeface="Cambria Math" panose="02040503050406030204" pitchFamily="18" charset="0"/>
                                </a:rPr>
                                <m:t>=1</m:t>
                              </m:r>
                            </m:sub>
                            <m:sup>
                              <m:sSub>
                                <m:sSubPr>
                                  <m:ctrlPr>
                                    <a:rPr lang="en-ZA" i="1" dirty="0" err="1">
                                      <a:solidFill>
                                        <a:srgbClr val="002060"/>
                                      </a:solidFill>
                                      <a:latin typeface="Cambria Math" panose="02040503050406030204" pitchFamily="18" charset="0"/>
                                    </a:rPr>
                                  </m:ctrlPr>
                                </m:sSubPr>
                                <m:e>
                                  <m:r>
                                    <a:rPr lang="en-ZA" i="1" dirty="0" err="1">
                                      <a:solidFill>
                                        <a:srgbClr val="002060"/>
                                      </a:solidFill>
                                      <a:latin typeface="Cambria Math" panose="02040503050406030204" pitchFamily="18" charset="0"/>
                                    </a:rPr>
                                    <m:t>𝑛</m:t>
                                  </m:r>
                                </m:e>
                                <m:sub>
                                  <m:r>
                                    <a:rPr lang="en-ZA" i="1" dirty="0" err="1">
                                      <a:solidFill>
                                        <a:srgbClr val="002060"/>
                                      </a:solidFill>
                                      <a:latin typeface="Cambria Math" panose="02040503050406030204" pitchFamily="18" charset="0"/>
                                    </a:rPr>
                                    <m:t>𝑡</m:t>
                                  </m:r>
                                </m:sub>
                              </m:sSub>
                            </m:sup>
                            <m:e>
                              <m:sSup>
                                <m:sSupPr>
                                  <m:ctrlPr>
                                    <a:rPr lang="en-ZA" i="1" dirty="0">
                                      <a:solidFill>
                                        <a:srgbClr val="002060"/>
                                      </a:solidFill>
                                      <a:latin typeface="Cambria Math" panose="02040503050406030204" pitchFamily="18" charset="0"/>
                                    </a:rPr>
                                  </m:ctrlPr>
                                </m:sSupPr>
                                <m:e>
                                  <m:d>
                                    <m:dPr>
                                      <m:ctrlPr>
                                        <a:rPr lang="en-ZA" i="1" dirty="0">
                                          <a:solidFill>
                                            <a:srgbClr val="002060"/>
                                          </a:solidFill>
                                          <a:latin typeface="Cambria Math" panose="02040503050406030204" pitchFamily="18" charset="0"/>
                                        </a:rPr>
                                      </m:ctrlPr>
                                    </m:dPr>
                                    <m:e>
                                      <m:r>
                                        <a:rPr lang="en-ZA" i="1" dirty="0">
                                          <a:solidFill>
                                            <a:srgbClr val="002060"/>
                                          </a:solidFill>
                                          <a:latin typeface="Cambria Math" panose="02040503050406030204" pitchFamily="18" charset="0"/>
                                        </a:rPr>
                                        <m:t>𝑆</m:t>
                                      </m:r>
                                      <m:sSub>
                                        <m:sSubPr>
                                          <m:ctrlPr>
                                            <a:rPr lang="en-ZA" i="1" dirty="0">
                                              <a:solidFill>
                                                <a:srgbClr val="002060"/>
                                              </a:solidFill>
                                              <a:latin typeface="Cambria Math" panose="02040503050406030204" pitchFamily="18" charset="0"/>
                                            </a:rPr>
                                          </m:ctrlPr>
                                        </m:sSubPr>
                                        <m:e>
                                          <m:r>
                                            <a:rPr lang="en-ZA" i="1" dirty="0">
                                              <a:solidFill>
                                                <a:srgbClr val="002060"/>
                                              </a:solidFill>
                                              <a:latin typeface="Cambria Math" panose="02040503050406030204" pitchFamily="18" charset="0"/>
                                            </a:rPr>
                                            <m:t>𝑒</m:t>
                                          </m:r>
                                        </m:e>
                                        <m:sub>
                                          <m:r>
                                            <a:rPr lang="en-ZA" i="1" dirty="0" err="1">
                                              <a:solidFill>
                                                <a:srgbClr val="002060"/>
                                              </a:solidFill>
                                              <a:latin typeface="Cambria Math" panose="02040503050406030204" pitchFamily="18" charset="0"/>
                                            </a:rPr>
                                            <m:t>𝑖</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𝑘</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𝑡</m:t>
                                          </m:r>
                                        </m:sub>
                                      </m:sSub>
                                    </m:e>
                                  </m:d>
                                </m:e>
                                <m:sup>
                                  <m:r>
                                    <a:rPr lang="en-ZA" i="1" dirty="0">
                                      <a:solidFill>
                                        <a:srgbClr val="002060"/>
                                      </a:solidFill>
                                      <a:latin typeface="Cambria Math" panose="02040503050406030204" pitchFamily="18" charset="0"/>
                                    </a:rPr>
                                    <m:t>𝑚</m:t>
                                  </m:r>
                                </m:sup>
                              </m:sSup>
                              <m:sSubSup>
                                <m:sSubSupPr>
                                  <m:ctrlPr>
                                    <a:rPr lang="en-ZA" i="1" dirty="0">
                                      <a:solidFill>
                                        <a:srgbClr val="002060"/>
                                      </a:solidFill>
                                      <a:latin typeface="Cambria Math" panose="02040503050406030204" pitchFamily="18" charset="0"/>
                                    </a:rPr>
                                  </m:ctrlPr>
                                </m:sSubSupPr>
                                <m:e>
                                  <m:r>
                                    <a:rPr lang="en-ZA" i="1" dirty="0">
                                      <a:solidFill>
                                        <a:srgbClr val="002060"/>
                                      </a:solidFill>
                                      <a:latin typeface="Cambria Math" panose="02040503050406030204" pitchFamily="18" charset="0"/>
                                    </a:rPr>
                                    <m:t>𝑆</m:t>
                                  </m:r>
                                </m:e>
                                <m:sub>
                                  <m:r>
                                    <a:rPr lang="en-ZA" i="1" dirty="0" err="1">
                                      <a:solidFill>
                                        <a:srgbClr val="002060"/>
                                      </a:solidFill>
                                      <a:latin typeface="Cambria Math" panose="02040503050406030204" pitchFamily="18" charset="0"/>
                                    </a:rPr>
                                    <m:t>𝑖</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𝑡</m:t>
                                  </m:r>
                                </m:sub>
                                <m:sup>
                                  <m:r>
                                    <a:rPr lang="en-ZA" i="1" dirty="0">
                                      <a:solidFill>
                                        <a:srgbClr val="002060"/>
                                      </a:solidFill>
                                      <a:latin typeface="Cambria Math" panose="02040503050406030204" pitchFamily="18" charset="0"/>
                                    </a:rPr>
                                    <m:t>𝑡𝑟𝑎𝑖𝑛</m:t>
                                  </m:r>
                                </m:sup>
                              </m:sSubSup>
                            </m:e>
                          </m:nary>
                        </m:num>
                        <m:den>
                          <m:nary>
                            <m:naryPr>
                              <m:chr m:val="∑"/>
                              <m:ctrlPr>
                                <a:rPr lang="en-ZA" i="1" dirty="0">
                                  <a:solidFill>
                                    <a:srgbClr val="002060"/>
                                  </a:solidFill>
                                  <a:latin typeface="Cambria Math" panose="02040503050406030204" pitchFamily="18" charset="0"/>
                                </a:rPr>
                              </m:ctrlPr>
                            </m:naryPr>
                            <m:sub>
                              <m:r>
                                <a:rPr lang="en-ZA" i="1" dirty="0" err="1">
                                  <a:solidFill>
                                    <a:srgbClr val="002060"/>
                                  </a:solidFill>
                                  <a:latin typeface="Cambria Math" panose="02040503050406030204" pitchFamily="18" charset="0"/>
                                </a:rPr>
                                <m:t>𝑖</m:t>
                              </m:r>
                              <m:r>
                                <a:rPr lang="en-ZA" i="1" dirty="0">
                                  <a:solidFill>
                                    <a:srgbClr val="002060"/>
                                  </a:solidFill>
                                  <a:latin typeface="Cambria Math" panose="02040503050406030204" pitchFamily="18" charset="0"/>
                                </a:rPr>
                                <m:t>=1</m:t>
                              </m:r>
                            </m:sub>
                            <m:sup>
                              <m:sSub>
                                <m:sSubPr>
                                  <m:ctrlPr>
                                    <a:rPr lang="en-ZA" i="1" dirty="0" err="1">
                                      <a:solidFill>
                                        <a:srgbClr val="002060"/>
                                      </a:solidFill>
                                      <a:latin typeface="Cambria Math" panose="02040503050406030204" pitchFamily="18" charset="0"/>
                                    </a:rPr>
                                  </m:ctrlPr>
                                </m:sSubPr>
                                <m:e>
                                  <m:r>
                                    <a:rPr lang="en-ZA" i="1" dirty="0" err="1">
                                      <a:solidFill>
                                        <a:srgbClr val="002060"/>
                                      </a:solidFill>
                                      <a:latin typeface="Cambria Math" panose="02040503050406030204" pitchFamily="18" charset="0"/>
                                    </a:rPr>
                                    <m:t>𝑛</m:t>
                                  </m:r>
                                </m:e>
                                <m:sub>
                                  <m:r>
                                    <a:rPr lang="en-ZA" i="1" dirty="0" err="1">
                                      <a:solidFill>
                                        <a:srgbClr val="002060"/>
                                      </a:solidFill>
                                      <a:latin typeface="Cambria Math" panose="02040503050406030204" pitchFamily="18" charset="0"/>
                                    </a:rPr>
                                    <m:t>𝑡</m:t>
                                  </m:r>
                                </m:sub>
                              </m:sSub>
                            </m:sup>
                            <m:e>
                              <m:sSup>
                                <m:sSupPr>
                                  <m:ctrlPr>
                                    <a:rPr lang="en-ZA" i="1" dirty="0">
                                      <a:solidFill>
                                        <a:srgbClr val="002060"/>
                                      </a:solidFill>
                                      <a:latin typeface="Cambria Math" panose="02040503050406030204" pitchFamily="18" charset="0"/>
                                    </a:rPr>
                                  </m:ctrlPr>
                                </m:sSupPr>
                                <m:e>
                                  <m:d>
                                    <m:dPr>
                                      <m:ctrlPr>
                                        <a:rPr lang="en-ZA" i="1" dirty="0">
                                          <a:solidFill>
                                            <a:srgbClr val="002060"/>
                                          </a:solidFill>
                                          <a:latin typeface="Cambria Math" panose="02040503050406030204" pitchFamily="18" charset="0"/>
                                        </a:rPr>
                                      </m:ctrlPr>
                                    </m:dPr>
                                    <m:e>
                                      <m:r>
                                        <a:rPr lang="en-ZA" i="1" dirty="0">
                                          <a:solidFill>
                                            <a:srgbClr val="002060"/>
                                          </a:solidFill>
                                          <a:latin typeface="Cambria Math" panose="02040503050406030204" pitchFamily="18" charset="0"/>
                                        </a:rPr>
                                        <m:t>𝑆</m:t>
                                      </m:r>
                                      <m:sSub>
                                        <m:sSubPr>
                                          <m:ctrlPr>
                                            <a:rPr lang="en-ZA" i="1" dirty="0">
                                              <a:solidFill>
                                                <a:srgbClr val="002060"/>
                                              </a:solidFill>
                                              <a:latin typeface="Cambria Math" panose="02040503050406030204" pitchFamily="18" charset="0"/>
                                            </a:rPr>
                                          </m:ctrlPr>
                                        </m:sSubPr>
                                        <m:e>
                                          <m:r>
                                            <a:rPr lang="en-ZA" i="1" dirty="0">
                                              <a:solidFill>
                                                <a:srgbClr val="002060"/>
                                              </a:solidFill>
                                              <a:latin typeface="Cambria Math" panose="02040503050406030204" pitchFamily="18" charset="0"/>
                                            </a:rPr>
                                            <m:t>𝑒</m:t>
                                          </m:r>
                                        </m:e>
                                        <m:sub>
                                          <m:r>
                                            <a:rPr lang="en-ZA" i="1" dirty="0" err="1">
                                              <a:solidFill>
                                                <a:srgbClr val="002060"/>
                                              </a:solidFill>
                                              <a:latin typeface="Cambria Math" panose="02040503050406030204" pitchFamily="18" charset="0"/>
                                            </a:rPr>
                                            <m:t>𝑖</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𝑘</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𝑡</m:t>
                                          </m:r>
                                        </m:sub>
                                      </m:sSub>
                                    </m:e>
                                  </m:d>
                                </m:e>
                                <m:sup>
                                  <m:r>
                                    <a:rPr lang="en-ZA" i="1" dirty="0">
                                      <a:solidFill>
                                        <a:srgbClr val="002060"/>
                                      </a:solidFill>
                                      <a:latin typeface="Cambria Math" panose="02040503050406030204" pitchFamily="18" charset="0"/>
                                    </a:rPr>
                                    <m:t>𝑚</m:t>
                                  </m:r>
                                </m:sup>
                              </m:sSup>
                            </m:e>
                          </m:nary>
                        </m:den>
                      </m:f>
                    </m:oMath>
                  </m:oMathPara>
                </a14:m>
                <a:endParaRPr dirty="0"/>
              </a:p>
            </p:txBody>
          </p:sp>
        </mc:Choice>
        <mc:Fallback xmlns="">
          <p:sp>
            <p:nvSpPr>
              <p:cNvPr id="12" name="TextBox 11">
                <a:extLst>
                  <a:ext uri="{FF2B5EF4-FFF2-40B4-BE49-F238E27FC236}">
                    <a16:creationId xmlns:a16="http://schemas.microsoft.com/office/drawing/2014/main" id="{21129DBC-3B37-B5FD-89F3-304FAAB9C027}"/>
                  </a:ext>
                </a:extLst>
              </p:cNvPr>
              <p:cNvSpPr txBox="1">
                <a:spLocks noRot="1" noChangeAspect="1" noMove="1" noResize="1" noEditPoints="1" noAdjustHandles="1" noChangeArrowheads="1" noChangeShapeType="1" noTextEdit="1"/>
              </p:cNvSpPr>
              <p:nvPr/>
            </p:nvSpPr>
            <p:spPr>
              <a:xfrm>
                <a:off x="705294" y="1504348"/>
                <a:ext cx="6097772" cy="837793"/>
              </a:xfrm>
              <a:prstGeom prst="rect">
                <a:avLst/>
              </a:prstGeom>
              <a:blipFill>
                <a:blip r:embed="rId3"/>
                <a:stretch>
                  <a:fillRect/>
                </a:stretch>
              </a:blipFill>
            </p:spPr>
            <p:txBody>
              <a:bodyPr/>
              <a:lstStyle/>
              <a:p>
                <a:r>
                  <a:rPr lang="en-ZA">
                    <a:noFill/>
                  </a:rPr>
                  <a:t> </a:t>
                </a:r>
              </a:p>
            </p:txBody>
          </p:sp>
        </mc:Fallback>
      </mc:AlternateContent>
      <p:sp>
        <p:nvSpPr>
          <p:cNvPr id="14" name="TextBox 13">
            <a:extLst>
              <a:ext uri="{FF2B5EF4-FFF2-40B4-BE49-F238E27FC236}">
                <a16:creationId xmlns:a16="http://schemas.microsoft.com/office/drawing/2014/main" id="{187ECE26-6B65-5B23-DEA1-2009A2BDD757}"/>
              </a:ext>
            </a:extLst>
          </p:cNvPr>
          <p:cNvSpPr txBox="1"/>
          <p:nvPr/>
        </p:nvSpPr>
        <p:spPr>
          <a:xfrm>
            <a:off x="116957" y="2598289"/>
            <a:ext cx="6903189" cy="584775"/>
          </a:xfrm>
          <a:prstGeom prst="rect">
            <a:avLst/>
          </a:prstGeom>
          <a:noFill/>
        </p:spPr>
        <p:txBody>
          <a:bodyPr wrap="square">
            <a:spAutoFit/>
          </a:bodyPr>
          <a:lstStyle/>
          <a:p>
            <a:r>
              <a:rPr lang="en-US" sz="1600" dirty="0">
                <a:solidFill>
                  <a:srgbClr val="002060"/>
                </a:solidFill>
              </a:rPr>
              <a:t>Each customer is then assigned to the segment where they have the </a:t>
            </a:r>
            <a:r>
              <a:rPr lang="en-US" sz="1600" dirty="0">
                <a:solidFill>
                  <a:srgbClr val="00B0F0"/>
                </a:solidFill>
              </a:rPr>
              <a:t>strongest membership</a:t>
            </a:r>
            <a:r>
              <a:rPr lang="en-US" sz="1600" dirty="0">
                <a:solidFill>
                  <a:srgbClr val="002060"/>
                </a:solidFill>
              </a:rPr>
              <a:t>:</a:t>
            </a:r>
            <a:endParaRPr lang="en-ZA" sz="1600" dirty="0">
              <a:solidFill>
                <a:srgbClr val="002060"/>
              </a:solidFill>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BBA8023-D33B-5345-BAFE-88A6F0D6C13D}"/>
                  </a:ext>
                </a:extLst>
              </p:cNvPr>
              <p:cNvSpPr txBox="1"/>
              <p:nvPr/>
            </p:nvSpPr>
            <p:spPr>
              <a:xfrm>
                <a:off x="603397" y="3423301"/>
                <a:ext cx="6097772" cy="4547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ZA" i="1" dirty="0" smtClean="0">
                              <a:solidFill>
                                <a:srgbClr val="002060"/>
                              </a:solidFill>
                              <a:latin typeface="Cambria Math" panose="02040503050406030204" pitchFamily="18" charset="0"/>
                            </a:rPr>
                          </m:ctrlPr>
                        </m:sSubPr>
                        <m:e>
                          <m:r>
                            <a:rPr lang="en-ZA" i="1" dirty="0" smtClean="0">
                              <a:solidFill>
                                <a:srgbClr val="002060"/>
                              </a:solidFill>
                              <a:latin typeface="Cambria Math" panose="02040503050406030204" pitchFamily="18" charset="0"/>
                            </a:rPr>
                            <m:t>𝐶</m:t>
                          </m:r>
                        </m:e>
                        <m:sub>
                          <m:r>
                            <a:rPr lang="en-ZA" i="1" dirty="0" err="1">
                              <a:solidFill>
                                <a:srgbClr val="002060"/>
                              </a:solidFill>
                              <a:latin typeface="Cambria Math" panose="02040503050406030204" pitchFamily="18" charset="0"/>
                            </a:rPr>
                            <m:t>𝑖</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𝑡</m:t>
                          </m:r>
                        </m:sub>
                      </m:sSub>
                      <m:r>
                        <a:rPr lang="en-ZA" i="1" dirty="0">
                          <a:solidFill>
                            <a:srgbClr val="002060"/>
                          </a:solidFill>
                          <a:latin typeface="Cambria Math" panose="02040503050406030204" pitchFamily="18" charset="0"/>
                        </a:rPr>
                        <m:t>=</m:t>
                      </m:r>
                      <m:func>
                        <m:funcPr>
                          <m:ctrlPr>
                            <a:rPr lang="en-ZA" i="1" dirty="0">
                              <a:solidFill>
                                <a:srgbClr val="002060"/>
                              </a:solidFill>
                              <a:latin typeface="Cambria Math" panose="02040503050406030204" pitchFamily="18" charset="0"/>
                            </a:rPr>
                          </m:ctrlPr>
                        </m:funcPr>
                        <m:fName>
                          <m:r>
                            <m:rPr>
                              <m:sty m:val="p"/>
                            </m:rPr>
                            <a:rPr lang="en-ZA" i="0" dirty="0" err="1">
                              <a:solidFill>
                                <a:srgbClr val="002060"/>
                              </a:solidFill>
                              <a:latin typeface="Cambria Math" panose="02040503050406030204" pitchFamily="18" charset="0"/>
                            </a:rPr>
                            <m:t>arg</m:t>
                          </m:r>
                        </m:fName>
                        <m:e>
                          <m:func>
                            <m:funcPr>
                              <m:ctrlPr>
                                <a:rPr lang="en-ZA" i="1" dirty="0" err="1">
                                  <a:solidFill>
                                    <a:srgbClr val="002060"/>
                                  </a:solidFill>
                                  <a:latin typeface="Cambria Math" panose="02040503050406030204" pitchFamily="18" charset="0"/>
                                </a:rPr>
                              </m:ctrlPr>
                            </m:funcPr>
                            <m:fName>
                              <m:limLow>
                                <m:limLowPr>
                                  <m:ctrlPr>
                                    <a:rPr lang="en-ZA" i="1" dirty="0" err="1">
                                      <a:solidFill>
                                        <a:srgbClr val="002060"/>
                                      </a:solidFill>
                                      <a:latin typeface="Cambria Math" panose="02040503050406030204" pitchFamily="18" charset="0"/>
                                    </a:rPr>
                                  </m:ctrlPr>
                                </m:limLowPr>
                                <m:e>
                                  <m:r>
                                    <m:rPr>
                                      <m:sty m:val="p"/>
                                    </m:rPr>
                                    <a:rPr lang="en-ZA" i="0" dirty="0" err="1">
                                      <a:solidFill>
                                        <a:srgbClr val="002060"/>
                                      </a:solidFill>
                                      <a:latin typeface="Cambria Math" panose="02040503050406030204" pitchFamily="18" charset="0"/>
                                    </a:rPr>
                                    <m:t>max</m:t>
                                  </m:r>
                                </m:e>
                                <m:lim>
                                  <m:r>
                                    <a:rPr lang="en-ZA" i="1" dirty="0" err="1">
                                      <a:solidFill>
                                        <a:srgbClr val="002060"/>
                                      </a:solidFill>
                                      <a:latin typeface="Cambria Math" panose="02040503050406030204" pitchFamily="18" charset="0"/>
                                    </a:rPr>
                                    <m:t>𝑘</m:t>
                                  </m:r>
                                </m:lim>
                              </m:limLow>
                            </m:fName>
                            <m:e>
                              <m:r>
                                <a:rPr lang="en-ZA" i="1" dirty="0">
                                  <a:solidFill>
                                    <a:srgbClr val="002060"/>
                                  </a:solidFill>
                                  <a:latin typeface="Cambria Math" panose="02040503050406030204" pitchFamily="18" charset="0"/>
                                </a:rPr>
                                <m:t>𝑆</m:t>
                              </m:r>
                            </m:e>
                          </m:func>
                          <m:sSub>
                            <m:sSubPr>
                              <m:ctrlPr>
                                <a:rPr lang="en-ZA" i="1" dirty="0">
                                  <a:solidFill>
                                    <a:srgbClr val="002060"/>
                                  </a:solidFill>
                                  <a:latin typeface="Cambria Math" panose="02040503050406030204" pitchFamily="18" charset="0"/>
                                </a:rPr>
                              </m:ctrlPr>
                            </m:sSubPr>
                            <m:e>
                              <m:r>
                                <a:rPr lang="en-ZA" i="1" dirty="0">
                                  <a:solidFill>
                                    <a:srgbClr val="002060"/>
                                  </a:solidFill>
                                  <a:latin typeface="Cambria Math" panose="02040503050406030204" pitchFamily="18" charset="0"/>
                                </a:rPr>
                                <m:t>𝑒</m:t>
                              </m:r>
                            </m:e>
                            <m:sub>
                              <m:r>
                                <a:rPr lang="en-ZA" i="1" dirty="0" err="1">
                                  <a:solidFill>
                                    <a:srgbClr val="002060"/>
                                  </a:solidFill>
                                  <a:latin typeface="Cambria Math" panose="02040503050406030204" pitchFamily="18" charset="0"/>
                                </a:rPr>
                                <m:t>𝑖</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𝑘</m:t>
                              </m:r>
                              <m:r>
                                <a:rPr lang="en-ZA" i="1" dirty="0" err="1">
                                  <a:solidFill>
                                    <a:srgbClr val="002060"/>
                                  </a:solidFill>
                                  <a:latin typeface="Cambria Math" panose="02040503050406030204" pitchFamily="18" charset="0"/>
                                </a:rPr>
                                <m:t>,</m:t>
                              </m:r>
                              <m:r>
                                <a:rPr lang="en-ZA" i="1" dirty="0" err="1">
                                  <a:solidFill>
                                    <a:srgbClr val="002060"/>
                                  </a:solidFill>
                                  <a:latin typeface="Cambria Math" panose="02040503050406030204" pitchFamily="18" charset="0"/>
                                </a:rPr>
                                <m:t>𝑡</m:t>
                              </m:r>
                            </m:sub>
                          </m:sSub>
                        </m:e>
                      </m:func>
                    </m:oMath>
                  </m:oMathPara>
                </a14:m>
                <a:endParaRPr dirty="0"/>
              </a:p>
            </p:txBody>
          </p:sp>
        </mc:Choice>
        <mc:Fallback xmlns="">
          <p:sp>
            <p:nvSpPr>
              <p:cNvPr id="18" name="TextBox 17">
                <a:extLst>
                  <a:ext uri="{FF2B5EF4-FFF2-40B4-BE49-F238E27FC236}">
                    <a16:creationId xmlns:a16="http://schemas.microsoft.com/office/drawing/2014/main" id="{2BBA8023-D33B-5345-BAFE-88A6F0D6C13D}"/>
                  </a:ext>
                </a:extLst>
              </p:cNvPr>
              <p:cNvSpPr txBox="1">
                <a:spLocks noRot="1" noChangeAspect="1" noMove="1" noResize="1" noEditPoints="1" noAdjustHandles="1" noChangeArrowheads="1" noChangeShapeType="1" noTextEdit="1"/>
              </p:cNvSpPr>
              <p:nvPr/>
            </p:nvSpPr>
            <p:spPr>
              <a:xfrm>
                <a:off x="603397" y="3423301"/>
                <a:ext cx="6097772" cy="454740"/>
              </a:xfrm>
              <a:prstGeom prst="rect">
                <a:avLst/>
              </a:prstGeom>
              <a:blipFill>
                <a:blip r:embed="rId4"/>
                <a:stretch>
                  <a:fillRect t="-9459" b="-2703"/>
                </a:stretch>
              </a:blipFill>
            </p:spPr>
            <p:txBody>
              <a:bodyPr/>
              <a:lstStyle/>
              <a:p>
                <a:r>
                  <a:rPr lang="en-ZA">
                    <a:noFill/>
                  </a:rPr>
                  <a:t> </a:t>
                </a:r>
              </a:p>
            </p:txBody>
          </p:sp>
        </mc:Fallback>
      </mc:AlternateContent>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FBEFE67D-C6F6-6B0B-1E18-D371450EC072}"/>
                  </a:ext>
                </a:extLst>
              </p:cNvPr>
              <p:cNvGraphicFramePr>
                <a:graphicFrameLocks noGrp="1"/>
              </p:cNvGraphicFramePr>
              <p:nvPr>
                <p:extLst>
                  <p:ext uri="{D42A27DB-BD31-4B8C-83A1-F6EECF244321}">
                    <p14:modId xmlns:p14="http://schemas.microsoft.com/office/powerpoint/2010/main" val="3818734414"/>
                  </p:ext>
                </p:extLst>
              </p:nvPr>
            </p:nvGraphicFramePr>
            <p:xfrm>
              <a:off x="6352955" y="1718647"/>
              <a:ext cx="5235648" cy="1971743"/>
            </p:xfrm>
            <a:graphic>
              <a:graphicData uri="http://schemas.openxmlformats.org/drawingml/2006/table">
                <a:tbl>
                  <a:tblPr/>
                  <a:tblGrid>
                    <a:gridCol w="1180889">
                      <a:extLst>
                        <a:ext uri="{9D8B030D-6E8A-4147-A177-3AD203B41FA5}">
                          <a16:colId xmlns:a16="http://schemas.microsoft.com/office/drawing/2014/main" val="138607374"/>
                        </a:ext>
                      </a:extLst>
                    </a:gridCol>
                    <a:gridCol w="4054759">
                      <a:extLst>
                        <a:ext uri="{9D8B030D-6E8A-4147-A177-3AD203B41FA5}">
                          <a16:colId xmlns:a16="http://schemas.microsoft.com/office/drawing/2014/main" val="573310066"/>
                        </a:ext>
                      </a:extLst>
                    </a:gridCol>
                  </a:tblGrid>
                  <a:tr h="373695">
                    <a:tc>
                      <a:txBody>
                        <a:bodyPr/>
                        <a:lstStyle/>
                        <a:p>
                          <a:pPr>
                            <a:buNone/>
                          </a:pPr>
                          <a:r>
                            <a:rPr lang="en-ZA" sz="1600" b="1">
                              <a:solidFill>
                                <a:srgbClr val="002060"/>
                              </a:solidFill>
                            </a:rPr>
                            <a:t>Symbol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600" b="1" dirty="0">
                              <a:solidFill>
                                <a:srgbClr val="002060"/>
                              </a:solidFill>
                            </a:rPr>
                            <a:t>Meaning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96098337"/>
                      </a:ext>
                    </a:extLst>
                  </a:tr>
                  <a:tr h="407328">
                    <a:tc>
                      <a:txBody>
                        <a:bodyPr/>
                        <a:lstStyle/>
                        <a:p>
                          <a:pPr>
                            <a:buNone/>
                          </a:pPr>
                          <a14:m>
                            <m:oMathPara xmlns:m="http://schemas.openxmlformats.org/officeDocument/2006/math">
                              <m:oMathParaPr>
                                <m:jc m:val="centerGroup"/>
                              </m:oMathParaPr>
                              <m:oMath xmlns:m="http://schemas.openxmlformats.org/officeDocument/2006/math">
                                <m:d>
                                  <m:dPr>
                                    <m:ctrlPr>
                                      <a:rPr lang="en-ZA" sz="1600" i="1" dirty="0" smtClean="0">
                                        <a:solidFill>
                                          <a:srgbClr val="002060"/>
                                        </a:solidFill>
                                        <a:latin typeface="Cambria Math" panose="02040503050406030204" pitchFamily="18" charset="0"/>
                                      </a:rPr>
                                    </m:ctrlPr>
                                  </m:dPr>
                                  <m:e>
                                    <m:sSub>
                                      <m:sSubPr>
                                        <m:ctrlPr>
                                          <a:rPr lang="en-ZA" sz="1600" i="1" dirty="0" smtClean="0">
                                            <a:solidFill>
                                              <a:srgbClr val="002060"/>
                                            </a:solidFill>
                                            <a:latin typeface="Cambria Math" panose="02040503050406030204" pitchFamily="18" charset="0"/>
                                          </a:rPr>
                                        </m:ctrlPr>
                                      </m:sSubPr>
                                      <m:e>
                                        <m:r>
                                          <a:rPr lang="en-ZA" sz="1600" i="1" dirty="0" smtClean="0">
                                            <a:solidFill>
                                              <a:srgbClr val="002060"/>
                                            </a:solidFill>
                                            <a:latin typeface="Cambria Math" panose="02040503050406030204" pitchFamily="18" charset="0"/>
                                          </a:rPr>
                                          <m:t>𝑉</m:t>
                                        </m:r>
                                      </m:e>
                                      <m:sub>
                                        <m:r>
                                          <a:rPr lang="en-ZA" sz="1600" i="1" dirty="0" err="1">
                                            <a:solidFill>
                                              <a:srgbClr val="002060"/>
                                            </a:solidFill>
                                            <a:latin typeface="Cambria Math" panose="02040503050406030204" pitchFamily="18" charset="0"/>
                                          </a:rPr>
                                          <m:t>𝑘</m:t>
                                        </m:r>
                                        <m:r>
                                          <a:rPr lang="en-ZA" sz="1600" i="1" dirty="0" err="1">
                                            <a:solidFill>
                                              <a:srgbClr val="002060"/>
                                            </a:solidFill>
                                            <a:latin typeface="Cambria Math" panose="02040503050406030204" pitchFamily="18" charset="0"/>
                                          </a:rPr>
                                          <m:t>,</m:t>
                                        </m:r>
                                        <m:r>
                                          <a:rPr lang="en-ZA" sz="1600" i="1" dirty="0" err="1">
                                            <a:solidFill>
                                              <a:srgbClr val="002060"/>
                                            </a:solidFill>
                                            <a:latin typeface="Cambria Math" panose="02040503050406030204" pitchFamily="18" charset="0"/>
                                          </a:rPr>
                                          <m:t>𝑡</m:t>
                                        </m:r>
                                      </m:sub>
                                    </m:sSub>
                                  </m:e>
                                </m:d>
                              </m:oMath>
                            </m:oMathPara>
                          </a14:m>
                          <a:endParaRPr sz="16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dirty="0">
                              <a:solidFill>
                                <a:srgbClr val="002060"/>
                              </a:solidFill>
                            </a:rPr>
                            <a:t>Updated centroid for cluster (k) in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26809252"/>
                      </a:ext>
                    </a:extLst>
                  </a:tr>
                  <a:tr h="595360">
                    <a:tc>
                      <a:txBody>
                        <a:bodyPr/>
                        <a:lstStyle/>
                        <a:p>
                          <a:pPr>
                            <a:buNone/>
                          </a:pPr>
                          <a14:m>
                            <m:oMathPara xmlns:m="http://schemas.openxmlformats.org/officeDocument/2006/math">
                              <m:oMathParaPr>
                                <m:jc m:val="centerGroup"/>
                              </m:oMathParaPr>
                              <m:oMath xmlns:m="http://schemas.openxmlformats.org/officeDocument/2006/math">
                                <m:d>
                                  <m:dPr>
                                    <m:ctrlPr>
                                      <a:rPr lang="en-ZA" sz="1600" i="1" dirty="0" smtClean="0">
                                        <a:solidFill>
                                          <a:srgbClr val="002060"/>
                                        </a:solidFill>
                                        <a:latin typeface="Cambria Math" panose="02040503050406030204" pitchFamily="18" charset="0"/>
                                      </a:rPr>
                                    </m:ctrlPr>
                                  </m:dPr>
                                  <m:e>
                                    <m:sSub>
                                      <m:sSubPr>
                                        <m:ctrlPr>
                                          <a:rPr lang="en-ZA" sz="1600" i="1" dirty="0" smtClean="0">
                                            <a:solidFill>
                                              <a:srgbClr val="002060"/>
                                            </a:solidFill>
                                            <a:latin typeface="Cambria Math" panose="02040503050406030204" pitchFamily="18" charset="0"/>
                                          </a:rPr>
                                        </m:ctrlPr>
                                      </m:sSubPr>
                                      <m:e>
                                        <m:r>
                                          <a:rPr lang="en-ZA" sz="1600" i="1" dirty="0" smtClean="0">
                                            <a:solidFill>
                                              <a:srgbClr val="002060"/>
                                            </a:solidFill>
                                            <a:latin typeface="Cambria Math" panose="02040503050406030204" pitchFamily="18" charset="0"/>
                                          </a:rPr>
                                          <m:t>𝐶</m:t>
                                        </m:r>
                                      </m:e>
                                      <m:sub>
                                        <m:r>
                                          <a:rPr lang="en-ZA" sz="1600" i="1" dirty="0" err="1">
                                            <a:solidFill>
                                              <a:srgbClr val="002060"/>
                                            </a:solidFill>
                                            <a:latin typeface="Cambria Math" panose="02040503050406030204" pitchFamily="18" charset="0"/>
                                          </a:rPr>
                                          <m:t>𝑖</m:t>
                                        </m:r>
                                        <m:r>
                                          <a:rPr lang="en-ZA" sz="1600" i="1" dirty="0" err="1">
                                            <a:solidFill>
                                              <a:srgbClr val="002060"/>
                                            </a:solidFill>
                                            <a:latin typeface="Cambria Math" panose="02040503050406030204" pitchFamily="18" charset="0"/>
                                          </a:rPr>
                                          <m:t>,</m:t>
                                        </m:r>
                                        <m:r>
                                          <a:rPr lang="en-ZA" sz="1600" i="1" dirty="0" err="1">
                                            <a:solidFill>
                                              <a:srgbClr val="002060"/>
                                            </a:solidFill>
                                            <a:latin typeface="Cambria Math" panose="02040503050406030204" pitchFamily="18" charset="0"/>
                                          </a:rPr>
                                          <m:t>𝑡</m:t>
                                        </m:r>
                                      </m:sub>
                                    </m:sSub>
                                  </m:e>
                                </m:d>
                              </m:oMath>
                            </m:oMathPara>
                          </a14:m>
                          <a:endParaRPr sz="160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dirty="0">
                              <a:solidFill>
                                <a:srgbClr val="002060"/>
                              </a:solidFill>
                            </a:rPr>
                            <a:t>Final assigned segment for customer (</a:t>
                          </a:r>
                          <a:r>
                            <a:rPr lang="en-US" sz="1600" dirty="0" err="1">
                              <a:solidFill>
                                <a:srgbClr val="002060"/>
                              </a:solidFill>
                            </a:rPr>
                            <a:t>i</a:t>
                          </a:r>
                          <a:r>
                            <a:rPr lang="en-US" sz="1600" dirty="0">
                              <a:solidFill>
                                <a:srgbClr val="002060"/>
                              </a:solidFill>
                            </a:rPr>
                            <a:t>) in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36585755"/>
                      </a:ext>
                    </a:extLst>
                  </a:tr>
                  <a:tr h="595360">
                    <a:tc>
                      <a:txBody>
                        <a:bodyPr/>
                        <a:lstStyle/>
                        <a:p>
                          <a:pPr>
                            <a:buNone/>
                          </a:pPr>
                          <a14:m>
                            <m:oMathPara xmlns:m="http://schemas.openxmlformats.org/officeDocument/2006/math">
                              <m:oMathParaPr>
                                <m:jc m:val="centerGroup"/>
                              </m:oMathParaPr>
                              <m:oMath xmlns:m="http://schemas.openxmlformats.org/officeDocument/2006/math">
                                <m:d>
                                  <m:dPr>
                                    <m:ctrlPr>
                                      <a:rPr lang="en-ZA" sz="1600" i="1" dirty="0" smtClean="0">
                                        <a:solidFill>
                                          <a:srgbClr val="002060"/>
                                        </a:solidFill>
                                        <a:latin typeface="Cambria Math" panose="02040503050406030204" pitchFamily="18" charset="0"/>
                                      </a:rPr>
                                    </m:ctrlPr>
                                  </m:dPr>
                                  <m:e>
                                    <m:func>
                                      <m:funcPr>
                                        <m:ctrlPr>
                                          <a:rPr lang="en-ZA" sz="1600" i="1" dirty="0">
                                            <a:solidFill>
                                              <a:srgbClr val="002060"/>
                                            </a:solidFill>
                                            <a:latin typeface="Cambria Math" panose="02040503050406030204" pitchFamily="18" charset="0"/>
                                          </a:rPr>
                                        </m:ctrlPr>
                                      </m:funcPr>
                                      <m:fName>
                                        <m:r>
                                          <m:rPr>
                                            <m:sty m:val="p"/>
                                          </m:rPr>
                                          <a:rPr lang="en-ZA" sz="1600" i="0" dirty="0" err="1">
                                            <a:solidFill>
                                              <a:srgbClr val="002060"/>
                                            </a:solidFill>
                                            <a:latin typeface="Cambria Math" panose="02040503050406030204" pitchFamily="18" charset="0"/>
                                          </a:rPr>
                                          <m:t>arg</m:t>
                                        </m:r>
                                      </m:fName>
                                      <m:e>
                                        <m:func>
                                          <m:funcPr>
                                            <m:ctrlPr>
                                              <a:rPr lang="en-ZA" sz="1600" i="1" dirty="0" err="1">
                                                <a:solidFill>
                                                  <a:srgbClr val="002060"/>
                                                </a:solidFill>
                                                <a:latin typeface="Cambria Math" panose="02040503050406030204" pitchFamily="18" charset="0"/>
                                              </a:rPr>
                                            </m:ctrlPr>
                                          </m:funcPr>
                                          <m:fName>
                                            <m:limLow>
                                              <m:limLowPr>
                                                <m:ctrlPr>
                                                  <a:rPr lang="en-ZA" sz="1600" i="1" dirty="0" err="1">
                                                    <a:solidFill>
                                                      <a:srgbClr val="002060"/>
                                                    </a:solidFill>
                                                    <a:latin typeface="Cambria Math" panose="02040503050406030204" pitchFamily="18" charset="0"/>
                                                  </a:rPr>
                                                </m:ctrlPr>
                                              </m:limLowPr>
                                              <m:e>
                                                <m:r>
                                                  <m:rPr>
                                                    <m:sty m:val="p"/>
                                                  </m:rPr>
                                                  <a:rPr lang="en-ZA" sz="1600" i="0" dirty="0" err="1">
                                                    <a:solidFill>
                                                      <a:srgbClr val="002060"/>
                                                    </a:solidFill>
                                                    <a:latin typeface="Cambria Math" panose="02040503050406030204" pitchFamily="18" charset="0"/>
                                                  </a:rPr>
                                                  <m:t>max</m:t>
                                                </m:r>
                                              </m:e>
                                              <m:lim>
                                                <m:r>
                                                  <a:rPr lang="en-ZA" sz="1600" i="1" dirty="0" err="1">
                                                    <a:solidFill>
                                                      <a:srgbClr val="002060"/>
                                                    </a:solidFill>
                                                    <a:latin typeface="Cambria Math" panose="02040503050406030204" pitchFamily="18" charset="0"/>
                                                  </a:rPr>
                                                  <m:t>𝑘</m:t>
                                                </m:r>
                                              </m:lim>
                                            </m:limLow>
                                          </m:fName>
                                          <m:e/>
                                        </m:func>
                                      </m:e>
                                    </m:func>
                                  </m:e>
                                </m:d>
                              </m:oMath>
                            </m:oMathPara>
                          </a14:m>
                          <a:endParaRPr sz="1600"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US" sz="1600" dirty="0">
                              <a:solidFill>
                                <a:srgbClr val="002060"/>
                              </a:solidFill>
                            </a:rPr>
                            <a:t>Selects the cluster with the highest membership score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56460469"/>
                      </a:ext>
                    </a:extLst>
                  </a:tr>
                </a:tbl>
              </a:graphicData>
            </a:graphic>
          </p:graphicFrame>
        </mc:Choice>
        <mc:Fallback xmlns="">
          <p:graphicFrame>
            <p:nvGraphicFramePr>
              <p:cNvPr id="19" name="Table 18">
                <a:extLst>
                  <a:ext uri="{FF2B5EF4-FFF2-40B4-BE49-F238E27FC236}">
                    <a16:creationId xmlns:a16="http://schemas.microsoft.com/office/drawing/2014/main" id="{FBEFE67D-C6F6-6B0B-1E18-D371450EC072}"/>
                  </a:ext>
                </a:extLst>
              </p:cNvPr>
              <p:cNvGraphicFramePr>
                <a:graphicFrameLocks noGrp="1"/>
              </p:cNvGraphicFramePr>
              <p:nvPr>
                <p:extLst>
                  <p:ext uri="{D42A27DB-BD31-4B8C-83A1-F6EECF244321}">
                    <p14:modId xmlns:p14="http://schemas.microsoft.com/office/powerpoint/2010/main" val="3818734414"/>
                  </p:ext>
                </p:extLst>
              </p:nvPr>
            </p:nvGraphicFramePr>
            <p:xfrm>
              <a:off x="6352955" y="1718647"/>
              <a:ext cx="5235648" cy="1971743"/>
            </p:xfrm>
            <a:graphic>
              <a:graphicData uri="http://schemas.openxmlformats.org/drawingml/2006/table">
                <a:tbl>
                  <a:tblPr/>
                  <a:tblGrid>
                    <a:gridCol w="1180889">
                      <a:extLst>
                        <a:ext uri="{9D8B030D-6E8A-4147-A177-3AD203B41FA5}">
                          <a16:colId xmlns:a16="http://schemas.microsoft.com/office/drawing/2014/main" val="138607374"/>
                        </a:ext>
                      </a:extLst>
                    </a:gridCol>
                    <a:gridCol w="4054759">
                      <a:extLst>
                        <a:ext uri="{9D8B030D-6E8A-4147-A177-3AD203B41FA5}">
                          <a16:colId xmlns:a16="http://schemas.microsoft.com/office/drawing/2014/main" val="573310066"/>
                        </a:ext>
                      </a:extLst>
                    </a:gridCol>
                  </a:tblGrid>
                  <a:tr h="373695">
                    <a:tc>
                      <a:txBody>
                        <a:bodyPr/>
                        <a:lstStyle/>
                        <a:p>
                          <a:pPr>
                            <a:buNone/>
                          </a:pPr>
                          <a:r>
                            <a:rPr lang="en-ZA" sz="1600" b="1">
                              <a:solidFill>
                                <a:srgbClr val="002060"/>
                              </a:solidFill>
                            </a:rPr>
                            <a:t>Symbol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600" b="1" dirty="0">
                              <a:solidFill>
                                <a:srgbClr val="002060"/>
                              </a:solidFill>
                            </a:rPr>
                            <a:t>Meaning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96098337"/>
                      </a:ext>
                    </a:extLst>
                  </a:tr>
                  <a:tr h="407328">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5"/>
                          <a:stretch>
                            <a:fillRect l="-515" t="-94030" r="-344330" b="-308955"/>
                          </a:stretch>
                        </a:blipFill>
                      </a:tcPr>
                    </a:tc>
                    <a:tc>
                      <a:txBody>
                        <a:bodyPr/>
                        <a:lstStyle/>
                        <a:p>
                          <a:pPr>
                            <a:buNone/>
                          </a:pPr>
                          <a:r>
                            <a:rPr lang="en-US" sz="1600" dirty="0">
                              <a:solidFill>
                                <a:srgbClr val="002060"/>
                              </a:solidFill>
                            </a:rPr>
                            <a:t>Updated centroid for cluster (k) in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26809252"/>
                      </a:ext>
                    </a:extLst>
                  </a:tr>
                  <a:tr h="595360">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5"/>
                          <a:stretch>
                            <a:fillRect l="-515" t="-132653" r="-344330" b="-111224"/>
                          </a:stretch>
                        </a:blipFill>
                      </a:tcPr>
                    </a:tc>
                    <a:tc>
                      <a:txBody>
                        <a:bodyPr/>
                        <a:lstStyle/>
                        <a:p>
                          <a:pPr>
                            <a:buNone/>
                          </a:pPr>
                          <a:r>
                            <a:rPr lang="en-US" sz="1600" dirty="0">
                              <a:solidFill>
                                <a:srgbClr val="002060"/>
                              </a:solidFill>
                            </a:rPr>
                            <a:t>Final assigned segment for customer (</a:t>
                          </a:r>
                          <a:r>
                            <a:rPr lang="en-US" sz="1600" dirty="0" err="1">
                              <a:solidFill>
                                <a:srgbClr val="002060"/>
                              </a:solidFill>
                            </a:rPr>
                            <a:t>i</a:t>
                          </a:r>
                          <a:r>
                            <a:rPr lang="en-US" sz="1600" dirty="0">
                              <a:solidFill>
                                <a:srgbClr val="002060"/>
                              </a:solidFill>
                            </a:rPr>
                            <a:t>) in cycle (t)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36585755"/>
                      </a:ext>
                    </a:extLst>
                  </a:tr>
                  <a:tr h="595360">
                    <a:tc>
                      <a:txBody>
                        <a:bodyPr/>
                        <a:lstStyle/>
                        <a:p>
                          <a:endParaRPr lang="en-US"/>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blipFill>
                          <a:blip r:embed="rId5"/>
                          <a:stretch>
                            <a:fillRect l="-515" t="-232653" r="-344330" b="-11224"/>
                          </a:stretch>
                        </a:blipFill>
                      </a:tcPr>
                    </a:tc>
                    <a:tc>
                      <a:txBody>
                        <a:bodyPr/>
                        <a:lstStyle/>
                        <a:p>
                          <a:pPr>
                            <a:buNone/>
                          </a:pPr>
                          <a:r>
                            <a:rPr lang="en-US" sz="1600" dirty="0">
                              <a:solidFill>
                                <a:srgbClr val="002060"/>
                              </a:solidFill>
                            </a:rPr>
                            <a:t>Selects the cluster with the highest membership score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56460469"/>
                      </a:ext>
                    </a:extLst>
                  </a:tr>
                </a:tbl>
              </a:graphicData>
            </a:graphic>
          </p:graphicFrame>
        </mc:Fallback>
      </mc:AlternateContent>
      <p:sp>
        <p:nvSpPr>
          <p:cNvPr id="21" name="TextBox 20">
            <a:extLst>
              <a:ext uri="{FF2B5EF4-FFF2-40B4-BE49-F238E27FC236}">
                <a16:creationId xmlns:a16="http://schemas.microsoft.com/office/drawing/2014/main" id="{60825705-716E-46A5-62FF-2383A4608B52}"/>
              </a:ext>
            </a:extLst>
          </p:cNvPr>
          <p:cNvSpPr txBox="1"/>
          <p:nvPr/>
        </p:nvSpPr>
        <p:spPr>
          <a:xfrm>
            <a:off x="255183" y="4289442"/>
            <a:ext cx="6097772" cy="369332"/>
          </a:xfrm>
          <a:prstGeom prst="rect">
            <a:avLst/>
          </a:prstGeom>
          <a:noFill/>
        </p:spPr>
        <p:txBody>
          <a:bodyPr wrap="square">
            <a:spAutoFit/>
          </a:bodyPr>
          <a:lstStyle/>
          <a:p>
            <a:r>
              <a:rPr lang="en-ZA" b="1" dirty="0">
                <a:solidFill>
                  <a:srgbClr val="002060"/>
                </a:solidFill>
              </a:rPr>
              <a:t>Customer Migration Tracking</a:t>
            </a:r>
          </a:p>
        </p:txBody>
      </p:sp>
      <p:sp>
        <p:nvSpPr>
          <p:cNvPr id="23" name="TextBox 22">
            <a:extLst>
              <a:ext uri="{FF2B5EF4-FFF2-40B4-BE49-F238E27FC236}">
                <a16:creationId xmlns:a16="http://schemas.microsoft.com/office/drawing/2014/main" id="{186F929D-4842-CAD1-4B44-256D890D4939}"/>
              </a:ext>
            </a:extLst>
          </p:cNvPr>
          <p:cNvSpPr txBox="1"/>
          <p:nvPr/>
        </p:nvSpPr>
        <p:spPr>
          <a:xfrm>
            <a:off x="255184" y="4661253"/>
            <a:ext cx="5443867" cy="523220"/>
          </a:xfrm>
          <a:prstGeom prst="rect">
            <a:avLst/>
          </a:prstGeom>
          <a:noFill/>
        </p:spPr>
        <p:txBody>
          <a:bodyPr wrap="square">
            <a:spAutoFit/>
          </a:bodyPr>
          <a:lstStyle/>
          <a:p>
            <a:r>
              <a:rPr lang="en-US" sz="1400" dirty="0">
                <a:solidFill>
                  <a:srgbClr val="002060"/>
                </a:solidFill>
              </a:rPr>
              <a:t>Customer migration is detected by comparing the previous segment with the current segment.</a:t>
            </a:r>
            <a:endParaRPr lang="en-ZA" sz="1400" dirty="0">
              <a:solidFill>
                <a:srgbClr val="002060"/>
              </a:solidFill>
            </a:endParaRPr>
          </a:p>
        </p:txBody>
      </p:sp>
      <p:pic>
        <p:nvPicPr>
          <p:cNvPr id="27" name="Picture 26">
            <a:extLst>
              <a:ext uri="{FF2B5EF4-FFF2-40B4-BE49-F238E27FC236}">
                <a16:creationId xmlns:a16="http://schemas.microsoft.com/office/drawing/2014/main" id="{ACEDA27E-F604-8F3C-3524-598C67A936EF}"/>
              </a:ext>
            </a:extLst>
          </p:cNvPr>
          <p:cNvPicPr>
            <a:picLocks noChangeAspect="1"/>
          </p:cNvPicPr>
          <p:nvPr/>
        </p:nvPicPr>
        <p:blipFill>
          <a:blip r:embed="rId6"/>
          <a:srcRect l="10765" t="14172" r="11520" b="21773"/>
          <a:stretch>
            <a:fillRect/>
          </a:stretch>
        </p:blipFill>
        <p:spPr>
          <a:xfrm>
            <a:off x="1499192" y="5146159"/>
            <a:ext cx="2998380" cy="831234"/>
          </a:xfrm>
          <a:prstGeom prst="rect">
            <a:avLst/>
          </a:prstGeom>
        </p:spPr>
      </p:pic>
      <p:sp>
        <p:nvSpPr>
          <p:cNvPr id="32" name="TextBox 31">
            <a:extLst>
              <a:ext uri="{FF2B5EF4-FFF2-40B4-BE49-F238E27FC236}">
                <a16:creationId xmlns:a16="http://schemas.microsoft.com/office/drawing/2014/main" id="{4ACC3E28-4858-EC39-B6D2-C374D879D01A}"/>
              </a:ext>
            </a:extLst>
          </p:cNvPr>
          <p:cNvSpPr txBox="1"/>
          <p:nvPr/>
        </p:nvSpPr>
        <p:spPr>
          <a:xfrm>
            <a:off x="705294" y="6132181"/>
            <a:ext cx="4993757" cy="523220"/>
          </a:xfrm>
          <a:prstGeom prst="rect">
            <a:avLst/>
          </a:prstGeom>
          <a:noFill/>
        </p:spPr>
        <p:txBody>
          <a:bodyPr wrap="square" rtlCol="0">
            <a:spAutoFit/>
          </a:bodyPr>
          <a:lstStyle/>
          <a:p>
            <a:r>
              <a:rPr lang="en-ZA" sz="1400" dirty="0">
                <a:solidFill>
                  <a:srgbClr val="002060"/>
                </a:solidFill>
              </a:rPr>
              <a:t>0 :  </a:t>
            </a:r>
            <a:r>
              <a:rPr lang="en-US" sz="1400" dirty="0">
                <a:solidFill>
                  <a:srgbClr val="002060"/>
                </a:solidFill>
              </a:rPr>
              <a:t>Customer remained in the same segment</a:t>
            </a:r>
          </a:p>
          <a:p>
            <a:r>
              <a:rPr lang="en-US" sz="1400" dirty="0">
                <a:solidFill>
                  <a:srgbClr val="002060"/>
                </a:solidFill>
              </a:rPr>
              <a:t>1 :  Customer migrated to a different segment</a:t>
            </a:r>
            <a:endParaRPr lang="en-ZA" sz="1400" dirty="0">
              <a:solidFill>
                <a:srgbClr val="002060"/>
              </a:solidFill>
            </a:endParaRPr>
          </a:p>
        </p:txBody>
      </p:sp>
      <p:graphicFrame>
        <p:nvGraphicFramePr>
          <p:cNvPr id="33" name="Table 32">
            <a:extLst>
              <a:ext uri="{FF2B5EF4-FFF2-40B4-BE49-F238E27FC236}">
                <a16:creationId xmlns:a16="http://schemas.microsoft.com/office/drawing/2014/main" id="{AB9FB41F-4585-0780-8B1E-0CFCCA13E32E}"/>
              </a:ext>
            </a:extLst>
          </p:cNvPr>
          <p:cNvGraphicFramePr>
            <a:graphicFrameLocks noGrp="1"/>
          </p:cNvGraphicFramePr>
          <p:nvPr>
            <p:extLst>
              <p:ext uri="{D42A27DB-BD31-4B8C-83A1-F6EECF244321}">
                <p14:modId xmlns:p14="http://schemas.microsoft.com/office/powerpoint/2010/main" val="2788049704"/>
              </p:ext>
            </p:extLst>
          </p:nvPr>
        </p:nvGraphicFramePr>
        <p:xfrm>
          <a:off x="6218725" y="4440221"/>
          <a:ext cx="5369877" cy="2243109"/>
        </p:xfrm>
        <a:graphic>
          <a:graphicData uri="http://schemas.openxmlformats.org/drawingml/2006/table">
            <a:tbl>
              <a:tblPr/>
              <a:tblGrid>
                <a:gridCol w="1830640">
                  <a:extLst>
                    <a:ext uri="{9D8B030D-6E8A-4147-A177-3AD203B41FA5}">
                      <a16:colId xmlns:a16="http://schemas.microsoft.com/office/drawing/2014/main" val="803363751"/>
                    </a:ext>
                  </a:extLst>
                </a:gridCol>
                <a:gridCol w="1697503">
                  <a:extLst>
                    <a:ext uri="{9D8B030D-6E8A-4147-A177-3AD203B41FA5}">
                      <a16:colId xmlns:a16="http://schemas.microsoft.com/office/drawing/2014/main" val="3055132627"/>
                    </a:ext>
                  </a:extLst>
                </a:gridCol>
                <a:gridCol w="1841734">
                  <a:extLst>
                    <a:ext uri="{9D8B030D-6E8A-4147-A177-3AD203B41FA5}">
                      <a16:colId xmlns:a16="http://schemas.microsoft.com/office/drawing/2014/main" val="2756365536"/>
                    </a:ext>
                  </a:extLst>
                </a:gridCol>
              </a:tblGrid>
              <a:tr h="676493">
                <a:tc>
                  <a:txBody>
                    <a:bodyPr/>
                    <a:lstStyle/>
                    <a:p>
                      <a:pPr>
                        <a:buNone/>
                      </a:pPr>
                      <a:r>
                        <a:rPr lang="en-ZA" sz="1600" b="1">
                          <a:solidFill>
                            <a:srgbClr val="002060"/>
                          </a:solidFill>
                        </a:rPr>
                        <a:t>Previous segment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75000"/>
                      </a:schemeClr>
                    </a:solidFill>
                  </a:tcPr>
                </a:tc>
                <a:tc>
                  <a:txBody>
                    <a:bodyPr/>
                    <a:lstStyle/>
                    <a:p>
                      <a:pPr>
                        <a:buNone/>
                      </a:pPr>
                      <a:r>
                        <a:rPr lang="en-ZA" sz="1600" b="1">
                          <a:solidFill>
                            <a:srgbClr val="002060"/>
                          </a:solidFill>
                        </a:rPr>
                        <a:t>Current segment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75000"/>
                      </a:schemeClr>
                    </a:solidFill>
                  </a:tcPr>
                </a:tc>
                <a:tc>
                  <a:txBody>
                    <a:bodyPr/>
                    <a:lstStyle/>
                    <a:p>
                      <a:pPr>
                        <a:buNone/>
                      </a:pPr>
                      <a:r>
                        <a:rPr lang="en-ZA" sz="1600" b="1" dirty="0">
                          <a:solidFill>
                            <a:srgbClr val="002060"/>
                          </a:solidFill>
                        </a:rPr>
                        <a:t>Migration meaning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75000"/>
                      </a:schemeClr>
                    </a:solidFill>
                  </a:tcPr>
                </a:tc>
                <a:extLst>
                  <a:ext uri="{0D108BD9-81ED-4DB2-BD59-A6C34878D82A}">
                    <a16:rowId xmlns:a16="http://schemas.microsoft.com/office/drawing/2014/main" val="3384594664"/>
                  </a:ext>
                </a:extLst>
              </a:tr>
              <a:tr h="391654">
                <a:tc>
                  <a:txBody>
                    <a:bodyPr/>
                    <a:lstStyle/>
                    <a:p>
                      <a:pPr>
                        <a:buNone/>
                      </a:pPr>
                      <a:r>
                        <a:rPr lang="en-ZA" sz="1600" dirty="0">
                          <a:solidFill>
                            <a:srgbClr val="002060"/>
                          </a:solidFill>
                        </a:rPr>
                        <a:t>High-Value Loyal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600">
                          <a:solidFill>
                            <a:srgbClr val="002060"/>
                          </a:solidFill>
                        </a:rPr>
                        <a:t>High-Value Loyal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600" dirty="0">
                          <a:solidFill>
                            <a:srgbClr val="002060"/>
                          </a:solidFill>
                        </a:rPr>
                        <a:t>Stable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967367331"/>
                  </a:ext>
                </a:extLst>
              </a:tr>
              <a:tr h="391654">
                <a:tc>
                  <a:txBody>
                    <a:bodyPr/>
                    <a:lstStyle/>
                    <a:p>
                      <a:pPr>
                        <a:buNone/>
                      </a:pPr>
                      <a:r>
                        <a:rPr lang="en-ZA" sz="1600">
                          <a:solidFill>
                            <a:srgbClr val="002060"/>
                          </a:solidFill>
                        </a:rPr>
                        <a:t>High-Value Loyal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600">
                          <a:solidFill>
                            <a:srgbClr val="002060"/>
                          </a:solidFill>
                        </a:rPr>
                        <a:t>At-Risk</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600" dirty="0">
                          <a:solidFill>
                            <a:srgbClr val="002060"/>
                          </a:solidFill>
                        </a:rPr>
                        <a:t>Negative migration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93853426"/>
                  </a:ext>
                </a:extLst>
              </a:tr>
              <a:tr h="391654">
                <a:tc>
                  <a:txBody>
                    <a:bodyPr/>
                    <a:lstStyle/>
                    <a:p>
                      <a:pPr>
                        <a:buNone/>
                      </a:pPr>
                      <a:r>
                        <a:rPr lang="en-ZA" sz="1600">
                          <a:solidFill>
                            <a:srgbClr val="002060"/>
                          </a:solidFill>
                        </a:rPr>
                        <a:t>Low-Value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600" dirty="0">
                          <a:solidFill>
                            <a:srgbClr val="002060"/>
                          </a:solidFill>
                        </a:rPr>
                        <a:t>Frequent Buyer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600" dirty="0">
                          <a:solidFill>
                            <a:srgbClr val="002060"/>
                          </a:solidFill>
                        </a:rPr>
                        <a:t>Positive migration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03422196"/>
                  </a:ext>
                </a:extLst>
              </a:tr>
              <a:tr h="391654">
                <a:tc>
                  <a:txBody>
                    <a:bodyPr/>
                    <a:lstStyle/>
                    <a:p>
                      <a:pPr>
                        <a:buNone/>
                      </a:pPr>
                      <a:r>
                        <a:rPr lang="en-ZA" sz="1600">
                          <a:solidFill>
                            <a:srgbClr val="002060"/>
                          </a:solidFill>
                        </a:rPr>
                        <a:t>New Buyer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600" dirty="0">
                          <a:solidFill>
                            <a:srgbClr val="002060"/>
                          </a:solidFill>
                        </a:rPr>
                        <a:t>Loyal Buyer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a:buNone/>
                      </a:pPr>
                      <a:r>
                        <a:rPr lang="en-ZA" sz="1600" dirty="0">
                          <a:solidFill>
                            <a:srgbClr val="002060"/>
                          </a:solidFill>
                        </a:rPr>
                        <a:t>Growth migration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46083904"/>
                  </a:ext>
                </a:extLst>
              </a:tr>
            </a:tbl>
          </a:graphicData>
        </a:graphic>
      </p:graphicFrame>
    </p:spTree>
    <p:extLst>
      <p:ext uri="{BB962C8B-B14F-4D97-AF65-F5344CB8AC3E}">
        <p14:creationId xmlns:p14="http://schemas.microsoft.com/office/powerpoint/2010/main" val="24015571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053ED00-6E40-E81D-7DA1-BE9C455D284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3D79E7C1-42FA-BF99-F8F4-89F92F5FB817}"/>
              </a:ext>
            </a:extLst>
          </p:cNvPr>
          <p:cNvSpPr txBox="1">
            <a:spLocks/>
          </p:cNvSpPr>
          <p:nvPr/>
        </p:nvSpPr>
        <p:spPr>
          <a:xfrm>
            <a:off x="1943116" y="202599"/>
            <a:ext cx="8551218" cy="53061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ZA" sz="3200" dirty="0">
                <a:solidFill>
                  <a:srgbClr val="002060"/>
                </a:solidFill>
                <a:latin typeface="Arial Black" panose="020B0A04020102020204" pitchFamily="34" charset="0"/>
              </a:rPr>
              <a:t>Dynamic Loop : </a:t>
            </a:r>
            <a:r>
              <a:rPr lang="en-ZA" sz="3200" dirty="0">
                <a:solidFill>
                  <a:srgbClr val="002060"/>
                </a:solidFill>
              </a:rPr>
              <a:t>Model Evaluation</a:t>
            </a:r>
            <a:endParaRPr lang="en-ZA" sz="3200" dirty="0">
              <a:solidFill>
                <a:srgbClr val="002060"/>
              </a:solidFill>
              <a:latin typeface="Arial Black" panose="020B0A04020102020204" pitchFamily="34" charset="0"/>
            </a:endParaRPr>
          </a:p>
        </p:txBody>
      </p:sp>
      <p:sp>
        <p:nvSpPr>
          <p:cNvPr id="7" name="TextBox 6">
            <a:extLst>
              <a:ext uri="{FF2B5EF4-FFF2-40B4-BE49-F238E27FC236}">
                <a16:creationId xmlns:a16="http://schemas.microsoft.com/office/drawing/2014/main" id="{41625C5C-FF40-BEA2-9B9A-3B5BD0A66626}"/>
              </a:ext>
            </a:extLst>
          </p:cNvPr>
          <p:cNvSpPr txBox="1"/>
          <p:nvPr/>
        </p:nvSpPr>
        <p:spPr>
          <a:xfrm>
            <a:off x="145481" y="922331"/>
            <a:ext cx="11142921" cy="369332"/>
          </a:xfrm>
          <a:prstGeom prst="rect">
            <a:avLst/>
          </a:prstGeom>
          <a:noFill/>
        </p:spPr>
        <p:txBody>
          <a:bodyPr wrap="square">
            <a:spAutoFit/>
          </a:bodyPr>
          <a:lstStyle/>
          <a:p>
            <a:r>
              <a:rPr lang="en-US" b="1" dirty="0">
                <a:solidFill>
                  <a:srgbClr val="00B0F0"/>
                </a:solidFill>
              </a:rPr>
              <a:t>The dynamic loop is evaluated after each cycle to check whether the updated clusters remain valid.</a:t>
            </a:r>
            <a:endParaRPr lang="en-ZA" b="1" dirty="0">
              <a:solidFill>
                <a:srgbClr val="00B0F0"/>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2A85650-1D1E-6F82-49A4-2327DE8024E2}"/>
                  </a:ext>
                </a:extLst>
              </p:cNvPr>
              <p:cNvSpPr txBox="1"/>
              <p:nvPr/>
            </p:nvSpPr>
            <p:spPr>
              <a:xfrm>
                <a:off x="2745857" y="2548029"/>
                <a:ext cx="6097772" cy="95910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ZA" sz="2000" i="1" dirty="0" smtClean="0">
                          <a:solidFill>
                            <a:srgbClr val="002060"/>
                          </a:solidFill>
                          <a:latin typeface="Cambria Math" panose="02040503050406030204" pitchFamily="18" charset="0"/>
                        </a:rPr>
                        <m:t>𝑋</m:t>
                      </m:r>
                      <m:sSub>
                        <m:sSubPr>
                          <m:ctrlPr>
                            <a:rPr lang="en-ZA" sz="2000" i="1" dirty="0" smtClean="0">
                              <a:solidFill>
                                <a:srgbClr val="002060"/>
                              </a:solidFill>
                              <a:latin typeface="Cambria Math" panose="02040503050406030204" pitchFamily="18" charset="0"/>
                            </a:rPr>
                          </m:ctrlPr>
                        </m:sSubPr>
                        <m:e>
                          <m:r>
                            <a:rPr lang="en-ZA" sz="2000" i="1" dirty="0" smtClean="0">
                              <a:solidFill>
                                <a:srgbClr val="002060"/>
                              </a:solidFill>
                              <a:latin typeface="Cambria Math" panose="02040503050406030204" pitchFamily="18" charset="0"/>
                            </a:rPr>
                            <m:t>𝐵</m:t>
                          </m:r>
                        </m:e>
                        <m:sub>
                          <m:r>
                            <a:rPr lang="en-ZA" sz="2000" i="1" dirty="0" smtClean="0">
                              <a:solidFill>
                                <a:srgbClr val="002060"/>
                              </a:solidFill>
                              <a:latin typeface="Cambria Math" panose="02040503050406030204" pitchFamily="18" charset="0"/>
                            </a:rPr>
                            <m:t>𝑡</m:t>
                          </m:r>
                        </m:sub>
                      </m:sSub>
                      <m:r>
                        <a:rPr lang="en-ZA" sz="2000" i="1" dirty="0">
                          <a:solidFill>
                            <a:srgbClr val="002060"/>
                          </a:solidFill>
                          <a:latin typeface="Cambria Math" panose="02040503050406030204" pitchFamily="18" charset="0"/>
                        </a:rPr>
                        <m:t>=</m:t>
                      </m:r>
                      <m:f>
                        <m:fPr>
                          <m:ctrlPr>
                            <a:rPr lang="en-ZA" sz="2000" i="1" dirty="0">
                              <a:solidFill>
                                <a:srgbClr val="002060"/>
                              </a:solidFill>
                              <a:latin typeface="Cambria Math" panose="02040503050406030204" pitchFamily="18" charset="0"/>
                            </a:rPr>
                          </m:ctrlPr>
                        </m:fPr>
                        <m:num>
                          <m:nary>
                            <m:naryPr>
                              <m:chr m:val="∑"/>
                              <m:ctrlPr>
                                <a:rPr lang="en-ZA" sz="2000" i="1" dirty="0">
                                  <a:solidFill>
                                    <a:srgbClr val="002060"/>
                                  </a:solidFill>
                                  <a:latin typeface="Cambria Math" panose="02040503050406030204" pitchFamily="18" charset="0"/>
                                </a:rPr>
                              </m:ctrlPr>
                            </m:naryPr>
                            <m:sub>
                              <m:r>
                                <a:rPr lang="en-ZA" sz="2000" i="1" dirty="0" err="1">
                                  <a:solidFill>
                                    <a:srgbClr val="002060"/>
                                  </a:solidFill>
                                  <a:latin typeface="Cambria Math" panose="02040503050406030204" pitchFamily="18" charset="0"/>
                                </a:rPr>
                                <m:t>𝑖</m:t>
                              </m:r>
                              <m:r>
                                <a:rPr lang="en-ZA" sz="2000" i="1" dirty="0">
                                  <a:solidFill>
                                    <a:srgbClr val="002060"/>
                                  </a:solidFill>
                                  <a:latin typeface="Cambria Math" panose="02040503050406030204" pitchFamily="18" charset="0"/>
                                </a:rPr>
                                <m:t>=</m:t>
                              </m:r>
                              <m:r>
                                <a:rPr lang="en-ZA" sz="2000" i="1" dirty="0">
                                  <a:solidFill>
                                    <a:srgbClr val="002060"/>
                                  </a:solidFill>
                                  <a:latin typeface="Cambria Math" panose="02040503050406030204" pitchFamily="18" charset="0"/>
                                </a:rPr>
                                <m:t>1</m:t>
                              </m:r>
                            </m:sub>
                            <m:sup>
                              <m:sSub>
                                <m:sSubPr>
                                  <m:ctrlPr>
                                    <a:rPr lang="en-ZA" sz="2000" i="1" dirty="0" err="1">
                                      <a:solidFill>
                                        <a:srgbClr val="002060"/>
                                      </a:solidFill>
                                      <a:latin typeface="Cambria Math" panose="02040503050406030204" pitchFamily="18" charset="0"/>
                                    </a:rPr>
                                  </m:ctrlPr>
                                </m:sSubPr>
                                <m:e>
                                  <m:r>
                                    <a:rPr lang="en-ZA" sz="2000" i="1" dirty="0" err="1">
                                      <a:solidFill>
                                        <a:srgbClr val="002060"/>
                                      </a:solidFill>
                                      <a:latin typeface="Cambria Math" panose="02040503050406030204" pitchFamily="18" charset="0"/>
                                    </a:rPr>
                                    <m:t>𝑛</m:t>
                                  </m:r>
                                </m:e>
                                <m:sub>
                                  <m:r>
                                    <a:rPr lang="en-ZA" sz="2000" i="1" dirty="0" err="1">
                                      <a:solidFill>
                                        <a:srgbClr val="002060"/>
                                      </a:solidFill>
                                      <a:latin typeface="Cambria Math" panose="02040503050406030204" pitchFamily="18" charset="0"/>
                                    </a:rPr>
                                    <m:t>𝑡</m:t>
                                  </m:r>
                                </m:sub>
                              </m:sSub>
                            </m:sup>
                            <m:e>
                              <m:nary>
                                <m:naryPr>
                                  <m:chr m:val="∑"/>
                                  <m:ctrlPr>
                                    <a:rPr lang="en-ZA" sz="2000" i="1" dirty="0">
                                      <a:solidFill>
                                        <a:srgbClr val="002060"/>
                                      </a:solidFill>
                                      <a:latin typeface="Cambria Math" panose="02040503050406030204" pitchFamily="18" charset="0"/>
                                    </a:rPr>
                                  </m:ctrlPr>
                                </m:naryPr>
                                <m:sub>
                                  <m:r>
                                    <a:rPr lang="en-ZA" sz="2000" i="1" dirty="0">
                                      <a:solidFill>
                                        <a:srgbClr val="002060"/>
                                      </a:solidFill>
                                      <a:latin typeface="Cambria Math" panose="02040503050406030204" pitchFamily="18" charset="0"/>
                                    </a:rPr>
                                    <m:t>𝑘</m:t>
                                  </m:r>
                                  <m:r>
                                    <a:rPr lang="en-ZA" sz="2000" i="1" dirty="0">
                                      <a:solidFill>
                                        <a:srgbClr val="002060"/>
                                      </a:solidFill>
                                      <a:latin typeface="Cambria Math" panose="02040503050406030204" pitchFamily="18" charset="0"/>
                                    </a:rPr>
                                    <m:t>=</m:t>
                                  </m:r>
                                  <m:r>
                                    <a:rPr lang="en-ZA" sz="2000" i="1" dirty="0">
                                      <a:solidFill>
                                        <a:srgbClr val="002060"/>
                                      </a:solidFill>
                                      <a:latin typeface="Cambria Math" panose="02040503050406030204" pitchFamily="18" charset="0"/>
                                    </a:rPr>
                                    <m:t>1</m:t>
                                  </m:r>
                                </m:sub>
                                <m:sup>
                                  <m:sSub>
                                    <m:sSubPr>
                                      <m:ctrlPr>
                                        <a:rPr lang="en-ZA" sz="2000" i="1" dirty="0" err="1">
                                          <a:solidFill>
                                            <a:srgbClr val="002060"/>
                                          </a:solidFill>
                                          <a:latin typeface="Cambria Math" panose="02040503050406030204" pitchFamily="18" charset="0"/>
                                        </a:rPr>
                                      </m:ctrlPr>
                                    </m:sSubPr>
                                    <m:e>
                                      <m:r>
                                        <a:rPr lang="en-ZA" sz="2000" i="1" dirty="0" err="1">
                                          <a:solidFill>
                                            <a:srgbClr val="002060"/>
                                          </a:solidFill>
                                          <a:latin typeface="Cambria Math" panose="02040503050406030204" pitchFamily="18" charset="0"/>
                                        </a:rPr>
                                        <m:t>𝑐</m:t>
                                      </m:r>
                                    </m:e>
                                    <m:sub>
                                      <m:r>
                                        <a:rPr lang="en-ZA" sz="2000" i="1" dirty="0" err="1">
                                          <a:solidFill>
                                            <a:srgbClr val="002060"/>
                                          </a:solidFill>
                                          <a:latin typeface="Cambria Math" panose="02040503050406030204" pitchFamily="18" charset="0"/>
                                        </a:rPr>
                                        <m:t>𝑡</m:t>
                                      </m:r>
                                    </m:sub>
                                  </m:sSub>
                                </m:sup>
                                <m:e>
                                  <m:sSup>
                                    <m:sSupPr>
                                      <m:ctrlPr>
                                        <a:rPr lang="en-ZA" sz="2000" i="1" dirty="0">
                                          <a:solidFill>
                                            <a:srgbClr val="002060"/>
                                          </a:solidFill>
                                          <a:latin typeface="Cambria Math" panose="02040503050406030204" pitchFamily="18" charset="0"/>
                                        </a:rPr>
                                      </m:ctrlPr>
                                    </m:sSupPr>
                                    <m:e>
                                      <m:d>
                                        <m:dPr>
                                          <m:ctrlPr>
                                            <a:rPr lang="en-ZA" sz="2000" i="1" dirty="0">
                                              <a:solidFill>
                                                <a:srgbClr val="002060"/>
                                              </a:solidFill>
                                              <a:latin typeface="Cambria Math" panose="02040503050406030204" pitchFamily="18" charset="0"/>
                                            </a:rPr>
                                          </m:ctrlPr>
                                        </m:dPr>
                                        <m:e>
                                          <m:r>
                                            <a:rPr lang="en-ZA" sz="2000" i="1" dirty="0">
                                              <a:solidFill>
                                                <a:srgbClr val="002060"/>
                                              </a:solidFill>
                                              <a:latin typeface="Cambria Math" panose="02040503050406030204" pitchFamily="18" charset="0"/>
                                            </a:rPr>
                                            <m:t>𝑆</m:t>
                                          </m:r>
                                          <m:sSub>
                                            <m:sSubPr>
                                              <m:ctrlPr>
                                                <a:rPr lang="en-ZA" sz="2000" i="1" dirty="0">
                                                  <a:solidFill>
                                                    <a:srgbClr val="002060"/>
                                                  </a:solidFill>
                                                  <a:latin typeface="Cambria Math" panose="02040503050406030204" pitchFamily="18" charset="0"/>
                                                </a:rPr>
                                              </m:ctrlPr>
                                            </m:sSubPr>
                                            <m:e>
                                              <m:r>
                                                <a:rPr lang="en-ZA" sz="2000" i="1" dirty="0">
                                                  <a:solidFill>
                                                    <a:srgbClr val="002060"/>
                                                  </a:solidFill>
                                                  <a:latin typeface="Cambria Math" panose="02040503050406030204" pitchFamily="18" charset="0"/>
                                                </a:rPr>
                                                <m:t>𝑒</m:t>
                                              </m:r>
                                            </m:e>
                                            <m:sub>
                                              <m:r>
                                                <a:rPr lang="en-ZA" sz="2000" i="1" dirty="0" err="1">
                                                  <a:solidFill>
                                                    <a:srgbClr val="002060"/>
                                                  </a:solidFill>
                                                  <a:latin typeface="Cambria Math" panose="02040503050406030204" pitchFamily="18" charset="0"/>
                                                </a:rPr>
                                                <m:t>𝑖</m:t>
                                              </m:r>
                                              <m:r>
                                                <a:rPr lang="en-ZA" sz="2000" i="1" dirty="0" err="1">
                                                  <a:solidFill>
                                                    <a:srgbClr val="002060"/>
                                                  </a:solidFill>
                                                  <a:latin typeface="Cambria Math" panose="02040503050406030204" pitchFamily="18" charset="0"/>
                                                </a:rPr>
                                                <m:t>,</m:t>
                                              </m:r>
                                              <m:r>
                                                <a:rPr lang="en-ZA" sz="2000" i="1" dirty="0" err="1">
                                                  <a:solidFill>
                                                    <a:srgbClr val="002060"/>
                                                  </a:solidFill>
                                                  <a:latin typeface="Cambria Math" panose="02040503050406030204" pitchFamily="18" charset="0"/>
                                                </a:rPr>
                                                <m:t>𝑘</m:t>
                                              </m:r>
                                              <m:r>
                                                <a:rPr lang="en-ZA" sz="2000" i="1" dirty="0" err="1">
                                                  <a:solidFill>
                                                    <a:srgbClr val="002060"/>
                                                  </a:solidFill>
                                                  <a:latin typeface="Cambria Math" panose="02040503050406030204" pitchFamily="18" charset="0"/>
                                                </a:rPr>
                                                <m:t>,</m:t>
                                              </m:r>
                                              <m:r>
                                                <a:rPr lang="en-ZA" sz="2000" i="1" dirty="0" err="1">
                                                  <a:solidFill>
                                                    <a:srgbClr val="002060"/>
                                                  </a:solidFill>
                                                  <a:latin typeface="Cambria Math" panose="02040503050406030204" pitchFamily="18" charset="0"/>
                                                </a:rPr>
                                                <m:t>𝑡</m:t>
                                              </m:r>
                                            </m:sub>
                                          </m:sSub>
                                        </m:e>
                                      </m:d>
                                    </m:e>
                                    <m:sup>
                                      <m:r>
                                        <a:rPr lang="en-ZA" sz="2000" i="1" dirty="0">
                                          <a:solidFill>
                                            <a:srgbClr val="002060"/>
                                          </a:solidFill>
                                          <a:latin typeface="Cambria Math" panose="02040503050406030204" pitchFamily="18" charset="0"/>
                                        </a:rPr>
                                        <m:t>𝑚</m:t>
                                      </m:r>
                                    </m:sup>
                                  </m:sSup>
                                  <m:d>
                                    <m:dPr>
                                      <m:begChr m:val=""/>
                                      <m:endChr m:val=""/>
                                      <m:ctrlPr>
                                        <a:rPr lang="en-ZA" sz="2000" i="1" dirty="0">
                                          <a:solidFill>
                                            <a:srgbClr val="002060"/>
                                          </a:solidFill>
                                          <a:latin typeface="Cambria Math" panose="02040503050406030204" pitchFamily="18" charset="0"/>
                                        </a:rPr>
                                      </m:ctrlPr>
                                    </m:dPr>
                                    <m:e>
                                      <m:r>
                                        <m:rPr>
                                          <m:lit/>
                                        </m:rPr>
                                        <a:rPr lang="en-ZA" sz="2000" i="1" dirty="0">
                                          <a:solidFill>
                                            <a:srgbClr val="002060"/>
                                          </a:solidFill>
                                          <a:latin typeface="Cambria Math" panose="02040503050406030204" pitchFamily="18" charset="0"/>
                                        </a:rPr>
                                        <m:t>|</m:t>
                                      </m:r>
                                      <m:sSubSup>
                                        <m:sSubSupPr>
                                          <m:ctrlPr>
                                            <a:rPr lang="en-ZA" sz="2000" i="1" dirty="0">
                                              <a:solidFill>
                                                <a:srgbClr val="002060"/>
                                              </a:solidFill>
                                              <a:latin typeface="Cambria Math" panose="02040503050406030204" pitchFamily="18" charset="0"/>
                                            </a:rPr>
                                          </m:ctrlPr>
                                        </m:sSubSupPr>
                                        <m:e>
                                          <m:r>
                                            <a:rPr lang="en-ZA" sz="2000" i="1" dirty="0">
                                              <a:solidFill>
                                                <a:srgbClr val="002060"/>
                                              </a:solidFill>
                                              <a:latin typeface="Cambria Math" panose="02040503050406030204" pitchFamily="18" charset="0"/>
                                            </a:rPr>
                                            <m:t>𝑆</m:t>
                                          </m:r>
                                        </m:e>
                                        <m:sub>
                                          <m:r>
                                            <a:rPr lang="en-ZA" sz="2000" i="1" dirty="0" err="1">
                                              <a:solidFill>
                                                <a:srgbClr val="002060"/>
                                              </a:solidFill>
                                              <a:latin typeface="Cambria Math" panose="02040503050406030204" pitchFamily="18" charset="0"/>
                                            </a:rPr>
                                            <m:t>𝑖</m:t>
                                          </m:r>
                                          <m:r>
                                            <a:rPr lang="en-ZA" sz="2000" i="1" dirty="0" err="1">
                                              <a:solidFill>
                                                <a:srgbClr val="002060"/>
                                              </a:solidFill>
                                              <a:latin typeface="Cambria Math" panose="02040503050406030204" pitchFamily="18" charset="0"/>
                                            </a:rPr>
                                            <m:t>,</m:t>
                                          </m:r>
                                          <m:r>
                                            <a:rPr lang="en-ZA" sz="2000" i="1" dirty="0" err="1">
                                              <a:solidFill>
                                                <a:srgbClr val="002060"/>
                                              </a:solidFill>
                                              <a:latin typeface="Cambria Math" panose="02040503050406030204" pitchFamily="18" charset="0"/>
                                            </a:rPr>
                                            <m:t>𝑡</m:t>
                                          </m:r>
                                        </m:sub>
                                        <m:sup>
                                          <m:r>
                                            <a:rPr lang="en-ZA" sz="2000" i="1" dirty="0">
                                              <a:solidFill>
                                                <a:srgbClr val="002060"/>
                                              </a:solidFill>
                                              <a:latin typeface="Cambria Math" panose="02040503050406030204" pitchFamily="18" charset="0"/>
                                            </a:rPr>
                                            <m:t>𝑡𝑟𝑎𝑖𝑛</m:t>
                                          </m:r>
                                        </m:sup>
                                      </m:sSubSup>
                                      <m:r>
                                        <a:rPr lang="en-ZA" sz="2000" i="1" dirty="0">
                                          <a:solidFill>
                                            <a:srgbClr val="002060"/>
                                          </a:solidFill>
                                          <a:latin typeface="Cambria Math" panose="02040503050406030204" pitchFamily="18" charset="0"/>
                                        </a:rPr>
                                        <m:t>−</m:t>
                                      </m:r>
                                      <m:sSub>
                                        <m:sSubPr>
                                          <m:ctrlPr>
                                            <a:rPr lang="en-ZA" sz="2000" i="1" dirty="0">
                                              <a:solidFill>
                                                <a:srgbClr val="002060"/>
                                              </a:solidFill>
                                              <a:latin typeface="Cambria Math" panose="02040503050406030204" pitchFamily="18" charset="0"/>
                                            </a:rPr>
                                          </m:ctrlPr>
                                        </m:sSubPr>
                                        <m:e>
                                          <m:r>
                                            <a:rPr lang="en-ZA" sz="2000" i="1" dirty="0">
                                              <a:solidFill>
                                                <a:srgbClr val="002060"/>
                                              </a:solidFill>
                                              <a:latin typeface="Cambria Math" panose="02040503050406030204" pitchFamily="18" charset="0"/>
                                            </a:rPr>
                                            <m:t>𝑉</m:t>
                                          </m:r>
                                        </m:e>
                                        <m:sub>
                                          <m:r>
                                            <a:rPr lang="en-ZA" sz="2000" i="1" dirty="0" err="1">
                                              <a:solidFill>
                                                <a:srgbClr val="002060"/>
                                              </a:solidFill>
                                              <a:latin typeface="Cambria Math" panose="02040503050406030204" pitchFamily="18" charset="0"/>
                                            </a:rPr>
                                            <m:t>𝑘</m:t>
                                          </m:r>
                                          <m:r>
                                            <a:rPr lang="en-ZA" sz="2000" i="1" dirty="0" err="1">
                                              <a:solidFill>
                                                <a:srgbClr val="002060"/>
                                              </a:solidFill>
                                              <a:latin typeface="Cambria Math" panose="02040503050406030204" pitchFamily="18" charset="0"/>
                                            </a:rPr>
                                            <m:t>,</m:t>
                                          </m:r>
                                          <m:r>
                                            <a:rPr lang="en-ZA" sz="2000" i="1" dirty="0" err="1">
                                              <a:solidFill>
                                                <a:srgbClr val="002060"/>
                                              </a:solidFill>
                                              <a:latin typeface="Cambria Math" panose="02040503050406030204" pitchFamily="18" charset="0"/>
                                            </a:rPr>
                                            <m:t>𝑡</m:t>
                                          </m:r>
                                        </m:sub>
                                      </m:sSub>
                                    </m:e>
                                  </m:d>
                                  <m:sSup>
                                    <m:sSupPr>
                                      <m:ctrlPr>
                                        <a:rPr lang="en-ZA" sz="2000" i="1" dirty="0">
                                          <a:solidFill>
                                            <a:srgbClr val="002060"/>
                                          </a:solidFill>
                                          <a:latin typeface="Cambria Math" panose="02040503050406030204" pitchFamily="18" charset="0"/>
                                        </a:rPr>
                                      </m:ctrlPr>
                                    </m:sSupPr>
                                    <m:e>
                                      <m:r>
                                        <m:rPr>
                                          <m:lit/>
                                        </m:rPr>
                                        <a:rPr lang="en-ZA" sz="2000" i="1" dirty="0">
                                          <a:solidFill>
                                            <a:srgbClr val="002060"/>
                                          </a:solidFill>
                                          <a:latin typeface="Cambria Math" panose="02040503050406030204" pitchFamily="18" charset="0"/>
                                        </a:rPr>
                                        <m:t>|</m:t>
                                      </m:r>
                                    </m:e>
                                    <m:sup>
                                      <m:r>
                                        <a:rPr lang="en-ZA" sz="2000" i="1" dirty="0">
                                          <a:solidFill>
                                            <a:srgbClr val="002060"/>
                                          </a:solidFill>
                                          <a:latin typeface="Cambria Math" panose="02040503050406030204" pitchFamily="18" charset="0"/>
                                        </a:rPr>
                                        <m:t>2</m:t>
                                      </m:r>
                                    </m:sup>
                                  </m:sSup>
                                </m:e>
                              </m:nary>
                            </m:e>
                          </m:nary>
                        </m:num>
                        <m:den>
                          <m:sSub>
                            <m:sSubPr>
                              <m:ctrlPr>
                                <a:rPr lang="en-ZA" sz="2000" i="1" dirty="0" err="1">
                                  <a:solidFill>
                                    <a:srgbClr val="002060"/>
                                  </a:solidFill>
                                  <a:latin typeface="Cambria Math" panose="02040503050406030204" pitchFamily="18" charset="0"/>
                                </a:rPr>
                              </m:ctrlPr>
                            </m:sSubPr>
                            <m:e>
                              <m:r>
                                <a:rPr lang="en-ZA" sz="2000" i="1" dirty="0" err="1">
                                  <a:solidFill>
                                    <a:srgbClr val="002060"/>
                                  </a:solidFill>
                                  <a:latin typeface="Cambria Math" panose="02040503050406030204" pitchFamily="18" charset="0"/>
                                </a:rPr>
                                <m:t>𝑛</m:t>
                              </m:r>
                            </m:e>
                            <m:sub>
                              <m:r>
                                <a:rPr lang="en-ZA" sz="2000" i="1" dirty="0" err="1">
                                  <a:solidFill>
                                    <a:srgbClr val="002060"/>
                                  </a:solidFill>
                                  <a:latin typeface="Cambria Math" panose="02040503050406030204" pitchFamily="18" charset="0"/>
                                </a:rPr>
                                <m:t>𝑡</m:t>
                              </m:r>
                            </m:sub>
                          </m:sSub>
                          <m:r>
                            <a:rPr lang="en-ZA" sz="2000" i="1" dirty="0">
                              <a:solidFill>
                                <a:srgbClr val="002060"/>
                              </a:solidFill>
                              <a:latin typeface="Cambria Math" panose="02040503050406030204" pitchFamily="18" charset="0"/>
                            </a:rPr>
                            <m:t>⋅</m:t>
                          </m:r>
                          <m:func>
                            <m:funcPr>
                              <m:ctrlPr>
                                <a:rPr lang="en-ZA" sz="2000" i="1" dirty="0">
                                  <a:solidFill>
                                    <a:srgbClr val="002060"/>
                                  </a:solidFill>
                                  <a:latin typeface="Cambria Math" panose="02040503050406030204" pitchFamily="18" charset="0"/>
                                </a:rPr>
                              </m:ctrlPr>
                            </m:funcPr>
                            <m:fName>
                              <m:limLow>
                                <m:limLowPr>
                                  <m:ctrlPr>
                                    <a:rPr lang="en-ZA" sz="2000" i="1" dirty="0">
                                      <a:solidFill>
                                        <a:srgbClr val="002060"/>
                                      </a:solidFill>
                                      <a:latin typeface="Cambria Math" panose="02040503050406030204" pitchFamily="18" charset="0"/>
                                    </a:rPr>
                                  </m:ctrlPr>
                                </m:limLowPr>
                                <m:e>
                                  <m:r>
                                    <m:rPr>
                                      <m:sty m:val="p"/>
                                    </m:rPr>
                                    <a:rPr lang="en-ZA" sz="2000" i="0" dirty="0">
                                      <a:solidFill>
                                        <a:srgbClr val="002060"/>
                                      </a:solidFill>
                                      <a:latin typeface="Cambria Math" panose="02040503050406030204" pitchFamily="18" charset="0"/>
                                    </a:rPr>
                                    <m:t>min</m:t>
                                  </m:r>
                                </m:e>
                                <m:lim>
                                  <m:r>
                                    <a:rPr lang="en-ZA" sz="2000" i="1" dirty="0">
                                      <a:solidFill>
                                        <a:srgbClr val="002060"/>
                                      </a:solidFill>
                                      <a:latin typeface="Cambria Math" panose="02040503050406030204" pitchFamily="18" charset="0"/>
                                    </a:rPr>
                                    <m:t>𝑝</m:t>
                                  </m:r>
                                  <m:r>
                                    <a:rPr lang="en-ZA" sz="2000" i="1" dirty="0">
                                      <a:solidFill>
                                        <a:srgbClr val="002060"/>
                                      </a:solidFill>
                                      <a:latin typeface="Cambria Math" panose="02040503050406030204" pitchFamily="18" charset="0"/>
                                    </a:rPr>
                                    <m:t>≠</m:t>
                                  </m:r>
                                  <m:r>
                                    <a:rPr lang="en-ZA" sz="2000" i="1" dirty="0">
                                      <a:solidFill>
                                        <a:srgbClr val="002060"/>
                                      </a:solidFill>
                                      <a:latin typeface="Cambria Math" panose="02040503050406030204" pitchFamily="18" charset="0"/>
                                    </a:rPr>
                                    <m:t>𝑞</m:t>
                                  </m:r>
                                </m:lim>
                              </m:limLow>
                            </m:fName>
                            <m:e>
                              <m:d>
                                <m:dPr>
                                  <m:begChr m:val=""/>
                                  <m:endChr m:val=""/>
                                  <m:ctrlPr>
                                    <a:rPr lang="en-ZA" sz="2000" i="1" dirty="0">
                                      <a:solidFill>
                                        <a:srgbClr val="002060"/>
                                      </a:solidFill>
                                      <a:latin typeface="Cambria Math" panose="02040503050406030204" pitchFamily="18" charset="0"/>
                                    </a:rPr>
                                  </m:ctrlPr>
                                </m:dPr>
                                <m:e>
                                  <m:r>
                                    <m:rPr>
                                      <m:lit/>
                                    </m:rPr>
                                    <a:rPr lang="en-ZA" sz="2000" i="1" dirty="0">
                                      <a:solidFill>
                                        <a:srgbClr val="002060"/>
                                      </a:solidFill>
                                      <a:latin typeface="Cambria Math" panose="02040503050406030204" pitchFamily="18" charset="0"/>
                                    </a:rPr>
                                    <m:t>|</m:t>
                                  </m:r>
                                  <m:sSub>
                                    <m:sSubPr>
                                      <m:ctrlPr>
                                        <a:rPr lang="en-ZA" sz="2000" i="1" dirty="0">
                                          <a:solidFill>
                                            <a:srgbClr val="002060"/>
                                          </a:solidFill>
                                          <a:latin typeface="Cambria Math" panose="02040503050406030204" pitchFamily="18" charset="0"/>
                                        </a:rPr>
                                      </m:ctrlPr>
                                    </m:sSubPr>
                                    <m:e>
                                      <m:r>
                                        <a:rPr lang="en-ZA" sz="2000" i="1" dirty="0">
                                          <a:solidFill>
                                            <a:srgbClr val="002060"/>
                                          </a:solidFill>
                                          <a:latin typeface="Cambria Math" panose="02040503050406030204" pitchFamily="18" charset="0"/>
                                        </a:rPr>
                                        <m:t>𝑉</m:t>
                                      </m:r>
                                    </m:e>
                                    <m:sub>
                                      <m:r>
                                        <a:rPr lang="en-ZA" sz="2000" i="1" dirty="0" err="1">
                                          <a:solidFill>
                                            <a:srgbClr val="002060"/>
                                          </a:solidFill>
                                          <a:latin typeface="Cambria Math" panose="02040503050406030204" pitchFamily="18" charset="0"/>
                                        </a:rPr>
                                        <m:t>𝑝</m:t>
                                      </m:r>
                                      <m:r>
                                        <a:rPr lang="en-ZA" sz="2000" i="1" dirty="0" err="1">
                                          <a:solidFill>
                                            <a:srgbClr val="002060"/>
                                          </a:solidFill>
                                          <a:latin typeface="Cambria Math" panose="02040503050406030204" pitchFamily="18" charset="0"/>
                                        </a:rPr>
                                        <m:t>,</m:t>
                                      </m:r>
                                      <m:r>
                                        <a:rPr lang="en-ZA" sz="2000" i="1" dirty="0" err="1">
                                          <a:solidFill>
                                            <a:srgbClr val="002060"/>
                                          </a:solidFill>
                                          <a:latin typeface="Cambria Math" panose="02040503050406030204" pitchFamily="18" charset="0"/>
                                        </a:rPr>
                                        <m:t>𝑡</m:t>
                                      </m:r>
                                    </m:sub>
                                  </m:sSub>
                                  <m:r>
                                    <a:rPr lang="en-ZA" sz="2000" i="1" dirty="0">
                                      <a:solidFill>
                                        <a:srgbClr val="002060"/>
                                      </a:solidFill>
                                      <a:latin typeface="Cambria Math" panose="02040503050406030204" pitchFamily="18" charset="0"/>
                                    </a:rPr>
                                    <m:t>−</m:t>
                                  </m:r>
                                  <m:sSub>
                                    <m:sSubPr>
                                      <m:ctrlPr>
                                        <a:rPr lang="en-ZA" sz="2000" i="1" dirty="0">
                                          <a:solidFill>
                                            <a:srgbClr val="002060"/>
                                          </a:solidFill>
                                          <a:latin typeface="Cambria Math" panose="02040503050406030204" pitchFamily="18" charset="0"/>
                                        </a:rPr>
                                      </m:ctrlPr>
                                    </m:sSubPr>
                                    <m:e>
                                      <m:r>
                                        <a:rPr lang="en-ZA" sz="2000" i="1" dirty="0">
                                          <a:solidFill>
                                            <a:srgbClr val="002060"/>
                                          </a:solidFill>
                                          <a:latin typeface="Cambria Math" panose="02040503050406030204" pitchFamily="18" charset="0"/>
                                        </a:rPr>
                                        <m:t>𝑉</m:t>
                                      </m:r>
                                    </m:e>
                                    <m:sub>
                                      <m:r>
                                        <a:rPr lang="en-ZA" sz="2000" i="1" dirty="0" err="1">
                                          <a:solidFill>
                                            <a:srgbClr val="002060"/>
                                          </a:solidFill>
                                          <a:latin typeface="Cambria Math" panose="02040503050406030204" pitchFamily="18" charset="0"/>
                                        </a:rPr>
                                        <m:t>𝑞</m:t>
                                      </m:r>
                                      <m:r>
                                        <a:rPr lang="en-ZA" sz="2000" i="1" dirty="0" err="1">
                                          <a:solidFill>
                                            <a:srgbClr val="002060"/>
                                          </a:solidFill>
                                          <a:latin typeface="Cambria Math" panose="02040503050406030204" pitchFamily="18" charset="0"/>
                                        </a:rPr>
                                        <m:t>,</m:t>
                                      </m:r>
                                      <m:r>
                                        <a:rPr lang="en-ZA" sz="2000" i="1" dirty="0" err="1">
                                          <a:solidFill>
                                            <a:srgbClr val="002060"/>
                                          </a:solidFill>
                                          <a:latin typeface="Cambria Math" panose="02040503050406030204" pitchFamily="18" charset="0"/>
                                        </a:rPr>
                                        <m:t>𝑡</m:t>
                                      </m:r>
                                    </m:sub>
                                  </m:sSub>
                                </m:e>
                              </m:d>
                            </m:e>
                          </m:func>
                          <m:sSup>
                            <m:sSupPr>
                              <m:ctrlPr>
                                <a:rPr lang="en-ZA" sz="2000" i="1" dirty="0">
                                  <a:solidFill>
                                    <a:srgbClr val="002060"/>
                                  </a:solidFill>
                                  <a:latin typeface="Cambria Math" panose="02040503050406030204" pitchFamily="18" charset="0"/>
                                </a:rPr>
                              </m:ctrlPr>
                            </m:sSupPr>
                            <m:e>
                              <m:r>
                                <m:rPr>
                                  <m:lit/>
                                </m:rPr>
                                <a:rPr lang="en-ZA" sz="2000" i="1" dirty="0">
                                  <a:solidFill>
                                    <a:srgbClr val="002060"/>
                                  </a:solidFill>
                                  <a:latin typeface="Cambria Math" panose="02040503050406030204" pitchFamily="18" charset="0"/>
                                </a:rPr>
                                <m:t>|</m:t>
                              </m:r>
                            </m:e>
                            <m:sup>
                              <m:r>
                                <a:rPr lang="en-ZA" sz="2000" i="1" dirty="0">
                                  <a:solidFill>
                                    <a:srgbClr val="002060"/>
                                  </a:solidFill>
                                  <a:latin typeface="Cambria Math" panose="02040503050406030204" pitchFamily="18" charset="0"/>
                                </a:rPr>
                                <m:t>2</m:t>
                              </m:r>
                            </m:sup>
                          </m:sSup>
                        </m:den>
                      </m:f>
                    </m:oMath>
                  </m:oMathPara>
                </a14:m>
                <a:endParaRPr/>
              </a:p>
            </p:txBody>
          </p:sp>
        </mc:Choice>
        <mc:Fallback xmlns="">
          <p:sp>
            <p:nvSpPr>
              <p:cNvPr id="9" name="TextBox 8">
                <a:extLst>
                  <a:ext uri="{FF2B5EF4-FFF2-40B4-BE49-F238E27FC236}">
                    <a16:creationId xmlns:a16="http://schemas.microsoft.com/office/drawing/2014/main" id="{02A85650-1D1E-6F82-49A4-2327DE8024E2}"/>
                  </a:ext>
                </a:extLst>
              </p:cNvPr>
              <p:cNvSpPr txBox="1">
                <a:spLocks noRot="1" noChangeAspect="1" noMove="1" noResize="1" noEditPoints="1" noAdjustHandles="1" noChangeArrowheads="1" noChangeShapeType="1" noTextEdit="1"/>
              </p:cNvSpPr>
              <p:nvPr/>
            </p:nvSpPr>
            <p:spPr>
              <a:xfrm>
                <a:off x="2745857" y="2548029"/>
                <a:ext cx="6097772" cy="959109"/>
              </a:xfrm>
              <a:prstGeom prst="rect">
                <a:avLst/>
              </a:prstGeom>
              <a:blipFill>
                <a:blip r:embed="rId3"/>
                <a:stretch>
                  <a:fillRect/>
                </a:stretch>
              </a:blipFill>
            </p:spPr>
            <p:txBody>
              <a:bodyPr/>
              <a:lstStyle/>
              <a:p>
                <a:r>
                  <a:rPr lang="en-ZA">
                    <a:noFill/>
                  </a:rPr>
                  <a:t> </a:t>
                </a:r>
              </a:p>
            </p:txBody>
          </p:sp>
        </mc:Fallback>
      </mc:AlternateContent>
      <p:sp>
        <p:nvSpPr>
          <p:cNvPr id="13" name="TextBox 12">
            <a:extLst>
              <a:ext uri="{FF2B5EF4-FFF2-40B4-BE49-F238E27FC236}">
                <a16:creationId xmlns:a16="http://schemas.microsoft.com/office/drawing/2014/main" id="{FE15D022-92CC-B0E7-023D-21FFBB456C3C}"/>
              </a:ext>
            </a:extLst>
          </p:cNvPr>
          <p:cNvSpPr txBox="1"/>
          <p:nvPr/>
        </p:nvSpPr>
        <p:spPr>
          <a:xfrm>
            <a:off x="223283" y="1424645"/>
            <a:ext cx="7179635" cy="830997"/>
          </a:xfrm>
          <a:prstGeom prst="rect">
            <a:avLst/>
          </a:prstGeom>
          <a:noFill/>
        </p:spPr>
        <p:txBody>
          <a:bodyPr wrap="square">
            <a:spAutoFit/>
          </a:bodyPr>
          <a:lstStyle/>
          <a:p>
            <a:r>
              <a:rPr lang="en-US" sz="1600" dirty="0">
                <a:solidFill>
                  <a:srgbClr val="002060"/>
                </a:solidFill>
              </a:rPr>
              <a:t>The </a:t>
            </a:r>
            <a:r>
              <a:rPr lang="en-US" sz="1600" b="1" dirty="0">
                <a:solidFill>
                  <a:srgbClr val="002060"/>
                </a:solidFill>
              </a:rPr>
              <a:t> Xie-Beni Index</a:t>
            </a:r>
            <a:r>
              <a:rPr lang="en-US" sz="1600" dirty="0">
                <a:solidFill>
                  <a:srgbClr val="002060"/>
                </a:solidFill>
              </a:rPr>
              <a:t>  will be used for model evaluation</a:t>
            </a:r>
          </a:p>
          <a:p>
            <a:endParaRPr lang="en-US" sz="1600" dirty="0">
              <a:solidFill>
                <a:srgbClr val="002060"/>
              </a:solidFill>
            </a:endParaRPr>
          </a:p>
          <a:p>
            <a:r>
              <a:rPr lang="en-US" sz="1600" dirty="0">
                <a:solidFill>
                  <a:srgbClr val="002060"/>
                </a:solidFill>
              </a:rPr>
              <a:t>Evaluating the  fuzzy clustering compactness and separation:</a:t>
            </a:r>
            <a:endParaRPr lang="en-ZA" sz="1600" dirty="0">
              <a:solidFill>
                <a:srgbClr val="002060"/>
              </a:solidFill>
            </a:endParaRPr>
          </a:p>
        </p:txBody>
      </p:sp>
      <p:sp>
        <p:nvSpPr>
          <p:cNvPr id="16" name="TextBox 15">
            <a:extLst>
              <a:ext uri="{FF2B5EF4-FFF2-40B4-BE49-F238E27FC236}">
                <a16:creationId xmlns:a16="http://schemas.microsoft.com/office/drawing/2014/main" id="{B5F8D4DA-0F60-B381-63CD-41464D55187C}"/>
              </a:ext>
            </a:extLst>
          </p:cNvPr>
          <p:cNvSpPr txBox="1"/>
          <p:nvPr/>
        </p:nvSpPr>
        <p:spPr>
          <a:xfrm>
            <a:off x="265812" y="3640120"/>
            <a:ext cx="11057861" cy="584775"/>
          </a:xfrm>
          <a:prstGeom prst="rect">
            <a:avLst/>
          </a:prstGeom>
          <a:noFill/>
        </p:spPr>
        <p:txBody>
          <a:bodyPr wrap="square">
            <a:spAutoFit/>
          </a:bodyPr>
          <a:lstStyle/>
          <a:p>
            <a:r>
              <a:rPr lang="en-US" sz="1600" dirty="0">
                <a:solidFill>
                  <a:srgbClr val="002060"/>
                </a:solidFill>
              </a:rPr>
              <a:t>Lower XB values generally suggest better fuzzy clustering because customers are compact within clusters and centroids are well separated. </a:t>
            </a:r>
            <a:endParaRPr lang="en-ZA" sz="1600" dirty="0">
              <a:solidFill>
                <a:srgbClr val="002060"/>
              </a:solidFill>
            </a:endParaRPr>
          </a:p>
        </p:txBody>
      </p:sp>
      <p:graphicFrame>
        <p:nvGraphicFramePr>
          <p:cNvPr id="17" name="Table 16">
            <a:extLst>
              <a:ext uri="{FF2B5EF4-FFF2-40B4-BE49-F238E27FC236}">
                <a16:creationId xmlns:a16="http://schemas.microsoft.com/office/drawing/2014/main" id="{55475E4D-9B17-4734-473E-D9F974EBA7FE}"/>
              </a:ext>
            </a:extLst>
          </p:cNvPr>
          <p:cNvGraphicFramePr>
            <a:graphicFrameLocks noGrp="1"/>
          </p:cNvGraphicFramePr>
          <p:nvPr>
            <p:extLst>
              <p:ext uri="{D42A27DB-BD31-4B8C-83A1-F6EECF244321}">
                <p14:modId xmlns:p14="http://schemas.microsoft.com/office/powerpoint/2010/main" val="1998712530"/>
              </p:ext>
            </p:extLst>
          </p:nvPr>
        </p:nvGraphicFramePr>
        <p:xfrm>
          <a:off x="451863" y="5098192"/>
          <a:ext cx="7479158" cy="1503228"/>
        </p:xfrm>
        <a:graphic>
          <a:graphicData uri="http://schemas.openxmlformats.org/drawingml/2006/table">
            <a:tbl>
              <a:tblPr>
                <a:tableStyleId>{3C2FFA5D-87B4-456A-9821-1D502468CF0F}</a:tableStyleId>
              </a:tblPr>
              <a:tblGrid>
                <a:gridCol w="2585871">
                  <a:extLst>
                    <a:ext uri="{9D8B030D-6E8A-4147-A177-3AD203B41FA5}">
                      <a16:colId xmlns:a16="http://schemas.microsoft.com/office/drawing/2014/main" val="2681586157"/>
                    </a:ext>
                  </a:extLst>
                </a:gridCol>
                <a:gridCol w="4893287">
                  <a:extLst>
                    <a:ext uri="{9D8B030D-6E8A-4147-A177-3AD203B41FA5}">
                      <a16:colId xmlns:a16="http://schemas.microsoft.com/office/drawing/2014/main" val="1387611844"/>
                    </a:ext>
                  </a:extLst>
                </a:gridCol>
              </a:tblGrid>
              <a:tr h="501076">
                <a:tc>
                  <a:txBody>
                    <a:bodyPr/>
                    <a:lstStyle/>
                    <a:p>
                      <a:pPr>
                        <a:buNone/>
                      </a:pPr>
                      <a:r>
                        <a:rPr lang="en-ZA" sz="1600" dirty="0">
                          <a:solidFill>
                            <a:srgbClr val="002060"/>
                          </a:solidFill>
                        </a:rPr>
                        <a:t>Migration rate</a:t>
                      </a:r>
                    </a:p>
                  </a:txBody>
                  <a:tcPr anchor="ctr"/>
                </a:tc>
                <a:tc>
                  <a:txBody>
                    <a:bodyPr/>
                    <a:lstStyle/>
                    <a:p>
                      <a:pPr>
                        <a:buNone/>
                      </a:pPr>
                      <a:r>
                        <a:rPr lang="en-US" sz="1600" dirty="0">
                          <a:solidFill>
                            <a:srgbClr val="002060"/>
                          </a:solidFill>
                        </a:rPr>
                        <a:t>Measures how many customers changed segment</a:t>
                      </a:r>
                    </a:p>
                  </a:txBody>
                  <a:tcPr anchor="ctr"/>
                </a:tc>
                <a:extLst>
                  <a:ext uri="{0D108BD9-81ED-4DB2-BD59-A6C34878D82A}">
                    <a16:rowId xmlns:a16="http://schemas.microsoft.com/office/drawing/2014/main" val="3993136755"/>
                  </a:ext>
                </a:extLst>
              </a:tr>
              <a:tr h="501076">
                <a:tc>
                  <a:txBody>
                    <a:bodyPr/>
                    <a:lstStyle/>
                    <a:p>
                      <a:pPr>
                        <a:buNone/>
                      </a:pPr>
                      <a:r>
                        <a:rPr lang="en-ZA" sz="1600" dirty="0">
                          <a:solidFill>
                            <a:srgbClr val="002060"/>
                          </a:solidFill>
                        </a:rPr>
                        <a:t>Segment size change</a:t>
                      </a:r>
                    </a:p>
                  </a:txBody>
                  <a:tcPr anchor="ctr"/>
                </a:tc>
                <a:tc>
                  <a:txBody>
                    <a:bodyPr/>
                    <a:lstStyle/>
                    <a:p>
                      <a:pPr>
                        <a:buNone/>
                      </a:pPr>
                      <a:r>
                        <a:rPr lang="en-US" sz="1600" dirty="0">
                          <a:solidFill>
                            <a:srgbClr val="002060"/>
                          </a:solidFill>
                        </a:rPr>
                        <a:t>Shows whether clusters grow or shrink</a:t>
                      </a:r>
                    </a:p>
                  </a:txBody>
                  <a:tcPr anchor="ctr"/>
                </a:tc>
                <a:extLst>
                  <a:ext uri="{0D108BD9-81ED-4DB2-BD59-A6C34878D82A}">
                    <a16:rowId xmlns:a16="http://schemas.microsoft.com/office/drawing/2014/main" val="2216854536"/>
                  </a:ext>
                </a:extLst>
              </a:tr>
              <a:tr h="501076">
                <a:tc>
                  <a:txBody>
                    <a:bodyPr/>
                    <a:lstStyle/>
                    <a:p>
                      <a:pPr>
                        <a:buNone/>
                      </a:pPr>
                      <a:r>
                        <a:rPr lang="en-ZA" sz="1600">
                          <a:solidFill>
                            <a:srgbClr val="002060"/>
                          </a:solidFill>
                        </a:rPr>
                        <a:t>Business interpretability</a:t>
                      </a:r>
                    </a:p>
                  </a:txBody>
                  <a:tcPr anchor="ctr"/>
                </a:tc>
                <a:tc>
                  <a:txBody>
                    <a:bodyPr/>
                    <a:lstStyle/>
                    <a:p>
                      <a:pPr>
                        <a:buNone/>
                      </a:pPr>
                      <a:r>
                        <a:rPr lang="en-US" sz="1600" dirty="0">
                          <a:solidFill>
                            <a:srgbClr val="002060"/>
                          </a:solidFill>
                        </a:rPr>
                        <a:t>Checks whether clusters make sense for actions</a:t>
                      </a:r>
                    </a:p>
                  </a:txBody>
                  <a:tcPr anchor="ctr"/>
                </a:tc>
                <a:extLst>
                  <a:ext uri="{0D108BD9-81ED-4DB2-BD59-A6C34878D82A}">
                    <a16:rowId xmlns:a16="http://schemas.microsoft.com/office/drawing/2014/main" val="854880753"/>
                  </a:ext>
                </a:extLst>
              </a:tr>
            </a:tbl>
          </a:graphicData>
        </a:graphic>
      </p:graphicFrame>
      <p:sp>
        <p:nvSpPr>
          <p:cNvPr id="22" name="TextBox 21">
            <a:extLst>
              <a:ext uri="{FF2B5EF4-FFF2-40B4-BE49-F238E27FC236}">
                <a16:creationId xmlns:a16="http://schemas.microsoft.com/office/drawing/2014/main" id="{ADBE2AE3-8CBF-76EE-6F7C-3F1A05F2EB64}"/>
              </a:ext>
            </a:extLst>
          </p:cNvPr>
          <p:cNvSpPr txBox="1"/>
          <p:nvPr/>
        </p:nvSpPr>
        <p:spPr>
          <a:xfrm>
            <a:off x="370892" y="4559897"/>
            <a:ext cx="6097554" cy="338554"/>
          </a:xfrm>
          <a:prstGeom prst="rect">
            <a:avLst/>
          </a:prstGeom>
          <a:noFill/>
        </p:spPr>
        <p:txBody>
          <a:bodyPr wrap="square">
            <a:spAutoFit/>
          </a:bodyPr>
          <a:lstStyle/>
          <a:p>
            <a:r>
              <a:rPr lang="en-US" sz="1600" b="1" dirty="0">
                <a:solidFill>
                  <a:srgbClr val="002060"/>
                </a:solidFill>
              </a:rPr>
              <a:t>The other intuitive  evaluation metrics  that will be observed </a:t>
            </a:r>
          </a:p>
        </p:txBody>
      </p:sp>
    </p:spTree>
    <p:extLst>
      <p:ext uri="{BB962C8B-B14F-4D97-AF65-F5344CB8AC3E}">
        <p14:creationId xmlns:p14="http://schemas.microsoft.com/office/powerpoint/2010/main" val="22648416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C2DD8AA-822C-4ECE-CF3D-36822542351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EA601FB4-D692-4251-E6AF-E56CAB0628BA}"/>
              </a:ext>
            </a:extLst>
          </p:cNvPr>
          <p:cNvSpPr txBox="1">
            <a:spLocks/>
          </p:cNvSpPr>
          <p:nvPr/>
        </p:nvSpPr>
        <p:spPr>
          <a:xfrm>
            <a:off x="1943116" y="202599"/>
            <a:ext cx="8551218" cy="53061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ZA" sz="3200" dirty="0">
                <a:solidFill>
                  <a:srgbClr val="002060"/>
                </a:solidFill>
                <a:latin typeface="Arial Black" panose="020B0A04020102020204" pitchFamily="34" charset="0"/>
              </a:rPr>
              <a:t>Dynamic Loop :  </a:t>
            </a:r>
            <a:r>
              <a:rPr lang="en-ZA" sz="3200" dirty="0">
                <a:solidFill>
                  <a:srgbClr val="002060"/>
                </a:solidFill>
              </a:rPr>
              <a:t>Output Table &amp; Algorithm </a:t>
            </a:r>
            <a:endParaRPr lang="en-ZA" sz="3200" dirty="0">
              <a:solidFill>
                <a:srgbClr val="002060"/>
              </a:solidFill>
              <a:latin typeface="Arial Black" panose="020B0A04020102020204" pitchFamily="34" charset="0"/>
            </a:endParaRPr>
          </a:p>
        </p:txBody>
      </p:sp>
      <p:graphicFrame>
        <p:nvGraphicFramePr>
          <p:cNvPr id="2" name="Table 1">
            <a:extLst>
              <a:ext uri="{FF2B5EF4-FFF2-40B4-BE49-F238E27FC236}">
                <a16:creationId xmlns:a16="http://schemas.microsoft.com/office/drawing/2014/main" id="{5D968BC2-FB51-1146-2E46-F5942C30708E}"/>
              </a:ext>
            </a:extLst>
          </p:cNvPr>
          <p:cNvGraphicFramePr>
            <a:graphicFrameLocks noGrp="1"/>
          </p:cNvGraphicFramePr>
          <p:nvPr>
            <p:extLst>
              <p:ext uri="{D42A27DB-BD31-4B8C-83A1-F6EECF244321}">
                <p14:modId xmlns:p14="http://schemas.microsoft.com/office/powerpoint/2010/main" val="3901676348"/>
              </p:ext>
            </p:extLst>
          </p:nvPr>
        </p:nvGraphicFramePr>
        <p:xfrm>
          <a:off x="232145" y="1074631"/>
          <a:ext cx="4903381" cy="5678675"/>
        </p:xfrm>
        <a:graphic>
          <a:graphicData uri="http://schemas.openxmlformats.org/drawingml/2006/table">
            <a:tbl>
              <a:tblPr>
                <a:tableStyleId>{5940675A-B579-460E-94D1-54222C63F5DA}</a:tableStyleId>
              </a:tblPr>
              <a:tblGrid>
                <a:gridCol w="1959161">
                  <a:extLst>
                    <a:ext uri="{9D8B030D-6E8A-4147-A177-3AD203B41FA5}">
                      <a16:colId xmlns:a16="http://schemas.microsoft.com/office/drawing/2014/main" val="3069897033"/>
                    </a:ext>
                  </a:extLst>
                </a:gridCol>
                <a:gridCol w="2944220">
                  <a:extLst>
                    <a:ext uri="{9D8B030D-6E8A-4147-A177-3AD203B41FA5}">
                      <a16:colId xmlns:a16="http://schemas.microsoft.com/office/drawing/2014/main" val="382023451"/>
                    </a:ext>
                  </a:extLst>
                </a:gridCol>
              </a:tblGrid>
              <a:tr h="381295">
                <a:tc>
                  <a:txBody>
                    <a:bodyPr/>
                    <a:lstStyle/>
                    <a:p>
                      <a:pPr>
                        <a:buNone/>
                      </a:pPr>
                      <a:r>
                        <a:rPr lang="en-ZA" sz="1600" b="1" dirty="0">
                          <a:solidFill>
                            <a:srgbClr val="002060"/>
                          </a:solidFill>
                        </a:rPr>
                        <a:t>Output field</a:t>
                      </a:r>
                      <a:endParaRPr lang="en-ZA" sz="1600" b="1" i="1" dirty="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en-ZA" sz="1600" b="1" dirty="0">
                          <a:solidFill>
                            <a:srgbClr val="002060"/>
                          </a:solidFill>
                        </a:rPr>
                        <a:t>Meaning</a:t>
                      </a:r>
                      <a:endParaRPr lang="en-ZA" sz="1600" b="1" i="1" dirty="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461101147"/>
                  </a:ext>
                </a:extLst>
              </a:tr>
              <a:tr h="479200">
                <a:tc>
                  <a:txBody>
                    <a:bodyPr/>
                    <a:lstStyle/>
                    <a:p>
                      <a:pPr>
                        <a:buNone/>
                      </a:pPr>
                      <a:r>
                        <a:rPr lang="en-ZA" sz="1600">
                          <a:solidFill>
                            <a:srgbClr val="002060"/>
                          </a:solidFill>
                        </a:rPr>
                        <a:t>CustomerID</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en-US" sz="1600" dirty="0">
                          <a:solidFill>
                            <a:srgbClr val="002060"/>
                          </a:solidFill>
                        </a:rPr>
                        <a:t>Links result to the customer</a:t>
                      </a:r>
                      <a:endParaRPr lang="en-US" sz="1600" dirty="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1100163670"/>
                  </a:ext>
                </a:extLst>
              </a:tr>
              <a:tr h="381295">
                <a:tc>
                  <a:txBody>
                    <a:bodyPr/>
                    <a:lstStyle/>
                    <a:p>
                      <a:pPr>
                        <a:buNone/>
                      </a:pPr>
                      <a:r>
                        <a:rPr lang="en-ZA" sz="1600">
                          <a:solidFill>
                            <a:srgbClr val="002060"/>
                          </a:solidFill>
                        </a:rPr>
                        <a:t>CycleID</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en-US" sz="1600" dirty="0">
                          <a:solidFill>
                            <a:srgbClr val="002060"/>
                          </a:solidFill>
                        </a:rPr>
                        <a:t>Shows the time cycle/month</a:t>
                      </a:r>
                      <a:endParaRPr lang="en-US" sz="1600" dirty="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3945813511"/>
                  </a:ext>
                </a:extLst>
              </a:tr>
              <a:tr h="381295">
                <a:tc>
                  <a:txBody>
                    <a:bodyPr/>
                    <a:lstStyle/>
                    <a:p>
                      <a:pPr>
                        <a:buNone/>
                      </a:pPr>
                      <a:r>
                        <a:rPr lang="en-ZA" sz="1600">
                          <a:solidFill>
                            <a:srgbClr val="002060"/>
                          </a:solidFill>
                        </a:rPr>
                        <a:t>PreviousSegment</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en-ZA" sz="1600" dirty="0">
                          <a:solidFill>
                            <a:srgbClr val="002060"/>
                          </a:solidFill>
                        </a:rPr>
                        <a:t>Segment from previous cycle</a:t>
                      </a:r>
                      <a:endParaRPr lang="en-ZA" sz="1600" dirty="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1468175614"/>
                  </a:ext>
                </a:extLst>
              </a:tr>
              <a:tr h="381295">
                <a:tc>
                  <a:txBody>
                    <a:bodyPr/>
                    <a:lstStyle/>
                    <a:p>
                      <a:pPr>
                        <a:buNone/>
                      </a:pPr>
                      <a:r>
                        <a:rPr lang="en-ZA" sz="1600">
                          <a:solidFill>
                            <a:srgbClr val="002060"/>
                          </a:solidFill>
                        </a:rPr>
                        <a:t>CurrentSegment</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en-ZA" sz="1600" dirty="0">
                          <a:solidFill>
                            <a:srgbClr val="002060"/>
                          </a:solidFill>
                        </a:rPr>
                        <a:t>Updated segment after MDFCM</a:t>
                      </a:r>
                      <a:endParaRPr lang="en-ZA" sz="1600" dirty="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1794193590"/>
                  </a:ext>
                </a:extLst>
              </a:tr>
              <a:tr h="658600">
                <a:tc>
                  <a:txBody>
                    <a:bodyPr/>
                    <a:lstStyle/>
                    <a:p>
                      <a:pPr>
                        <a:buNone/>
                      </a:pPr>
                      <a:r>
                        <a:rPr lang="en-ZA" sz="1600">
                          <a:solidFill>
                            <a:srgbClr val="002060"/>
                          </a:solidFill>
                        </a:rPr>
                        <a:t>MembershipScore Se(i,t)</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en-US" sz="1600">
                          <a:solidFill>
                            <a:srgbClr val="002060"/>
                          </a:solidFill>
                        </a:rPr>
                        <a:t>Strength of membership in assigned segment</a:t>
                      </a:r>
                      <a:endParaRPr lang="en-US"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2334326732"/>
                  </a:ext>
                </a:extLst>
              </a:tr>
              <a:tr h="658600">
                <a:tc>
                  <a:txBody>
                    <a:bodyPr/>
                    <a:lstStyle/>
                    <a:p>
                      <a:pPr>
                        <a:buNone/>
                      </a:pPr>
                      <a:r>
                        <a:rPr lang="en-ZA" sz="1600">
                          <a:solidFill>
                            <a:srgbClr val="002060"/>
                          </a:solidFill>
                        </a:rPr>
                        <a:t>MigrationStatus</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en-ZA" sz="1600">
                          <a:solidFill>
                            <a:srgbClr val="002060"/>
                          </a:solidFill>
                        </a:rPr>
                        <a:t>Stable, positive migration, or negative migration</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2101604689"/>
                  </a:ext>
                </a:extLst>
              </a:tr>
              <a:tr h="658600">
                <a:tc>
                  <a:txBody>
                    <a:bodyPr/>
                    <a:lstStyle/>
                    <a:p>
                      <a:pPr>
                        <a:buNone/>
                      </a:pPr>
                      <a:r>
                        <a:rPr lang="en-ZA" sz="1600">
                          <a:solidFill>
                            <a:srgbClr val="002060"/>
                          </a:solidFill>
                        </a:rPr>
                        <a:t>UpdatedCentroid</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en-US" sz="1600">
                          <a:solidFill>
                            <a:srgbClr val="002060"/>
                          </a:solidFill>
                        </a:rPr>
                        <a:t>New centroid after dynamic update</a:t>
                      </a:r>
                      <a:endParaRPr lang="en-US"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3043542834"/>
                  </a:ext>
                </a:extLst>
              </a:tr>
              <a:tr h="658600">
                <a:tc>
                  <a:txBody>
                    <a:bodyPr/>
                    <a:lstStyle/>
                    <a:p>
                      <a:pPr>
                        <a:buNone/>
                      </a:pPr>
                      <a:r>
                        <a:rPr lang="en-ZA" sz="1600" dirty="0" err="1">
                          <a:solidFill>
                            <a:srgbClr val="002060"/>
                          </a:solidFill>
                        </a:rPr>
                        <a:t>XB_Index</a:t>
                      </a:r>
                      <a:endParaRPr lang="en-ZA" sz="1600" dirty="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en-ZA" sz="1600">
                          <a:solidFill>
                            <a:srgbClr val="002060"/>
                          </a:solidFill>
                        </a:rPr>
                        <a:t>Fuzzy clustering validation score</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2688707092"/>
                  </a:ext>
                </a:extLst>
              </a:tr>
              <a:tr h="381295">
                <a:tc>
                  <a:txBody>
                    <a:bodyPr/>
                    <a:lstStyle/>
                    <a:p>
                      <a:pPr>
                        <a:buNone/>
                      </a:pPr>
                      <a:r>
                        <a:rPr lang="en-ZA" sz="1600">
                          <a:solidFill>
                            <a:srgbClr val="002060"/>
                          </a:solidFill>
                        </a:rPr>
                        <a:t>PersonaProfile</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en-ZA" sz="1600">
                          <a:solidFill>
                            <a:srgbClr val="002060"/>
                          </a:solidFill>
                        </a:rPr>
                        <a:t>Dataset A persona label</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3416305539"/>
                  </a:ext>
                </a:extLst>
              </a:tr>
              <a:tr h="658600">
                <a:tc>
                  <a:txBody>
                    <a:bodyPr/>
                    <a:lstStyle/>
                    <a:p>
                      <a:pPr>
                        <a:buNone/>
                      </a:pPr>
                      <a:r>
                        <a:rPr lang="en-ZA" sz="1600">
                          <a:solidFill>
                            <a:srgbClr val="002060"/>
                          </a:solidFill>
                        </a:rPr>
                        <a:t>ClimateZone</a:t>
                      </a:r>
                      <a:endParaRPr lang="en-ZA" sz="160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tc>
                  <a:txBody>
                    <a:bodyPr/>
                    <a:lstStyle/>
                    <a:p>
                      <a:pPr>
                        <a:buNone/>
                      </a:pPr>
                      <a:r>
                        <a:rPr lang="it-IT" sz="1600" dirty="0">
                          <a:solidFill>
                            <a:srgbClr val="002060"/>
                          </a:solidFill>
                        </a:rPr>
                        <a:t>Dataset A climate/location profile</a:t>
                      </a:r>
                      <a:endParaRPr lang="it-IT" sz="1600" dirty="0">
                        <a:solidFill>
                          <a:srgbClr val="002060"/>
                        </a:solidFill>
                        <a:latin typeface="+mj-lt"/>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25000"/>
                        <a:lumOff val="75000"/>
                      </a:schemeClr>
                    </a:solidFill>
                  </a:tcPr>
                </a:tc>
                <a:extLst>
                  <a:ext uri="{0D108BD9-81ED-4DB2-BD59-A6C34878D82A}">
                    <a16:rowId xmlns:a16="http://schemas.microsoft.com/office/drawing/2014/main" val="1324758767"/>
                  </a:ext>
                </a:extLst>
              </a:tr>
            </a:tbl>
          </a:graphicData>
        </a:graphic>
      </p:graphicFrame>
      <p:sp>
        <p:nvSpPr>
          <p:cNvPr id="5" name="TextBox 4">
            <a:extLst>
              <a:ext uri="{FF2B5EF4-FFF2-40B4-BE49-F238E27FC236}">
                <a16:creationId xmlns:a16="http://schemas.microsoft.com/office/drawing/2014/main" id="{9F69A76A-D8B6-D4E3-2CBE-B07DF6A77BF1}"/>
              </a:ext>
            </a:extLst>
          </p:cNvPr>
          <p:cNvSpPr txBox="1"/>
          <p:nvPr/>
        </p:nvSpPr>
        <p:spPr>
          <a:xfrm>
            <a:off x="8451111" y="1157274"/>
            <a:ext cx="3592206" cy="5493812"/>
          </a:xfrm>
          <a:prstGeom prst="rect">
            <a:avLst/>
          </a:prstGeom>
          <a:solidFill>
            <a:schemeClr val="tx1">
              <a:lumMod val="95000"/>
            </a:schemeClr>
          </a:solidFill>
        </p:spPr>
        <p:txBody>
          <a:bodyPr wrap="square">
            <a:spAutoFit/>
          </a:bodyPr>
          <a:lstStyle/>
          <a:p>
            <a:r>
              <a:rPr lang="en-ZA" sz="900" dirty="0">
                <a:solidFill>
                  <a:schemeClr val="accent1"/>
                </a:solidFill>
              </a:rPr>
              <a:t>Step 1: </a:t>
            </a:r>
            <a:r>
              <a:rPr lang="en-ZA" sz="900" dirty="0">
                <a:solidFill>
                  <a:schemeClr val="accent6"/>
                </a:solidFill>
              </a:rPr>
              <a:t>For each time cycle t = 1 to n:</a:t>
            </a:r>
          </a:p>
          <a:p>
            <a:r>
              <a:rPr lang="en-ZA" sz="900" dirty="0">
                <a:solidFill>
                  <a:schemeClr val="accent1"/>
                </a:solidFill>
              </a:rPr>
              <a:t>            Load new transaction data for cycle t.</a:t>
            </a:r>
          </a:p>
          <a:p>
            <a:endParaRPr lang="en-ZA" sz="900" dirty="0">
              <a:solidFill>
                <a:schemeClr val="accent1"/>
              </a:solidFill>
            </a:endParaRPr>
          </a:p>
          <a:p>
            <a:r>
              <a:rPr lang="en-ZA" sz="900" dirty="0">
                <a:solidFill>
                  <a:schemeClr val="accent1"/>
                </a:solidFill>
              </a:rPr>
              <a:t>Step 2:     </a:t>
            </a:r>
            <a:r>
              <a:rPr lang="en-ZA" sz="900" dirty="0">
                <a:solidFill>
                  <a:schemeClr val="accent6"/>
                </a:solidFill>
              </a:rPr>
              <a:t>Recalculate behavioural features:</a:t>
            </a:r>
          </a:p>
          <a:p>
            <a:r>
              <a:rPr lang="en-ZA" sz="900" dirty="0">
                <a:solidFill>
                  <a:schemeClr val="accent1"/>
                </a:solidFill>
              </a:rPr>
              <a:t>                R(</a:t>
            </a:r>
            <a:r>
              <a:rPr lang="en-ZA" sz="900" dirty="0" err="1">
                <a:solidFill>
                  <a:schemeClr val="accent1"/>
                </a:solidFill>
              </a:rPr>
              <a:t>i,t</a:t>
            </a:r>
            <a:r>
              <a:rPr lang="en-ZA" sz="900" dirty="0">
                <a:solidFill>
                  <a:schemeClr val="accent1"/>
                </a:solidFill>
              </a:rPr>
              <a:t>), F(</a:t>
            </a:r>
            <a:r>
              <a:rPr lang="en-ZA" sz="900" dirty="0" err="1">
                <a:solidFill>
                  <a:schemeClr val="accent1"/>
                </a:solidFill>
              </a:rPr>
              <a:t>i,t</a:t>
            </a:r>
            <a:r>
              <a:rPr lang="en-ZA" sz="900" dirty="0">
                <a:solidFill>
                  <a:schemeClr val="accent1"/>
                </a:solidFill>
              </a:rPr>
              <a:t>), M(</a:t>
            </a:r>
            <a:r>
              <a:rPr lang="en-ZA" sz="900" dirty="0" err="1">
                <a:solidFill>
                  <a:schemeClr val="accent1"/>
                </a:solidFill>
              </a:rPr>
              <a:t>i,t</a:t>
            </a:r>
            <a:r>
              <a:rPr lang="en-ZA" sz="900" dirty="0">
                <a:solidFill>
                  <a:schemeClr val="accent1"/>
                </a:solidFill>
              </a:rPr>
              <a:t>)</a:t>
            </a:r>
          </a:p>
          <a:p>
            <a:r>
              <a:rPr lang="en-ZA" sz="900" dirty="0">
                <a:solidFill>
                  <a:schemeClr val="accent1"/>
                </a:solidFill>
              </a:rPr>
              <a:t>                RF(</a:t>
            </a:r>
            <a:r>
              <a:rPr lang="en-ZA" sz="900" dirty="0" err="1">
                <a:solidFill>
                  <a:schemeClr val="accent1"/>
                </a:solidFill>
              </a:rPr>
              <a:t>i,t</a:t>
            </a:r>
            <a:r>
              <a:rPr lang="en-ZA" sz="900" dirty="0">
                <a:solidFill>
                  <a:schemeClr val="accent1"/>
                </a:solidFill>
              </a:rPr>
              <a:t>), RM(</a:t>
            </a:r>
            <a:r>
              <a:rPr lang="en-ZA" sz="900" dirty="0" err="1">
                <a:solidFill>
                  <a:schemeClr val="accent1"/>
                </a:solidFill>
              </a:rPr>
              <a:t>i,t</a:t>
            </a:r>
            <a:r>
              <a:rPr lang="en-ZA" sz="900" dirty="0">
                <a:solidFill>
                  <a:schemeClr val="accent1"/>
                </a:solidFill>
              </a:rPr>
              <a:t>), FM(</a:t>
            </a:r>
            <a:r>
              <a:rPr lang="en-ZA" sz="900" dirty="0" err="1">
                <a:solidFill>
                  <a:schemeClr val="accent1"/>
                </a:solidFill>
              </a:rPr>
              <a:t>i,t</a:t>
            </a:r>
            <a:r>
              <a:rPr lang="en-ZA" sz="900" dirty="0">
                <a:solidFill>
                  <a:schemeClr val="accent1"/>
                </a:solidFill>
              </a:rPr>
              <a:t>)</a:t>
            </a:r>
          </a:p>
          <a:p>
            <a:endParaRPr lang="en-ZA" sz="900" dirty="0">
              <a:solidFill>
                <a:schemeClr val="accent1"/>
              </a:solidFill>
            </a:endParaRPr>
          </a:p>
          <a:p>
            <a:r>
              <a:rPr lang="en-ZA" sz="900" dirty="0">
                <a:solidFill>
                  <a:schemeClr val="accent1"/>
                </a:solidFill>
              </a:rPr>
              <a:t>Step 3:     </a:t>
            </a:r>
          </a:p>
          <a:p>
            <a:r>
              <a:rPr lang="en-ZA" sz="900" dirty="0">
                <a:solidFill>
                  <a:schemeClr val="accent6"/>
                </a:solidFill>
              </a:rPr>
              <a:t> Construct training customer state S(</a:t>
            </a:r>
            <a:r>
              <a:rPr lang="en-ZA" sz="900" dirty="0" err="1">
                <a:solidFill>
                  <a:schemeClr val="accent6"/>
                </a:solidFill>
              </a:rPr>
              <a:t>i,t</a:t>
            </a:r>
            <a:r>
              <a:rPr lang="en-ZA" sz="900" dirty="0">
                <a:solidFill>
                  <a:schemeClr val="accent6"/>
                </a:solidFill>
              </a:rPr>
              <a:t>)^train.</a:t>
            </a:r>
          </a:p>
          <a:p>
            <a:endParaRPr lang="en-ZA" sz="900" dirty="0">
              <a:solidFill>
                <a:schemeClr val="accent1"/>
              </a:solidFill>
            </a:endParaRPr>
          </a:p>
          <a:p>
            <a:r>
              <a:rPr lang="en-ZA" sz="900" dirty="0">
                <a:solidFill>
                  <a:schemeClr val="accent1"/>
                </a:solidFill>
              </a:rPr>
              <a:t>Step 4:     Pass S(</a:t>
            </a:r>
            <a:r>
              <a:rPr lang="en-ZA" sz="900" dirty="0" err="1">
                <a:solidFill>
                  <a:schemeClr val="accent1"/>
                </a:solidFill>
              </a:rPr>
              <a:t>i,t</a:t>
            </a:r>
            <a:r>
              <a:rPr lang="en-ZA" sz="900" dirty="0">
                <a:solidFill>
                  <a:schemeClr val="accent1"/>
                </a:solidFill>
              </a:rPr>
              <a:t>)^train and previous centroids V(k,t-1)</a:t>
            </a:r>
          </a:p>
          <a:p>
            <a:r>
              <a:rPr lang="en-ZA" sz="900" dirty="0">
                <a:solidFill>
                  <a:schemeClr val="accent1"/>
                </a:solidFill>
              </a:rPr>
              <a:t>            into the MDFCM / dynamic fuzzy clustering engine.</a:t>
            </a:r>
          </a:p>
          <a:p>
            <a:endParaRPr lang="en-ZA" sz="900" dirty="0">
              <a:solidFill>
                <a:schemeClr val="accent1"/>
              </a:solidFill>
            </a:endParaRPr>
          </a:p>
          <a:p>
            <a:r>
              <a:rPr lang="en-ZA" sz="900" dirty="0">
                <a:solidFill>
                  <a:schemeClr val="accent1"/>
                </a:solidFill>
              </a:rPr>
              <a:t>Step 5:     </a:t>
            </a:r>
            <a:r>
              <a:rPr lang="en-ZA" sz="900" dirty="0">
                <a:solidFill>
                  <a:schemeClr val="accent6"/>
                </a:solidFill>
              </a:rPr>
              <a:t>Calculate membership scores Se(</a:t>
            </a:r>
            <a:r>
              <a:rPr lang="en-ZA" sz="900" dirty="0" err="1">
                <a:solidFill>
                  <a:schemeClr val="accent6"/>
                </a:solidFill>
              </a:rPr>
              <a:t>i,k,t</a:t>
            </a:r>
            <a:r>
              <a:rPr lang="en-ZA" sz="900" dirty="0">
                <a:solidFill>
                  <a:schemeClr val="accent6"/>
                </a:solidFill>
              </a:rPr>
              <a:t>).</a:t>
            </a:r>
          </a:p>
          <a:p>
            <a:endParaRPr lang="en-ZA" sz="900" dirty="0">
              <a:solidFill>
                <a:schemeClr val="accent1"/>
              </a:solidFill>
            </a:endParaRPr>
          </a:p>
          <a:p>
            <a:r>
              <a:rPr lang="en-ZA" sz="900" dirty="0">
                <a:solidFill>
                  <a:schemeClr val="accent1"/>
                </a:solidFill>
              </a:rPr>
              <a:t>Step 6:     </a:t>
            </a:r>
            <a:r>
              <a:rPr lang="en-ZA" sz="900" dirty="0">
                <a:solidFill>
                  <a:schemeClr val="accent6"/>
                </a:solidFill>
              </a:rPr>
              <a:t>Update cluster centroids V(</a:t>
            </a:r>
            <a:r>
              <a:rPr lang="en-ZA" sz="900" dirty="0" err="1">
                <a:solidFill>
                  <a:schemeClr val="accent6"/>
                </a:solidFill>
              </a:rPr>
              <a:t>k,t</a:t>
            </a:r>
            <a:r>
              <a:rPr lang="en-ZA" sz="900" dirty="0">
                <a:solidFill>
                  <a:schemeClr val="accent6"/>
                </a:solidFill>
              </a:rPr>
              <a:t>).</a:t>
            </a:r>
          </a:p>
          <a:p>
            <a:endParaRPr lang="en-ZA" sz="900" dirty="0">
              <a:solidFill>
                <a:schemeClr val="accent1"/>
              </a:solidFill>
            </a:endParaRPr>
          </a:p>
          <a:p>
            <a:r>
              <a:rPr lang="en-ZA" sz="900" dirty="0">
                <a:solidFill>
                  <a:schemeClr val="accent1"/>
                </a:solidFill>
              </a:rPr>
              <a:t>Step 7:     </a:t>
            </a:r>
            <a:r>
              <a:rPr lang="en-ZA" sz="900" dirty="0">
                <a:solidFill>
                  <a:schemeClr val="accent6"/>
                </a:solidFill>
              </a:rPr>
              <a:t>Assign final segment:</a:t>
            </a:r>
          </a:p>
          <a:p>
            <a:r>
              <a:rPr lang="en-ZA" sz="900" dirty="0">
                <a:solidFill>
                  <a:schemeClr val="accent1"/>
                </a:solidFill>
              </a:rPr>
              <a:t>                C(</a:t>
            </a:r>
            <a:r>
              <a:rPr lang="en-ZA" sz="900" dirty="0" err="1">
                <a:solidFill>
                  <a:schemeClr val="accent1"/>
                </a:solidFill>
              </a:rPr>
              <a:t>i,t</a:t>
            </a:r>
            <a:r>
              <a:rPr lang="en-ZA" sz="900" dirty="0">
                <a:solidFill>
                  <a:schemeClr val="accent1"/>
                </a:solidFill>
              </a:rPr>
              <a:t>) = cluster with highest Se(</a:t>
            </a:r>
            <a:r>
              <a:rPr lang="en-ZA" sz="900" dirty="0" err="1">
                <a:solidFill>
                  <a:schemeClr val="accent1"/>
                </a:solidFill>
              </a:rPr>
              <a:t>i,k,t</a:t>
            </a:r>
            <a:r>
              <a:rPr lang="en-ZA" sz="900" dirty="0">
                <a:solidFill>
                  <a:schemeClr val="accent1"/>
                </a:solidFill>
              </a:rPr>
              <a:t>)</a:t>
            </a:r>
          </a:p>
          <a:p>
            <a:endParaRPr lang="en-ZA" sz="900" dirty="0">
              <a:solidFill>
                <a:schemeClr val="accent1"/>
              </a:solidFill>
            </a:endParaRPr>
          </a:p>
          <a:p>
            <a:r>
              <a:rPr lang="en-ZA" sz="900" dirty="0">
                <a:solidFill>
                  <a:schemeClr val="accent1"/>
                </a:solidFill>
              </a:rPr>
              <a:t>Step 8:     </a:t>
            </a:r>
            <a:r>
              <a:rPr lang="en-ZA" sz="900" dirty="0">
                <a:solidFill>
                  <a:schemeClr val="accent6"/>
                </a:solidFill>
              </a:rPr>
              <a:t>Track migration</a:t>
            </a:r>
            <a:r>
              <a:rPr lang="en-ZA" sz="900" dirty="0">
                <a:solidFill>
                  <a:schemeClr val="accent1"/>
                </a:solidFill>
              </a:rPr>
              <a:t>:</a:t>
            </a:r>
          </a:p>
          <a:p>
            <a:r>
              <a:rPr lang="en-ZA" sz="900" dirty="0">
                <a:solidFill>
                  <a:schemeClr val="accent1"/>
                </a:solidFill>
              </a:rPr>
              <a:t>                </a:t>
            </a:r>
            <a:r>
              <a:rPr lang="en-ZA" sz="900" dirty="0">
                <a:solidFill>
                  <a:srgbClr val="0070C0"/>
                </a:solidFill>
              </a:rPr>
              <a:t>Compare C(</a:t>
            </a:r>
            <a:r>
              <a:rPr lang="en-ZA" sz="900" dirty="0" err="1">
                <a:solidFill>
                  <a:srgbClr val="0070C0"/>
                </a:solidFill>
              </a:rPr>
              <a:t>i,t</a:t>
            </a:r>
            <a:r>
              <a:rPr lang="en-ZA" sz="900" dirty="0">
                <a:solidFill>
                  <a:srgbClr val="0070C0"/>
                </a:solidFill>
              </a:rPr>
              <a:t>) with C(i,t-1).</a:t>
            </a:r>
          </a:p>
          <a:p>
            <a:endParaRPr lang="en-ZA" sz="900" dirty="0">
              <a:solidFill>
                <a:schemeClr val="accent1"/>
              </a:solidFill>
            </a:endParaRPr>
          </a:p>
          <a:p>
            <a:r>
              <a:rPr lang="en-ZA" sz="900" dirty="0">
                <a:solidFill>
                  <a:schemeClr val="accent1"/>
                </a:solidFill>
              </a:rPr>
              <a:t>Step 9:     </a:t>
            </a:r>
            <a:r>
              <a:rPr lang="en-ZA" sz="900" dirty="0">
                <a:solidFill>
                  <a:schemeClr val="accent6"/>
                </a:solidFill>
              </a:rPr>
              <a:t>Resolve segment labels:</a:t>
            </a:r>
          </a:p>
          <a:p>
            <a:r>
              <a:rPr lang="en-ZA" sz="900" dirty="0">
                <a:solidFill>
                  <a:schemeClr val="accent1"/>
                </a:solidFill>
              </a:rPr>
              <a:t>                Convert clusters into business-friendly segment names.</a:t>
            </a:r>
          </a:p>
          <a:p>
            <a:endParaRPr lang="en-ZA" sz="900" dirty="0">
              <a:solidFill>
                <a:schemeClr val="accent1"/>
              </a:solidFill>
            </a:endParaRPr>
          </a:p>
          <a:p>
            <a:r>
              <a:rPr lang="en-ZA" sz="900" dirty="0">
                <a:solidFill>
                  <a:schemeClr val="accent1"/>
                </a:solidFill>
              </a:rPr>
              <a:t>Step 10:    </a:t>
            </a:r>
            <a:r>
              <a:rPr lang="en-ZA" sz="900" dirty="0">
                <a:solidFill>
                  <a:schemeClr val="accent6"/>
                </a:solidFill>
              </a:rPr>
              <a:t>Evaluate dynamic results:</a:t>
            </a:r>
          </a:p>
          <a:p>
            <a:r>
              <a:rPr lang="en-ZA" sz="900" dirty="0">
                <a:solidFill>
                  <a:schemeClr val="accent1"/>
                </a:solidFill>
              </a:rPr>
              <a:t>                </a:t>
            </a:r>
            <a:r>
              <a:rPr lang="en-ZA" sz="900" dirty="0">
                <a:solidFill>
                  <a:srgbClr val="0070C0"/>
                </a:solidFill>
              </a:rPr>
              <a:t>Calculate Xie-Beni Index</a:t>
            </a:r>
            <a:r>
              <a:rPr lang="en-ZA" sz="900" dirty="0">
                <a:solidFill>
                  <a:schemeClr val="accent1"/>
                </a:solidFill>
              </a:rPr>
              <a:t>.</a:t>
            </a:r>
          </a:p>
          <a:p>
            <a:r>
              <a:rPr lang="en-ZA" sz="900" dirty="0">
                <a:solidFill>
                  <a:schemeClr val="accent1"/>
                </a:solidFill>
              </a:rPr>
              <a:t>                </a:t>
            </a:r>
            <a:r>
              <a:rPr lang="en-ZA" sz="900" dirty="0">
                <a:solidFill>
                  <a:srgbClr val="0070C0"/>
                </a:solidFill>
              </a:rPr>
              <a:t>Calculate migration rate.</a:t>
            </a:r>
          </a:p>
          <a:p>
            <a:r>
              <a:rPr lang="en-ZA" sz="900" dirty="0">
                <a:solidFill>
                  <a:srgbClr val="0070C0"/>
                </a:solidFill>
              </a:rPr>
              <a:t>                Track segment size changes.</a:t>
            </a:r>
          </a:p>
          <a:p>
            <a:endParaRPr lang="en-ZA" sz="900" dirty="0">
              <a:solidFill>
                <a:schemeClr val="accent1"/>
              </a:solidFill>
            </a:endParaRPr>
          </a:p>
          <a:p>
            <a:r>
              <a:rPr lang="en-ZA" sz="900" dirty="0">
                <a:solidFill>
                  <a:schemeClr val="accent1"/>
                </a:solidFill>
              </a:rPr>
              <a:t>Step 11:    </a:t>
            </a:r>
            <a:r>
              <a:rPr lang="en-ZA" sz="900" dirty="0">
                <a:solidFill>
                  <a:schemeClr val="accent6"/>
                </a:solidFill>
              </a:rPr>
              <a:t>If Dataset A:</a:t>
            </a:r>
          </a:p>
          <a:p>
            <a:r>
              <a:rPr lang="en-ZA" sz="900" dirty="0">
                <a:solidFill>
                  <a:srgbClr val="0070C0"/>
                </a:solidFill>
              </a:rPr>
              <a:t>                Update geographic/climate profile.</a:t>
            </a:r>
          </a:p>
          <a:p>
            <a:r>
              <a:rPr lang="en-ZA" sz="900" dirty="0">
                <a:solidFill>
                  <a:srgbClr val="0070C0"/>
                </a:solidFill>
              </a:rPr>
              <a:t>                Update psychographic persona.</a:t>
            </a:r>
          </a:p>
          <a:p>
            <a:endParaRPr lang="en-ZA" sz="900" dirty="0">
              <a:solidFill>
                <a:schemeClr val="accent1"/>
              </a:solidFill>
            </a:endParaRPr>
          </a:p>
          <a:p>
            <a:r>
              <a:rPr lang="en-ZA" sz="900" dirty="0">
                <a:solidFill>
                  <a:schemeClr val="accent1"/>
                </a:solidFill>
              </a:rPr>
              <a:t>Step 12:    Save results to </a:t>
            </a:r>
            <a:r>
              <a:rPr lang="en-ZA" sz="900" dirty="0" err="1">
                <a:solidFill>
                  <a:schemeClr val="accent1"/>
                </a:solidFill>
              </a:rPr>
              <a:t>Dynamic_Loop_Results</a:t>
            </a:r>
            <a:r>
              <a:rPr lang="en-ZA" sz="900" dirty="0">
                <a:solidFill>
                  <a:schemeClr val="accent1"/>
                </a:solidFill>
              </a:rPr>
              <a:t> table.</a:t>
            </a:r>
          </a:p>
          <a:p>
            <a:endParaRPr lang="en-ZA" sz="900" dirty="0">
              <a:solidFill>
                <a:schemeClr val="accent1"/>
              </a:solidFill>
            </a:endParaRPr>
          </a:p>
          <a:p>
            <a:r>
              <a:rPr lang="en-ZA" sz="900" dirty="0">
                <a:solidFill>
                  <a:schemeClr val="accent1"/>
                </a:solidFill>
              </a:rPr>
              <a:t>Return:</a:t>
            </a:r>
          </a:p>
          <a:p>
            <a:r>
              <a:rPr lang="en-ZA" sz="900" dirty="0">
                <a:solidFill>
                  <a:schemeClr val="accent1"/>
                </a:solidFill>
              </a:rPr>
              <a:t>    Final dynamic segmentation history for dashboard visualization.</a:t>
            </a:r>
          </a:p>
        </p:txBody>
      </p:sp>
      <p:sp>
        <p:nvSpPr>
          <p:cNvPr id="8" name="TextBox 7">
            <a:extLst>
              <a:ext uri="{FF2B5EF4-FFF2-40B4-BE49-F238E27FC236}">
                <a16:creationId xmlns:a16="http://schemas.microsoft.com/office/drawing/2014/main" id="{62271980-CFF9-301E-8533-F11EA794B310}"/>
              </a:ext>
            </a:extLst>
          </p:cNvPr>
          <p:cNvSpPr txBox="1"/>
          <p:nvPr/>
        </p:nvSpPr>
        <p:spPr>
          <a:xfrm>
            <a:off x="8451111" y="815443"/>
            <a:ext cx="6097554" cy="369332"/>
          </a:xfrm>
          <a:prstGeom prst="rect">
            <a:avLst/>
          </a:prstGeom>
          <a:noFill/>
        </p:spPr>
        <p:txBody>
          <a:bodyPr wrap="square">
            <a:spAutoFit/>
          </a:bodyPr>
          <a:lstStyle/>
          <a:p>
            <a:r>
              <a:rPr lang="en-ZA" sz="1800" b="1" dirty="0">
                <a:solidFill>
                  <a:srgbClr val="002060"/>
                </a:solidFill>
              </a:rPr>
              <a:t>Algorithm</a:t>
            </a:r>
            <a:endParaRPr lang="en-ZA" b="1" dirty="0"/>
          </a:p>
        </p:txBody>
      </p:sp>
      <p:sp>
        <p:nvSpPr>
          <p:cNvPr id="11" name="TextBox 10">
            <a:extLst>
              <a:ext uri="{FF2B5EF4-FFF2-40B4-BE49-F238E27FC236}">
                <a16:creationId xmlns:a16="http://schemas.microsoft.com/office/drawing/2014/main" id="{C0A954FC-49D3-109F-114C-C6D418E0DC00}"/>
              </a:ext>
            </a:extLst>
          </p:cNvPr>
          <p:cNvSpPr txBox="1"/>
          <p:nvPr/>
        </p:nvSpPr>
        <p:spPr>
          <a:xfrm>
            <a:off x="5552129" y="2105513"/>
            <a:ext cx="2482378" cy="1015663"/>
          </a:xfrm>
          <a:prstGeom prst="rect">
            <a:avLst/>
          </a:prstGeom>
          <a:solidFill>
            <a:schemeClr val="accent2">
              <a:lumMod val="40000"/>
              <a:lumOff val="60000"/>
            </a:schemeClr>
          </a:solidFill>
        </p:spPr>
        <p:txBody>
          <a:bodyPr wrap="square">
            <a:spAutoFit/>
          </a:bodyPr>
          <a:lstStyle/>
          <a:p>
            <a:r>
              <a:rPr lang="en-ZA" sz="1200" dirty="0">
                <a:solidFill>
                  <a:srgbClr val="002060"/>
                </a:solidFill>
              </a:rPr>
              <a:t>Input:</a:t>
            </a:r>
            <a:br>
              <a:rPr lang="en-ZA" sz="1200" dirty="0">
                <a:solidFill>
                  <a:srgbClr val="002060"/>
                </a:solidFill>
              </a:rPr>
            </a:br>
            <a:r>
              <a:rPr lang="en-ZA" sz="1200" dirty="0">
                <a:solidFill>
                  <a:srgbClr val="002060"/>
                </a:solidFill>
              </a:rPr>
              <a:t>Cycle 0 baseline centroids V(k,0)</a:t>
            </a:r>
            <a:br>
              <a:rPr lang="en-ZA" sz="1200" dirty="0">
                <a:solidFill>
                  <a:srgbClr val="002060"/>
                </a:solidFill>
              </a:rPr>
            </a:br>
            <a:r>
              <a:rPr lang="en-ZA" sz="1200" dirty="0">
                <a:solidFill>
                  <a:srgbClr val="002060"/>
                </a:solidFill>
              </a:rPr>
              <a:t>Cycle 0 segment labels C(i,0)</a:t>
            </a:r>
            <a:br>
              <a:rPr lang="en-ZA" sz="1200" dirty="0">
                <a:solidFill>
                  <a:srgbClr val="002060"/>
                </a:solidFill>
              </a:rPr>
            </a:br>
            <a:r>
              <a:rPr lang="en-ZA" sz="1200" dirty="0">
                <a:solidFill>
                  <a:srgbClr val="002060"/>
                </a:solidFill>
              </a:rPr>
              <a:t>Monthly time cycles T = {1, 2, ..., n}</a:t>
            </a:r>
            <a:br>
              <a:rPr lang="en-ZA" sz="1200" dirty="0">
                <a:solidFill>
                  <a:srgbClr val="002060"/>
                </a:solidFill>
              </a:rPr>
            </a:br>
            <a:r>
              <a:rPr lang="en-ZA" sz="1200" dirty="0">
                <a:solidFill>
                  <a:srgbClr val="002060"/>
                </a:solidFill>
              </a:rPr>
              <a:t>Stored customer states S(</a:t>
            </a:r>
            <a:r>
              <a:rPr lang="en-ZA" sz="1200" dirty="0" err="1">
                <a:solidFill>
                  <a:srgbClr val="002060"/>
                </a:solidFill>
              </a:rPr>
              <a:t>i,t</a:t>
            </a:r>
            <a:r>
              <a:rPr lang="en-ZA" sz="1200" dirty="0">
                <a:solidFill>
                  <a:srgbClr val="002060"/>
                </a:solidFill>
              </a:rPr>
              <a:t>)</a:t>
            </a:r>
          </a:p>
        </p:txBody>
      </p:sp>
      <p:sp>
        <p:nvSpPr>
          <p:cNvPr id="14" name="TextBox 13">
            <a:extLst>
              <a:ext uri="{FF2B5EF4-FFF2-40B4-BE49-F238E27FC236}">
                <a16:creationId xmlns:a16="http://schemas.microsoft.com/office/drawing/2014/main" id="{FAE44C24-D58A-F712-2738-020B91A91A94}"/>
              </a:ext>
            </a:extLst>
          </p:cNvPr>
          <p:cNvSpPr txBox="1"/>
          <p:nvPr/>
        </p:nvSpPr>
        <p:spPr>
          <a:xfrm>
            <a:off x="5552129" y="4752487"/>
            <a:ext cx="2482378" cy="1200329"/>
          </a:xfrm>
          <a:prstGeom prst="rect">
            <a:avLst/>
          </a:prstGeom>
          <a:solidFill>
            <a:schemeClr val="accent6">
              <a:lumMod val="40000"/>
              <a:lumOff val="60000"/>
            </a:schemeClr>
          </a:solidFill>
        </p:spPr>
        <p:txBody>
          <a:bodyPr wrap="square">
            <a:spAutoFit/>
          </a:bodyPr>
          <a:lstStyle/>
          <a:p>
            <a:r>
              <a:rPr lang="en-ZA" sz="1200" dirty="0">
                <a:solidFill>
                  <a:srgbClr val="002060"/>
                </a:solidFill>
              </a:rPr>
              <a:t>Output:</a:t>
            </a:r>
            <a:br>
              <a:rPr lang="en-ZA" sz="1200" dirty="0">
                <a:solidFill>
                  <a:srgbClr val="002060"/>
                </a:solidFill>
              </a:rPr>
            </a:br>
            <a:r>
              <a:rPr lang="en-ZA" sz="1200" dirty="0">
                <a:solidFill>
                  <a:srgbClr val="002060"/>
                </a:solidFill>
              </a:rPr>
              <a:t>Updated segment labels</a:t>
            </a:r>
            <a:br>
              <a:rPr lang="en-ZA" sz="1200" dirty="0">
                <a:solidFill>
                  <a:srgbClr val="002060"/>
                </a:solidFill>
              </a:rPr>
            </a:br>
            <a:r>
              <a:rPr lang="en-ZA" sz="1200" dirty="0">
                <a:solidFill>
                  <a:srgbClr val="002060"/>
                </a:solidFill>
              </a:rPr>
              <a:t>Membership scores Se(</a:t>
            </a:r>
            <a:r>
              <a:rPr lang="en-ZA" sz="1200" dirty="0" err="1">
                <a:solidFill>
                  <a:srgbClr val="002060"/>
                </a:solidFill>
              </a:rPr>
              <a:t>i,k,t</a:t>
            </a:r>
            <a:r>
              <a:rPr lang="en-ZA" sz="1200" dirty="0">
                <a:solidFill>
                  <a:srgbClr val="002060"/>
                </a:solidFill>
              </a:rPr>
              <a:t>)</a:t>
            </a:r>
            <a:br>
              <a:rPr lang="en-ZA" sz="1200" dirty="0">
                <a:solidFill>
                  <a:srgbClr val="002060"/>
                </a:solidFill>
              </a:rPr>
            </a:br>
            <a:r>
              <a:rPr lang="en-ZA" sz="1200" dirty="0">
                <a:solidFill>
                  <a:srgbClr val="002060"/>
                </a:solidFill>
              </a:rPr>
              <a:t>Migration records</a:t>
            </a:r>
            <a:br>
              <a:rPr lang="en-ZA" sz="1200" dirty="0">
                <a:solidFill>
                  <a:srgbClr val="002060"/>
                </a:solidFill>
              </a:rPr>
            </a:br>
            <a:r>
              <a:rPr lang="en-ZA" sz="1200" dirty="0">
                <a:solidFill>
                  <a:srgbClr val="002060"/>
                </a:solidFill>
              </a:rPr>
              <a:t>Updated centroids</a:t>
            </a:r>
            <a:br>
              <a:rPr lang="en-ZA" sz="1200" dirty="0">
                <a:solidFill>
                  <a:srgbClr val="002060"/>
                </a:solidFill>
              </a:rPr>
            </a:br>
            <a:r>
              <a:rPr lang="en-ZA" sz="1200" dirty="0">
                <a:solidFill>
                  <a:srgbClr val="002060"/>
                </a:solidFill>
              </a:rPr>
              <a:t>Dynamic evaluation scores</a:t>
            </a:r>
          </a:p>
        </p:txBody>
      </p:sp>
      <p:sp>
        <p:nvSpPr>
          <p:cNvPr id="20" name="Arrow: Bent 19">
            <a:extLst>
              <a:ext uri="{FF2B5EF4-FFF2-40B4-BE49-F238E27FC236}">
                <a16:creationId xmlns:a16="http://schemas.microsoft.com/office/drawing/2014/main" id="{526BCE01-6C4C-BB8E-DE58-98B090D2A3AA}"/>
              </a:ext>
            </a:extLst>
          </p:cNvPr>
          <p:cNvSpPr/>
          <p:nvPr/>
        </p:nvSpPr>
        <p:spPr>
          <a:xfrm>
            <a:off x="7651101" y="1074631"/>
            <a:ext cx="383405" cy="950112"/>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
        <p:nvSpPr>
          <p:cNvPr id="21" name="Arrow: Bent 20">
            <a:extLst>
              <a:ext uri="{FF2B5EF4-FFF2-40B4-BE49-F238E27FC236}">
                <a16:creationId xmlns:a16="http://schemas.microsoft.com/office/drawing/2014/main" id="{F2BA8C43-6365-D7C4-B4C5-6A0F6349868C}"/>
              </a:ext>
            </a:extLst>
          </p:cNvPr>
          <p:cNvSpPr/>
          <p:nvPr/>
        </p:nvSpPr>
        <p:spPr>
          <a:xfrm rot="5400000" flipH="1" flipV="1">
            <a:off x="7577495" y="5867929"/>
            <a:ext cx="530615" cy="1035699"/>
          </a:xfrm>
          <a:prstGeom prst="bentArrow">
            <a:avLst>
              <a:gd name="adj1" fmla="val 25000"/>
              <a:gd name="adj2" fmla="val 27901"/>
              <a:gd name="adj3" fmla="val 25000"/>
              <a:gd name="adj4" fmla="val 43750"/>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solidFill>
                <a:schemeClr val="tx1"/>
              </a:solidFill>
            </a:endParaRPr>
          </a:p>
        </p:txBody>
      </p:sp>
    </p:spTree>
    <p:extLst>
      <p:ext uri="{BB962C8B-B14F-4D97-AF65-F5344CB8AC3E}">
        <p14:creationId xmlns:p14="http://schemas.microsoft.com/office/powerpoint/2010/main" val="16137510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AAA6337-132F-91A4-E975-3FAB49C7721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3C88242-3576-92DF-CC5F-767E9578A73F}"/>
              </a:ext>
            </a:extLst>
          </p:cNvPr>
          <p:cNvSpPr txBox="1">
            <a:spLocks/>
          </p:cNvSpPr>
          <p:nvPr/>
        </p:nvSpPr>
        <p:spPr>
          <a:xfrm>
            <a:off x="942393" y="202599"/>
            <a:ext cx="10888824" cy="530614"/>
          </a:xfrm>
          <a:prstGeom prst="rect">
            <a:avLst/>
          </a:prstGeom>
        </p:spPr>
        <p:txBody>
          <a:bodyPr vert="horz" lIns="91440" tIns="45720" rIns="91440" bIns="45720" rtlCol="0" anchor="ctr">
            <a:normAutofit fontScale="3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ZA" sz="11200" dirty="0">
                <a:solidFill>
                  <a:srgbClr val="002060"/>
                </a:solidFill>
                <a:latin typeface="Arial Black" panose="020B0A04020102020204" pitchFamily="34" charset="0"/>
              </a:rPr>
              <a:t>Final Segments : </a:t>
            </a:r>
            <a:r>
              <a:rPr lang="en-ZA" sz="8000" dirty="0">
                <a:solidFill>
                  <a:srgbClr val="002060"/>
                </a:solidFill>
              </a:rPr>
              <a:t>Final Segment Resolution</a:t>
            </a:r>
            <a:endParaRPr lang="en-ZA" sz="8000" dirty="0">
              <a:solidFill>
                <a:srgbClr val="002060"/>
              </a:solidFill>
              <a:latin typeface="Arial Black" panose="020B0A04020102020204" pitchFamily="34" charset="0"/>
            </a:endParaRPr>
          </a:p>
        </p:txBody>
      </p:sp>
      <p:sp>
        <p:nvSpPr>
          <p:cNvPr id="6" name="TextBox 5">
            <a:extLst>
              <a:ext uri="{FF2B5EF4-FFF2-40B4-BE49-F238E27FC236}">
                <a16:creationId xmlns:a16="http://schemas.microsoft.com/office/drawing/2014/main" id="{5B3D10F6-0E62-234F-B1DF-BF4434292621}"/>
              </a:ext>
            </a:extLst>
          </p:cNvPr>
          <p:cNvSpPr txBox="1"/>
          <p:nvPr/>
        </p:nvSpPr>
        <p:spPr>
          <a:xfrm>
            <a:off x="300523" y="961253"/>
            <a:ext cx="11590953" cy="707886"/>
          </a:xfrm>
          <a:prstGeom prst="rect">
            <a:avLst/>
          </a:prstGeom>
          <a:noFill/>
        </p:spPr>
        <p:txBody>
          <a:bodyPr wrap="square">
            <a:spAutoFit/>
          </a:bodyPr>
          <a:lstStyle/>
          <a:p>
            <a:r>
              <a:rPr lang="en-US" sz="2000" b="1" dirty="0">
                <a:solidFill>
                  <a:schemeClr val="bg2"/>
                </a:solidFill>
              </a:rPr>
              <a:t>After the dynamic loop has processed all time cycles, the system converts the final model outputs into business-readable customer segments.</a:t>
            </a:r>
            <a:endParaRPr lang="en-ZA" sz="2000" b="1" dirty="0">
              <a:solidFill>
                <a:schemeClr val="bg2"/>
              </a:solidFill>
            </a:endParaRPr>
          </a:p>
        </p:txBody>
      </p:sp>
      <p:sp>
        <p:nvSpPr>
          <p:cNvPr id="7" name="TextBox 6">
            <a:extLst>
              <a:ext uri="{FF2B5EF4-FFF2-40B4-BE49-F238E27FC236}">
                <a16:creationId xmlns:a16="http://schemas.microsoft.com/office/drawing/2014/main" id="{6BAA27DA-34BA-6753-1730-5F5A0E22F07C}"/>
              </a:ext>
            </a:extLst>
          </p:cNvPr>
          <p:cNvSpPr txBox="1"/>
          <p:nvPr/>
        </p:nvSpPr>
        <p:spPr>
          <a:xfrm>
            <a:off x="373224" y="1874614"/>
            <a:ext cx="3517641" cy="369332"/>
          </a:xfrm>
          <a:prstGeom prst="rect">
            <a:avLst/>
          </a:prstGeom>
          <a:noFill/>
        </p:spPr>
        <p:txBody>
          <a:bodyPr wrap="square" rtlCol="0">
            <a:spAutoFit/>
          </a:bodyPr>
          <a:lstStyle/>
          <a:p>
            <a:r>
              <a:rPr lang="en-ZA" b="1" i="1" dirty="0">
                <a:solidFill>
                  <a:srgbClr val="002060"/>
                </a:solidFill>
              </a:rPr>
              <a:t>At this stage</a:t>
            </a:r>
          </a:p>
        </p:txBody>
      </p:sp>
      <p:graphicFrame>
        <p:nvGraphicFramePr>
          <p:cNvPr id="9" name="Table 8">
            <a:extLst>
              <a:ext uri="{FF2B5EF4-FFF2-40B4-BE49-F238E27FC236}">
                <a16:creationId xmlns:a16="http://schemas.microsoft.com/office/drawing/2014/main" id="{45E4C836-9F45-0062-8CBB-A64DA852D2FD}"/>
              </a:ext>
            </a:extLst>
          </p:cNvPr>
          <p:cNvGraphicFramePr>
            <a:graphicFrameLocks noGrp="1"/>
          </p:cNvGraphicFramePr>
          <p:nvPr/>
        </p:nvGraphicFramePr>
        <p:xfrm>
          <a:off x="300523" y="2241121"/>
          <a:ext cx="11038115" cy="2011680"/>
        </p:xfrm>
        <a:graphic>
          <a:graphicData uri="http://schemas.openxmlformats.org/drawingml/2006/table">
            <a:tbl>
              <a:tblPr>
                <a:tableStyleId>{284E427A-3D55-4303-BF80-6455036E1DE7}</a:tableStyleId>
              </a:tblPr>
              <a:tblGrid>
                <a:gridCol w="2950029">
                  <a:extLst>
                    <a:ext uri="{9D8B030D-6E8A-4147-A177-3AD203B41FA5}">
                      <a16:colId xmlns:a16="http://schemas.microsoft.com/office/drawing/2014/main" val="1970190135"/>
                    </a:ext>
                  </a:extLst>
                </a:gridCol>
                <a:gridCol w="8088086">
                  <a:extLst>
                    <a:ext uri="{9D8B030D-6E8A-4147-A177-3AD203B41FA5}">
                      <a16:colId xmlns:a16="http://schemas.microsoft.com/office/drawing/2014/main" val="1382314205"/>
                    </a:ext>
                  </a:extLst>
                </a:gridCol>
              </a:tblGrid>
              <a:tr h="0">
                <a:tc>
                  <a:txBody>
                    <a:bodyPr/>
                    <a:lstStyle/>
                    <a:p>
                      <a:pPr>
                        <a:buNone/>
                      </a:pPr>
                      <a:r>
                        <a:rPr lang="en-ZA" sz="1600" b="1" dirty="0">
                          <a:solidFill>
                            <a:srgbClr val="002060"/>
                          </a:solidFill>
                        </a:rPr>
                        <a:t>Purpose</a:t>
                      </a:r>
                    </a:p>
                  </a:txBody>
                  <a:tcPr anchor="ctr"/>
                </a:tc>
                <a:tc>
                  <a:txBody>
                    <a:bodyPr/>
                    <a:lstStyle/>
                    <a:p>
                      <a:pPr>
                        <a:buNone/>
                      </a:pPr>
                      <a:r>
                        <a:rPr lang="en-ZA" sz="1600" b="1" dirty="0">
                          <a:solidFill>
                            <a:srgbClr val="002060"/>
                          </a:solidFill>
                        </a:rPr>
                        <a:t>Explanation</a:t>
                      </a:r>
                    </a:p>
                  </a:txBody>
                  <a:tcPr anchor="ctr"/>
                </a:tc>
                <a:extLst>
                  <a:ext uri="{0D108BD9-81ED-4DB2-BD59-A6C34878D82A}">
                    <a16:rowId xmlns:a16="http://schemas.microsoft.com/office/drawing/2014/main" val="4172066129"/>
                  </a:ext>
                </a:extLst>
              </a:tr>
              <a:tr h="0">
                <a:tc>
                  <a:txBody>
                    <a:bodyPr/>
                    <a:lstStyle/>
                    <a:p>
                      <a:pPr>
                        <a:buNone/>
                      </a:pPr>
                      <a:r>
                        <a:rPr lang="en-ZA" sz="1600">
                          <a:solidFill>
                            <a:srgbClr val="002060"/>
                          </a:solidFill>
                        </a:rPr>
                        <a:t>Finalize segment labels</a:t>
                      </a:r>
                    </a:p>
                  </a:txBody>
                  <a:tcPr anchor="ctr"/>
                </a:tc>
                <a:tc>
                  <a:txBody>
                    <a:bodyPr/>
                    <a:lstStyle/>
                    <a:p>
                      <a:pPr>
                        <a:buNone/>
                      </a:pPr>
                      <a:r>
                        <a:rPr lang="en-US" sz="1600" dirty="0">
                          <a:solidFill>
                            <a:srgbClr val="002060"/>
                          </a:solidFill>
                        </a:rPr>
                        <a:t>Convert numeric clusters into meaningful business categories</a:t>
                      </a:r>
                    </a:p>
                  </a:txBody>
                  <a:tcPr anchor="ctr"/>
                </a:tc>
                <a:extLst>
                  <a:ext uri="{0D108BD9-81ED-4DB2-BD59-A6C34878D82A}">
                    <a16:rowId xmlns:a16="http://schemas.microsoft.com/office/drawing/2014/main" val="3149327159"/>
                  </a:ext>
                </a:extLst>
              </a:tr>
              <a:tr h="0">
                <a:tc>
                  <a:txBody>
                    <a:bodyPr/>
                    <a:lstStyle/>
                    <a:p>
                      <a:pPr>
                        <a:buNone/>
                      </a:pPr>
                      <a:r>
                        <a:rPr lang="en-ZA" sz="1600">
                          <a:solidFill>
                            <a:srgbClr val="002060"/>
                          </a:solidFill>
                        </a:rPr>
                        <a:t>Summarize segment behaviour</a:t>
                      </a:r>
                    </a:p>
                  </a:txBody>
                  <a:tcPr anchor="ctr"/>
                </a:tc>
                <a:tc>
                  <a:txBody>
                    <a:bodyPr/>
                    <a:lstStyle/>
                    <a:p>
                      <a:pPr>
                        <a:buNone/>
                      </a:pPr>
                      <a:r>
                        <a:rPr lang="en-US" sz="1600">
                          <a:solidFill>
                            <a:srgbClr val="002060"/>
                          </a:solidFill>
                        </a:rPr>
                        <a:t>Describe each group using RFM, spending, migration, and membership scores</a:t>
                      </a:r>
                    </a:p>
                  </a:txBody>
                  <a:tcPr anchor="ctr"/>
                </a:tc>
                <a:extLst>
                  <a:ext uri="{0D108BD9-81ED-4DB2-BD59-A6C34878D82A}">
                    <a16:rowId xmlns:a16="http://schemas.microsoft.com/office/drawing/2014/main" val="1649369111"/>
                  </a:ext>
                </a:extLst>
              </a:tr>
              <a:tr h="0">
                <a:tc>
                  <a:txBody>
                    <a:bodyPr/>
                    <a:lstStyle/>
                    <a:p>
                      <a:pPr>
                        <a:buNone/>
                      </a:pPr>
                      <a:r>
                        <a:rPr lang="en-ZA" sz="1600">
                          <a:solidFill>
                            <a:srgbClr val="002060"/>
                          </a:solidFill>
                        </a:rPr>
                        <a:t>Cross-profile customers</a:t>
                      </a:r>
                    </a:p>
                  </a:txBody>
                  <a:tcPr anchor="ctr"/>
                </a:tc>
                <a:tc>
                  <a:txBody>
                    <a:bodyPr/>
                    <a:lstStyle/>
                    <a:p>
                      <a:pPr>
                        <a:buNone/>
                      </a:pPr>
                      <a:r>
                        <a:rPr lang="en-US" sz="1600">
                          <a:solidFill>
                            <a:srgbClr val="002060"/>
                          </a:solidFill>
                        </a:rPr>
                        <a:t>Add demographic, geographic, climate, and psychographic interpretation where available</a:t>
                      </a:r>
                    </a:p>
                  </a:txBody>
                  <a:tcPr anchor="ctr"/>
                </a:tc>
                <a:extLst>
                  <a:ext uri="{0D108BD9-81ED-4DB2-BD59-A6C34878D82A}">
                    <a16:rowId xmlns:a16="http://schemas.microsoft.com/office/drawing/2014/main" val="1098132453"/>
                  </a:ext>
                </a:extLst>
              </a:tr>
              <a:tr h="0">
                <a:tc>
                  <a:txBody>
                    <a:bodyPr/>
                    <a:lstStyle/>
                    <a:p>
                      <a:pPr>
                        <a:buNone/>
                      </a:pPr>
                      <a:r>
                        <a:rPr lang="en-ZA" sz="1600">
                          <a:solidFill>
                            <a:srgbClr val="002060"/>
                          </a:solidFill>
                        </a:rPr>
                        <a:t>Prepare dashboard outputs</a:t>
                      </a:r>
                    </a:p>
                  </a:txBody>
                  <a:tcPr anchor="ctr"/>
                </a:tc>
                <a:tc>
                  <a:txBody>
                    <a:bodyPr/>
                    <a:lstStyle/>
                    <a:p>
                      <a:pPr>
                        <a:buNone/>
                      </a:pPr>
                      <a:r>
                        <a:rPr lang="en-US" sz="1600">
                          <a:solidFill>
                            <a:srgbClr val="002060"/>
                          </a:solidFill>
                        </a:rPr>
                        <a:t>Store final segment results for visualization and user interaction</a:t>
                      </a:r>
                    </a:p>
                  </a:txBody>
                  <a:tcPr anchor="ctr"/>
                </a:tc>
                <a:extLst>
                  <a:ext uri="{0D108BD9-81ED-4DB2-BD59-A6C34878D82A}">
                    <a16:rowId xmlns:a16="http://schemas.microsoft.com/office/drawing/2014/main" val="698574324"/>
                  </a:ext>
                </a:extLst>
              </a:tr>
              <a:tr h="0">
                <a:tc>
                  <a:txBody>
                    <a:bodyPr/>
                    <a:lstStyle/>
                    <a:p>
                      <a:pPr>
                        <a:buNone/>
                      </a:pPr>
                      <a:r>
                        <a:rPr lang="en-ZA" sz="1600" dirty="0">
                          <a:solidFill>
                            <a:srgbClr val="002060"/>
                          </a:solidFill>
                        </a:rPr>
                        <a:t>Support business actions</a:t>
                      </a:r>
                    </a:p>
                  </a:txBody>
                  <a:tcPr anchor="ctr"/>
                </a:tc>
                <a:tc>
                  <a:txBody>
                    <a:bodyPr/>
                    <a:lstStyle/>
                    <a:p>
                      <a:pPr>
                        <a:buNone/>
                      </a:pPr>
                      <a:r>
                        <a:rPr lang="en-US" sz="1600" dirty="0">
                          <a:solidFill>
                            <a:srgbClr val="002060"/>
                          </a:solidFill>
                        </a:rPr>
                        <a:t>Link each segment to marketing, retention, or personalization strategies</a:t>
                      </a:r>
                    </a:p>
                  </a:txBody>
                  <a:tcPr anchor="ctr"/>
                </a:tc>
                <a:extLst>
                  <a:ext uri="{0D108BD9-81ED-4DB2-BD59-A6C34878D82A}">
                    <a16:rowId xmlns:a16="http://schemas.microsoft.com/office/drawing/2014/main" val="581717388"/>
                  </a:ext>
                </a:extLst>
              </a:tr>
            </a:tbl>
          </a:graphicData>
        </a:graphic>
      </p:graphicFrame>
      <p:sp>
        <p:nvSpPr>
          <p:cNvPr id="12" name="TextBox 11">
            <a:extLst>
              <a:ext uri="{FF2B5EF4-FFF2-40B4-BE49-F238E27FC236}">
                <a16:creationId xmlns:a16="http://schemas.microsoft.com/office/drawing/2014/main" id="{8B1BD03D-AA96-330C-B505-4821C811C4C1}"/>
              </a:ext>
            </a:extLst>
          </p:cNvPr>
          <p:cNvSpPr txBox="1"/>
          <p:nvPr/>
        </p:nvSpPr>
        <p:spPr>
          <a:xfrm>
            <a:off x="290805" y="4568786"/>
            <a:ext cx="6096000" cy="369332"/>
          </a:xfrm>
          <a:prstGeom prst="rect">
            <a:avLst/>
          </a:prstGeom>
          <a:noFill/>
        </p:spPr>
        <p:txBody>
          <a:bodyPr wrap="square">
            <a:spAutoFit/>
          </a:bodyPr>
          <a:lstStyle/>
          <a:p>
            <a:r>
              <a:rPr lang="en-US" b="1" dirty="0">
                <a:solidFill>
                  <a:srgbClr val="002060"/>
                </a:solidFill>
              </a:rPr>
              <a:t>How Final Segments Are Resolved</a:t>
            </a:r>
            <a:endParaRPr lang="en-ZA" b="1" dirty="0">
              <a:solidFill>
                <a:srgbClr val="002060"/>
              </a:solidFill>
            </a:endParaRPr>
          </a:p>
        </p:txBody>
      </p:sp>
      <p:sp>
        <p:nvSpPr>
          <p:cNvPr id="15" name="TextBox 14">
            <a:extLst>
              <a:ext uri="{FF2B5EF4-FFF2-40B4-BE49-F238E27FC236}">
                <a16:creationId xmlns:a16="http://schemas.microsoft.com/office/drawing/2014/main" id="{14E901B2-4D3E-354C-DCAF-65257BF71DF5}"/>
              </a:ext>
            </a:extLst>
          </p:cNvPr>
          <p:cNvSpPr txBox="1"/>
          <p:nvPr/>
        </p:nvSpPr>
        <p:spPr>
          <a:xfrm>
            <a:off x="290805" y="5009412"/>
            <a:ext cx="11228533" cy="646331"/>
          </a:xfrm>
          <a:prstGeom prst="rect">
            <a:avLst/>
          </a:prstGeom>
          <a:noFill/>
        </p:spPr>
        <p:txBody>
          <a:bodyPr wrap="square">
            <a:spAutoFit/>
          </a:bodyPr>
          <a:lstStyle/>
          <a:p>
            <a:r>
              <a:rPr lang="en-US" dirty="0">
                <a:solidFill>
                  <a:srgbClr val="002060"/>
                </a:solidFill>
              </a:rPr>
              <a:t>The final segment label is assigned using the customer’s current segment, membership score, migration status, and RFM pattern:</a:t>
            </a:r>
            <a:endParaRPr lang="en-ZA" dirty="0">
              <a:solidFill>
                <a:srgbClr val="00206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3495EF5-ADB3-060E-C89C-8BEFC91912AC}"/>
                  </a:ext>
                </a:extLst>
              </p:cNvPr>
              <p:cNvSpPr txBox="1"/>
              <p:nvPr/>
            </p:nvSpPr>
            <p:spPr>
              <a:xfrm>
                <a:off x="1744717" y="5878545"/>
                <a:ext cx="6096000" cy="49744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ar-AE" sz="2000" i="1" dirty="0" smtClean="0">
                              <a:solidFill>
                                <a:schemeClr val="accent1"/>
                              </a:solidFill>
                              <a:latin typeface="Cambria Math" panose="02040503050406030204" pitchFamily="18" charset="0"/>
                            </a:rPr>
                          </m:ctrlPr>
                        </m:sSubSupPr>
                        <m:e>
                          <m:r>
                            <a:rPr lang="ar-AE" sz="2000" i="1" dirty="0" smtClean="0">
                              <a:solidFill>
                                <a:schemeClr val="accent1"/>
                              </a:solidFill>
                              <a:latin typeface="Cambria Math" panose="02040503050406030204" pitchFamily="18" charset="0"/>
                            </a:rPr>
                            <m:t>𝑆</m:t>
                          </m:r>
                        </m:e>
                        <m:sub>
                          <m:r>
                            <a:rPr lang="ar-AE" sz="2000" i="1" dirty="0" err="1">
                              <a:solidFill>
                                <a:schemeClr val="accent1"/>
                              </a:solidFill>
                              <a:latin typeface="Cambria Math" panose="02040503050406030204" pitchFamily="18" charset="0"/>
                            </a:rPr>
                            <m:t>𝑖</m:t>
                          </m:r>
                          <m:r>
                            <a:rPr lang="ar-AE" sz="2000" i="1" dirty="0" err="1">
                              <a:solidFill>
                                <a:schemeClr val="accent1"/>
                              </a:solidFill>
                              <a:latin typeface="Cambria Math" panose="02040503050406030204" pitchFamily="18" charset="0"/>
                            </a:rPr>
                            <m:t>,</m:t>
                          </m:r>
                          <m:r>
                            <a:rPr lang="ar-AE" sz="2000" i="1" dirty="0" err="1">
                              <a:solidFill>
                                <a:schemeClr val="accent1"/>
                              </a:solidFill>
                              <a:latin typeface="Cambria Math" panose="02040503050406030204" pitchFamily="18" charset="0"/>
                            </a:rPr>
                            <m:t>𝑡</m:t>
                          </m:r>
                        </m:sub>
                        <m:sup>
                          <m:r>
                            <a:rPr lang="ar-AE" sz="2000" i="1" dirty="0">
                              <a:solidFill>
                                <a:schemeClr val="accent1"/>
                              </a:solidFill>
                              <a:latin typeface="Cambria Math" panose="02040503050406030204" pitchFamily="18" charset="0"/>
                            </a:rPr>
                            <m:t>𝑓𝑖𝑛𝑎𝑙</m:t>
                          </m:r>
                        </m:sup>
                      </m:sSubSup>
                      <m:r>
                        <a:rPr lang="ar-AE" sz="2000" i="1" dirty="0">
                          <a:solidFill>
                            <a:schemeClr val="accent1"/>
                          </a:solidFill>
                          <a:latin typeface="Cambria Math" panose="02040503050406030204" pitchFamily="18" charset="0"/>
                        </a:rPr>
                        <m:t>=</m:t>
                      </m:r>
                      <m:sSub>
                        <m:sSubPr>
                          <m:ctrlPr>
                            <a:rPr lang="ar-AE" sz="2000" i="1" dirty="0">
                              <a:solidFill>
                                <a:schemeClr val="accent1"/>
                              </a:solidFill>
                              <a:latin typeface="Cambria Math" panose="02040503050406030204" pitchFamily="18" charset="0"/>
                            </a:rPr>
                          </m:ctrlPr>
                        </m:sSubPr>
                        <m:e>
                          <m:r>
                            <a:rPr lang="ar-AE" sz="2000" i="1" dirty="0">
                              <a:solidFill>
                                <a:schemeClr val="accent1"/>
                              </a:solidFill>
                              <a:latin typeface="Cambria Math" panose="02040503050406030204" pitchFamily="18" charset="0"/>
                            </a:rPr>
                            <m:t>𝑆</m:t>
                          </m:r>
                        </m:e>
                        <m:sub>
                          <m:r>
                            <a:rPr lang="ar-AE" sz="2000" i="1" dirty="0" err="1">
                              <a:solidFill>
                                <a:schemeClr val="accent1"/>
                              </a:solidFill>
                              <a:latin typeface="Cambria Math" panose="02040503050406030204" pitchFamily="18" charset="0"/>
                            </a:rPr>
                            <m:t>𝑖</m:t>
                          </m:r>
                          <m:r>
                            <a:rPr lang="ar-AE" sz="2000" i="1" dirty="0" err="1">
                              <a:solidFill>
                                <a:schemeClr val="accent1"/>
                              </a:solidFill>
                              <a:latin typeface="Cambria Math" panose="02040503050406030204" pitchFamily="18" charset="0"/>
                            </a:rPr>
                            <m:t>,</m:t>
                          </m:r>
                          <m:r>
                            <a:rPr lang="ar-AE" sz="2000" i="1" dirty="0" err="1">
                              <a:solidFill>
                                <a:schemeClr val="accent1"/>
                              </a:solidFill>
                              <a:latin typeface="Cambria Math" panose="02040503050406030204" pitchFamily="18" charset="0"/>
                            </a:rPr>
                            <m:t>𝑡</m:t>
                          </m:r>
                        </m:sub>
                      </m:sSub>
                      <m:r>
                        <a:rPr lang="ar-AE" sz="2000" i="1" dirty="0">
                          <a:solidFill>
                            <a:schemeClr val="accent1"/>
                          </a:solidFill>
                          <a:latin typeface="Cambria Math" panose="02040503050406030204" pitchFamily="18" charset="0"/>
                        </a:rPr>
                        <m:t>⊕</m:t>
                      </m:r>
                      <m:d>
                        <m:dPr>
                          <m:begChr m:val="["/>
                          <m:endChr m:val="]"/>
                          <m:ctrlPr>
                            <a:rPr lang="ar-AE" sz="2000" i="1" dirty="0">
                              <a:solidFill>
                                <a:schemeClr val="accent1"/>
                              </a:solidFill>
                              <a:latin typeface="Cambria Math" panose="02040503050406030204" pitchFamily="18" charset="0"/>
                            </a:rPr>
                          </m:ctrlPr>
                        </m:dPr>
                        <m:e>
                          <m:sSub>
                            <m:sSubPr>
                              <m:ctrlPr>
                                <a:rPr lang="ar-AE" sz="2000" i="1" dirty="0">
                                  <a:solidFill>
                                    <a:schemeClr val="accent1"/>
                                  </a:solidFill>
                                  <a:latin typeface="Cambria Math" panose="02040503050406030204" pitchFamily="18" charset="0"/>
                                </a:rPr>
                              </m:ctrlPr>
                            </m:sSubPr>
                            <m:e>
                              <m:r>
                                <a:rPr lang="ar-AE" sz="2000" i="1" dirty="0">
                                  <a:solidFill>
                                    <a:schemeClr val="accent1"/>
                                  </a:solidFill>
                                  <a:latin typeface="Cambria Math" panose="02040503050406030204" pitchFamily="18" charset="0"/>
                                </a:rPr>
                                <m:t>𝐶</m:t>
                              </m:r>
                            </m:e>
                            <m:sub>
                              <m:r>
                                <a:rPr lang="ar-AE" sz="2000" i="1" dirty="0" err="1">
                                  <a:solidFill>
                                    <a:schemeClr val="accent1"/>
                                  </a:solidFill>
                                  <a:latin typeface="Cambria Math" panose="02040503050406030204" pitchFamily="18" charset="0"/>
                                </a:rPr>
                                <m:t>𝑖</m:t>
                              </m:r>
                              <m:r>
                                <a:rPr lang="ar-AE" sz="2000" i="1" dirty="0" err="1">
                                  <a:solidFill>
                                    <a:schemeClr val="accent1"/>
                                  </a:solidFill>
                                  <a:latin typeface="Cambria Math" panose="02040503050406030204" pitchFamily="18" charset="0"/>
                                </a:rPr>
                                <m:t>,</m:t>
                              </m:r>
                              <m:r>
                                <a:rPr lang="ar-AE" sz="2000" i="1" dirty="0" err="1">
                                  <a:solidFill>
                                    <a:schemeClr val="accent1"/>
                                  </a:solidFill>
                                  <a:latin typeface="Cambria Math" panose="02040503050406030204" pitchFamily="18" charset="0"/>
                                </a:rPr>
                                <m:t>𝑡</m:t>
                              </m:r>
                            </m:sub>
                          </m:sSub>
                          <m:r>
                            <a:rPr lang="ar-AE" sz="2000" i="1" dirty="0">
                              <a:solidFill>
                                <a:schemeClr val="accent1"/>
                              </a:solidFill>
                              <a:latin typeface="Cambria Math" panose="02040503050406030204" pitchFamily="18" charset="0"/>
                            </a:rPr>
                            <m:t>,</m:t>
                          </m:r>
                          <m:r>
                            <a:rPr lang="ar-AE" sz="2000" i="1" dirty="0">
                              <a:solidFill>
                                <a:schemeClr val="accent1"/>
                              </a:solidFill>
                              <a:latin typeface="Cambria Math" panose="02040503050406030204" pitchFamily="18" charset="0"/>
                            </a:rPr>
                            <m:t>𝑆</m:t>
                          </m:r>
                          <m:sSub>
                            <m:sSubPr>
                              <m:ctrlPr>
                                <a:rPr lang="ar-AE" sz="2000" i="1" dirty="0">
                                  <a:solidFill>
                                    <a:schemeClr val="accent1"/>
                                  </a:solidFill>
                                  <a:latin typeface="Cambria Math" panose="02040503050406030204" pitchFamily="18" charset="0"/>
                                </a:rPr>
                              </m:ctrlPr>
                            </m:sSubPr>
                            <m:e>
                              <m:r>
                                <a:rPr lang="ar-AE" sz="2000" i="1" dirty="0">
                                  <a:solidFill>
                                    <a:schemeClr val="accent1"/>
                                  </a:solidFill>
                                  <a:latin typeface="Cambria Math" panose="02040503050406030204" pitchFamily="18" charset="0"/>
                                </a:rPr>
                                <m:t>𝑒</m:t>
                              </m:r>
                            </m:e>
                            <m:sub>
                              <m:r>
                                <a:rPr lang="ar-AE" sz="2000" i="1" dirty="0" err="1">
                                  <a:solidFill>
                                    <a:schemeClr val="accent1"/>
                                  </a:solidFill>
                                  <a:latin typeface="Cambria Math" panose="02040503050406030204" pitchFamily="18" charset="0"/>
                                </a:rPr>
                                <m:t>𝑖</m:t>
                              </m:r>
                              <m:r>
                                <a:rPr lang="ar-AE" sz="2000" i="1" dirty="0" err="1">
                                  <a:solidFill>
                                    <a:schemeClr val="accent1"/>
                                  </a:solidFill>
                                  <a:latin typeface="Cambria Math" panose="02040503050406030204" pitchFamily="18" charset="0"/>
                                </a:rPr>
                                <m:t>,</m:t>
                              </m:r>
                              <m:r>
                                <a:rPr lang="ar-AE" sz="2000" i="1" dirty="0" err="1">
                                  <a:solidFill>
                                    <a:schemeClr val="accent1"/>
                                  </a:solidFill>
                                  <a:latin typeface="Cambria Math" panose="02040503050406030204" pitchFamily="18" charset="0"/>
                                </a:rPr>
                                <m:t>𝑘</m:t>
                              </m:r>
                              <m:r>
                                <a:rPr lang="ar-AE" sz="2000" i="1" dirty="0" err="1">
                                  <a:solidFill>
                                    <a:schemeClr val="accent1"/>
                                  </a:solidFill>
                                  <a:latin typeface="Cambria Math" panose="02040503050406030204" pitchFamily="18" charset="0"/>
                                </a:rPr>
                                <m:t>,</m:t>
                              </m:r>
                              <m:r>
                                <a:rPr lang="ar-AE" sz="2000" i="1" dirty="0" err="1">
                                  <a:solidFill>
                                    <a:schemeClr val="accent1"/>
                                  </a:solidFill>
                                  <a:latin typeface="Cambria Math" panose="02040503050406030204" pitchFamily="18" charset="0"/>
                                </a:rPr>
                                <m:t>𝑡</m:t>
                              </m:r>
                            </m:sub>
                          </m:sSub>
                          <m:r>
                            <a:rPr lang="ar-AE" sz="2000" i="1" dirty="0">
                              <a:solidFill>
                                <a:schemeClr val="accent1"/>
                              </a:solidFill>
                              <a:latin typeface="Cambria Math" panose="02040503050406030204" pitchFamily="18" charset="0"/>
                            </a:rPr>
                            <m:t>,</m:t>
                          </m:r>
                          <m:r>
                            <a:rPr lang="ar-AE" sz="2000" i="1" dirty="0">
                              <a:solidFill>
                                <a:schemeClr val="accent1"/>
                              </a:solidFill>
                              <a:latin typeface="Cambria Math" panose="02040503050406030204" pitchFamily="18" charset="0"/>
                            </a:rPr>
                            <m:t>𝑀𝑖𝑔𝑟𝑎𝑡</m:t>
                          </m:r>
                          <m:sSub>
                            <m:sSubPr>
                              <m:ctrlPr>
                                <a:rPr lang="ar-AE" sz="2000" i="1" dirty="0">
                                  <a:solidFill>
                                    <a:schemeClr val="accent1"/>
                                  </a:solidFill>
                                  <a:latin typeface="Cambria Math" panose="02040503050406030204" pitchFamily="18" charset="0"/>
                                </a:rPr>
                              </m:ctrlPr>
                            </m:sSubPr>
                            <m:e>
                              <m:r>
                                <a:rPr lang="ar-AE" sz="2000" i="1" dirty="0">
                                  <a:solidFill>
                                    <a:schemeClr val="accent1"/>
                                  </a:solidFill>
                                  <a:latin typeface="Cambria Math" panose="02040503050406030204" pitchFamily="18" charset="0"/>
                                </a:rPr>
                                <m:t>𝑒</m:t>
                              </m:r>
                            </m:e>
                            <m:sub>
                              <m:r>
                                <a:rPr lang="ar-AE" sz="2000" i="1" dirty="0" err="1">
                                  <a:solidFill>
                                    <a:schemeClr val="accent1"/>
                                  </a:solidFill>
                                  <a:latin typeface="Cambria Math" panose="02040503050406030204" pitchFamily="18" charset="0"/>
                                </a:rPr>
                                <m:t>𝑖</m:t>
                              </m:r>
                              <m:r>
                                <a:rPr lang="ar-AE" sz="2000" i="1" dirty="0" err="1">
                                  <a:solidFill>
                                    <a:schemeClr val="accent1"/>
                                  </a:solidFill>
                                  <a:latin typeface="Cambria Math" panose="02040503050406030204" pitchFamily="18" charset="0"/>
                                </a:rPr>
                                <m:t>,</m:t>
                              </m:r>
                              <m:r>
                                <a:rPr lang="ar-AE" sz="2000" i="1" dirty="0" err="1">
                                  <a:solidFill>
                                    <a:schemeClr val="accent1"/>
                                  </a:solidFill>
                                  <a:latin typeface="Cambria Math" panose="02040503050406030204" pitchFamily="18" charset="0"/>
                                </a:rPr>
                                <m:t>𝑡</m:t>
                              </m:r>
                            </m:sub>
                          </m:sSub>
                          <m:r>
                            <a:rPr lang="ar-AE" sz="2000" i="1" dirty="0">
                              <a:solidFill>
                                <a:schemeClr val="accent1"/>
                              </a:solidFill>
                              <a:latin typeface="Cambria Math" panose="02040503050406030204" pitchFamily="18" charset="0"/>
                            </a:rPr>
                            <m:t>,</m:t>
                          </m:r>
                          <m:r>
                            <a:rPr lang="ar-AE" sz="2000" i="1" dirty="0" smtClean="0">
                              <a:solidFill>
                                <a:schemeClr val="accent1"/>
                              </a:solidFill>
                              <a:latin typeface="Cambria Math" panose="02040503050406030204" pitchFamily="18" charset="0"/>
                            </a:rPr>
                            <m:t> </m:t>
                          </m:r>
                        </m:e>
                      </m:d>
                    </m:oMath>
                  </m:oMathPara>
                </a14:m>
                <a:endParaRPr lang="ar-AE" sz="2000" dirty="0">
                  <a:solidFill>
                    <a:schemeClr val="accent1"/>
                  </a:solidFill>
                </a:endParaRPr>
              </a:p>
            </p:txBody>
          </p:sp>
        </mc:Choice>
        <mc:Fallback xmlns="">
          <p:sp>
            <p:nvSpPr>
              <p:cNvPr id="17" name="TextBox 16">
                <a:extLst>
                  <a:ext uri="{FF2B5EF4-FFF2-40B4-BE49-F238E27FC236}">
                    <a16:creationId xmlns:a16="http://schemas.microsoft.com/office/drawing/2014/main" id="{73495EF5-ADB3-060E-C89C-8BEFC91912AC}"/>
                  </a:ext>
                </a:extLst>
              </p:cNvPr>
              <p:cNvSpPr txBox="1">
                <a:spLocks noRot="1" noChangeAspect="1" noMove="1" noResize="1" noEditPoints="1" noAdjustHandles="1" noChangeArrowheads="1" noChangeShapeType="1" noTextEdit="1"/>
              </p:cNvSpPr>
              <p:nvPr/>
            </p:nvSpPr>
            <p:spPr>
              <a:xfrm>
                <a:off x="1744717" y="5878545"/>
                <a:ext cx="6096000" cy="497444"/>
              </a:xfrm>
              <a:prstGeom prst="rect">
                <a:avLst/>
              </a:prstGeom>
              <a:blipFill>
                <a:blip r:embed="rId3"/>
                <a:stretch>
                  <a:fillRect b="-3659"/>
                </a:stretch>
              </a:blipFill>
            </p:spPr>
            <p:txBody>
              <a:bodyPr/>
              <a:lstStyle/>
              <a:p>
                <a:r>
                  <a:rPr lang="en-ZA">
                    <a:noFill/>
                  </a:rPr>
                  <a:t> </a:t>
                </a:r>
              </a:p>
            </p:txBody>
          </p:sp>
        </mc:Fallback>
      </mc:AlternateContent>
    </p:spTree>
    <p:extLst>
      <p:ext uri="{BB962C8B-B14F-4D97-AF65-F5344CB8AC3E}">
        <p14:creationId xmlns:p14="http://schemas.microsoft.com/office/powerpoint/2010/main" val="28387657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94B6AA2-BF8F-9BF5-C740-3EF5FF52FB1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6F0EC1B5-CA07-CC05-2495-F1C8F51F225A}"/>
              </a:ext>
            </a:extLst>
          </p:cNvPr>
          <p:cNvSpPr txBox="1">
            <a:spLocks/>
          </p:cNvSpPr>
          <p:nvPr/>
        </p:nvSpPr>
        <p:spPr>
          <a:xfrm>
            <a:off x="1495954" y="212081"/>
            <a:ext cx="8905800" cy="530614"/>
          </a:xfrm>
          <a:prstGeom prst="rect">
            <a:avLst/>
          </a:prstGeom>
        </p:spPr>
        <p:txBody>
          <a:bodyPr vert="horz" lIns="91440" tIns="45720" rIns="91440" bIns="45720" rtlCol="0" anchor="ctr">
            <a:normAutofit fontScale="3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ZA" sz="11200" dirty="0">
                <a:solidFill>
                  <a:srgbClr val="002060"/>
                </a:solidFill>
                <a:latin typeface="Arial Black" panose="020B0A04020102020204" pitchFamily="34" charset="0"/>
              </a:rPr>
              <a:t>Dashboard Interface : </a:t>
            </a:r>
            <a:r>
              <a:rPr lang="en-ZA" sz="8000" dirty="0">
                <a:solidFill>
                  <a:srgbClr val="002060"/>
                </a:solidFill>
              </a:rPr>
              <a:t>Dashboard Interface</a:t>
            </a:r>
            <a:endParaRPr lang="en-ZA" sz="8000" dirty="0">
              <a:solidFill>
                <a:srgbClr val="002060"/>
              </a:solidFill>
              <a:latin typeface="Arial Black" panose="020B0A04020102020204" pitchFamily="34" charset="0"/>
            </a:endParaRPr>
          </a:p>
        </p:txBody>
      </p:sp>
      <p:sp>
        <p:nvSpPr>
          <p:cNvPr id="19" name="TextBox 18">
            <a:extLst>
              <a:ext uri="{FF2B5EF4-FFF2-40B4-BE49-F238E27FC236}">
                <a16:creationId xmlns:a16="http://schemas.microsoft.com/office/drawing/2014/main" id="{AA6778BA-461C-1392-3358-317329BA0CCA}"/>
              </a:ext>
            </a:extLst>
          </p:cNvPr>
          <p:cNvSpPr txBox="1"/>
          <p:nvPr/>
        </p:nvSpPr>
        <p:spPr>
          <a:xfrm>
            <a:off x="199696" y="819697"/>
            <a:ext cx="11014841" cy="369332"/>
          </a:xfrm>
          <a:prstGeom prst="rect">
            <a:avLst/>
          </a:prstGeom>
          <a:noFill/>
        </p:spPr>
        <p:txBody>
          <a:bodyPr wrap="square">
            <a:spAutoFit/>
          </a:bodyPr>
          <a:lstStyle/>
          <a:p>
            <a:r>
              <a:rPr lang="en-US" dirty="0">
                <a:solidFill>
                  <a:srgbClr val="002060"/>
                </a:solidFill>
              </a:rPr>
              <a:t>The dashboard retrieves the final outputs from the database and displays them in a user-friendly interface.</a:t>
            </a:r>
            <a:endParaRPr lang="en-ZA" dirty="0">
              <a:solidFill>
                <a:srgbClr val="002060"/>
              </a:solidFill>
            </a:endParaRPr>
          </a:p>
        </p:txBody>
      </p:sp>
      <p:sp>
        <p:nvSpPr>
          <p:cNvPr id="6" name="TextBox 5">
            <a:extLst>
              <a:ext uri="{FF2B5EF4-FFF2-40B4-BE49-F238E27FC236}">
                <a16:creationId xmlns:a16="http://schemas.microsoft.com/office/drawing/2014/main" id="{F6118798-32B2-AB89-6926-AF272A78B5F8}"/>
              </a:ext>
            </a:extLst>
          </p:cNvPr>
          <p:cNvSpPr txBox="1"/>
          <p:nvPr/>
        </p:nvSpPr>
        <p:spPr>
          <a:xfrm>
            <a:off x="304726" y="5589900"/>
            <a:ext cx="4198694" cy="584775"/>
          </a:xfrm>
          <a:prstGeom prst="rect">
            <a:avLst/>
          </a:prstGeom>
          <a:noFill/>
        </p:spPr>
        <p:txBody>
          <a:bodyPr wrap="square">
            <a:spAutoFit/>
          </a:bodyPr>
          <a:lstStyle/>
          <a:p>
            <a:r>
              <a:rPr lang="en-US" sz="1600" dirty="0">
                <a:solidFill>
                  <a:srgbClr val="002060"/>
                </a:solidFill>
              </a:rPr>
              <a:t>Customer-level visualization allows the user  to filter and inspect individual customers.</a:t>
            </a:r>
            <a:endParaRPr lang="en-ZA" sz="1600" dirty="0">
              <a:solidFill>
                <a:srgbClr val="002060"/>
              </a:solidFill>
            </a:endParaRPr>
          </a:p>
        </p:txBody>
      </p:sp>
      <p:sp>
        <p:nvSpPr>
          <p:cNvPr id="9" name="TextBox 8">
            <a:extLst>
              <a:ext uri="{FF2B5EF4-FFF2-40B4-BE49-F238E27FC236}">
                <a16:creationId xmlns:a16="http://schemas.microsoft.com/office/drawing/2014/main" id="{FE0D2EDD-B593-5FAF-C9F9-3D83E58D34B5}"/>
              </a:ext>
            </a:extLst>
          </p:cNvPr>
          <p:cNvSpPr txBox="1"/>
          <p:nvPr/>
        </p:nvSpPr>
        <p:spPr>
          <a:xfrm>
            <a:off x="419026" y="5072375"/>
            <a:ext cx="6096000" cy="369332"/>
          </a:xfrm>
          <a:prstGeom prst="rect">
            <a:avLst/>
          </a:prstGeom>
          <a:noFill/>
        </p:spPr>
        <p:txBody>
          <a:bodyPr wrap="square">
            <a:spAutoFit/>
          </a:bodyPr>
          <a:lstStyle/>
          <a:p>
            <a:r>
              <a:rPr lang="en-ZA" sz="1800" b="1" dirty="0">
                <a:solidFill>
                  <a:srgbClr val="002060"/>
                </a:solidFill>
              </a:rPr>
              <a:t>Customer Visualization</a:t>
            </a:r>
            <a:endParaRPr lang="en-ZA" b="1" dirty="0"/>
          </a:p>
        </p:txBody>
      </p:sp>
      <p:pic>
        <p:nvPicPr>
          <p:cNvPr id="11" name="Picture 10">
            <a:extLst>
              <a:ext uri="{FF2B5EF4-FFF2-40B4-BE49-F238E27FC236}">
                <a16:creationId xmlns:a16="http://schemas.microsoft.com/office/drawing/2014/main" id="{F0E7AB0C-3FD1-06F4-16BF-89634083CECA}"/>
              </a:ext>
            </a:extLst>
          </p:cNvPr>
          <p:cNvPicPr>
            <a:picLocks noChangeAspect="1"/>
          </p:cNvPicPr>
          <p:nvPr/>
        </p:nvPicPr>
        <p:blipFill>
          <a:blip r:embed="rId3"/>
          <a:stretch>
            <a:fillRect/>
          </a:stretch>
        </p:blipFill>
        <p:spPr>
          <a:xfrm>
            <a:off x="617393" y="1268100"/>
            <a:ext cx="7036846" cy="284236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13" name="Picture 12">
            <a:extLst>
              <a:ext uri="{FF2B5EF4-FFF2-40B4-BE49-F238E27FC236}">
                <a16:creationId xmlns:a16="http://schemas.microsoft.com/office/drawing/2014/main" id="{DA58548E-2142-2487-6BE9-BA89B0DD2B40}"/>
              </a:ext>
            </a:extLst>
          </p:cNvPr>
          <p:cNvPicPr>
            <a:picLocks noChangeAspect="1"/>
          </p:cNvPicPr>
          <p:nvPr/>
        </p:nvPicPr>
        <p:blipFill>
          <a:blip r:embed="rId4"/>
          <a:stretch>
            <a:fillRect/>
          </a:stretch>
        </p:blipFill>
        <p:spPr>
          <a:xfrm>
            <a:off x="4865177" y="3534601"/>
            <a:ext cx="6907797" cy="3075549"/>
          </a:xfrm>
          <a:prstGeom prst="rect">
            <a:avLst/>
          </a:prstGeom>
          <a:ln>
            <a:noFill/>
          </a:ln>
          <a:effectLst>
            <a:softEdge rad="112500"/>
          </a:effectLst>
        </p:spPr>
      </p:pic>
      <p:cxnSp>
        <p:nvCxnSpPr>
          <p:cNvPr id="4" name="Straight Arrow Connector 3">
            <a:extLst>
              <a:ext uri="{FF2B5EF4-FFF2-40B4-BE49-F238E27FC236}">
                <a16:creationId xmlns:a16="http://schemas.microsoft.com/office/drawing/2014/main" id="{B231EC9E-4343-0063-722B-E0CCE5526D57}"/>
              </a:ext>
            </a:extLst>
          </p:cNvPr>
          <p:cNvCxnSpPr>
            <a:cxnSpLocks/>
          </p:cNvCxnSpPr>
          <p:nvPr/>
        </p:nvCxnSpPr>
        <p:spPr>
          <a:xfrm flipV="1">
            <a:off x="4135816" y="4743450"/>
            <a:ext cx="2047814" cy="6982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 name="Use Case Diagram"/>
          <p:cNvPicPr>
            <a:picLocks noChangeAspect="1"/>
          </p:cNvPicPr>
          <p:nvPr/>
        </p:nvPicPr>
        <p:blipFill>
          <a:blip r:embed="rId5"/>
          <a:srcRect l="10385" t="9275" r="29774" b="51640"/>
          <a:stretch>
            <a:fillRect/>
          </a:stretch>
        </p:blipFill>
        <p:spPr>
          <a:xfrm>
            <a:off x="8001000" y="1268100"/>
            <a:ext cx="3213537" cy="2266501"/>
          </a:xfrm>
          <a:prstGeom prst="rect">
            <a:avLst/>
          </a:prstGeom>
        </p:spPr>
      </p:pic>
    </p:spTree>
    <p:extLst>
      <p:ext uri="{BB962C8B-B14F-4D97-AF65-F5344CB8AC3E}">
        <p14:creationId xmlns:p14="http://schemas.microsoft.com/office/powerpoint/2010/main" val="31706685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Screenshot SimA"/>
          <p:cNvPicPr>
            <a:picLocks noChangeAspect="1"/>
          </p:cNvPicPr>
          <p:nvPr/>
        </p:nvPicPr>
        <p:blipFill>
          <a:blip r:embed="rId3"/>
          <a:stretch>
            <a:fillRect/>
          </a:stretch>
        </p:blipFill>
        <p:spPr>
          <a:xfrm>
            <a:off x="208108" y="2507872"/>
            <a:ext cx="6052362" cy="3899970"/>
          </a:xfrm>
          <a:prstGeom prst="rect">
            <a:avLst/>
          </a:prstGeom>
        </p:spPr>
      </p:pic>
      <p:pic>
        <p:nvPicPr>
          <p:cNvPr id="12" name="Screenshot Model"/>
          <p:cNvPicPr>
            <a:picLocks noChangeAspect="1"/>
          </p:cNvPicPr>
          <p:nvPr/>
        </p:nvPicPr>
        <p:blipFill>
          <a:blip r:embed="rId4"/>
          <a:stretch>
            <a:fillRect/>
          </a:stretch>
        </p:blipFill>
        <p:spPr>
          <a:xfrm>
            <a:off x="6360254" y="2507872"/>
            <a:ext cx="5534025" cy="3899970"/>
          </a:xfrm>
          <a:prstGeom prst="rect">
            <a:avLst/>
          </a:prstGeom>
        </p:spPr>
      </p:pic>
      <p:sp>
        <p:nvSpPr>
          <p:cNvPr id="13" name="Caption"/>
          <p:cNvSpPr txBox="1"/>
          <p:nvPr/>
        </p:nvSpPr>
        <p:spPr>
          <a:xfrm>
            <a:off x="208108" y="6407842"/>
            <a:ext cx="10800000" cy="350000"/>
          </a:xfrm>
          <a:prstGeom prst="rect">
            <a:avLst/>
          </a:prstGeom>
          <a:noFill/>
        </p:spPr>
        <p:txBody>
          <a:bodyPr wrap="none" anchor="ctr"/>
          <a:lstStyle/>
          <a:p>
            <a:pPr algn="l"/>
            <a:r>
              <a:rPr lang="en-US" sz="1400" b="0" i="1" dirty="0"/>
              <a:t>Figure: Simulation A overview (</a:t>
            </a:r>
            <a:r>
              <a:rPr lang="en-US" sz="1400" i="1" dirty="0"/>
              <a:t>left</a:t>
            </a:r>
            <a:r>
              <a:rPr lang="en-US" sz="1400" b="0" i="1" dirty="0"/>
              <a:t>) | Model page (</a:t>
            </a:r>
            <a:r>
              <a:rPr lang="en-US" sz="1400" i="1" dirty="0"/>
              <a:t>right</a:t>
            </a:r>
            <a:r>
              <a:rPr lang="en-US" sz="1400" b="0" i="1" dirty="0"/>
              <a:t>)</a:t>
            </a:r>
          </a:p>
        </p:txBody>
      </p:sp>
      <p:sp>
        <p:nvSpPr>
          <p:cNvPr id="4" name="Title 1">
            <a:extLst>
              <a:ext uri="{FF2B5EF4-FFF2-40B4-BE49-F238E27FC236}">
                <a16:creationId xmlns:a16="http://schemas.microsoft.com/office/drawing/2014/main" id="{F994A8B0-C5C7-44B2-C649-FAB0CE519502}"/>
              </a:ext>
            </a:extLst>
          </p:cNvPr>
          <p:cNvSpPr txBox="1">
            <a:spLocks/>
          </p:cNvSpPr>
          <p:nvPr/>
        </p:nvSpPr>
        <p:spPr>
          <a:xfrm>
            <a:off x="1005455" y="239075"/>
            <a:ext cx="10888824" cy="530614"/>
          </a:xfrm>
          <a:prstGeom prst="rect">
            <a:avLst/>
          </a:prstGeom>
        </p:spPr>
        <p:txBody>
          <a:bodyPr vert="horz" lIns="91440" tIns="45720" rIns="91440" bIns="45720" rtlCol="0" anchor="ctr">
            <a:normAutofit fontScale="3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ZA" sz="11200" dirty="0">
                <a:solidFill>
                  <a:srgbClr val="002060"/>
                </a:solidFill>
                <a:latin typeface="Arial Black" panose="020B0A04020102020204" pitchFamily="34" charset="0"/>
              </a:rPr>
              <a:t>Dashboard Interface : </a:t>
            </a:r>
            <a:r>
              <a:rPr lang="en-ZA" sz="8000" b="1" dirty="0">
                <a:solidFill>
                  <a:srgbClr val="002060"/>
                </a:solidFill>
                <a:latin typeface="+mn-lt"/>
              </a:rPr>
              <a:t>Interface Development</a:t>
            </a:r>
          </a:p>
        </p:txBody>
      </p:sp>
      <p:sp>
        <p:nvSpPr>
          <p:cNvPr id="3" name="TextBox 2">
            <a:extLst>
              <a:ext uri="{FF2B5EF4-FFF2-40B4-BE49-F238E27FC236}">
                <a16:creationId xmlns:a16="http://schemas.microsoft.com/office/drawing/2014/main" id="{A44223C0-686F-8A4A-DF0C-AE2BE9E4EC32}"/>
              </a:ext>
            </a:extLst>
          </p:cNvPr>
          <p:cNvSpPr txBox="1"/>
          <p:nvPr/>
        </p:nvSpPr>
        <p:spPr>
          <a:xfrm>
            <a:off x="104053" y="1164828"/>
            <a:ext cx="11983893" cy="968983"/>
          </a:xfrm>
          <a:prstGeom prst="rect">
            <a:avLst/>
          </a:prstGeom>
          <a:solidFill>
            <a:schemeClr val="bg2"/>
          </a:solidFill>
        </p:spPr>
        <p:txBody>
          <a:bodyPr wrap="square">
            <a:spAutoFit/>
          </a:bodyPr>
          <a:lstStyle/>
          <a:p>
            <a:pPr marL="0" marR="0" indent="0" algn="ctr">
              <a:lnSpc>
                <a:spcPct val="150000"/>
              </a:lnSpc>
              <a:buNone/>
            </a:pPr>
            <a:r>
              <a:rPr lang="en-US" sz="2000" b="0" dirty="0">
                <a:solidFill>
                  <a:schemeClr val="accent6"/>
                </a:solidFill>
              </a:rPr>
              <a:t>A React-based web interface (CSRS) was developed  </a:t>
            </a:r>
            <a:r>
              <a:rPr lang="en-US" sz="2000" dirty="0">
                <a:solidFill>
                  <a:schemeClr val="accent6"/>
                </a:solidFill>
              </a:rPr>
              <a:t>using</a:t>
            </a:r>
            <a:r>
              <a:rPr lang="en-US" sz="2000" b="0" dirty="0">
                <a:solidFill>
                  <a:schemeClr val="accent6"/>
                </a:solidFill>
              </a:rPr>
              <a:t> the wireframe designs as well as the other planning</a:t>
            </a:r>
          </a:p>
          <a:p>
            <a:pPr marL="0" marR="0" indent="0" algn="ctr">
              <a:lnSpc>
                <a:spcPct val="150000"/>
              </a:lnSpc>
              <a:buNone/>
            </a:pPr>
            <a:r>
              <a:rPr lang="en-US" sz="2000" b="0" dirty="0">
                <a:solidFill>
                  <a:schemeClr val="accent6"/>
                </a:solidFill>
              </a:rPr>
              <a:t> diagrams shown in the previous slides to visualize segmentation results from both simulations (Pipelines).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914400" y="457199"/>
            <a:ext cx="10511627" cy="1012785"/>
          </a:xfrm>
        </p:spPr>
        <p:txBody>
          <a:bodyPr/>
          <a:lstStyle/>
          <a:p>
            <a:r>
              <a:rPr lang="en-US" dirty="0"/>
              <a:t>Potential OUTCOME</a:t>
            </a:r>
            <a:br>
              <a:rPr lang="en-US" dirty="0"/>
            </a:br>
            <a:endParaRPr lang="en-US" dirty="0"/>
          </a:p>
        </p:txBody>
      </p:sp>
      <p:sp>
        <p:nvSpPr>
          <p:cNvPr id="4" name="Rectangle 1">
            <a:extLst>
              <a:ext uri="{FF2B5EF4-FFF2-40B4-BE49-F238E27FC236}">
                <a16:creationId xmlns:a16="http://schemas.microsoft.com/office/drawing/2014/main" id="{69D0C884-E2D5-1904-9333-62A05014D909}"/>
              </a:ext>
            </a:extLst>
          </p:cNvPr>
          <p:cNvSpPr>
            <a:spLocks noGrp="1" noChangeArrowheads="1"/>
          </p:cNvSpPr>
          <p:nvPr>
            <p:ph sz="quarter" idx="4"/>
          </p:nvPr>
        </p:nvSpPr>
        <p:spPr bwMode="auto">
          <a:xfrm>
            <a:off x="356287" y="1469984"/>
            <a:ext cx="11479426"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ts val="1200"/>
              </a:spcAft>
              <a:buFontTx/>
              <a:buChar char="•"/>
            </a:pPr>
            <a:r>
              <a:rPr lang="en-US" sz="2000" b="1" dirty="0"/>
              <a:t>Adaptive Time-Sliced Segmentation:</a:t>
            </a:r>
            <a:r>
              <a:rPr lang="en-US" sz="2000" dirty="0"/>
              <a:t> Development of a self-updating segmentation framework that can detect and respond to behavioral changes across sequential transaction batches with reduced manual intervention [4].</a:t>
            </a:r>
          </a:p>
          <a:p>
            <a:pPr marL="0" lvl="0" indent="0" eaLnBrk="0" fontAlgn="base" hangingPunct="0">
              <a:spcBef>
                <a:spcPct val="0"/>
              </a:spcBef>
              <a:spcAft>
                <a:spcPts val="1200"/>
              </a:spcAft>
              <a:buFontTx/>
              <a:buChar char="•"/>
            </a:pPr>
            <a:endParaRPr kumimoji="0" lang="en-US" altLang="en-US" sz="2000" b="0" i="0" u="none" strike="noStrike" cap="none" normalizeH="0" baseline="0" dirty="0">
              <a:ln>
                <a:noFill/>
              </a:ln>
              <a:effectLst/>
            </a:endParaRPr>
          </a:p>
          <a:p>
            <a:pPr marL="0" lvl="0" indent="0" eaLnBrk="0" fontAlgn="base" hangingPunct="0">
              <a:spcBef>
                <a:spcPct val="0"/>
              </a:spcBef>
              <a:spcAft>
                <a:spcPts val="1200"/>
              </a:spcAft>
              <a:buFontTx/>
              <a:buChar char="•"/>
            </a:pPr>
            <a:r>
              <a:rPr lang="en-US" sz="2000" b="1" dirty="0"/>
              <a:t>Richer Customer Profiles:</a:t>
            </a:r>
            <a:r>
              <a:rPr lang="en-US" sz="2000" dirty="0"/>
              <a:t> Demonstration that combining Cascaded RFM with additional behavioral and geographic indicators can reduce the limitations of standard RFM and produce more descriptive customer profiles [4], [5].</a:t>
            </a:r>
          </a:p>
          <a:p>
            <a:pPr marL="0" lvl="0" indent="0" eaLnBrk="0" fontAlgn="base" hangingPunct="0">
              <a:spcBef>
                <a:spcPct val="0"/>
              </a:spcBef>
              <a:spcAft>
                <a:spcPts val="1200"/>
              </a:spcAft>
              <a:buFontTx/>
              <a:buChar char="•"/>
            </a:pPr>
            <a:endParaRPr kumimoji="0" lang="en-US" altLang="en-US" sz="2000" b="0" i="0" u="none" strike="noStrike" cap="none" normalizeH="0" baseline="0" dirty="0">
              <a:ln>
                <a:noFill/>
              </a:ln>
              <a:effectLst/>
            </a:endParaRPr>
          </a:p>
          <a:p>
            <a:pPr marL="0" lvl="0" indent="0" eaLnBrk="0" fontAlgn="base" hangingPunct="0">
              <a:spcBef>
                <a:spcPct val="0"/>
              </a:spcBef>
              <a:spcAft>
                <a:spcPts val="1200"/>
              </a:spcAft>
              <a:buFontTx/>
              <a:buChar char="•"/>
            </a:pPr>
            <a:r>
              <a:rPr lang="en-US" sz="2000" b="1" dirty="0"/>
              <a:t>Actionable Business Intelligence:</a:t>
            </a:r>
            <a:r>
              <a:rPr lang="en-US" sz="2000" dirty="0"/>
              <a:t> Translation of evolving customer segments into targeted retention, personalization, and campaign strategies that support more informed retail decision-making [3], [9].</a:t>
            </a:r>
          </a:p>
          <a:p>
            <a:pPr marL="0" lvl="0" indent="0" eaLnBrk="0" fontAlgn="base" hangingPunct="0">
              <a:spcBef>
                <a:spcPct val="0"/>
              </a:spcBef>
              <a:spcAft>
                <a:spcPts val="1200"/>
              </a:spcAft>
              <a:buFontTx/>
              <a:buChar char="•"/>
            </a:pPr>
            <a:endParaRPr lang="en-US" sz="2000" dirty="0"/>
          </a:p>
          <a:p>
            <a:pPr marL="0" lvl="0" indent="0" eaLnBrk="0" fontAlgn="base" hangingPunct="0">
              <a:spcBef>
                <a:spcPct val="0"/>
              </a:spcBef>
              <a:spcAft>
                <a:spcPts val="1200"/>
              </a:spcAft>
              <a:buFontTx/>
              <a:buChar char="•"/>
            </a:pPr>
            <a:r>
              <a:rPr lang="en-ZA" sz="2000" b="1" dirty="0"/>
              <a:t>Interactive Segmentation Interface:</a:t>
            </a:r>
            <a:r>
              <a:rPr lang="en-ZA" sz="2000" dirty="0"/>
              <a:t> Development of a interface for visualizing customer segments, tracking cluster updates over time, and improving interpretation of segmentation outputs.</a:t>
            </a:r>
            <a:endParaRPr kumimoji="0" lang="en-US" altLang="en-US" sz="2000" i="0" u="none" strike="noStrike" cap="none" normalizeH="0" baseline="0" dirty="0">
              <a:ln>
                <a:noFill/>
              </a:ln>
              <a:effectLst/>
            </a:endParaRPr>
          </a:p>
        </p:txBody>
      </p:sp>
    </p:spTree>
    <p:extLst>
      <p:ext uri="{BB962C8B-B14F-4D97-AF65-F5344CB8AC3E}">
        <p14:creationId xmlns:p14="http://schemas.microsoft.com/office/powerpoint/2010/main" val="16862132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11B89-1FBF-CD0A-0860-F8C8EBE1BB93}"/>
              </a:ext>
            </a:extLst>
          </p:cNvPr>
          <p:cNvSpPr>
            <a:spLocks noGrp="1"/>
          </p:cNvSpPr>
          <p:nvPr>
            <p:ph type="title"/>
          </p:nvPr>
        </p:nvSpPr>
        <p:spPr>
          <a:xfrm>
            <a:off x="754979" y="38947"/>
            <a:ext cx="10671048" cy="1362057"/>
          </a:xfrm>
        </p:spPr>
        <p:txBody>
          <a:bodyPr/>
          <a:lstStyle/>
          <a:p>
            <a:r>
              <a:rPr lang="en-ZA" dirty="0"/>
              <a:t>Timeline</a:t>
            </a:r>
            <a:br>
              <a:rPr lang="en-ZA" dirty="0"/>
            </a:br>
            <a:endParaRPr lang="en-ZA" dirty="0"/>
          </a:p>
        </p:txBody>
      </p:sp>
      <p:graphicFrame>
        <p:nvGraphicFramePr>
          <p:cNvPr id="5" name="Table 4">
            <a:extLst>
              <a:ext uri="{FF2B5EF4-FFF2-40B4-BE49-F238E27FC236}">
                <a16:creationId xmlns:a16="http://schemas.microsoft.com/office/drawing/2014/main" id="{5024B6FE-6D3E-FA8D-C218-86F1A9E0EC68}"/>
              </a:ext>
            </a:extLst>
          </p:cNvPr>
          <p:cNvGraphicFramePr>
            <a:graphicFrameLocks noGrp="1"/>
          </p:cNvGraphicFramePr>
          <p:nvPr>
            <p:extLst>
              <p:ext uri="{D42A27DB-BD31-4B8C-83A1-F6EECF244321}">
                <p14:modId xmlns:p14="http://schemas.microsoft.com/office/powerpoint/2010/main" val="2074240119"/>
              </p:ext>
            </p:extLst>
          </p:nvPr>
        </p:nvGraphicFramePr>
        <p:xfrm>
          <a:off x="111504" y="1469823"/>
          <a:ext cx="11935420" cy="5114765"/>
        </p:xfrm>
        <a:graphic>
          <a:graphicData uri="http://schemas.openxmlformats.org/drawingml/2006/table">
            <a:tbl>
              <a:tblPr>
                <a:tableStyleId>{8799B23B-EC83-4686-B30A-512413B5E67A}</a:tableStyleId>
              </a:tblPr>
              <a:tblGrid>
                <a:gridCol w="2918915">
                  <a:extLst>
                    <a:ext uri="{9D8B030D-6E8A-4147-A177-3AD203B41FA5}">
                      <a16:colId xmlns:a16="http://schemas.microsoft.com/office/drawing/2014/main" val="3354290023"/>
                    </a:ext>
                  </a:extLst>
                </a:gridCol>
                <a:gridCol w="5830149">
                  <a:extLst>
                    <a:ext uri="{9D8B030D-6E8A-4147-A177-3AD203B41FA5}">
                      <a16:colId xmlns:a16="http://schemas.microsoft.com/office/drawing/2014/main" val="2320661524"/>
                    </a:ext>
                  </a:extLst>
                </a:gridCol>
                <a:gridCol w="957943">
                  <a:extLst>
                    <a:ext uri="{9D8B030D-6E8A-4147-A177-3AD203B41FA5}">
                      <a16:colId xmlns:a16="http://schemas.microsoft.com/office/drawing/2014/main" val="3117965211"/>
                    </a:ext>
                  </a:extLst>
                </a:gridCol>
                <a:gridCol w="2228413">
                  <a:extLst>
                    <a:ext uri="{9D8B030D-6E8A-4147-A177-3AD203B41FA5}">
                      <a16:colId xmlns:a16="http://schemas.microsoft.com/office/drawing/2014/main" val="3132366570"/>
                    </a:ext>
                  </a:extLst>
                </a:gridCol>
              </a:tblGrid>
              <a:tr h="450696">
                <a:tc>
                  <a:txBody>
                    <a:bodyPr/>
                    <a:lstStyle/>
                    <a:p>
                      <a:pPr algn="ctr">
                        <a:buNone/>
                      </a:pPr>
                      <a:r>
                        <a:rPr lang="en-ZA" sz="1600" b="1" dirty="0">
                          <a:solidFill>
                            <a:schemeClr val="accent6"/>
                          </a:solidFill>
                        </a:rPr>
                        <a:t>Phase</a:t>
                      </a:r>
                    </a:p>
                  </a:txBody>
                  <a:tcPr marL="21866" marR="21866" marT="10933" marB="10933" anchor="ctr"/>
                </a:tc>
                <a:tc>
                  <a:txBody>
                    <a:bodyPr/>
                    <a:lstStyle/>
                    <a:p>
                      <a:pPr algn="ctr">
                        <a:buNone/>
                      </a:pPr>
                      <a:r>
                        <a:rPr lang="en-ZA" sz="1600" b="1" dirty="0">
                          <a:solidFill>
                            <a:schemeClr val="accent6"/>
                          </a:solidFill>
                        </a:rPr>
                        <a:t>Tasks / Activities</a:t>
                      </a:r>
                    </a:p>
                  </a:txBody>
                  <a:tcPr marL="21866" marR="21866" marT="10933" marB="10933" anchor="ctr"/>
                </a:tc>
                <a:tc>
                  <a:txBody>
                    <a:bodyPr/>
                    <a:lstStyle/>
                    <a:p>
                      <a:pPr algn="ctr">
                        <a:buNone/>
                      </a:pPr>
                      <a:r>
                        <a:rPr lang="en-ZA" sz="1600" b="1" dirty="0">
                          <a:solidFill>
                            <a:schemeClr val="accent6"/>
                          </a:solidFill>
                        </a:rPr>
                        <a:t>Duration</a:t>
                      </a:r>
                    </a:p>
                  </a:txBody>
                  <a:tcPr marL="21866" marR="21866" marT="10933" marB="10933" anchor="ctr"/>
                </a:tc>
                <a:tc>
                  <a:txBody>
                    <a:bodyPr/>
                    <a:lstStyle/>
                    <a:p>
                      <a:pPr algn="ctr">
                        <a:buNone/>
                      </a:pPr>
                      <a:r>
                        <a:rPr lang="en-ZA" sz="1600" b="1" dirty="0">
                          <a:solidFill>
                            <a:schemeClr val="accent6"/>
                          </a:solidFill>
                        </a:rPr>
                        <a:t>Expected Outcome</a:t>
                      </a:r>
                    </a:p>
                  </a:txBody>
                  <a:tcPr marL="21866" marR="21866" marT="10933" marB="10933" anchor="ctr"/>
                </a:tc>
                <a:extLst>
                  <a:ext uri="{0D108BD9-81ED-4DB2-BD59-A6C34878D82A}">
                    <a16:rowId xmlns:a16="http://schemas.microsoft.com/office/drawing/2014/main" val="2759840760"/>
                  </a:ext>
                </a:extLst>
              </a:tr>
              <a:tr h="459248">
                <a:tc>
                  <a:txBody>
                    <a:bodyPr/>
                    <a:lstStyle/>
                    <a:p>
                      <a:pPr>
                        <a:buNone/>
                      </a:pPr>
                      <a:r>
                        <a:rPr lang="en-ZA" sz="1100" b="0" dirty="0">
                          <a:solidFill>
                            <a:schemeClr val="accent6"/>
                          </a:solidFill>
                        </a:rPr>
                        <a:t>1.  Definition </a:t>
                      </a:r>
                      <a:r>
                        <a:rPr lang="en-ZA" sz="1100" b="0" dirty="0">
                          <a:solidFill>
                            <a:srgbClr val="00B050"/>
                          </a:solidFill>
                        </a:rPr>
                        <a:t>(Term1)</a:t>
                      </a:r>
                    </a:p>
                  </a:txBody>
                  <a:tcPr marL="21866" marR="21866" marT="10933" marB="10933" anchor="ctr"/>
                </a:tc>
                <a:tc>
                  <a:txBody>
                    <a:bodyPr/>
                    <a:lstStyle/>
                    <a:p>
                      <a:pPr>
                        <a:buNone/>
                      </a:pPr>
                      <a:r>
                        <a:rPr lang="en-US" sz="1100" dirty="0">
                          <a:solidFill>
                            <a:schemeClr val="accent6"/>
                          </a:solidFill>
                        </a:rPr>
                        <a:t>Definition of problem statement, aim, objectives, and research questions</a:t>
                      </a:r>
                    </a:p>
                  </a:txBody>
                  <a:tcPr marL="21866" marR="21866" marT="10933" marB="10933" anchor="ctr"/>
                </a:tc>
                <a:tc>
                  <a:txBody>
                    <a:bodyPr/>
                    <a:lstStyle/>
                    <a:p>
                      <a:pPr algn="ctr">
                        <a:buNone/>
                      </a:pPr>
                      <a:r>
                        <a:rPr lang="en-ZA" sz="1100" b="0" dirty="0">
                          <a:solidFill>
                            <a:schemeClr val="accent6"/>
                          </a:solidFill>
                        </a:rPr>
                        <a:t>Week 1</a:t>
                      </a:r>
                    </a:p>
                  </a:txBody>
                  <a:tcPr marL="21866" marR="21866" marT="10933" marB="10933" anchor="ctr"/>
                </a:tc>
                <a:tc>
                  <a:txBody>
                    <a:bodyPr/>
                    <a:lstStyle/>
                    <a:p>
                      <a:pPr>
                        <a:buNone/>
                      </a:pPr>
                      <a:r>
                        <a:rPr lang="en-ZA" sz="1100" dirty="0">
                          <a:solidFill>
                            <a:schemeClr val="accent6"/>
                          </a:solidFill>
                        </a:rPr>
                        <a:t>Approved project scope</a:t>
                      </a:r>
                    </a:p>
                  </a:txBody>
                  <a:tcPr marL="21866" marR="21866" marT="10933" marB="10933" anchor="ctr"/>
                </a:tc>
                <a:extLst>
                  <a:ext uri="{0D108BD9-81ED-4DB2-BD59-A6C34878D82A}">
                    <a16:rowId xmlns:a16="http://schemas.microsoft.com/office/drawing/2014/main" val="3461099163"/>
                  </a:ext>
                </a:extLst>
              </a:tr>
              <a:tr h="425619">
                <a:tc>
                  <a:txBody>
                    <a:bodyPr/>
                    <a:lstStyle/>
                    <a:p>
                      <a:pPr>
                        <a:buNone/>
                      </a:pPr>
                      <a:r>
                        <a:rPr lang="en-ZA" sz="1100" b="0" dirty="0">
                          <a:solidFill>
                            <a:schemeClr val="accent6"/>
                          </a:solidFill>
                        </a:rPr>
                        <a:t>2. Literature Review </a:t>
                      </a:r>
                      <a:r>
                        <a:rPr lang="en-ZA" sz="1100" b="0" dirty="0">
                          <a:solidFill>
                            <a:srgbClr val="00B050"/>
                          </a:solidFill>
                        </a:rPr>
                        <a:t>(Term1)</a:t>
                      </a:r>
                    </a:p>
                  </a:txBody>
                  <a:tcPr marL="21866" marR="21866" marT="10933" marB="10933" anchor="ctr"/>
                </a:tc>
                <a:tc>
                  <a:txBody>
                    <a:bodyPr/>
                    <a:lstStyle/>
                    <a:p>
                      <a:pPr>
                        <a:buNone/>
                      </a:pPr>
                      <a:r>
                        <a:rPr lang="en-US" sz="1100" dirty="0">
                          <a:solidFill>
                            <a:schemeClr val="accent6"/>
                          </a:solidFill>
                        </a:rPr>
                        <a:t>Review customer segmentation concepts, clustering methods, feature engineering, related retail studies  and finding the literature gap </a:t>
                      </a:r>
                    </a:p>
                  </a:txBody>
                  <a:tcPr marL="21866" marR="21866" marT="10933" marB="10933" anchor="ctr"/>
                </a:tc>
                <a:tc>
                  <a:txBody>
                    <a:bodyPr/>
                    <a:lstStyle/>
                    <a:p>
                      <a:pPr algn="ctr">
                        <a:buNone/>
                      </a:pPr>
                      <a:r>
                        <a:rPr lang="en-ZA" sz="1100" b="0" dirty="0">
                          <a:solidFill>
                            <a:schemeClr val="accent6"/>
                          </a:solidFill>
                        </a:rPr>
                        <a:t>Weeks 2-3</a:t>
                      </a:r>
                    </a:p>
                  </a:txBody>
                  <a:tcPr marL="21866" marR="21866" marT="10933" marB="10933" anchor="ctr"/>
                </a:tc>
                <a:tc>
                  <a:txBody>
                    <a:bodyPr/>
                    <a:lstStyle/>
                    <a:p>
                      <a:r>
                        <a:rPr lang="en-ZA" sz="1100" dirty="0">
                          <a:solidFill>
                            <a:schemeClr val="accent6"/>
                          </a:solidFill>
                        </a:rPr>
                        <a:t>Historically used segmentation methods and tools, Literature gaps</a:t>
                      </a:r>
                    </a:p>
                  </a:txBody>
                  <a:tcPr marL="21866" marR="21866" marT="10933" marB="10933" anchor="ctr"/>
                </a:tc>
                <a:extLst>
                  <a:ext uri="{0D108BD9-81ED-4DB2-BD59-A6C34878D82A}">
                    <a16:rowId xmlns:a16="http://schemas.microsoft.com/office/drawing/2014/main" val="545390669"/>
                  </a:ext>
                </a:extLst>
              </a:tr>
              <a:tr h="418280">
                <a:tc>
                  <a:txBody>
                    <a:bodyPr/>
                    <a:lstStyle/>
                    <a:p>
                      <a:pPr>
                        <a:buNone/>
                      </a:pPr>
                      <a:r>
                        <a:rPr lang="en-ZA" sz="1100" b="0" dirty="0">
                          <a:solidFill>
                            <a:schemeClr val="accent6"/>
                          </a:solidFill>
                        </a:rPr>
                        <a:t>3. Data Collection &amp; Understanding </a:t>
                      </a:r>
                      <a:r>
                        <a:rPr lang="en-ZA" sz="1100" b="0" dirty="0">
                          <a:solidFill>
                            <a:srgbClr val="00B050"/>
                          </a:solidFill>
                        </a:rPr>
                        <a:t>(Term1)</a:t>
                      </a:r>
                    </a:p>
                  </a:txBody>
                  <a:tcPr marL="21866" marR="21866" marT="10933" marB="10933" anchor="ctr"/>
                </a:tc>
                <a:tc>
                  <a:txBody>
                    <a:bodyPr/>
                    <a:lstStyle/>
                    <a:p>
                      <a:pPr>
                        <a:buNone/>
                      </a:pPr>
                      <a:r>
                        <a:rPr lang="en-US" sz="1100" dirty="0">
                          <a:solidFill>
                            <a:schemeClr val="accent6"/>
                          </a:solidFill>
                        </a:rPr>
                        <a:t>Obtain dataset, inspect variables</a:t>
                      </a:r>
                    </a:p>
                  </a:txBody>
                  <a:tcPr marL="21866" marR="21866" marT="10933" marB="10933" anchor="ctr"/>
                </a:tc>
                <a:tc>
                  <a:txBody>
                    <a:bodyPr/>
                    <a:lstStyle/>
                    <a:p>
                      <a:pPr algn="ctr">
                        <a:buNone/>
                      </a:pPr>
                      <a:r>
                        <a:rPr lang="en-ZA" sz="1100" b="0" dirty="0">
                          <a:solidFill>
                            <a:schemeClr val="accent6"/>
                          </a:solidFill>
                        </a:rPr>
                        <a:t>Week 4</a:t>
                      </a:r>
                    </a:p>
                  </a:txBody>
                  <a:tcPr marL="21866" marR="21866" marT="10933" marB="10933" anchor="ctr"/>
                </a:tc>
                <a:tc>
                  <a:txBody>
                    <a:bodyPr/>
                    <a:lstStyle/>
                    <a:p>
                      <a:pPr>
                        <a:buNone/>
                      </a:pPr>
                      <a:r>
                        <a:rPr lang="en-US" sz="1100" dirty="0">
                          <a:solidFill>
                            <a:schemeClr val="accent6"/>
                          </a:solidFill>
                        </a:rPr>
                        <a:t>Dataset description and variables understanding</a:t>
                      </a:r>
                    </a:p>
                  </a:txBody>
                  <a:tcPr marL="21866" marR="21866" marT="10933" marB="10933" anchor="ctr"/>
                </a:tc>
                <a:extLst>
                  <a:ext uri="{0D108BD9-81ED-4DB2-BD59-A6C34878D82A}">
                    <a16:rowId xmlns:a16="http://schemas.microsoft.com/office/drawing/2014/main" val="2053583226"/>
                  </a:ext>
                </a:extLst>
              </a:tr>
              <a:tr h="469648">
                <a:tc>
                  <a:txBody>
                    <a:bodyPr/>
                    <a:lstStyle/>
                    <a:p>
                      <a:pPr>
                        <a:buNone/>
                      </a:pPr>
                      <a:r>
                        <a:rPr lang="en-ZA" sz="1100" b="0" dirty="0">
                          <a:solidFill>
                            <a:schemeClr val="accent6"/>
                          </a:solidFill>
                        </a:rPr>
                        <a:t>4. Data Cleaning &amp; Preprocessing </a:t>
                      </a:r>
                      <a:r>
                        <a:rPr lang="en-ZA" sz="1100" b="0" dirty="0">
                          <a:solidFill>
                            <a:srgbClr val="00B050"/>
                          </a:solidFill>
                        </a:rPr>
                        <a:t>(Term2)</a:t>
                      </a:r>
                    </a:p>
                  </a:txBody>
                  <a:tcPr marL="21866" marR="21866" marT="10933" marB="10933" anchor="ctr"/>
                </a:tc>
                <a:tc>
                  <a:txBody>
                    <a:bodyPr/>
                    <a:lstStyle/>
                    <a:p>
                      <a:pPr>
                        <a:buNone/>
                      </a:pPr>
                      <a:r>
                        <a:rPr lang="en-US" sz="1100" dirty="0">
                          <a:solidFill>
                            <a:schemeClr val="accent6"/>
                          </a:solidFill>
                        </a:rPr>
                        <a:t>Handle missing values, duplicates, cancellations/returns, and standardize variables where needed</a:t>
                      </a:r>
                    </a:p>
                  </a:txBody>
                  <a:tcPr marL="21866" marR="21866" marT="10933" marB="10933" anchor="ctr"/>
                </a:tc>
                <a:tc>
                  <a:txBody>
                    <a:bodyPr/>
                    <a:lstStyle/>
                    <a:p>
                      <a:pPr algn="ctr">
                        <a:buNone/>
                      </a:pPr>
                      <a:r>
                        <a:rPr lang="en-ZA" sz="1100" b="0" dirty="0">
                          <a:solidFill>
                            <a:schemeClr val="accent6"/>
                          </a:solidFill>
                        </a:rPr>
                        <a:t>Weeks 5</a:t>
                      </a:r>
                    </a:p>
                  </a:txBody>
                  <a:tcPr marL="21866" marR="21866" marT="10933" marB="10933" anchor="ctr"/>
                </a:tc>
                <a:tc>
                  <a:txBody>
                    <a:bodyPr/>
                    <a:lstStyle/>
                    <a:p>
                      <a:pPr>
                        <a:buNone/>
                      </a:pPr>
                      <a:r>
                        <a:rPr lang="en-ZA" sz="1100" dirty="0">
                          <a:solidFill>
                            <a:schemeClr val="accent6"/>
                          </a:solidFill>
                        </a:rPr>
                        <a:t>Cleaned and analysis-ready dataset</a:t>
                      </a:r>
                    </a:p>
                  </a:txBody>
                  <a:tcPr marL="21866" marR="21866" marT="10933" marB="10933" anchor="ctr"/>
                </a:tc>
                <a:extLst>
                  <a:ext uri="{0D108BD9-81ED-4DB2-BD59-A6C34878D82A}">
                    <a16:rowId xmlns:a16="http://schemas.microsoft.com/office/drawing/2014/main" val="1571590451"/>
                  </a:ext>
                </a:extLst>
              </a:tr>
              <a:tr h="447633">
                <a:tc>
                  <a:txBody>
                    <a:bodyPr/>
                    <a:lstStyle/>
                    <a:p>
                      <a:pPr>
                        <a:buNone/>
                      </a:pPr>
                      <a:r>
                        <a:rPr lang="en-ZA" sz="1100" b="0" dirty="0">
                          <a:solidFill>
                            <a:schemeClr val="accent6"/>
                          </a:solidFill>
                        </a:rPr>
                        <a:t>5. Feature synthesis and Engineering </a:t>
                      </a:r>
                      <a:r>
                        <a:rPr lang="en-ZA" sz="1100" b="0" dirty="0">
                          <a:solidFill>
                            <a:srgbClr val="00B050"/>
                          </a:solidFill>
                        </a:rPr>
                        <a:t>(Term2)</a:t>
                      </a:r>
                    </a:p>
                  </a:txBody>
                  <a:tcPr marL="21866" marR="21866" marT="10933" marB="10933" anchor="ctr"/>
                </a:tc>
                <a:tc>
                  <a:txBody>
                    <a:bodyPr/>
                    <a:lstStyle/>
                    <a:p>
                      <a:pPr>
                        <a:buNone/>
                      </a:pPr>
                      <a:r>
                        <a:rPr lang="en-US" sz="1100" dirty="0">
                          <a:solidFill>
                            <a:schemeClr val="accent6"/>
                          </a:solidFill>
                        </a:rPr>
                        <a:t>Synthesize demographic and geographic features and create segmentation features </a:t>
                      </a:r>
                    </a:p>
                  </a:txBody>
                  <a:tcPr marL="21866" marR="21866" marT="10933" marB="10933" anchor="ctr"/>
                </a:tc>
                <a:tc>
                  <a:txBody>
                    <a:bodyPr/>
                    <a:lstStyle/>
                    <a:p>
                      <a:pPr algn="ctr">
                        <a:buNone/>
                      </a:pPr>
                      <a:r>
                        <a:rPr lang="en-ZA" sz="1100" b="0" dirty="0">
                          <a:solidFill>
                            <a:schemeClr val="accent6"/>
                          </a:solidFill>
                        </a:rPr>
                        <a:t>Week 8</a:t>
                      </a:r>
                    </a:p>
                  </a:txBody>
                  <a:tcPr marL="21866" marR="21866" marT="10933" marB="10933" anchor="ctr"/>
                </a:tc>
                <a:tc>
                  <a:txBody>
                    <a:bodyPr/>
                    <a:lstStyle/>
                    <a:p>
                      <a:pPr>
                        <a:buNone/>
                      </a:pPr>
                      <a:r>
                        <a:rPr lang="en-US" sz="1100" dirty="0">
                          <a:solidFill>
                            <a:schemeClr val="accent6"/>
                          </a:solidFill>
                        </a:rPr>
                        <a:t>Final feature set for segmentation</a:t>
                      </a:r>
                    </a:p>
                  </a:txBody>
                  <a:tcPr marL="21866" marR="21866" marT="10933" marB="10933" anchor="ctr"/>
                </a:tc>
                <a:extLst>
                  <a:ext uri="{0D108BD9-81ED-4DB2-BD59-A6C34878D82A}">
                    <a16:rowId xmlns:a16="http://schemas.microsoft.com/office/drawing/2014/main" val="383059413"/>
                  </a:ext>
                </a:extLst>
              </a:tr>
              <a:tr h="381590">
                <a:tc>
                  <a:txBody>
                    <a:bodyPr/>
                    <a:lstStyle/>
                    <a:p>
                      <a:pPr>
                        <a:buNone/>
                      </a:pPr>
                      <a:r>
                        <a:rPr lang="en-ZA" sz="1100" b="0" dirty="0">
                          <a:solidFill>
                            <a:schemeClr val="accent6"/>
                          </a:solidFill>
                        </a:rPr>
                        <a:t>6. Model Development </a:t>
                      </a:r>
                      <a:r>
                        <a:rPr lang="en-ZA" sz="1100" b="0" dirty="0">
                          <a:solidFill>
                            <a:srgbClr val="00B050"/>
                          </a:solidFill>
                        </a:rPr>
                        <a:t>(Term2)</a:t>
                      </a:r>
                    </a:p>
                  </a:txBody>
                  <a:tcPr marL="21866" marR="21866" marT="10933" marB="10933" anchor="ctr"/>
                </a:tc>
                <a:tc>
                  <a:txBody>
                    <a:bodyPr/>
                    <a:lstStyle/>
                    <a:p>
                      <a:pPr>
                        <a:buNone/>
                      </a:pPr>
                      <a:r>
                        <a:rPr lang="en-US" sz="1100" dirty="0">
                          <a:solidFill>
                            <a:schemeClr val="accent6"/>
                          </a:solidFill>
                        </a:rPr>
                        <a:t>Apply segmentation methods</a:t>
                      </a:r>
                    </a:p>
                  </a:txBody>
                  <a:tcPr marL="21866" marR="21866" marT="10933" marB="10933" anchor="ctr"/>
                </a:tc>
                <a:tc>
                  <a:txBody>
                    <a:bodyPr/>
                    <a:lstStyle/>
                    <a:p>
                      <a:pPr algn="ctr">
                        <a:buNone/>
                      </a:pPr>
                      <a:r>
                        <a:rPr lang="en-ZA" sz="1100" b="0" dirty="0">
                          <a:solidFill>
                            <a:schemeClr val="accent6"/>
                          </a:solidFill>
                        </a:rPr>
                        <a:t>Weeks 10-12</a:t>
                      </a:r>
                    </a:p>
                  </a:txBody>
                  <a:tcPr marL="21866" marR="21866" marT="10933" marB="10933" anchor="ctr"/>
                </a:tc>
                <a:tc>
                  <a:txBody>
                    <a:bodyPr/>
                    <a:lstStyle/>
                    <a:p>
                      <a:pPr>
                        <a:buNone/>
                      </a:pPr>
                      <a:r>
                        <a:rPr lang="en-ZA" sz="1100" dirty="0">
                          <a:solidFill>
                            <a:schemeClr val="accent6"/>
                          </a:solidFill>
                        </a:rPr>
                        <a:t>Customer segments generated</a:t>
                      </a:r>
                    </a:p>
                  </a:txBody>
                  <a:tcPr marL="21866" marR="21866" marT="10933" marB="10933" anchor="ctr"/>
                </a:tc>
                <a:extLst>
                  <a:ext uri="{0D108BD9-81ED-4DB2-BD59-A6C34878D82A}">
                    <a16:rowId xmlns:a16="http://schemas.microsoft.com/office/drawing/2014/main" val="2969001774"/>
                  </a:ext>
                </a:extLst>
              </a:tr>
              <a:tr h="484325">
                <a:tc>
                  <a:txBody>
                    <a:bodyPr/>
                    <a:lstStyle/>
                    <a:p>
                      <a:pPr>
                        <a:buNone/>
                      </a:pPr>
                      <a:r>
                        <a:rPr lang="en-ZA" sz="1100" b="0" dirty="0">
                          <a:solidFill>
                            <a:schemeClr val="accent6"/>
                          </a:solidFill>
                        </a:rPr>
                        <a:t>7. Model Evaluation &amp; Interpretation </a:t>
                      </a:r>
                      <a:r>
                        <a:rPr lang="en-ZA" sz="1100" b="0" dirty="0">
                          <a:solidFill>
                            <a:srgbClr val="00B050"/>
                          </a:solidFill>
                        </a:rPr>
                        <a:t>(Term3)</a:t>
                      </a:r>
                    </a:p>
                  </a:txBody>
                  <a:tcPr marL="21866" marR="21866" marT="10933" marB="10933" anchor="ctr"/>
                </a:tc>
                <a:tc>
                  <a:txBody>
                    <a:bodyPr/>
                    <a:lstStyle/>
                    <a:p>
                      <a:pPr>
                        <a:buNone/>
                      </a:pPr>
                      <a:r>
                        <a:rPr lang="en-US" sz="1100" dirty="0">
                          <a:solidFill>
                            <a:schemeClr val="accent6"/>
                          </a:solidFill>
                        </a:rPr>
                        <a:t>Compare segment quality, interpret cluster characteristics, profile customer groups</a:t>
                      </a:r>
                    </a:p>
                  </a:txBody>
                  <a:tcPr marL="21866" marR="21866" marT="10933" marB="10933" anchor="ctr"/>
                </a:tc>
                <a:tc>
                  <a:txBody>
                    <a:bodyPr/>
                    <a:lstStyle/>
                    <a:p>
                      <a:pPr algn="ctr">
                        <a:buNone/>
                      </a:pPr>
                      <a:r>
                        <a:rPr lang="en-ZA" sz="1100" b="0" dirty="0">
                          <a:solidFill>
                            <a:schemeClr val="accent6"/>
                          </a:solidFill>
                        </a:rPr>
                        <a:t>Week 13</a:t>
                      </a:r>
                    </a:p>
                  </a:txBody>
                  <a:tcPr marL="21866" marR="21866" marT="10933" marB="10933" anchor="ctr"/>
                </a:tc>
                <a:tc>
                  <a:txBody>
                    <a:bodyPr/>
                    <a:lstStyle/>
                    <a:p>
                      <a:pPr>
                        <a:buNone/>
                      </a:pPr>
                      <a:r>
                        <a:rPr lang="en-US" sz="1100">
                          <a:solidFill>
                            <a:schemeClr val="accent6"/>
                          </a:solidFill>
                        </a:rPr>
                        <a:t>Final segmentation results and discussion</a:t>
                      </a:r>
                    </a:p>
                  </a:txBody>
                  <a:tcPr marL="21866" marR="21866" marT="10933" marB="10933" anchor="ctr"/>
                </a:tc>
                <a:extLst>
                  <a:ext uri="{0D108BD9-81ED-4DB2-BD59-A6C34878D82A}">
                    <a16:rowId xmlns:a16="http://schemas.microsoft.com/office/drawing/2014/main" val="28602994"/>
                  </a:ext>
                </a:extLst>
              </a:tr>
              <a:tr h="418281">
                <a:tc>
                  <a:txBody>
                    <a:bodyPr/>
                    <a:lstStyle/>
                    <a:p>
                      <a:pPr>
                        <a:buNone/>
                      </a:pPr>
                      <a:r>
                        <a:rPr lang="en-ZA" sz="1100" b="0" dirty="0">
                          <a:solidFill>
                            <a:schemeClr val="accent6"/>
                          </a:solidFill>
                        </a:rPr>
                        <a:t>8.  Interface Development</a:t>
                      </a:r>
                    </a:p>
                    <a:p>
                      <a:pPr>
                        <a:buNone/>
                      </a:pPr>
                      <a:r>
                        <a:rPr lang="en-ZA" sz="1100" b="0" dirty="0">
                          <a:solidFill>
                            <a:srgbClr val="00B050"/>
                          </a:solidFill>
                        </a:rPr>
                        <a:t> (Term2- Term3)</a:t>
                      </a:r>
                    </a:p>
                  </a:txBody>
                  <a:tcPr marL="21866" marR="21866" marT="10933" marB="10933" anchor="ctr"/>
                </a:tc>
                <a:tc>
                  <a:txBody>
                    <a:bodyPr/>
                    <a:lstStyle/>
                    <a:p>
                      <a:pPr>
                        <a:buNone/>
                      </a:pPr>
                      <a:r>
                        <a:rPr lang="en-US" sz="1100" dirty="0">
                          <a:solidFill>
                            <a:schemeClr val="accent6"/>
                          </a:solidFill>
                        </a:rPr>
                        <a:t>Develop simple interface to display segment outputs, graphs, and customer group comparisons</a:t>
                      </a:r>
                    </a:p>
                  </a:txBody>
                  <a:tcPr marL="21866" marR="21866" marT="10933" marB="10933" anchor="ctr"/>
                </a:tc>
                <a:tc>
                  <a:txBody>
                    <a:bodyPr/>
                    <a:lstStyle/>
                    <a:p>
                      <a:pPr algn="ctr">
                        <a:buNone/>
                      </a:pPr>
                      <a:r>
                        <a:rPr lang="en-ZA" sz="1100" b="0" dirty="0">
                          <a:solidFill>
                            <a:schemeClr val="accent6"/>
                          </a:solidFill>
                        </a:rPr>
                        <a:t>Week 10 - 24</a:t>
                      </a:r>
                    </a:p>
                  </a:txBody>
                  <a:tcPr marL="21866" marR="21866" marT="10933" marB="10933" anchor="ctr"/>
                </a:tc>
                <a:tc>
                  <a:txBody>
                    <a:bodyPr/>
                    <a:lstStyle/>
                    <a:p>
                      <a:pPr>
                        <a:buNone/>
                      </a:pPr>
                      <a:r>
                        <a:rPr lang="en-ZA" sz="1100" dirty="0">
                          <a:solidFill>
                            <a:schemeClr val="accent6"/>
                          </a:solidFill>
                        </a:rPr>
                        <a:t>Segmentation interface</a:t>
                      </a:r>
                    </a:p>
                  </a:txBody>
                  <a:tcPr marL="21866" marR="21866" marT="10933" marB="10933" anchor="ctr"/>
                </a:tc>
                <a:extLst>
                  <a:ext uri="{0D108BD9-81ED-4DB2-BD59-A6C34878D82A}">
                    <a16:rowId xmlns:a16="http://schemas.microsoft.com/office/drawing/2014/main" val="1061776709"/>
                  </a:ext>
                </a:extLst>
              </a:tr>
              <a:tr h="344898">
                <a:tc>
                  <a:txBody>
                    <a:bodyPr/>
                    <a:lstStyle/>
                    <a:p>
                      <a:pPr>
                        <a:buNone/>
                      </a:pPr>
                      <a:r>
                        <a:rPr lang="en-ZA" sz="1100" b="0" dirty="0">
                          <a:solidFill>
                            <a:schemeClr val="accent6"/>
                          </a:solidFill>
                        </a:rPr>
                        <a:t>9. Report Final Edits </a:t>
                      </a:r>
                      <a:r>
                        <a:rPr lang="en-ZA" sz="1100" b="0" dirty="0">
                          <a:solidFill>
                            <a:srgbClr val="00B050"/>
                          </a:solidFill>
                        </a:rPr>
                        <a:t>(Term3)</a:t>
                      </a:r>
                    </a:p>
                  </a:txBody>
                  <a:tcPr marL="21866" marR="21866" marT="10933" marB="10933" anchor="ctr"/>
                </a:tc>
                <a:tc>
                  <a:txBody>
                    <a:bodyPr/>
                    <a:lstStyle/>
                    <a:p>
                      <a:pPr>
                        <a:buNone/>
                      </a:pPr>
                      <a:r>
                        <a:rPr lang="en-US" sz="1100" dirty="0">
                          <a:solidFill>
                            <a:schemeClr val="accent6"/>
                          </a:solidFill>
                        </a:rPr>
                        <a:t>Compile methodology, results, discussion, conclusions, and references</a:t>
                      </a:r>
                    </a:p>
                  </a:txBody>
                  <a:tcPr marL="21866" marR="21866" marT="10933" marB="10933" anchor="ctr"/>
                </a:tc>
                <a:tc>
                  <a:txBody>
                    <a:bodyPr/>
                    <a:lstStyle/>
                    <a:p>
                      <a:pPr algn="ctr">
                        <a:buNone/>
                      </a:pPr>
                      <a:r>
                        <a:rPr lang="en-ZA" sz="1100" b="0" dirty="0">
                          <a:solidFill>
                            <a:schemeClr val="accent6"/>
                          </a:solidFill>
                        </a:rPr>
                        <a:t>Weeks 18-20</a:t>
                      </a:r>
                    </a:p>
                  </a:txBody>
                  <a:tcPr marL="21866" marR="21866" marT="10933" marB="10933" anchor="ctr"/>
                </a:tc>
                <a:tc>
                  <a:txBody>
                    <a:bodyPr/>
                    <a:lstStyle/>
                    <a:p>
                      <a:pPr>
                        <a:buNone/>
                      </a:pPr>
                      <a:r>
                        <a:rPr lang="en-ZA" sz="1100" dirty="0">
                          <a:solidFill>
                            <a:schemeClr val="accent6"/>
                          </a:solidFill>
                        </a:rPr>
                        <a:t> final report</a:t>
                      </a:r>
                    </a:p>
                  </a:txBody>
                  <a:tcPr marL="21866" marR="21866" marT="10933" marB="10933" anchor="ctr"/>
                </a:tc>
                <a:extLst>
                  <a:ext uri="{0D108BD9-81ED-4DB2-BD59-A6C34878D82A}">
                    <a16:rowId xmlns:a16="http://schemas.microsoft.com/office/drawing/2014/main" val="356654517"/>
                  </a:ext>
                </a:extLst>
              </a:tr>
              <a:tr h="366913">
                <a:tc>
                  <a:txBody>
                    <a:bodyPr/>
                    <a:lstStyle/>
                    <a:p>
                      <a:pPr>
                        <a:buNone/>
                      </a:pPr>
                      <a:r>
                        <a:rPr lang="en-ZA" sz="1100" b="0" dirty="0">
                          <a:solidFill>
                            <a:schemeClr val="accent6"/>
                          </a:solidFill>
                        </a:rPr>
                        <a:t>10. Final Review &amp; Submission </a:t>
                      </a:r>
                      <a:r>
                        <a:rPr lang="en-ZA" sz="1100" b="0" dirty="0">
                          <a:solidFill>
                            <a:srgbClr val="00B050"/>
                          </a:solidFill>
                        </a:rPr>
                        <a:t>(Term3)</a:t>
                      </a:r>
                    </a:p>
                  </a:txBody>
                  <a:tcPr marL="21866" marR="21866" marT="10933" marB="10933" anchor="ctr"/>
                </a:tc>
                <a:tc>
                  <a:txBody>
                    <a:bodyPr/>
                    <a:lstStyle/>
                    <a:p>
                      <a:pPr>
                        <a:buNone/>
                      </a:pPr>
                      <a:r>
                        <a:rPr lang="en-US" sz="1100" dirty="0">
                          <a:solidFill>
                            <a:schemeClr val="accent6"/>
                          </a:solidFill>
                        </a:rPr>
                        <a:t>Proofread, fix formatting, and submit report/project</a:t>
                      </a:r>
                    </a:p>
                  </a:txBody>
                  <a:tcPr marL="21866" marR="21866" marT="10933" marB="10933" anchor="ctr"/>
                </a:tc>
                <a:tc>
                  <a:txBody>
                    <a:bodyPr/>
                    <a:lstStyle/>
                    <a:p>
                      <a:pPr algn="ctr">
                        <a:buNone/>
                      </a:pPr>
                      <a:r>
                        <a:rPr lang="en-ZA" sz="1100" b="0" dirty="0">
                          <a:solidFill>
                            <a:schemeClr val="accent6"/>
                          </a:solidFill>
                        </a:rPr>
                        <a:t>Week 21-22</a:t>
                      </a:r>
                    </a:p>
                  </a:txBody>
                  <a:tcPr marL="21866" marR="21866" marT="10933" marB="10933" anchor="ctr"/>
                </a:tc>
                <a:tc>
                  <a:txBody>
                    <a:bodyPr/>
                    <a:lstStyle/>
                    <a:p>
                      <a:pPr>
                        <a:buNone/>
                      </a:pPr>
                      <a:r>
                        <a:rPr lang="en-ZA" sz="1100" dirty="0">
                          <a:solidFill>
                            <a:schemeClr val="accent6"/>
                          </a:solidFill>
                        </a:rPr>
                        <a:t>Submitted project</a:t>
                      </a:r>
                    </a:p>
                  </a:txBody>
                  <a:tcPr marL="21866" marR="21866" marT="10933" marB="10933" anchor="ctr"/>
                </a:tc>
                <a:extLst>
                  <a:ext uri="{0D108BD9-81ED-4DB2-BD59-A6C34878D82A}">
                    <a16:rowId xmlns:a16="http://schemas.microsoft.com/office/drawing/2014/main" val="1495576408"/>
                  </a:ext>
                </a:extLst>
              </a:tr>
              <a:tr h="447634">
                <a:tc>
                  <a:txBody>
                    <a:bodyPr/>
                    <a:lstStyle/>
                    <a:p>
                      <a:pPr>
                        <a:buNone/>
                      </a:pPr>
                      <a:r>
                        <a:rPr lang="en-ZA" sz="1100" b="0" dirty="0">
                          <a:solidFill>
                            <a:schemeClr val="accent6"/>
                          </a:solidFill>
                        </a:rPr>
                        <a:t>11. Presentation Preparation </a:t>
                      </a:r>
                      <a:r>
                        <a:rPr lang="en-ZA" sz="1100" b="0" dirty="0">
                          <a:solidFill>
                            <a:srgbClr val="00B050"/>
                          </a:solidFill>
                        </a:rPr>
                        <a:t>(Term3)</a:t>
                      </a:r>
                    </a:p>
                  </a:txBody>
                  <a:tcPr marL="21866" marR="21866" marT="10933" marB="10933" anchor="ctr"/>
                </a:tc>
                <a:tc>
                  <a:txBody>
                    <a:bodyPr/>
                    <a:lstStyle/>
                    <a:p>
                      <a:pPr>
                        <a:buNone/>
                      </a:pPr>
                      <a:r>
                        <a:rPr lang="en-US" sz="1100" dirty="0">
                          <a:solidFill>
                            <a:schemeClr val="accent6"/>
                          </a:solidFill>
                        </a:rPr>
                        <a:t>Design slides, refine visuals, summarize findings, and prepare speaking points</a:t>
                      </a:r>
                    </a:p>
                  </a:txBody>
                  <a:tcPr marL="21866" marR="21866" marT="10933" marB="10933" anchor="ctr"/>
                </a:tc>
                <a:tc>
                  <a:txBody>
                    <a:bodyPr/>
                    <a:lstStyle/>
                    <a:p>
                      <a:pPr algn="ctr">
                        <a:buNone/>
                      </a:pPr>
                      <a:r>
                        <a:rPr lang="en-ZA" sz="1100" b="0" dirty="0">
                          <a:solidFill>
                            <a:schemeClr val="accent6"/>
                          </a:solidFill>
                        </a:rPr>
                        <a:t>Week 23-26</a:t>
                      </a:r>
                    </a:p>
                  </a:txBody>
                  <a:tcPr marL="21866" marR="21866" marT="10933" marB="10933" anchor="ctr"/>
                </a:tc>
                <a:tc>
                  <a:txBody>
                    <a:bodyPr/>
                    <a:lstStyle/>
                    <a:p>
                      <a:pPr>
                        <a:buNone/>
                      </a:pPr>
                      <a:r>
                        <a:rPr lang="en-ZA" sz="1100" dirty="0">
                          <a:solidFill>
                            <a:schemeClr val="accent6"/>
                          </a:solidFill>
                        </a:rPr>
                        <a:t>Final presentation</a:t>
                      </a:r>
                    </a:p>
                  </a:txBody>
                  <a:tcPr marL="21866" marR="21866" marT="10933" marB="10933" anchor="ctr"/>
                </a:tc>
                <a:extLst>
                  <a:ext uri="{0D108BD9-81ED-4DB2-BD59-A6C34878D82A}">
                    <a16:rowId xmlns:a16="http://schemas.microsoft.com/office/drawing/2014/main" val="347254501"/>
                  </a:ext>
                </a:extLst>
              </a:tr>
            </a:tbl>
          </a:graphicData>
        </a:graphic>
      </p:graphicFrame>
      <p:sp>
        <p:nvSpPr>
          <p:cNvPr id="6" name="TextBox 5">
            <a:extLst>
              <a:ext uri="{FF2B5EF4-FFF2-40B4-BE49-F238E27FC236}">
                <a16:creationId xmlns:a16="http://schemas.microsoft.com/office/drawing/2014/main" id="{042B7FB5-037D-D02A-D22C-5621558D762F}"/>
              </a:ext>
            </a:extLst>
          </p:cNvPr>
          <p:cNvSpPr txBox="1"/>
          <p:nvPr/>
        </p:nvSpPr>
        <p:spPr>
          <a:xfrm>
            <a:off x="122793" y="6584588"/>
            <a:ext cx="4242217" cy="246221"/>
          </a:xfrm>
          <a:prstGeom prst="rect">
            <a:avLst/>
          </a:prstGeom>
          <a:noFill/>
        </p:spPr>
        <p:txBody>
          <a:bodyPr wrap="square" rtlCol="0">
            <a:spAutoFit/>
          </a:bodyPr>
          <a:lstStyle/>
          <a:p>
            <a:r>
              <a:rPr lang="en-ZA" sz="1000" dirty="0">
                <a:solidFill>
                  <a:schemeClr val="accent6"/>
                </a:solidFill>
              </a:rPr>
              <a:t>Table 8: Timeline of the research project</a:t>
            </a:r>
          </a:p>
        </p:txBody>
      </p:sp>
      <p:sp>
        <p:nvSpPr>
          <p:cNvPr id="4" name="TextBox 3">
            <a:extLst>
              <a:ext uri="{FF2B5EF4-FFF2-40B4-BE49-F238E27FC236}">
                <a16:creationId xmlns:a16="http://schemas.microsoft.com/office/drawing/2014/main" id="{8A6146ED-F79E-DAC0-A851-CCBD4C25D06B}"/>
              </a:ext>
            </a:extLst>
          </p:cNvPr>
          <p:cNvSpPr txBox="1"/>
          <p:nvPr/>
        </p:nvSpPr>
        <p:spPr>
          <a:xfrm>
            <a:off x="122793" y="1016284"/>
            <a:ext cx="9165771" cy="338554"/>
          </a:xfrm>
          <a:prstGeom prst="rect">
            <a:avLst/>
          </a:prstGeom>
          <a:noFill/>
        </p:spPr>
        <p:txBody>
          <a:bodyPr wrap="square" rtlCol="0">
            <a:spAutoFit/>
          </a:bodyPr>
          <a:lstStyle/>
          <a:p>
            <a:r>
              <a:rPr lang="en-ZA" sz="1600" b="1" dirty="0">
                <a:solidFill>
                  <a:schemeClr val="accent6"/>
                </a:solidFill>
              </a:rPr>
              <a:t>Link to the Project site :  </a:t>
            </a:r>
            <a:r>
              <a:rPr lang="en-ZA" sz="1400" dirty="0">
                <a:solidFill>
                  <a:schemeClr val="accent6"/>
                </a:solidFill>
              </a:rPr>
              <a:t>https://siyabulela11.github.io/Customer-Segmentation-Project/</a:t>
            </a:r>
          </a:p>
        </p:txBody>
      </p:sp>
    </p:spTree>
    <p:extLst>
      <p:ext uri="{BB962C8B-B14F-4D97-AF65-F5344CB8AC3E}">
        <p14:creationId xmlns:p14="http://schemas.microsoft.com/office/powerpoint/2010/main" val="28425505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86F34-76F6-0348-804F-002CDC8E9461}"/>
              </a:ext>
            </a:extLst>
          </p:cNvPr>
          <p:cNvSpPr>
            <a:spLocks noGrp="1"/>
          </p:cNvSpPr>
          <p:nvPr>
            <p:ph type="title"/>
          </p:nvPr>
        </p:nvSpPr>
        <p:spPr>
          <a:xfrm>
            <a:off x="1742209" y="329782"/>
            <a:ext cx="8707582" cy="646331"/>
          </a:xfrm>
        </p:spPr>
        <p:txBody>
          <a:bodyPr/>
          <a:lstStyle/>
          <a:p>
            <a:r>
              <a:rPr lang="en-ZA" sz="3600" dirty="0"/>
              <a:t>Acknowledgements</a:t>
            </a:r>
          </a:p>
        </p:txBody>
      </p:sp>
      <p:sp>
        <p:nvSpPr>
          <p:cNvPr id="5" name="TextBox 4">
            <a:extLst>
              <a:ext uri="{FF2B5EF4-FFF2-40B4-BE49-F238E27FC236}">
                <a16:creationId xmlns:a16="http://schemas.microsoft.com/office/drawing/2014/main" id="{67B5F95E-2928-C343-3C77-A4357EE5A205}"/>
              </a:ext>
            </a:extLst>
          </p:cNvPr>
          <p:cNvSpPr txBox="1"/>
          <p:nvPr/>
        </p:nvSpPr>
        <p:spPr>
          <a:xfrm>
            <a:off x="1052945" y="1634836"/>
            <a:ext cx="10086110" cy="646331"/>
          </a:xfrm>
          <a:prstGeom prst="rect">
            <a:avLst/>
          </a:prstGeom>
          <a:noFill/>
        </p:spPr>
        <p:txBody>
          <a:bodyPr wrap="square" rtlCol="0">
            <a:spAutoFit/>
          </a:bodyPr>
          <a:lstStyle/>
          <a:p>
            <a:endParaRPr lang="en-ZA" dirty="0"/>
          </a:p>
          <a:p>
            <a:endParaRPr lang="en-ZA" dirty="0"/>
          </a:p>
        </p:txBody>
      </p:sp>
      <p:sp>
        <p:nvSpPr>
          <p:cNvPr id="8" name="Rectangle 3">
            <a:extLst>
              <a:ext uri="{FF2B5EF4-FFF2-40B4-BE49-F238E27FC236}">
                <a16:creationId xmlns:a16="http://schemas.microsoft.com/office/drawing/2014/main" id="{97A4483F-88B8-C983-E766-A060D6B15263}"/>
              </a:ext>
            </a:extLst>
          </p:cNvPr>
          <p:cNvSpPr>
            <a:spLocks noChangeArrowheads="1"/>
          </p:cNvSpPr>
          <p:nvPr/>
        </p:nvSpPr>
        <p:spPr bwMode="auto">
          <a:xfrm>
            <a:off x="636957" y="1634836"/>
            <a:ext cx="1120573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ts val="600"/>
              </a:spcBef>
              <a:spcAft>
                <a:spcPts val="1800"/>
              </a:spcAft>
              <a:buFontTx/>
              <a:buChar char="•"/>
            </a:pPr>
            <a:r>
              <a:rPr lang="en-US" altLang="en-US" sz="2000" b="1" dirty="0">
                <a:solidFill>
                  <a:schemeClr val="accent6"/>
                </a:solidFill>
              </a:rPr>
              <a:t>Prof. </a:t>
            </a:r>
            <a:r>
              <a:rPr lang="en-US" altLang="en-US" sz="2000" b="1" dirty="0" err="1">
                <a:solidFill>
                  <a:schemeClr val="accent6"/>
                </a:solidFill>
              </a:rPr>
              <a:t>Isafiade</a:t>
            </a:r>
            <a:r>
              <a:rPr lang="en-US" altLang="en-US" sz="2000" b="1" dirty="0">
                <a:solidFill>
                  <a:schemeClr val="accent6"/>
                </a:solidFill>
              </a:rPr>
              <a:t> &amp; </a:t>
            </a:r>
            <a:r>
              <a:rPr lang="en-US" altLang="en-US" sz="2000" b="1" dirty="0" err="1">
                <a:solidFill>
                  <a:schemeClr val="accent6"/>
                </a:solidFill>
              </a:rPr>
              <a:t>Mr</a:t>
            </a:r>
            <a:r>
              <a:rPr lang="en-US" altLang="en-US" sz="2000" b="1" dirty="0">
                <a:solidFill>
                  <a:schemeClr val="accent6"/>
                </a:solidFill>
              </a:rPr>
              <a:t> </a:t>
            </a:r>
            <a:r>
              <a:rPr lang="en-US" altLang="en-US" sz="2000" b="1" dirty="0" err="1">
                <a:solidFill>
                  <a:schemeClr val="accent6"/>
                </a:solidFill>
              </a:rPr>
              <a:t>Sobantu</a:t>
            </a:r>
            <a:r>
              <a:rPr lang="en-US" altLang="en-US" sz="2000" b="1" dirty="0">
                <a:solidFill>
                  <a:schemeClr val="accent6"/>
                </a:solidFill>
              </a:rPr>
              <a:t> </a:t>
            </a:r>
            <a:r>
              <a:rPr lang="en-US" altLang="en-US" sz="2000" dirty="0">
                <a:solidFill>
                  <a:schemeClr val="accent6"/>
                </a:solidFill>
              </a:rPr>
              <a:t> - for their supervision, guidance, and support throughout this study</a:t>
            </a:r>
            <a:endParaRPr kumimoji="0" lang="en-US" altLang="en-US" sz="2000" b="1" i="0" u="none" strike="noStrike" cap="none" normalizeH="0" baseline="0" dirty="0">
              <a:ln>
                <a:noFill/>
              </a:ln>
              <a:solidFill>
                <a:schemeClr val="accent6"/>
              </a:solidFill>
              <a:effectLst/>
            </a:endParaRPr>
          </a:p>
          <a:p>
            <a:pPr marL="0" marR="0" lvl="0" indent="0" algn="l" defTabSz="914400" rtl="0" eaLnBrk="0" fontAlgn="base" latinLnBrk="0" hangingPunct="0">
              <a:lnSpc>
                <a:spcPct val="100000"/>
              </a:lnSpc>
              <a:spcBef>
                <a:spcPts val="600"/>
              </a:spcBef>
              <a:spcAft>
                <a:spcPts val="1800"/>
              </a:spcAft>
              <a:buClrTx/>
              <a:buSzTx/>
              <a:buFontTx/>
              <a:buChar char="•"/>
              <a:tabLst/>
            </a:pPr>
            <a:r>
              <a:rPr kumimoji="0" lang="en-US" altLang="en-US" sz="2000" b="1" i="0" u="none" strike="noStrike" cap="none" normalizeH="0" baseline="0" dirty="0">
                <a:ln>
                  <a:noFill/>
                </a:ln>
                <a:solidFill>
                  <a:schemeClr val="accent6"/>
                </a:solidFill>
                <a:effectLst/>
              </a:rPr>
              <a:t>ChatGPT and Google Gemini</a:t>
            </a:r>
            <a:r>
              <a:rPr kumimoji="0" lang="en-US" altLang="en-US" sz="2000" b="0" i="0" u="none" strike="noStrike" cap="none" normalizeH="0" baseline="0" dirty="0">
                <a:ln>
                  <a:noFill/>
                </a:ln>
                <a:solidFill>
                  <a:schemeClr val="accent6"/>
                </a:solidFill>
                <a:effectLst/>
              </a:rPr>
              <a:t> - for assistance with idea refinement, concept clarification, and language support</a:t>
            </a:r>
          </a:p>
          <a:p>
            <a:pPr marL="0" marR="0" lvl="0" indent="0" algn="l" defTabSz="914400" rtl="0" eaLnBrk="0" fontAlgn="base" latinLnBrk="0" hangingPunct="0">
              <a:lnSpc>
                <a:spcPct val="100000"/>
              </a:lnSpc>
              <a:spcBef>
                <a:spcPts val="600"/>
              </a:spcBef>
              <a:spcAft>
                <a:spcPts val="1800"/>
              </a:spcAft>
              <a:buClrTx/>
              <a:buSzTx/>
              <a:buFontTx/>
              <a:buChar char="•"/>
              <a:tabLst/>
            </a:pPr>
            <a:r>
              <a:rPr kumimoji="0" lang="en-US" altLang="en-US" sz="2000" b="1" i="0" u="none" strike="noStrike" cap="none" normalizeH="0" baseline="0" dirty="0">
                <a:ln>
                  <a:noFill/>
                </a:ln>
                <a:solidFill>
                  <a:schemeClr val="accent6"/>
                </a:solidFill>
                <a:effectLst/>
              </a:rPr>
              <a:t>UWC Library Resources</a:t>
            </a:r>
            <a:r>
              <a:rPr kumimoji="0" lang="en-US" altLang="en-US" sz="2000" b="0" i="0" u="none" strike="noStrike" cap="none" normalizeH="0" baseline="0" dirty="0">
                <a:ln>
                  <a:noFill/>
                </a:ln>
                <a:solidFill>
                  <a:schemeClr val="accent6"/>
                </a:solidFill>
                <a:effectLst/>
              </a:rPr>
              <a:t> - for research support and access to academic materials</a:t>
            </a:r>
          </a:p>
          <a:p>
            <a:pPr marL="0" marR="0" lvl="0" indent="0" algn="l" defTabSz="914400" rtl="0" eaLnBrk="0" fontAlgn="base" latinLnBrk="0" hangingPunct="0">
              <a:lnSpc>
                <a:spcPct val="100000"/>
              </a:lnSpc>
              <a:spcBef>
                <a:spcPts val="600"/>
              </a:spcBef>
              <a:spcAft>
                <a:spcPts val="1800"/>
              </a:spcAft>
              <a:buClrTx/>
              <a:buSzTx/>
              <a:buFontTx/>
              <a:buChar char="•"/>
              <a:tabLst/>
            </a:pPr>
            <a:r>
              <a:rPr kumimoji="0" lang="en-US" altLang="en-US" sz="2000" b="1" i="0" u="none" strike="noStrike" cap="none" normalizeH="0" baseline="0" dirty="0">
                <a:ln>
                  <a:noFill/>
                </a:ln>
                <a:solidFill>
                  <a:schemeClr val="accent6"/>
                </a:solidFill>
                <a:effectLst/>
              </a:rPr>
              <a:t>EBSCO Databases</a:t>
            </a:r>
            <a:r>
              <a:rPr kumimoji="0" lang="en-US" altLang="en-US" sz="2000" b="0" i="0" u="none" strike="noStrike" cap="none" normalizeH="0" baseline="0" dirty="0">
                <a:ln>
                  <a:noFill/>
                </a:ln>
                <a:solidFill>
                  <a:schemeClr val="accent6"/>
                </a:solidFill>
                <a:effectLst/>
              </a:rPr>
              <a:t> - for access to relevant scholarly literature</a:t>
            </a:r>
          </a:p>
          <a:p>
            <a:pPr marL="0" marR="0" lvl="0" indent="0" algn="l" defTabSz="914400" rtl="0" eaLnBrk="0" fontAlgn="base" latinLnBrk="0" hangingPunct="0">
              <a:lnSpc>
                <a:spcPct val="100000"/>
              </a:lnSpc>
              <a:spcBef>
                <a:spcPts val="600"/>
              </a:spcBef>
              <a:spcAft>
                <a:spcPts val="1800"/>
              </a:spcAft>
              <a:buClrTx/>
              <a:buSzTx/>
              <a:buFontTx/>
              <a:buChar char="•"/>
              <a:tabLst/>
            </a:pPr>
            <a:r>
              <a:rPr kumimoji="0" lang="en-US" altLang="en-US" sz="2000" b="1" i="0" u="none" strike="noStrike" cap="none" normalizeH="0" baseline="0" dirty="0">
                <a:ln>
                  <a:noFill/>
                </a:ln>
                <a:solidFill>
                  <a:schemeClr val="accent6"/>
                </a:solidFill>
                <a:effectLst/>
              </a:rPr>
              <a:t>Kaggle</a:t>
            </a:r>
            <a:r>
              <a:rPr kumimoji="0" lang="en-US" altLang="en-US" sz="2000" b="0" i="0" u="none" strike="noStrike" cap="none" normalizeH="0" baseline="0" dirty="0">
                <a:ln>
                  <a:noFill/>
                </a:ln>
                <a:solidFill>
                  <a:schemeClr val="accent6"/>
                </a:solidFill>
                <a:effectLst/>
              </a:rPr>
              <a:t> and the </a:t>
            </a:r>
            <a:r>
              <a:rPr kumimoji="0" lang="en-US" altLang="en-US" sz="2000" b="1" i="0" u="none" strike="noStrike" cap="none" normalizeH="0" baseline="0" dirty="0">
                <a:ln>
                  <a:noFill/>
                </a:ln>
                <a:solidFill>
                  <a:schemeClr val="accent6"/>
                </a:solidFill>
                <a:effectLst/>
              </a:rPr>
              <a:t>UCI Machine Learning Repository</a:t>
            </a:r>
            <a:r>
              <a:rPr kumimoji="0" lang="en-US" altLang="en-US" sz="2000" b="0" i="0" u="none" strike="noStrike" cap="none" normalizeH="0" baseline="0" dirty="0">
                <a:ln>
                  <a:noFill/>
                </a:ln>
                <a:solidFill>
                  <a:schemeClr val="accent6"/>
                </a:solidFill>
                <a:effectLst/>
              </a:rPr>
              <a:t> - for accessible research datasets</a:t>
            </a:r>
          </a:p>
          <a:p>
            <a:pPr marL="0" marR="0" lvl="0" indent="0" algn="l" defTabSz="914400" rtl="0" eaLnBrk="0" fontAlgn="base" latinLnBrk="0" hangingPunct="0">
              <a:lnSpc>
                <a:spcPct val="100000"/>
              </a:lnSpc>
              <a:spcBef>
                <a:spcPts val="600"/>
              </a:spcBef>
              <a:spcAft>
                <a:spcPts val="1800"/>
              </a:spcAft>
              <a:buClrTx/>
              <a:buSzTx/>
              <a:buFontTx/>
              <a:buChar char="•"/>
              <a:tabLst/>
            </a:pPr>
            <a:r>
              <a:rPr kumimoji="0" lang="en-US" altLang="en-US" sz="2000" b="1" i="0" u="none" strike="noStrike" cap="none" normalizeH="0" baseline="0" dirty="0">
                <a:ln>
                  <a:noFill/>
                </a:ln>
                <a:solidFill>
                  <a:schemeClr val="accent6"/>
                </a:solidFill>
                <a:effectLst/>
              </a:rPr>
              <a:t>Online Retail Dataset</a:t>
            </a:r>
            <a:r>
              <a:rPr kumimoji="0" lang="en-US" altLang="en-US" sz="2000" b="0" i="0" u="none" strike="noStrike" cap="none" normalizeH="0" baseline="0" dirty="0">
                <a:ln>
                  <a:noFill/>
                </a:ln>
                <a:solidFill>
                  <a:schemeClr val="accent6"/>
                </a:solidFill>
                <a:effectLst/>
              </a:rPr>
              <a:t> - created by </a:t>
            </a:r>
            <a:r>
              <a:rPr kumimoji="0" lang="en-US" altLang="en-US" sz="2000" i="0" u="none" strike="noStrike" cap="none" normalizeH="0" baseline="0" dirty="0">
                <a:ln>
                  <a:noFill/>
                </a:ln>
                <a:solidFill>
                  <a:schemeClr val="accent6"/>
                </a:solidFill>
                <a:effectLst/>
              </a:rPr>
              <a:t>Daqing Chen</a:t>
            </a:r>
            <a:r>
              <a:rPr kumimoji="0" lang="en-US" altLang="en-US" sz="2000" b="0" i="0" u="none" strike="noStrike" cap="none" normalizeH="0" baseline="0" dirty="0">
                <a:ln>
                  <a:noFill/>
                </a:ln>
                <a:solidFill>
                  <a:schemeClr val="accent6"/>
                </a:solidFill>
                <a:effectLst/>
              </a:rPr>
              <a:t>, School of Engineering, London South Bank University</a:t>
            </a:r>
          </a:p>
        </p:txBody>
      </p:sp>
    </p:spTree>
    <p:extLst>
      <p:ext uri="{BB962C8B-B14F-4D97-AF65-F5344CB8AC3E}">
        <p14:creationId xmlns:p14="http://schemas.microsoft.com/office/powerpoint/2010/main" val="3939915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1AB50A-06F4-DD59-F3BD-667B66D2B66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67E21BD-D21F-690D-3DBE-1758D93D3893}"/>
              </a:ext>
            </a:extLst>
          </p:cNvPr>
          <p:cNvSpPr>
            <a:spLocks noGrp="1"/>
          </p:cNvSpPr>
          <p:nvPr>
            <p:ph type="title"/>
          </p:nvPr>
        </p:nvSpPr>
        <p:spPr>
          <a:xfrm>
            <a:off x="754979" y="-41591"/>
            <a:ext cx="10671048" cy="1362057"/>
          </a:xfrm>
        </p:spPr>
        <p:txBody>
          <a:bodyPr/>
          <a:lstStyle/>
          <a:p>
            <a:r>
              <a:rPr lang="en-US" dirty="0"/>
              <a:t>References</a:t>
            </a:r>
          </a:p>
        </p:txBody>
      </p:sp>
      <p:sp>
        <p:nvSpPr>
          <p:cNvPr id="4" name="TextBox 3">
            <a:extLst>
              <a:ext uri="{FF2B5EF4-FFF2-40B4-BE49-F238E27FC236}">
                <a16:creationId xmlns:a16="http://schemas.microsoft.com/office/drawing/2014/main" id="{B25368C4-894D-4A8B-5CCA-CE57E679C7BF}"/>
              </a:ext>
            </a:extLst>
          </p:cNvPr>
          <p:cNvSpPr txBox="1"/>
          <p:nvPr/>
        </p:nvSpPr>
        <p:spPr>
          <a:xfrm>
            <a:off x="342360" y="1267007"/>
            <a:ext cx="11496285" cy="5416868"/>
          </a:xfrm>
          <a:prstGeom prst="rect">
            <a:avLst/>
          </a:prstGeom>
          <a:noFill/>
        </p:spPr>
        <p:txBody>
          <a:bodyPr wrap="square">
            <a:spAutoFit/>
          </a:bodyPr>
          <a:lstStyle/>
          <a:p>
            <a:pPr>
              <a:spcAft>
                <a:spcPts val="600"/>
              </a:spcAft>
            </a:pPr>
            <a:r>
              <a:rPr lang="en-ZA" sz="1100" dirty="0"/>
              <a:t>[1] TechTarget, “What is customer segmentation?,” </a:t>
            </a:r>
            <a:r>
              <a:rPr lang="en-ZA" sz="1100" i="1" dirty="0" err="1"/>
              <a:t>SearchCustomerExperience</a:t>
            </a:r>
            <a:r>
              <a:rPr lang="en-ZA" sz="1100" dirty="0"/>
              <a:t>, 2021. [Online]. Available: </a:t>
            </a:r>
            <a:r>
              <a:rPr lang="en-ZA" sz="1100" dirty="0">
                <a:hlinkClick r:id="rId3"/>
              </a:rPr>
              <a:t>https://www.techtarget.com/searchcustomerexperience/definition/customer-segmentation</a:t>
            </a:r>
            <a:r>
              <a:rPr lang="en-ZA" sz="1100" dirty="0"/>
              <a:t>. [Accessed: Mar. 10, 2026].</a:t>
            </a:r>
          </a:p>
          <a:p>
            <a:pPr>
              <a:spcAft>
                <a:spcPts val="600"/>
              </a:spcAft>
            </a:pPr>
            <a:r>
              <a:rPr lang="en-ZA" sz="1100" dirty="0"/>
              <a:t>[2] V. L. Miguéis, A. S. </a:t>
            </a:r>
            <a:r>
              <a:rPr lang="en-ZA" sz="1100" dirty="0" err="1"/>
              <a:t>Camanho</a:t>
            </a:r>
            <a:r>
              <a:rPr lang="en-ZA" sz="1100" dirty="0"/>
              <a:t>, and J. Falcão e Cunha, “Customer data mining for lifestyle segmentation,” </a:t>
            </a:r>
            <a:r>
              <a:rPr lang="en-ZA" sz="1100" i="1" dirty="0"/>
              <a:t>Expert Systems with Applications</a:t>
            </a:r>
            <a:r>
              <a:rPr lang="en-ZA" sz="1100" dirty="0"/>
              <a:t>, vol. 39, no. 10, pp. 9359–9366, Aug. 2012, </a:t>
            </a:r>
            <a:r>
              <a:rPr lang="en-ZA" sz="1100" dirty="0" err="1"/>
              <a:t>doi</a:t>
            </a:r>
            <a:r>
              <a:rPr lang="en-ZA" sz="1100" dirty="0"/>
              <a:t>: 10.1016/j.eswa.2012.02.133.</a:t>
            </a:r>
          </a:p>
          <a:p>
            <a:pPr>
              <a:spcAft>
                <a:spcPts val="600"/>
              </a:spcAft>
            </a:pPr>
            <a:r>
              <a:rPr lang="en-ZA" sz="1100" dirty="0"/>
              <a:t>[3] H. Şentürk, E. </a:t>
            </a:r>
            <a:r>
              <a:rPr lang="en-ZA" sz="1100" dirty="0" err="1"/>
              <a:t>Geçici</a:t>
            </a:r>
            <a:r>
              <a:rPr lang="en-ZA" sz="1100" dirty="0"/>
              <a:t>, and S. Alp, “Customer segmentation with clustering methods in the retail industry,” </a:t>
            </a:r>
            <a:r>
              <a:rPr lang="en-ZA" sz="1100" i="1" dirty="0"/>
              <a:t>Istanbul Aydin </a:t>
            </a:r>
            <a:r>
              <a:rPr lang="en-ZA" sz="1100" i="1" dirty="0" err="1"/>
              <a:t>Universitesi</a:t>
            </a:r>
            <a:r>
              <a:rPr lang="en-ZA" sz="1100" i="1" dirty="0"/>
              <a:t> </a:t>
            </a:r>
            <a:r>
              <a:rPr lang="en-ZA" sz="1100" i="1" dirty="0" err="1"/>
              <a:t>Sosyal</a:t>
            </a:r>
            <a:r>
              <a:rPr lang="en-ZA" sz="1100" i="1" dirty="0"/>
              <a:t> </a:t>
            </a:r>
            <a:r>
              <a:rPr lang="en-ZA" sz="1100" i="1" dirty="0" err="1"/>
              <a:t>Bilimler</a:t>
            </a:r>
            <a:r>
              <a:rPr lang="en-ZA" sz="1100" i="1" dirty="0"/>
              <a:t> </a:t>
            </a:r>
            <a:r>
              <a:rPr lang="en-ZA" sz="1100" i="1" dirty="0" err="1"/>
              <a:t>Dergisi</a:t>
            </a:r>
            <a:r>
              <a:rPr lang="en-ZA" sz="1100" dirty="0"/>
              <a:t>, vol. 16, no. 4, pp. 551-573, Oct. 2024, </a:t>
            </a:r>
            <a:r>
              <a:rPr lang="en-ZA" sz="1100" dirty="0" err="1"/>
              <a:t>doi</a:t>
            </a:r>
            <a:r>
              <a:rPr lang="en-ZA" sz="1100" dirty="0"/>
              <a:t>: 10.17932/IAU.IAUSBD.2021.021/iausbd_v16i4004.</a:t>
            </a:r>
          </a:p>
          <a:p>
            <a:pPr>
              <a:spcAft>
                <a:spcPts val="600"/>
              </a:spcAft>
            </a:pPr>
            <a:r>
              <a:rPr lang="en-ZA" sz="1100" dirty="0"/>
              <a:t>[4] S. </a:t>
            </a:r>
            <a:r>
              <a:rPr lang="en-ZA" sz="1100" dirty="0" err="1"/>
              <a:t>Sobantu</a:t>
            </a:r>
            <a:r>
              <a:rPr lang="en-ZA" sz="1100" dirty="0"/>
              <a:t> and O. E. </a:t>
            </a:r>
            <a:r>
              <a:rPr lang="en-ZA" sz="1100" dirty="0" err="1"/>
              <a:t>Isafiade</a:t>
            </a:r>
            <a:r>
              <a:rPr lang="en-ZA" sz="1100" dirty="0"/>
              <a:t>, “Cascaded RFM-based fuzzy clustering model for dynamic customer segmentation in the retail sector,” in </a:t>
            </a:r>
            <a:r>
              <a:rPr lang="en-ZA" sz="1100" i="1" dirty="0"/>
              <a:t>Communications in Computer and Information Science</a:t>
            </a:r>
            <a:r>
              <a:rPr lang="en-ZA" sz="1100" dirty="0"/>
              <a:t>, vol. 2326, 2025, pp. 53-73, </a:t>
            </a:r>
            <a:r>
              <a:rPr lang="en-ZA" sz="1100" dirty="0" err="1"/>
              <a:t>doi</a:t>
            </a:r>
            <a:r>
              <a:rPr lang="en-ZA" sz="1100" dirty="0"/>
              <a:t>: 10.1007/978-3-031-78255-8_4.</a:t>
            </a:r>
          </a:p>
          <a:p>
            <a:pPr>
              <a:spcAft>
                <a:spcPts val="600"/>
              </a:spcAft>
            </a:pPr>
            <a:r>
              <a:rPr lang="en-ZA" sz="1100" dirty="0"/>
              <a:t>[5] M. A. Gomes and T. Meisen, “A review on customer segmentation methods for personalized customer targeting in e-commerce use cases,” </a:t>
            </a:r>
            <a:r>
              <a:rPr lang="en-ZA" sz="1100" i="1" dirty="0"/>
              <a:t>Information Systems and e-Business Management</a:t>
            </a:r>
            <a:r>
              <a:rPr lang="en-ZA" sz="1100" dirty="0"/>
              <a:t>, vol. 21, no. 3, pp. 527-570, Jun. 2023, </a:t>
            </a:r>
            <a:r>
              <a:rPr lang="en-ZA" sz="1100" dirty="0" err="1"/>
              <a:t>doi</a:t>
            </a:r>
            <a:r>
              <a:rPr lang="en-ZA" sz="1100" dirty="0"/>
              <a:t>: 10.1007/s10257-023-00640-4.</a:t>
            </a:r>
          </a:p>
          <a:p>
            <a:pPr>
              <a:spcAft>
                <a:spcPts val="600"/>
              </a:spcAft>
            </a:pPr>
            <a:r>
              <a:rPr lang="en-ZA" sz="1100" dirty="0"/>
              <a:t>[6] B. Türkmen, “Customer segmentation with machine learning for online retail,” </a:t>
            </a:r>
            <a:r>
              <a:rPr lang="en-ZA" sz="1100" i="1" dirty="0"/>
              <a:t>The European Journal of Social and Behavioural Sciences</a:t>
            </a:r>
            <a:r>
              <a:rPr lang="en-ZA" sz="1100" dirty="0"/>
              <a:t>, vol. 31, no. 2, pp. 111-136, Apr. 2022, </a:t>
            </a:r>
            <a:r>
              <a:rPr lang="en-ZA" sz="1100" dirty="0" err="1"/>
              <a:t>doi</a:t>
            </a:r>
            <a:r>
              <a:rPr lang="en-ZA" sz="1100" dirty="0"/>
              <a:t>: 10.15405/ejsbs.316.</a:t>
            </a:r>
          </a:p>
          <a:p>
            <a:pPr>
              <a:spcAft>
                <a:spcPts val="600"/>
              </a:spcAft>
            </a:pPr>
            <a:r>
              <a:rPr lang="en-ZA" sz="1100" dirty="0"/>
              <a:t>[7] N. N. Son, C. B. Anh, T. H. Le, and V. A. Duc, “From national to local: A geodemographic segmentation model for market targeting in Vietnam’s major cities,” </a:t>
            </a:r>
            <a:r>
              <a:rPr lang="en-ZA" sz="1100" i="1" dirty="0"/>
              <a:t>Sustainable Futures</a:t>
            </a:r>
            <a:r>
              <a:rPr lang="en-ZA" sz="1100" dirty="0"/>
              <a:t>, vol. 9, p. 100132, 2025, </a:t>
            </a:r>
            <a:r>
              <a:rPr lang="en-ZA" sz="1100" dirty="0" err="1"/>
              <a:t>doi</a:t>
            </a:r>
            <a:r>
              <a:rPr lang="en-ZA" sz="1100" dirty="0"/>
              <a:t>: 10.1016/j.sftr.2025.100132.</a:t>
            </a:r>
          </a:p>
          <a:p>
            <a:pPr>
              <a:spcAft>
                <a:spcPts val="600"/>
              </a:spcAft>
            </a:pPr>
            <a:r>
              <a:rPr lang="en-ZA" sz="1100" dirty="0"/>
              <a:t>[8] C. P. </a:t>
            </a:r>
            <a:r>
              <a:rPr lang="en-ZA" sz="1100" dirty="0" err="1"/>
              <a:t>Ufeli</a:t>
            </a:r>
            <a:r>
              <a:rPr lang="en-ZA" sz="1100" dirty="0"/>
              <a:t>, M. U. Sattar, R. Hasan, and S. Mahmood, “Enhancing customer segmentation through factor analysis of mixed data (FAMD)-based approach using K-means and hierarchical clustering algorithms,” </a:t>
            </a:r>
            <a:r>
              <a:rPr lang="en-ZA" sz="1100" i="1" dirty="0"/>
              <a:t>Information</a:t>
            </a:r>
            <a:r>
              <a:rPr lang="en-ZA" sz="1100" dirty="0"/>
              <a:t>, vol. 16, no. 6, p. 441, 2025, </a:t>
            </a:r>
            <a:r>
              <a:rPr lang="en-ZA" sz="1100" dirty="0" err="1"/>
              <a:t>doi</a:t>
            </a:r>
            <a:r>
              <a:rPr lang="en-ZA" sz="1100" dirty="0"/>
              <a:t>: 10.3390/info16060441.</a:t>
            </a:r>
          </a:p>
          <a:p>
            <a:pPr>
              <a:spcAft>
                <a:spcPts val="600"/>
              </a:spcAft>
            </a:pPr>
            <a:r>
              <a:rPr lang="en-ZA" sz="1100" dirty="0"/>
              <a:t>[9] A. Ashraf, C. A. Rayed, N. A. Awadallah, and H. M. Sabry, “A framework for customer segmentation to improve marketing strategies using machine learning,” </a:t>
            </a:r>
            <a:r>
              <a:rPr lang="en-ZA" sz="1100" i="1" dirty="0"/>
              <a:t>Procedia Computer Science</a:t>
            </a:r>
            <a:r>
              <a:rPr lang="en-ZA" sz="1100" dirty="0"/>
              <a:t>, vol. 260, pp. 616-625, 2025, </a:t>
            </a:r>
            <a:r>
              <a:rPr lang="en-ZA" sz="1100" dirty="0" err="1"/>
              <a:t>doi</a:t>
            </a:r>
            <a:r>
              <a:rPr lang="en-ZA" sz="1100" dirty="0"/>
              <a:t>: 10.1016/j.procs.2025.03.240.</a:t>
            </a:r>
          </a:p>
          <a:p>
            <a:pPr>
              <a:spcAft>
                <a:spcPts val="600"/>
              </a:spcAft>
            </a:pPr>
            <a:r>
              <a:rPr lang="en-ZA" sz="1100" dirty="0"/>
              <a:t>[10] C. </a:t>
            </a:r>
            <a:r>
              <a:rPr lang="en-ZA" sz="1100" dirty="0" err="1"/>
              <a:t>Rungruang</a:t>
            </a:r>
            <a:r>
              <a:rPr lang="en-ZA" sz="1100" dirty="0"/>
              <a:t>, P. </a:t>
            </a:r>
            <a:r>
              <a:rPr lang="en-ZA" sz="1100" dirty="0" err="1"/>
              <a:t>Riyapan</a:t>
            </a:r>
            <a:r>
              <a:rPr lang="en-ZA" sz="1100" dirty="0"/>
              <a:t>, A. </a:t>
            </a:r>
            <a:r>
              <a:rPr lang="en-ZA" sz="1100" dirty="0" err="1"/>
              <a:t>Intarasit</a:t>
            </a:r>
            <a:r>
              <a:rPr lang="en-ZA" sz="1100" dirty="0"/>
              <a:t>, K. </a:t>
            </a:r>
            <a:r>
              <a:rPr lang="en-ZA" sz="1100" dirty="0" err="1"/>
              <a:t>Chuarkham</a:t>
            </a:r>
            <a:r>
              <a:rPr lang="en-ZA" sz="1100" dirty="0"/>
              <a:t>, and J. </a:t>
            </a:r>
            <a:r>
              <a:rPr lang="en-ZA" sz="1100" dirty="0" err="1"/>
              <a:t>Muangprathub</a:t>
            </a:r>
            <a:r>
              <a:rPr lang="en-ZA" sz="1100" dirty="0"/>
              <a:t>, “RFM model customer segmentation based on hierarchical approach using FCA,” </a:t>
            </a:r>
            <a:r>
              <a:rPr lang="en-ZA" sz="1100" i="1" dirty="0"/>
              <a:t>Expert Systems with Applications</a:t>
            </a:r>
            <a:r>
              <a:rPr lang="en-ZA" sz="1100" dirty="0"/>
              <a:t>, vol. 237, p. 121449, 2024, </a:t>
            </a:r>
            <a:r>
              <a:rPr lang="en-ZA" sz="1100" dirty="0" err="1"/>
              <a:t>doi</a:t>
            </a:r>
            <a:r>
              <a:rPr lang="en-ZA" sz="1100" dirty="0"/>
              <a:t>: 10.1016/j.eswa.2023.121449.</a:t>
            </a:r>
          </a:p>
          <a:p>
            <a:pPr>
              <a:spcAft>
                <a:spcPts val="600"/>
              </a:spcAft>
            </a:pPr>
            <a:r>
              <a:rPr lang="en-ZA" sz="1100" dirty="0"/>
              <a:t>[11] R. Sharma, S. </a:t>
            </a:r>
            <a:r>
              <a:rPr lang="en-ZA" sz="1100" dirty="0" err="1"/>
              <a:t>Srivastva</a:t>
            </a:r>
            <a:r>
              <a:rPr lang="en-ZA" sz="1100" dirty="0"/>
              <a:t>, and S. Fatima, “E-commerce and digital transformation: Trends, challenges, and implications,” International Journal for Multidisciplinary Research (IJFMR), vol. 5, no. 5, pp. 1–9, Sep.–Oct. 2023.</a:t>
            </a:r>
          </a:p>
          <a:p>
            <a:pPr>
              <a:spcAft>
                <a:spcPts val="600"/>
              </a:spcAft>
            </a:pPr>
            <a:r>
              <a:rPr lang="en-ZA" sz="1100" dirty="0"/>
              <a:t>[12] R. S. Cordova, “Customer segmentation in the online retail industry using big data analytics,” Journal of Theoretical and Applied Information Technology, vol. 102, no. 22, pp. 8312-8324, Nov. 2024.</a:t>
            </a:r>
          </a:p>
          <a:p>
            <a:pPr>
              <a:spcAft>
                <a:spcPts val="600"/>
              </a:spcAft>
            </a:pPr>
            <a:r>
              <a:rPr lang="en-ZA" sz="1100" dirty="0"/>
              <a:t>[13] M. Sivaguru and M. </a:t>
            </a:r>
            <a:r>
              <a:rPr lang="en-ZA" sz="1100" dirty="0" err="1"/>
              <a:t>Punniyamoorthy</a:t>
            </a:r>
            <a:r>
              <a:rPr lang="en-ZA" sz="1100" dirty="0"/>
              <a:t>, “Modified dynamic fuzzy c-means clustering algorithm – Application in dynamic customer segmentation,” Applied Intelligence, vol. 50, no. 6, pp. 1922–1942, 2020, </a:t>
            </a:r>
            <a:r>
              <a:rPr lang="en-ZA" sz="1100" dirty="0" err="1"/>
              <a:t>doi</a:t>
            </a:r>
            <a:r>
              <a:rPr lang="en-ZA" sz="1100" dirty="0"/>
              <a:t>: 10.1007/s10489-019-01626-x.</a:t>
            </a:r>
          </a:p>
        </p:txBody>
      </p:sp>
    </p:spTree>
    <p:extLst>
      <p:ext uri="{BB962C8B-B14F-4D97-AF65-F5344CB8AC3E}">
        <p14:creationId xmlns:p14="http://schemas.microsoft.com/office/powerpoint/2010/main" val="30506737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583791" y="0"/>
            <a:ext cx="5715000" cy="2727709"/>
          </a:xfrm>
        </p:spPr>
        <p:txBody>
          <a:bodyPr/>
          <a:lstStyle/>
          <a:p>
            <a:r>
              <a:rPr lang="en-US" dirty="0"/>
              <a:t>Thank 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786582" y="3012971"/>
            <a:ext cx="5715000" cy="2921804"/>
          </a:xfrm>
        </p:spPr>
        <p:txBody>
          <a:bodyPr>
            <a:normAutofit/>
          </a:bodyPr>
          <a:lstStyle/>
          <a:p>
            <a:r>
              <a:rPr lang="en-US" sz="1800" dirty="0"/>
              <a:t>Siyabulela Malinga</a:t>
            </a:r>
          </a:p>
          <a:p>
            <a:r>
              <a:rPr lang="en-US" sz="1800" dirty="0">
                <a:hlinkClick r:id="rId3"/>
              </a:rPr>
              <a:t>4370961@myuwc.ac.za</a:t>
            </a:r>
            <a:endParaRPr lang="en-US" sz="1800" dirty="0"/>
          </a:p>
          <a:p>
            <a:endParaRPr lang="en-US" sz="1800" dirty="0"/>
          </a:p>
          <a:p>
            <a:r>
              <a:rPr lang="en-US" sz="1800" dirty="0"/>
              <a:t>Supervisor: Prof </a:t>
            </a:r>
            <a:r>
              <a:rPr lang="en-US" sz="1800" dirty="0" err="1"/>
              <a:t>Isafiade</a:t>
            </a:r>
            <a:r>
              <a:rPr lang="en-US" sz="1800" dirty="0"/>
              <a:t>  </a:t>
            </a:r>
          </a:p>
          <a:p>
            <a:r>
              <a:rPr lang="en-US" sz="1800" dirty="0">
                <a:hlinkClick r:id="rId4"/>
              </a:rPr>
              <a:t>oisafiade@uwc.ac.za</a:t>
            </a:r>
            <a:endParaRPr lang="en-US" sz="1800" dirty="0"/>
          </a:p>
          <a:p>
            <a:endParaRPr lang="en-US" sz="1800" dirty="0"/>
          </a:p>
          <a:p>
            <a:r>
              <a:rPr lang="en-US" sz="1800" dirty="0"/>
              <a:t>Co-Supervisor: </a:t>
            </a:r>
            <a:r>
              <a:rPr lang="en-US" sz="1800" dirty="0" err="1"/>
              <a:t>Mr</a:t>
            </a:r>
            <a:r>
              <a:rPr lang="en-US" sz="1800" dirty="0"/>
              <a:t> </a:t>
            </a:r>
            <a:r>
              <a:rPr lang="en-US" sz="1800" dirty="0" err="1"/>
              <a:t>Sobantu</a:t>
            </a:r>
            <a:endParaRPr lang="en-US" sz="1800" dirty="0"/>
          </a:p>
          <a:p>
            <a:r>
              <a:rPr lang="en-US" sz="1800" dirty="0"/>
              <a:t>4109102@myuwc.ac.za</a:t>
            </a:r>
          </a:p>
        </p:txBody>
      </p:sp>
      <p:pic>
        <p:nvPicPr>
          <p:cNvPr id="7" name="Graphic 6" descr="Business Growth outline">
            <a:extLst>
              <a:ext uri="{FF2B5EF4-FFF2-40B4-BE49-F238E27FC236}">
                <a16:creationId xmlns:a16="http://schemas.microsoft.com/office/drawing/2014/main" id="{10A45826-8574-CA14-A2D9-EAE21B8AA7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96000" y="1220207"/>
            <a:ext cx="4714568" cy="4714568"/>
          </a:xfrm>
          <a:prstGeom prst="rect">
            <a:avLst/>
          </a:prstGeom>
        </p:spPr>
      </p:pic>
    </p:spTree>
    <p:extLst>
      <p:ext uri="{BB962C8B-B14F-4D97-AF65-F5344CB8AC3E}">
        <p14:creationId xmlns:p14="http://schemas.microsoft.com/office/powerpoint/2010/main" val="19731730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8|1.6|1.6"/>
</p:tagLst>
</file>

<file path=ppt/tags/tag2.xml><?xml version="1.0" encoding="utf-8"?>
<p:tagLst xmlns:a="http://schemas.openxmlformats.org/drawingml/2006/main" xmlns:r="http://schemas.openxmlformats.org/officeDocument/2006/relationships" xmlns:p="http://schemas.openxmlformats.org/presentationml/2006/main">
  <p:tag name="TIMING" val="|0.9|3.4|6.9|5.8|3.8|0.8|0.8|0.5|3"/>
</p:tagLst>
</file>

<file path=ppt/tags/tag3.xml><?xml version="1.0" encoding="utf-8"?>
<p:tagLst xmlns:a="http://schemas.openxmlformats.org/drawingml/2006/main" xmlns:r="http://schemas.openxmlformats.org/officeDocument/2006/relationships" xmlns:p="http://schemas.openxmlformats.org/presentationml/2006/main">
  <p:tag name="TIMING" val="|0.9|3.4|6.9|5.8|3.8|0.8|0.8|0.5|3"/>
</p:tagLst>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3eb8cb3-a3c8-4e41-8d2b-6f1194a6485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62D43960FA0834397B2F3129F00C82A" ma:contentTypeVersion="13" ma:contentTypeDescription="Create a new document." ma:contentTypeScope="" ma:versionID="8757af2bb951f36fe91fd7ac707c58e1">
  <xsd:schema xmlns:xsd="http://www.w3.org/2001/XMLSchema" xmlns:xs="http://www.w3.org/2001/XMLSchema" xmlns:p="http://schemas.microsoft.com/office/2006/metadata/properties" xmlns:ns3="f3eb8cb3-a3c8-4e41-8d2b-6f1194a6485b" targetNamespace="http://schemas.microsoft.com/office/2006/metadata/properties" ma:root="true" ma:fieldsID="0ffc055bc7d89a6af587b478d264e4cd" ns3:_="">
    <xsd:import namespace="f3eb8cb3-a3c8-4e41-8d2b-6f1194a6485b"/>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eb8cb3-a3c8-4e41-8d2b-6f1194a648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descrip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www.w3.org/XML/1998/namespace"/>
    <ds:schemaRef ds:uri="http://purl.org/dc/terms/"/>
    <ds:schemaRef ds:uri="http://schemas.microsoft.com/office/2006/metadata/properties"/>
    <ds:schemaRef ds:uri="f3eb8cb3-a3c8-4e41-8d2b-6f1194a6485b"/>
    <ds:schemaRef ds:uri="http://purl.org/dc/dcmitype/"/>
  </ds:schemaRefs>
</ds:datastoreItem>
</file>

<file path=customXml/itemProps2.xml><?xml version="1.0" encoding="utf-8"?>
<ds:datastoreItem xmlns:ds="http://schemas.openxmlformats.org/officeDocument/2006/customXml" ds:itemID="{DD769761-88D5-4611-BE81-A3FF10C082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eb8cb3-a3c8-4e41-8d2b-6f1194a6485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{CE0BC9CB-234B-4F08-84BE-5DAF7724F95F}tf78438558_win32</Template>
  <TotalTime>12111</TotalTime>
  <Words>10562</Words>
  <Application>Microsoft Office PowerPoint</Application>
  <PresentationFormat>Widescreen</PresentationFormat>
  <Paragraphs>1152</Paragraphs>
  <Slides>50</Slides>
  <Notes>47</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50</vt:i4>
      </vt:variant>
    </vt:vector>
  </HeadingPairs>
  <TitlesOfParts>
    <vt:vector size="64" baseType="lpstr">
      <vt:lpstr>Amasis MT Pro Medium</vt:lpstr>
      <vt:lpstr>Aptos</vt:lpstr>
      <vt:lpstr>Aptos Display</vt:lpstr>
      <vt:lpstr>Arial</vt:lpstr>
      <vt:lpstr>Arial Black</vt:lpstr>
      <vt:lpstr>Calibri</vt:lpstr>
      <vt:lpstr>Cambria Math</vt:lpstr>
      <vt:lpstr>Courier New</vt:lpstr>
      <vt:lpstr>Linux Libertine</vt:lpstr>
      <vt:lpstr>Sabon Next LT</vt:lpstr>
      <vt:lpstr>Times New Roman</vt:lpstr>
      <vt:lpstr>Wingdings</vt:lpstr>
      <vt:lpstr>Custom</vt:lpstr>
      <vt:lpstr>Office Theme</vt:lpstr>
      <vt:lpstr>Dynamic Customer  Segmentation  in Retail  using  Clustering</vt:lpstr>
      <vt:lpstr>outline</vt:lpstr>
      <vt:lpstr>Background</vt:lpstr>
      <vt:lpstr>Clustering </vt:lpstr>
      <vt:lpstr>Summary of literature</vt:lpstr>
      <vt:lpstr>Summary of literature cont.  </vt:lpstr>
      <vt:lpstr>Summary of literature cont.  </vt:lpstr>
      <vt:lpstr>Summary of literature cont.  </vt:lpstr>
      <vt:lpstr>Related Work</vt:lpstr>
      <vt:lpstr>Segmentation Methods </vt:lpstr>
      <vt:lpstr>Limitations of Conventional Segmentation Models</vt:lpstr>
      <vt:lpstr>AIM &amp; Objectives</vt:lpstr>
      <vt:lpstr>PowerPoint Presentation</vt:lpstr>
      <vt:lpstr>System Architecture</vt:lpstr>
      <vt:lpstr>PowerPoint Presentation</vt:lpstr>
      <vt:lpstr>Sequence diagram</vt:lpstr>
      <vt:lpstr>PowerPoint Presentation</vt:lpstr>
      <vt:lpstr>Dual Dataset Approach</vt:lpstr>
      <vt:lpstr>Dual Dataset features</vt:lpstr>
      <vt:lpstr>DATASET A</vt:lpstr>
      <vt:lpstr>DATASET A</vt:lpstr>
      <vt:lpstr>Time Slicing</vt:lpstr>
      <vt:lpstr>Time Slicing</vt:lpstr>
      <vt:lpstr>Feature engineering</vt:lpstr>
      <vt:lpstr>Preprocessing</vt:lpstr>
      <vt:lpstr>Preprocessing</vt:lpstr>
      <vt:lpstr>Preprocessing</vt:lpstr>
      <vt:lpstr>PowerPoint Presentation</vt:lpstr>
      <vt:lpstr>PowerPoint Presentation</vt:lpstr>
      <vt:lpstr>Database Creation - Relational Database Tables</vt:lpstr>
      <vt:lpstr>Database Creation - Customer Dynamic Snapshot </vt:lpstr>
      <vt:lpstr>Database Creation – DB Algorithm</vt:lpstr>
      <vt:lpstr>Data Synthesis - Purpose</vt:lpstr>
      <vt:lpstr>Data Synthesis - Generation</vt:lpstr>
      <vt:lpstr>Initial Baseline K-means</vt:lpstr>
      <vt:lpstr>Initial Baseline K-means - Determining the Number of Clusters K</vt:lpstr>
      <vt:lpstr>Initial Baseline K-means - Final K-means Baseline Model</vt:lpstr>
      <vt:lpstr>Initial Baseline K-means – Output  and Evaluation </vt:lpstr>
      <vt:lpstr>Dynamic Loop : Purpose &amp; Dynamic Fuzzy formula</vt:lpstr>
      <vt:lpstr>PowerPoint Presentation</vt:lpstr>
      <vt:lpstr>PowerPoint Presentation</vt:lpstr>
      <vt:lpstr>PowerPoint Presentation</vt:lpstr>
      <vt:lpstr>PowerPoint Presentation</vt:lpstr>
      <vt:lpstr>PowerPoint Presentation</vt:lpstr>
      <vt:lpstr>PowerPoint Presentation</vt:lpstr>
      <vt:lpstr>Potential OUTCOME </vt:lpstr>
      <vt:lpstr>Timeline </vt:lpstr>
      <vt:lpstr>Acknowledgements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SIYABULELA MUZI MALINGA</dc:creator>
  <cp:lastModifiedBy>SIYABULELA MUZI MALINGA</cp:lastModifiedBy>
  <cp:revision>43</cp:revision>
  <dcterms:created xsi:type="dcterms:W3CDTF">2026-02-20T17:43:01Z</dcterms:created>
  <dcterms:modified xsi:type="dcterms:W3CDTF">2026-05-23T18:20:05Z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0x010100162D43960FA0834397B2F3129F00C82A</vt:lpwstr>
  </property>
</Properties>
</file>